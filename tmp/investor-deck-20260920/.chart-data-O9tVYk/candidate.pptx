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a0e5eaf044b1c" /><Relationship Type="http://schemas.openxmlformats.org/officeDocument/2006/relationships/extended-properties" Target="/docProps/app.xml" Id="R6d661740085c4464" /><Relationship Type="http://schemas.openxmlformats.org/officeDocument/2006/relationships/officeDocument" Target="/ppt/presentation.xml" Id="R45ff1dddfb07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919d42d8445b0"/>
  </p:sldMasterIdLst>
  <p:notesMasterIdLst>
    <p:notesMasterId xmlns:r="http://schemas.openxmlformats.org/officeDocument/2006/relationships" r:id="R071f3f76eee34911"/>
  </p:notesMasterIdLst>
  <p:sldIdLst>
    <p:sldId xmlns:r="http://schemas.openxmlformats.org/officeDocument/2006/relationships" id="256" r:id="Raf8fc27e393d4d17"/>
    <p:sldId xmlns:r="http://schemas.openxmlformats.org/officeDocument/2006/relationships" id="257" r:id="Rfac6656a622b423f"/>
    <p:sldId xmlns:r="http://schemas.openxmlformats.org/officeDocument/2006/relationships" id="258" r:id="R730add5ab2d54bf1"/>
    <p:sldId xmlns:r="http://schemas.openxmlformats.org/officeDocument/2006/relationships" id="259" r:id="Reb2ca5f05695484d"/>
    <p:sldId xmlns:r="http://schemas.openxmlformats.org/officeDocument/2006/relationships" id="260" r:id="R47a9b062dc154abe"/>
    <p:sldId xmlns:r="http://schemas.openxmlformats.org/officeDocument/2006/relationships" id="261" r:id="R62878248b76b4b1c"/>
    <p:sldId xmlns:r="http://schemas.openxmlformats.org/officeDocument/2006/relationships" id="262" r:id="Rce06bf434681439a"/>
    <p:sldId xmlns:r="http://schemas.openxmlformats.org/officeDocument/2006/relationships" id="263" r:id="R1ae4a50a56604890"/>
    <p:sldId xmlns:r="http://schemas.openxmlformats.org/officeDocument/2006/relationships" id="264" r:id="R5de1e24373124d4b"/>
    <p:sldId xmlns:r="http://schemas.openxmlformats.org/officeDocument/2006/relationships" id="265" r:id="R15232cc80346456c"/>
    <p:sldId xmlns:r="http://schemas.openxmlformats.org/officeDocument/2006/relationships" id="266" r:id="R3eb1e0007e934dc7"/>
    <p:sldId xmlns:r="http://schemas.openxmlformats.org/officeDocument/2006/relationships" id="267" r:id="Ree613b777ff34017"/>
    <p:sldId xmlns:r="http://schemas.openxmlformats.org/officeDocument/2006/relationships" id="268" r:id="R948ee94c7f594a3a"/>
    <p:sldId xmlns:r="http://schemas.openxmlformats.org/officeDocument/2006/relationships" id="269" r:id="R5bb0d518550e467f"/>
    <p:sldId xmlns:r="http://schemas.openxmlformats.org/officeDocument/2006/relationships" id="270" r:id="R61d3fa1c035a4095"/>
    <p:sldId xmlns:r="http://schemas.openxmlformats.org/officeDocument/2006/relationships" id="271" r:id="Ra7f5bd2cd59e4f66"/>
    <p:sldId xmlns:r="http://schemas.openxmlformats.org/officeDocument/2006/relationships" id="272" r:id="Rc4b6e7e7f2b04955"/>
    <p:sldId xmlns:r="http://schemas.openxmlformats.org/officeDocument/2006/relationships" id="273" r:id="R9b0ac91bc59942c7"/>
    <p:sldId xmlns:r="http://schemas.openxmlformats.org/officeDocument/2006/relationships" id="274" r:id="R7d962161dd6a450d"/>
    <p:sldId xmlns:r="http://schemas.openxmlformats.org/officeDocument/2006/relationships" id="275" r:id="R305312c8b7ed404e"/>
    <p:sldId xmlns:r="http://schemas.openxmlformats.org/officeDocument/2006/relationships" id="276" r:id="R4cd6fbd20f5c427b"/>
    <p:sldId xmlns:r="http://schemas.openxmlformats.org/officeDocument/2006/relationships" id="277" r:id="R82f3f3d5897646be"/>
    <p:sldId xmlns:r="http://schemas.openxmlformats.org/officeDocument/2006/relationships" id="278" r:id="R62abb16e937c493c"/>
    <p:sldId xmlns:r="http://schemas.openxmlformats.org/officeDocument/2006/relationships" id="279" r:id="R793d7e87283540b6"/>
    <p:sldId xmlns:r="http://schemas.openxmlformats.org/officeDocument/2006/relationships" id="280" r:id="Rcfd29e84d92d402e"/>
    <p:sldId xmlns:r="http://schemas.openxmlformats.org/officeDocument/2006/relationships" id="281" r:id="R31a245a93fc34e41"/>
    <p:sldId xmlns:r="http://schemas.openxmlformats.org/officeDocument/2006/relationships" id="282" r:id="R40704cc63334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68977f9104c53" /><Relationship Type="http://schemas.openxmlformats.org/officeDocument/2006/relationships/slideMaster" Target="/ppt/slideMasters/slideMaster1.xml" Id="Rb32919d42d8445b0" /><Relationship Type="http://schemas.openxmlformats.org/officeDocument/2006/relationships/notesMaster" Target="/ppt/notesMasters/notesMaster1.xml" Id="R071f3f76eee34911" /><Relationship Type="http://schemas.openxmlformats.org/officeDocument/2006/relationships/presProps" Target="/ppt/presProps.xml" Id="R5e0a4d9fc91c4285" /><Relationship Type="http://schemas.openxmlformats.org/officeDocument/2006/relationships/tableStyles" Target="/ppt/tableStyles.xml" Id="Re0ad955e0f994ae2" /><Relationship Type="http://schemas.openxmlformats.org/officeDocument/2006/relationships/slide" Target="/ppt/slides/slide1.xml" Id="Raf8fc27e393d4d17" /><Relationship Type="http://schemas.openxmlformats.org/officeDocument/2006/relationships/slide" Target="/ppt/slides/slide2.xml" Id="Rfac6656a622b423f" /><Relationship Type="http://schemas.openxmlformats.org/officeDocument/2006/relationships/slide" Target="/ppt/slides/slide3.xml" Id="R730add5ab2d54bf1" /><Relationship Type="http://schemas.openxmlformats.org/officeDocument/2006/relationships/slide" Target="/ppt/slides/slide4.xml" Id="Reb2ca5f05695484d" /><Relationship Type="http://schemas.openxmlformats.org/officeDocument/2006/relationships/slide" Target="/ppt/slides/slide5.xml" Id="R47a9b062dc154abe" /><Relationship Type="http://schemas.openxmlformats.org/officeDocument/2006/relationships/slide" Target="/ppt/slides/slide6.xml" Id="R62878248b76b4b1c" /><Relationship Type="http://schemas.openxmlformats.org/officeDocument/2006/relationships/slide" Target="/ppt/slides/slide7.xml" Id="Rce06bf434681439a" /><Relationship Type="http://schemas.openxmlformats.org/officeDocument/2006/relationships/slide" Target="/ppt/slides/slide8.xml" Id="R1ae4a50a56604890" /><Relationship Type="http://schemas.openxmlformats.org/officeDocument/2006/relationships/slide" Target="/ppt/slides/slide9.xml" Id="R5de1e24373124d4b" /><Relationship Type="http://schemas.openxmlformats.org/officeDocument/2006/relationships/slide" Target="/ppt/slides/slide10.xml" Id="R15232cc80346456c" /><Relationship Type="http://schemas.openxmlformats.org/officeDocument/2006/relationships/slide" Target="/ppt/slides/slide11.xml" Id="R3eb1e0007e934dc7" /><Relationship Type="http://schemas.openxmlformats.org/officeDocument/2006/relationships/slide" Target="/ppt/slides/slide12.xml" Id="Ree613b777ff34017" /><Relationship Type="http://schemas.openxmlformats.org/officeDocument/2006/relationships/slide" Target="/ppt/slides/slide13.xml" Id="R948ee94c7f594a3a" /><Relationship Type="http://schemas.openxmlformats.org/officeDocument/2006/relationships/slide" Target="/ppt/slides/slide14.xml" Id="R5bb0d518550e467f" /><Relationship Type="http://schemas.openxmlformats.org/officeDocument/2006/relationships/slide" Target="/ppt/slides/slide15.xml" Id="R61d3fa1c035a4095" /><Relationship Type="http://schemas.openxmlformats.org/officeDocument/2006/relationships/slide" Target="/ppt/slides/slide16.xml" Id="Ra7f5bd2cd59e4f66" /><Relationship Type="http://schemas.openxmlformats.org/officeDocument/2006/relationships/slide" Target="/ppt/slides/slide17.xml" Id="Rc4b6e7e7f2b04955" /><Relationship Type="http://schemas.openxmlformats.org/officeDocument/2006/relationships/slide" Target="/ppt/slides/slide18.xml" Id="R9b0ac91bc59942c7" /><Relationship Type="http://schemas.openxmlformats.org/officeDocument/2006/relationships/slide" Target="/ppt/slides/slide19.xml" Id="R7d962161dd6a450d" /><Relationship Type="http://schemas.openxmlformats.org/officeDocument/2006/relationships/slide" Target="/ppt/slides/slide20.xml" Id="R305312c8b7ed404e" /><Relationship Type="http://schemas.openxmlformats.org/officeDocument/2006/relationships/slide" Target="/ppt/slides/slide21.xml" Id="R4cd6fbd20f5c427b" /><Relationship Type="http://schemas.openxmlformats.org/officeDocument/2006/relationships/slide" Target="/ppt/slides/slide22.xml" Id="R82f3f3d5897646be" /><Relationship Type="http://schemas.openxmlformats.org/officeDocument/2006/relationships/slide" Target="/ppt/slides/slide23.xml" Id="R62abb16e937c493c" /><Relationship Type="http://schemas.openxmlformats.org/officeDocument/2006/relationships/slide" Target="/ppt/slides/slide24.xml" Id="R793d7e87283540b6" /><Relationship Type="http://schemas.openxmlformats.org/officeDocument/2006/relationships/slide" Target="/ppt/slides/slide25.xml" Id="Rcfd29e84d92d402e" /><Relationship Type="http://schemas.openxmlformats.org/officeDocument/2006/relationships/slide" Target="/ppt/slides/slide26.xml" Id="R31a245a93fc34e41" /><Relationship Type="http://schemas.openxmlformats.org/officeDocument/2006/relationships/slide" Target="/ppt/slides/slide27.xml" Id="R40704cc63334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2553d941dd4d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9a78671b024b6e" /><Relationship Type="http://schemas.openxmlformats.org/officeDocument/2006/relationships/notesMaster" Target="/ppt/notesMasters/notesMaster1.xml" Id="R9500eecbe54e46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b2f1ce218f496b" /><Relationship Type="http://schemas.openxmlformats.org/officeDocument/2006/relationships/notesMaster" Target="/ppt/notesMasters/notesMaster1.xml" Id="R831069aa593c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98726179b4222" /><Relationship Type="http://schemas.openxmlformats.org/officeDocument/2006/relationships/notesMaster" Target="/ppt/notesMasters/notesMaster1.xml" Id="R46b769cfc60944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34fa00c1544cdb" /><Relationship Type="http://schemas.openxmlformats.org/officeDocument/2006/relationships/notesMaster" Target="/ppt/notesMasters/notesMaster1.xml" Id="R0a3ddf95b03e42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cbb9397e3f49c5" /><Relationship Type="http://schemas.openxmlformats.org/officeDocument/2006/relationships/notesMaster" Target="/ppt/notesMasters/notesMaster1.xml" Id="R2d188f15d5d444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4876fc3a6d4ff3" /><Relationship Type="http://schemas.openxmlformats.org/officeDocument/2006/relationships/notesMaster" Target="/ppt/notesMasters/notesMaster1.xml" Id="R217b69b23146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034fe36994872" /><Relationship Type="http://schemas.openxmlformats.org/officeDocument/2006/relationships/notesMaster" Target="/ppt/notesMasters/notesMaster1.xml" Id="R44e2b18aeaab40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43196d6db84122" /><Relationship Type="http://schemas.openxmlformats.org/officeDocument/2006/relationships/notesMaster" Target="/ppt/notesMasters/notesMaster1.xml" Id="Rf1aa2173e3b44d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252285e65d457e" /><Relationship Type="http://schemas.openxmlformats.org/officeDocument/2006/relationships/notesMaster" Target="/ppt/notesMasters/notesMaster1.xml" Id="R90b0cdf28f5148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d0d14916a94267" /><Relationship Type="http://schemas.openxmlformats.org/officeDocument/2006/relationships/notesMaster" Target="/ppt/notesMasters/notesMaster1.xml" Id="R1743cfbdc58e42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769f9c3ccc4980" /><Relationship Type="http://schemas.openxmlformats.org/officeDocument/2006/relationships/notesMaster" Target="/ppt/notesMasters/notesMaster1.xml" Id="R09d0efc57c3e4c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42b1b340ee432d" /><Relationship Type="http://schemas.openxmlformats.org/officeDocument/2006/relationships/notesMaster" Target="/ppt/notesMasters/notesMaster1.xml" Id="R6aed581bc1354e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ed9418bd7c42d5" /><Relationship Type="http://schemas.openxmlformats.org/officeDocument/2006/relationships/notesMaster" Target="/ppt/notesMasters/notesMaster1.xml" Id="R7a7f5454395c46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bab84c429648bf" /><Relationship Type="http://schemas.openxmlformats.org/officeDocument/2006/relationships/notesMaster" Target="/ppt/notesMasters/notesMaster1.xml" Id="R2ec6c97ac1e546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b2fe74f41442e8" /><Relationship Type="http://schemas.openxmlformats.org/officeDocument/2006/relationships/notesMaster" Target="/ppt/notesMasters/notesMaster1.xml" Id="R9068ae1f6c3546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7c5e2845a1442a" /><Relationship Type="http://schemas.openxmlformats.org/officeDocument/2006/relationships/notesMaster" Target="/ppt/notesMasters/notesMaster1.xml" Id="Re1048bb94c4340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015e63c2d848c0" /><Relationship Type="http://schemas.openxmlformats.org/officeDocument/2006/relationships/notesMaster" Target="/ppt/notesMasters/notesMaster1.xml" Id="Rb81369cd23bb40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c2598768d54075" /><Relationship Type="http://schemas.openxmlformats.org/officeDocument/2006/relationships/notesMaster" Target="/ppt/notesMasters/notesMaster1.xml" Id="R6668997a824845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77edde54db4be1" /><Relationship Type="http://schemas.openxmlformats.org/officeDocument/2006/relationships/notesMaster" Target="/ppt/notesMasters/notesMaster1.xml" Id="Rb8355f5ac7354e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18d5d833484927" /><Relationship Type="http://schemas.openxmlformats.org/officeDocument/2006/relationships/notesMaster" Target="/ppt/notesMasters/notesMaster1.xml" Id="R28a4f572871d47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f6ea6d1aac4db7" /><Relationship Type="http://schemas.openxmlformats.org/officeDocument/2006/relationships/notesMaster" Target="/ppt/notesMasters/notesMaster1.xml" Id="R14e5cb8174ff42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1f9f83d0954265" /><Relationship Type="http://schemas.openxmlformats.org/officeDocument/2006/relationships/notesMaster" Target="/ppt/notesMasters/notesMaster1.xml" Id="R83fd030a0396423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74b47b7af848ee" /><Relationship Type="http://schemas.openxmlformats.org/officeDocument/2006/relationships/notesMaster" Target="/ppt/notesMasters/notesMaster1.xml" Id="R21e98b1778f841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8cadf4bd6a4279" /><Relationship Type="http://schemas.openxmlformats.org/officeDocument/2006/relationships/notesMaster" Target="/ppt/notesMasters/notesMaster1.xml" Id="R12aaaac7ecf84f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23e9f1e690457d" /><Relationship Type="http://schemas.openxmlformats.org/officeDocument/2006/relationships/notesMaster" Target="/ppt/notesMasters/notesMaster1.xml" Id="Rcd7afb20509544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7a971924d2947bf" /><Relationship Type="http://schemas.openxmlformats.org/officeDocument/2006/relationships/notesMaster" Target="/ppt/notesMasters/notesMaster1.xml" Id="Rcad1ecfca6e342e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68ae258dab43c8" /><Relationship Type="http://schemas.openxmlformats.org/officeDocument/2006/relationships/notesMaster" Target="/ppt/notesMasters/notesMaster1.xml" Id="R20f0cbba2ad7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 discussion draft. September 27, 2026. Source: YardMatch-Barnegat-Partner-Pitch.pdf, September 2026. Product illustrations and sample data are conceptual, not commercial traction.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Customer and provider problems are product hypotheses that require launch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Map is conceptual. No measured route savings or density effect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checked September 20, 2026: https://www.zocdoc.com/provider-help/en/articles/10859404-understanding-zocdoc-pricing-and-billing and https://www.zocdoc.com/about/understanding-your-bill/ . Public information confirms variable discovery fees and paid add-ons; exact provider quotes control.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Proposed gates are operating targets, not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Use-of-funds allocation is illustrative and is not a forecast line-item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Proposed validation gates, not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Sources checked September 20, 2026: https://www.zocdoc.com/provider-help/en/articles/10859404-understanding-zocdoc-pricing-and-billing and https://www.zocdoc.com/about/understanding-your-bill/ . Public information confirms variable discovery fees and paid add-ons; exact provider quotes control. 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24e58601043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37d4b4fa74b40" /><Relationship Type="http://schemas.openxmlformats.org/officeDocument/2006/relationships/slideLayout" Target="/ppt/slideLayouts/slideLayout1.xml" Id="Re133d146724742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3d146724742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684bad5c54e57" /><Relationship Type="http://schemas.openxmlformats.org/officeDocument/2006/relationships/image" Target="/ppt/media/image.png" Id="R0a9a00cdb1594a32" /><Relationship Type="http://schemas.openxmlformats.org/officeDocument/2006/relationships/notesSlide" Target="/ppt/notesSlides/notesSlide1.xml" Id="Rae1ede0ce0904c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51995b88e4d1a" /><Relationship Type="http://schemas.openxmlformats.org/officeDocument/2006/relationships/notesSlide" Target="/ppt/notesSlides/notesSlide2.xml" Id="R7f5c00222ee0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4f6949edf4433" /><Relationship Type="http://schemas.openxmlformats.org/officeDocument/2006/relationships/notesSlide" Target="/ppt/notesSlides/notesSlide3.xml" Id="R9e5700e159de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a3e35d6543dd" /><Relationship Type="http://schemas.openxmlformats.org/officeDocument/2006/relationships/image" Target="/ppt/media/image2.png" Id="Rd2af829dd4bb4501" /><Relationship Type="http://schemas.openxmlformats.org/officeDocument/2006/relationships/notesSlide" Target="/ppt/notesSlides/notesSlide4.xml" Id="Rd605f1bb4d8742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c8c5f8a0e44ce" /><Relationship Type="http://schemas.openxmlformats.org/officeDocument/2006/relationships/image" Target="/ppt/media/image3.png" Id="R70a381f8f5434b58" /><Relationship Type="http://schemas.openxmlformats.org/officeDocument/2006/relationships/notesSlide" Target="/ppt/notesSlides/notesSlide5.xml" Id="Rd73fd37c4142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51e8581c64fd4" /><Relationship Type="http://schemas.openxmlformats.org/officeDocument/2006/relationships/notesSlide" Target="/ppt/notesSlides/notesSlide6.xml" Id="R5ebd50e0062947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8d4ec75fa4a17" /><Relationship Type="http://schemas.openxmlformats.org/officeDocument/2006/relationships/notesSlide" Target="/ppt/notesSlides/notesSlide7.xml" Id="R727a19f9538846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970ff0b8d4e6f" /><Relationship Type="http://schemas.openxmlformats.org/officeDocument/2006/relationships/notesSlide" Target="/ppt/notesSlides/notesSlide8.xml" Id="R3bbae4b90f324e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e2c7ac95044b7" /><Relationship Type="http://schemas.openxmlformats.org/officeDocument/2006/relationships/notesSlide" Target="/ppt/notesSlides/notesSlide9.xml" Id="R4be81881465741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b02e960a14002" /><Relationship Type="http://schemas.openxmlformats.org/officeDocument/2006/relationships/notesSlide" Target="/ppt/notesSlides/notesSlide10.xml" Id="R83ad0f271c4c40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286fc728544ec" /><Relationship Type="http://schemas.openxmlformats.org/officeDocument/2006/relationships/notesSlide" Target="/ppt/notesSlides/notesSlide11.xml" Id="R187f50e4899340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22097109a40aa" /><Relationship Type="http://schemas.openxmlformats.org/officeDocument/2006/relationships/notesSlide" Target="/ppt/notesSlides/notesSlide12.xml" Id="R8b1139f57de7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d5300b359475e" /><Relationship Type="http://schemas.openxmlformats.org/officeDocument/2006/relationships/notesSlide" Target="/ppt/notesSlides/notesSlide13.xml" Id="Re85233ee194444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2dffc8a1e4bfb" /><Relationship Type="http://schemas.openxmlformats.org/officeDocument/2006/relationships/notesSlide" Target="/ppt/notesSlides/notesSlide14.xml" Id="R8af523558c2442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3e50075c64544" /><Relationship Type="http://schemas.openxmlformats.org/officeDocument/2006/relationships/chart" Target="/ppt/slides/charts/chart1.xml" Id="R7dd77462a9d84c0b" /><Relationship Type="http://schemas.openxmlformats.org/officeDocument/2006/relationships/notesSlide" Target="/ppt/notesSlides/notesSlide15.xml" Id="R25a2138fbaee44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594eee0254a26" /><Relationship Type="http://schemas.openxmlformats.org/officeDocument/2006/relationships/chart" Target="/ppt/slides/charts/chart2.xml" Id="R55b133f28b95439f" /><Relationship Type="http://schemas.openxmlformats.org/officeDocument/2006/relationships/notesSlide" Target="/ppt/notesSlides/notesSlide16.xml" Id="R715efebca54148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e9fb11cb4e10" /><Relationship Type="http://schemas.openxmlformats.org/officeDocument/2006/relationships/notesSlide" Target="/ppt/notesSlides/notesSlide17.xml" Id="R85602039dfd44f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7abe3997e4a37" /><Relationship Type="http://schemas.openxmlformats.org/officeDocument/2006/relationships/notesSlide" Target="/ppt/notesSlides/notesSlide18.xml" Id="Rd36eac1d3de54f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116cdd4dd477a" /><Relationship Type="http://schemas.openxmlformats.org/officeDocument/2006/relationships/notesSlide" Target="/ppt/notesSlides/notesSlide19.xml" Id="Rcb567fa2540542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cf03fbbed4120" /><Relationship Type="http://schemas.openxmlformats.org/officeDocument/2006/relationships/notesSlide" Target="/ppt/notesSlides/notesSlide20.xml" Id="R537c98ff435e4b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942aebff140ff" /><Relationship Type="http://schemas.openxmlformats.org/officeDocument/2006/relationships/notesSlide" Target="/ppt/notesSlides/notesSlide21.xml" Id="R84c75edd3ea84f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f374ba94a45b3" /><Relationship Type="http://schemas.openxmlformats.org/officeDocument/2006/relationships/notesSlide" Target="/ppt/notesSlides/notesSlide22.xml" Id="Rbc418478d03f48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2c69a879c46fb" /><Relationship Type="http://schemas.openxmlformats.org/officeDocument/2006/relationships/notesSlide" Target="/ppt/notesSlides/notesSlide23.xml" Id="Re667781fcaef42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e80d18dd1441c" /><Relationship Type="http://schemas.openxmlformats.org/officeDocument/2006/relationships/notesSlide" Target="/ppt/notesSlides/notesSlide24.xml" Id="R158fea7637cd44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79a7cb10c4935" /><Relationship Type="http://schemas.openxmlformats.org/officeDocument/2006/relationships/hyperlink" Target="https://www.zocdoc.com/provider-help/en/articles/10859404-understanding-zocdoc-pricing-and-billing" TargetMode="External" Id="R0b235ed964a54cb5" /><Relationship Type="http://schemas.openxmlformats.org/officeDocument/2006/relationships/hyperlink" Target="https://www.zocdoc.com/about/understanding-your-bill/" TargetMode="External" Id="Rba77f9ec7d8049f8" /><Relationship Type="http://schemas.openxmlformats.org/officeDocument/2006/relationships/hyperlink" Target="https://www.zocdoc.com/provider-help/en/articles/8709753-how-much-does-sponsored-results-cost" TargetMode="External" Id="Re4869b1054254fac" /><Relationship Type="http://schemas.openxmlformats.org/officeDocument/2006/relationships/hyperlink" Target="https://www.getjobber.com/pricing/" TargetMode="External" Id="R3ef526cf86e54c5e" /><Relationship Type="http://schemas.openxmlformats.org/officeDocument/2006/relationships/hyperlink" Target="https://stripe.com/billing/pricing" TargetMode="External" Id="R49966e2f817d47e7" /><Relationship Type="http://schemas.openxmlformats.org/officeDocument/2006/relationships/hyperlink" Target="https://www.census.gov/quickfacts/fact/table/barnegattownshipoceancountynewjersey/PST045225" TargetMode="External" Id="R56e85889e9ed4831" /><Relationship Type="http://schemas.openxmlformats.org/officeDocument/2006/relationships/notesSlide" Target="/ppt/notesSlides/notesSlide25.xml" Id="R70623c5d558b44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9a57cfb044699" /><Relationship Type="http://schemas.openxmlformats.org/officeDocument/2006/relationships/hyperlink" Target="https://www.census.gov/quickfacts/fact/table/barnegattownshipoceancountynewjersey/PST045225" TargetMode="External" Id="R96ae1bdd5b2c4b1d" /><Relationship Type="http://schemas.openxmlformats.org/officeDocument/2006/relationships/hyperlink" Target="https://www.census.gov/quickfacts/fact/table/staffordtownshipoceancountynewjersey/PST045225" TargetMode="External" Id="R5de1af524b9443ac" /><Relationship Type="http://schemas.openxmlformats.org/officeDocument/2006/relationships/hyperlink" Target="https://www.census.gov/quickfacts/fact/table/laceytownshipoceancountynewjersey/PST045225" TargetMode="External" Id="R6864e1c2f1cb423b" /><Relationship Type="http://schemas.openxmlformats.org/officeDocument/2006/relationships/hyperlink" Target="https://www.census.gov/quickfacts/fact/table/oceantownshipoceancountynewjersey/PST045225" TargetMode="External" Id="R9c499cf1dab149b8" /><Relationship Type="http://schemas.openxmlformats.org/officeDocument/2006/relationships/hyperlink" Target="https://www.census.gov/quickfacts/fact/table/berkeleytownshipoceancountynewjersey/PST045225" TargetMode="External" Id="R10ed5809744a4da8" /><Relationship Type="http://schemas.openxmlformats.org/officeDocument/2006/relationships/hyperlink" Target="https://www.census.gov/quickfacts/fact/table/tomsrivertownshipoceancountynewjersey/PST045225" TargetMode="External" Id="R8b36d606c2da4c60" /><Relationship Type="http://schemas.openxmlformats.org/officeDocument/2006/relationships/hyperlink" Target="https://www.census.gov/quickfacts/fact/table/bricktownshipoceancountynewjersey/PST045225" TargetMode="External" Id="R23299531a9ec4997" /><Relationship Type="http://schemas.openxmlformats.org/officeDocument/2006/relationships/notesSlide" Target="/ppt/notesSlides/notesSlide26.xml" Id="R73c26625f07749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306ef54c5457c" /><Relationship Type="http://schemas.openxmlformats.org/officeDocument/2006/relationships/hyperlink" Target="https://www.census.gov/quickfacts/fact/table/jacksontownshipoceancountynewjersey/PST045225" TargetMode="External" Id="Ra53d270765c3463f" /><Relationship Type="http://schemas.openxmlformats.org/officeDocument/2006/relationships/hyperlink" Target="https://www.census.gov/quickfacts/fact/table/howelltownshipmonmouthcountynewjersey/PST045225" TargetMode="External" Id="Rf1269409116d48f3" /><Relationship Type="http://schemas.openxmlformats.org/officeDocument/2006/relationships/hyperlink" Target="https://www.census.gov/quickfacts/fact/table/walltownshipmonmouthcountynewjersey/PST045225" TargetMode="External" Id="Rda9251ec88134120" /><Relationship Type="http://schemas.openxmlformats.org/officeDocument/2006/relationships/hyperlink" Target="https://www.census.gov/quickfacts/fact/table/middletowntownshipmonmouthcountynewjersey/PST045225" TargetMode="External" Id="R941fdff98ae84bba" /><Relationship Type="http://schemas.openxmlformats.org/officeDocument/2006/relationships/hyperlink" Target="https://www.census.gov/quickfacts/fact/table/holmdeltownshipmonmouthcountynewjersey/PST045225" TargetMode="External" Id="R03d3e7cb9d98483a" /><Relationship Type="http://schemas.openxmlformats.org/officeDocument/2006/relationships/hyperlink" Target="https://www.census.gov/quickfacts/fact/table/coltsnecktownshipmonmouthcountynewjersey/PST045225" TargetMode="External" Id="Rf7a702e3a3f94407" /><Relationship Type="http://schemas.openxmlformats.org/officeDocument/2006/relationships/hyperlink" Target="https://www.census.gov/quickfacts/fact/table/rumsonboroughnewjersey/PST045225" TargetMode="External" Id="R678308cba1924426" /><Relationship Type="http://schemas.openxmlformats.org/officeDocument/2006/relationships/notesSlide" Target="/ppt/notesSlides/notesSlide27.xml" Id="R3d4552ce21cb471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Active households (000s)</c:v>
          </c:tx>
          <c:spPr>
            <a:solidFill xmlns:a="http://schemas.openxmlformats.org/drawingml/2006/main">
              <a:srgbClr val="205938"/>
            </a:solidFill>
            <a:ln xmlns:a="http://schemas.openxmlformats.org/drawingml/2006/main" w="28575">
              <a:solidFill>
                <a:srgbClr val="205938"/>
              </a:solidFill>
            </a:ln>
          </c:spPr>
          <c:marker>
            <c:symbol val="none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0.24</c:v>
                </c:pt>
                <c:pt idx="1">
                  <c:v>1.75</c:v>
                </c:pt>
                <c:pt idx="2">
                  <c:v>8.16</c:v>
                </c:pt>
                <c:pt idx="3">
                  <c:v>26.6</c:v>
                </c:pt>
                <c:pt idx="4">
                  <c:v>72.9</c:v>
                </c:pt>
                <c:pt idx="5">
                  <c:v>178.85</c:v>
                </c:pt>
                <c:pt idx="6">
                  <c:v>380</c:v>
                </c:pt>
              </c:numCache>
            </c:numRef>
          </c:val>
        </c:ser>
        <c:ser>
          <c:idx val="1"/>
          <c:order val="1"/>
          <c:tx>
            <c:v>Active providers (000s)</c:v>
          </c:tx>
          <c:spPr>
            <a:solidFill xmlns:a="http://schemas.openxmlformats.org/drawingml/2006/main">
              <a:srgbClr val="C39245"/>
            </a:solidFill>
            <a:ln xmlns:a="http://schemas.openxmlformats.org/drawingml/2006/main" w="28575">
              <a:solidFill>
                <a:srgbClr val="C39245"/>
              </a:solidFill>
            </a:ln>
          </c:spPr>
          <c:marker>
            <c:symbol val="none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0.006</c:v>
                </c:pt>
                <c:pt idx="1">
                  <c:v>0.044</c:v>
                </c:pt>
                <c:pt idx="2">
                  <c:v>0.204</c:v>
                </c:pt>
                <c:pt idx="3">
                  <c:v>0.665</c:v>
                </c:pt>
                <c:pt idx="4">
                  <c:v>1.823</c:v>
                </c:pt>
                <c:pt idx="5">
                  <c:v>4.472</c:v>
                </c:pt>
                <c:pt idx="6">
                  <c:v>9.5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ED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81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Finder fees</c:v>
          </c:tx>
          <c:spPr>
            <a:solidFill xmlns:a="http://schemas.openxmlformats.org/drawingml/2006/main">
              <a:srgbClr val="8EAA79"/>
            </a:solidFill>
          </c:spPr>
          <c:cat>
            <c:numRef>
              <c:f>'Chart Data'!$A$2:$A$8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Data'!$B$2:$B$8</c:f>
              <c:numCache>
                <c:formatCode>$0</c:formatCode>
                <c:ptCount val="7"/>
                <c:pt idx="0">
                  <c:v>0.021352</c:v>
                </c:pt>
                <c:pt idx="1">
                  <c:v>0.140808</c:v>
                </c:pt>
                <c:pt idx="2">
                  <c:v>0.609632</c:v>
                </c:pt>
                <c:pt idx="3">
                  <c:v>1.801604</c:v>
                </c:pt>
                <c:pt idx="4">
                  <c:v>4.595555</c:v>
                </c:pt>
                <c:pt idx="5">
                  <c:v>10.731689</c:v>
                </c:pt>
                <c:pt idx="6">
                  <c:v>21.098934</c:v>
                </c:pt>
              </c:numCache>
            </c:numRef>
          </c:val>
        </c:ser>
        <c:ser>
          <c:idx val="1"/>
          <c:order val="1"/>
          <c:tx>
            <c:v>Pro and Teams</c:v>
          </c:tx>
          <c:spPr>
            <a:solidFill xmlns:a="http://schemas.openxmlformats.org/drawingml/2006/main">
              <a:srgbClr val="205938"/>
            </a:solidFill>
          </c:spPr>
          <c:cat>
            <c:numRef>
              <c:f>'Chart Data'!$C$2:$C$8</c:f>
              <c:numCache>
                <c:formatCode>General</c:formatCod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numCache>
            </c:numRef>
          </c:cat>
          <c:val>
            <c:numRef>
              <c:f>'Chart Data'!$D$2:$D$8</c:f>
              <c:numCache>
                <c:formatCode>$0</c:formatCode>
                <c:ptCount val="7"/>
                <c:pt idx="0">
                  <c:v>0</c:v>
                </c:pt>
                <c:pt idx="1">
                  <c:v>0.002272</c:v>
                </c:pt>
                <c:pt idx="2">
                  <c:v>0.01956</c:v>
                </c:pt>
                <c:pt idx="3">
                  <c:v>0.104364</c:v>
                </c:pt>
                <c:pt idx="4">
                  <c:v>0.387163</c:v>
                </c:pt>
                <c:pt idx="5">
                  <c:v>1.185417</c:v>
                </c:pt>
                <c:pt idx="6">
                  <c:v>3.081516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ED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5"/>
              </a:solidFill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81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ardMatch">
            <a:extLst xmlns:a="http://schemas.openxmlformats.org/drawingml/2006/main">
              <a:ext uri="{FF2B5EF4-FFF2-40B4-BE49-F238E27FC236}">
                <a16:creationId xmlns:a16="http://schemas.microsoft.com/office/drawing/2014/main" id="{BECAC134-C61B-4A11-B1AA-C0C40E9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DA132B1-920D-443E-8292-CACC03E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a00cdb1594a32"/>
          <a:stretch xmlns:a="http://schemas.openxmlformats.org/drawingml/2006/main"/>
        </p:blipFill>
        <p:spPr>
          <a:xfrm xmlns:a="http://schemas.openxmlformats.org/drawingml/2006/main">
            <a:off x="552450" y="433388"/>
            <a:ext cx="4714875" cy="1571625"/>
          </a:xfrm>
          <a:prstGeom xmlns:a="http://schemas.openxmlformats.org/drawingml/2006/main" prst="rect">
            <a:avLst/>
          </a:prstGeom>
        </p:spPr>
      </p:pic>
      <p:sp>
        <p:nvSpPr>
          <p:cNvPr id="4" name="Investing in YardMatch">
            <a:extLst xmlns:a="http://schemas.openxmlformats.org/drawingml/2006/main">
              <a:ext uri="{FF2B5EF4-FFF2-40B4-BE49-F238E27FC236}">
                <a16:creationId xmlns:a16="http://schemas.microsoft.com/office/drawing/2014/main" id="{8E51A453-AE9D-4F5E-9C8A-FA7D9632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572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Investing in YardMatch</a:t>
            </a:r>
          </a:p>
        </p:txBody>
      </p:sp>
      <p:sp>
        <p:nvSpPr>
          <p:cNvPr id="5" name="A national managed marketplace for lawn and proper">
            <a:extLst xmlns:a="http://schemas.openxmlformats.org/drawingml/2006/main">
              <a:ext uri="{FF2B5EF4-FFF2-40B4-BE49-F238E27FC236}">
                <a16:creationId xmlns:a16="http://schemas.microsoft.com/office/drawing/2014/main" id="{571B7D3A-BCC6-47AE-AAA2-206028E9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national managed marketplace for lawn and property care</a:t>
            </a:r>
          </a:p>
        </p:txBody>
      </p:sp>
      <p:sp>
        <p:nvSpPr>
          <p:cNvPr id="6" name="Investor discussion draft&#10;September 2026">
            <a:extLst xmlns:a="http://schemas.openxmlformats.org/drawingml/2006/main">
              <a:ext uri="{FF2B5EF4-FFF2-40B4-BE49-F238E27FC236}">
                <a16:creationId xmlns:a16="http://schemas.microsoft.com/office/drawing/2014/main" id="{003D6844-829C-413E-B282-2EE1FC0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Investor discussion draft</a:t>
            </a:r>
          </a:p>
          <a:p xmlns:a="http://schemas.openxmlformats.org/drawingml/2006/main">
            <a:pPr algn="l">
              <a:defRPr sz="15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65303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investment thesis">
            <a:extLst xmlns:a="http://schemas.openxmlformats.org/drawingml/2006/main">
              <a:ext uri="{FF2B5EF4-FFF2-40B4-BE49-F238E27FC236}">
                <a16:creationId xmlns:a16="http://schemas.microsoft.com/office/drawing/2014/main" id="{D92282CE-11CC-4DC1-9412-7627823F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investment thesis</a:t>
            </a:r>
          </a:p>
        </p:txBody>
      </p:sp>
      <p:sp>
        <p:nvSpPr>
          <p:cNvPr id="2" name="Build local liquidity town by town, then compound ">
            <a:extLst xmlns:a="http://schemas.openxmlformats.org/drawingml/2006/main">
              <a:ext uri="{FF2B5EF4-FFF2-40B4-BE49-F238E27FC236}">
                <a16:creationId xmlns:a16="http://schemas.microsoft.com/office/drawing/2014/main" id="{6C005065-D1A9-4FBE-8D7C-5157D80E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Build local liquidity town by town, then compound the playbook across the country.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E428CFA4-4CED-46AA-BE43-DF5E9639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DBDB9B40-0E60-4B0B-AD41-8C4C004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cquire valuable relationships">
            <a:extLst xmlns:a="http://schemas.openxmlformats.org/drawingml/2006/main">
              <a:ext uri="{FF2B5EF4-FFF2-40B4-BE49-F238E27FC236}">
                <a16:creationId xmlns:a16="http://schemas.microsoft.com/office/drawing/2014/main" id="{78C28FB4-D4CA-45CB-AB45-D3277F5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Acquire valuable relationships</a:t>
            </a:r>
          </a:p>
        </p:txBody>
      </p:sp>
      <p:sp>
        <p:nvSpPr>
          <p:cNvPr id="6" name="A provider pays once when YardMatch delivers a new">
            <a:extLst xmlns:a="http://schemas.openxmlformats.org/drawingml/2006/main">
              <a:ext uri="{FF2B5EF4-FFF2-40B4-BE49-F238E27FC236}">
                <a16:creationId xmlns:a16="http://schemas.microsoft.com/office/drawing/2014/main" id="{2AB9221D-F2B8-4E0D-BA31-447EB3B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provider pays once when YardMatch delivers a new customer and the first paid job is completed.</a:t>
            </a:r>
          </a:p>
        </p:txBody>
      </p:sp>
      <p:sp>
        <p:nvSpPr>
          <p:cNvPr id="7" name="Monetize the provider workflow">
            <a:extLst xmlns:a="http://schemas.openxmlformats.org/drawingml/2006/main">
              <a:ext uri="{FF2B5EF4-FFF2-40B4-BE49-F238E27FC236}">
                <a16:creationId xmlns:a16="http://schemas.microsoft.com/office/drawing/2014/main" id="{2630BFD0-D506-4F31-A683-6D29CBBA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Monetize the provider workflow</a:t>
            </a:r>
          </a:p>
        </p:txBody>
      </p:sp>
      <p:sp>
        <p:nvSpPr>
          <p:cNvPr id="8" name="Pro and Teams help the business recruit crews, sch">
            <a:extLst xmlns:a="http://schemas.openxmlformats.org/drawingml/2006/main">
              <a:ext uri="{FF2B5EF4-FFF2-40B4-BE49-F238E27FC236}">
                <a16:creationId xmlns:a16="http://schemas.microsoft.com/office/drawing/2014/main" id="{B0A54A80-4F8D-4099-B3EC-6DA6A12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 and Teams help the business recruit crews, schedule work and serve the added demand.</a:t>
            </a:r>
          </a:p>
        </p:txBody>
      </p:sp>
      <p:sp>
        <p:nvSpPr>
          <p:cNvPr id="9" name="Protect provider margins">
            <a:extLst xmlns:a="http://schemas.openxmlformats.org/drawingml/2006/main">
              <a:ext uri="{FF2B5EF4-FFF2-40B4-BE49-F238E27FC236}">
                <a16:creationId xmlns:a16="http://schemas.microsoft.com/office/drawing/2014/main" id="{5DEC1D35-26BA-4011-BB76-FCDBAB0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Protect provider margins</a:t>
            </a:r>
          </a:p>
        </p:txBody>
      </p:sp>
      <p:sp>
        <p:nvSpPr>
          <p:cNvPr id="10" name="Customers pay providers directly. YardMatch takes ">
            <a:extLst xmlns:a="http://schemas.openxmlformats.org/drawingml/2006/main">
              <a:ext uri="{FF2B5EF4-FFF2-40B4-BE49-F238E27FC236}">
                <a16:creationId xmlns:a16="http://schemas.microsoft.com/office/drawing/2014/main" id="{2C185EF7-3697-4ECE-BAB8-E870E7D0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Customers pay providers directly. YardMatch takes no percentage from repeat service revenue.</a:t>
            </a:r>
          </a:p>
        </p:txBody>
      </p:sp>
      <p:sp>
        <p:nvSpPr>
          <p:cNvPr id="11" name="Scale by service-area cohorts">
            <a:extLst xmlns:a="http://schemas.openxmlformats.org/drawingml/2006/main">
              <a:ext uri="{FF2B5EF4-FFF2-40B4-BE49-F238E27FC236}">
                <a16:creationId xmlns:a16="http://schemas.microsoft.com/office/drawing/2014/main" id="{B57ECBEA-439A-4EBB-87CD-7E4288B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Scale by service-area cohorts</a:t>
            </a:r>
          </a:p>
        </p:txBody>
      </p:sp>
      <p:sp>
        <p:nvSpPr>
          <p:cNvPr id="12" name="Each town or suburban cluster advances only after ">
            <a:extLst xmlns:a="http://schemas.openxmlformats.org/drawingml/2006/main">
              <a:ext uri="{FF2B5EF4-FFF2-40B4-BE49-F238E27FC236}">
                <a16:creationId xmlns:a16="http://schemas.microsoft.com/office/drawing/2014/main" id="{C280085A-59DC-462C-8DDD-E2E6DF2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Each town or suburban cluster advances only after supply, retention and contribution gates are met.</a:t>
            </a:r>
          </a:p>
        </p:txBody>
      </p:sp>
    </p:spTree>
    <p:extLst>
      <p:ext uri="{BB962C8B-B14F-4D97-AF65-F5344CB8AC3E}">
        <p14:creationId xmlns:p14="http://schemas.microsoft.com/office/powerpoint/2010/main" val="1329522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ocal property care is still fragmented">
            <a:extLst xmlns:a="http://schemas.openxmlformats.org/drawingml/2006/main">
              <a:ext uri="{FF2B5EF4-FFF2-40B4-BE49-F238E27FC236}">
                <a16:creationId xmlns:a16="http://schemas.microsoft.com/office/drawing/2014/main" id="{E2456370-BEDB-4870-BC84-C5EC7D03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Local property care is still fragmented</a:t>
            </a:r>
          </a:p>
        </p:txBody>
      </p:sp>
      <p:sp>
        <p:nvSpPr>
          <p:cNvPr id="2" name="Customers need confidence; providers need demand t">
            <a:extLst xmlns:a="http://schemas.openxmlformats.org/drawingml/2006/main">
              <a:ext uri="{FF2B5EF4-FFF2-40B4-BE49-F238E27FC236}">
                <a16:creationId xmlns:a16="http://schemas.microsoft.com/office/drawing/2014/main" id="{0E8F7CC7-0B11-4EAD-AF40-AD313CF1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Customers need confidence; providers need demand that fits the route.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31DE2A2-5899-42B2-AEA0-69CD7928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4112FCE-7607-4038-98CE-A65FF720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476625"/>
                <a:gridCol w="4162425"/>
              </a:tblGrid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friction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Provider friction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YardMatch response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Finding a reliable available business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Winning good customers efficiently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One recommendation and curated backups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Knowing whether the crew will arrive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Coordinating schedules and crews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Shared job details and arrival status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Getting the next visit handled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Turning demand into repeat routes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Rebooking, records and issue resolution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recommendation-first experience stays central:">
            <a:extLst xmlns:a="http://schemas.openxmlformats.org/drawingml/2006/main">
              <a:ext uri="{FF2B5EF4-FFF2-40B4-BE49-F238E27FC236}">
                <a16:creationId xmlns:a16="http://schemas.microsoft.com/office/drawing/2014/main" id="{0BBF7E3E-0128-4760-8196-2DFFC352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recommendation-first experience stays central: service, timing and property come first; YardMatch recommends the fit.</a:t>
            </a:r>
          </a:p>
        </p:txBody>
      </p:sp>
    </p:spTree>
    <p:extLst>
      <p:ext uri="{BB962C8B-B14F-4D97-AF65-F5344CB8AC3E}">
        <p14:creationId xmlns:p14="http://schemas.microsoft.com/office/powerpoint/2010/main" val="356557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ne service experience across three roles">
            <a:extLst xmlns:a="http://schemas.openxmlformats.org/drawingml/2006/main">
              <a:ext uri="{FF2B5EF4-FFF2-40B4-BE49-F238E27FC236}">
                <a16:creationId xmlns:a16="http://schemas.microsoft.com/office/drawing/2014/main" id="{25A37BD3-54F3-457F-A454-465717E4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One service experience across three roles</a:t>
            </a:r>
          </a:p>
        </p:txBody>
      </p:sp>
      <p:sp>
        <p:nvSpPr>
          <p:cNvPr id="2" name="Customer, provider and crew share the same job whi">
            <a:extLst xmlns:a="http://schemas.openxmlformats.org/drawingml/2006/main">
              <a:ext uri="{FF2B5EF4-FFF2-40B4-BE49-F238E27FC236}">
                <a16:creationId xmlns:a16="http://schemas.microsoft.com/office/drawing/2014/main" id="{0EAAE046-DC88-41BF-84C0-4BC51572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Customer, provider and crew share the same job while each sees the information needed for the role.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5053D26C-3F6D-455D-8106-1318A460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24E42F45-8FF8-4578-AA28-BBA8321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829dd4bb4501"/>
          <a:stretch xmlns:a="http://schemas.openxmlformats.org/drawingml/2006/main"/>
        </p:blipFill>
        <p:spPr>
          <a:xfrm xmlns:a="http://schemas.openxmlformats.org/drawingml/2006/main">
            <a:off x="5086350" y="2266950"/>
            <a:ext cx="5314950" cy="3543300"/>
          </a:xfrm>
          <a:prstGeom xmlns:a="http://schemas.openxmlformats.org/drawingml/2006/main" prst="rect">
            <a:avLst/>
          </a:prstGeom>
        </p:spPr>
      </p:pic>
      <p:sp>
        <p:nvSpPr>
          <p:cNvPr id="6" name="Customer&#10;Book and follow the visit&#10;&#10;Provider&#10;Sched">
            <a:extLst xmlns:a="http://schemas.openxmlformats.org/drawingml/2006/main">
              <a:ext uri="{FF2B5EF4-FFF2-40B4-BE49-F238E27FC236}">
                <a16:creationId xmlns:a16="http://schemas.microsoft.com/office/drawing/2014/main" id="{C2F7355C-E81D-4640-A1ED-D20BA6E5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319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Book and follow the visit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Provider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Schedule and assign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Crew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Know the place and task</a:t>
            </a:r>
          </a:p>
        </p:txBody>
      </p:sp>
      <p:sp>
        <p:nvSpPr>
          <p:cNvPr id="7" name="Illustrative product concepts from the partner pit">
            <a:extLst xmlns:a="http://schemas.openxmlformats.org/drawingml/2006/main">
              <a:ext uri="{FF2B5EF4-FFF2-40B4-BE49-F238E27FC236}">
                <a16:creationId xmlns:a16="http://schemas.microsoft.com/office/drawing/2014/main" id="{DAC41780-E324-404F-92E1-8A562FBD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Illustrative product concepts from the partner pitch. They do not show live customers, revenue or app-store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586965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ocal density improves the marketplace">
            <a:extLst xmlns:a="http://schemas.openxmlformats.org/drawingml/2006/main">
              <a:ext uri="{FF2B5EF4-FFF2-40B4-BE49-F238E27FC236}">
                <a16:creationId xmlns:a16="http://schemas.microsoft.com/office/drawing/2014/main" id="{D604B37F-E0B1-4D46-93B9-8A7E44E8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Local density improves the marketplace</a:t>
            </a:r>
          </a:p>
        </p:txBody>
      </p:sp>
      <p:sp>
        <p:nvSpPr>
          <p:cNvPr id="2" name="A concentrated launch can fit provider routes and ">
            <a:extLst xmlns:a="http://schemas.openxmlformats.org/drawingml/2006/main">
              <a:ext uri="{FF2B5EF4-FFF2-40B4-BE49-F238E27FC236}">
                <a16:creationId xmlns:a16="http://schemas.microsoft.com/office/drawing/2014/main" id="{26FCFA96-9DB1-41CA-B933-17D37F20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concentrated launch can fit provider routes and make each acquired relationship more valuable.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FB8174FB-E6A6-4753-AECC-36B442A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592FD2EF-2C19-46ED-858E-FD23868A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381f8f5434b58"/>
          <a:stretch xmlns:a="http://schemas.openxmlformats.org/drawingml/2006/main"/>
        </p:blipFill>
        <p:spPr>
          <a:xfrm xmlns:a="http://schemas.openxmlformats.org/drawingml/2006/main">
            <a:off x="1441899" y="2362200"/>
            <a:ext cx="5669652" cy="3190875"/>
          </a:xfrm>
          <a:prstGeom xmlns:a="http://schemas.openxmlformats.org/drawingml/2006/main" prst="rect">
            <a:avLst/>
          </a:prstGeom>
        </p:spPr>
      </p:pic>
      <p:sp>
        <p:nvSpPr>
          <p:cNvPr id="6" name="For providers">
            <a:extLst xmlns:a="http://schemas.openxmlformats.org/drawingml/2006/main">
              <a:ext uri="{FF2B5EF4-FFF2-40B4-BE49-F238E27FC236}">
                <a16:creationId xmlns:a16="http://schemas.microsoft.com/office/drawing/2014/main" id="{B0F8F873-3825-4B8D-932C-CEC6246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For providers</a:t>
            </a:r>
          </a:p>
        </p:txBody>
      </p:sp>
      <p:sp>
        <p:nvSpPr>
          <p:cNvPr id="7" name="Qualified demand, route fit and tools to add worke">
            <a:extLst xmlns:a="http://schemas.openxmlformats.org/drawingml/2006/main">
              <a:ext uri="{FF2B5EF4-FFF2-40B4-BE49-F238E27FC236}">
                <a16:creationId xmlns:a16="http://schemas.microsoft.com/office/drawing/2014/main" id="{37EB8D58-4B02-4A9F-A2DF-C3F268D3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86075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Qualified demand, route fit and tools to add workers when growth creates a capacity need.</a:t>
            </a:r>
          </a:p>
        </p:txBody>
      </p:sp>
      <p:sp>
        <p:nvSpPr>
          <p:cNvPr id="8" name="For customers">
            <a:extLst xmlns:a="http://schemas.openxmlformats.org/drawingml/2006/main">
              <a:ext uri="{FF2B5EF4-FFF2-40B4-BE49-F238E27FC236}">
                <a16:creationId xmlns:a16="http://schemas.microsoft.com/office/drawing/2014/main" id="{6EC8C21C-7319-492B-8F34-71163163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For customers</a:t>
            </a:r>
          </a:p>
        </p:txBody>
      </p:sp>
      <p:sp>
        <p:nvSpPr>
          <p:cNvPr id="9" name="A managed recommendation, dependable service histo">
            <a:extLst xmlns:a="http://schemas.openxmlformats.org/drawingml/2006/main">
              <a:ext uri="{FF2B5EF4-FFF2-40B4-BE49-F238E27FC236}">
                <a16:creationId xmlns:a16="http://schemas.microsoft.com/office/drawing/2014/main" id="{76793DCD-6ADE-48B8-878D-64570195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managed recommendation, dependable service history and a consistent way to rebook.</a:t>
            </a:r>
          </a:p>
        </p:txBody>
      </p:sp>
    </p:spTree>
    <p:extLst>
      <p:ext uri="{BB962C8B-B14F-4D97-AF65-F5344CB8AC3E}">
        <p14:creationId xmlns:p14="http://schemas.microsoft.com/office/powerpoint/2010/main" val="1405802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wo revenue streams align with provider value">
            <a:extLst xmlns:a="http://schemas.openxmlformats.org/drawingml/2006/main">
              <a:ext uri="{FF2B5EF4-FFF2-40B4-BE49-F238E27FC236}">
                <a16:creationId xmlns:a16="http://schemas.microsoft.com/office/drawing/2014/main" id="{15B24CE0-2FA2-4887-A620-B8C00A5C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Two revenue streams align with provider value</a:t>
            </a:r>
          </a:p>
        </p:txBody>
      </p:sp>
      <p:sp>
        <p:nvSpPr>
          <p:cNvPr id="2" name="The model charges for customer acquisition and opt">
            <a:extLst xmlns:a="http://schemas.openxmlformats.org/drawingml/2006/main">
              <a:ext uri="{FF2B5EF4-FFF2-40B4-BE49-F238E27FC236}">
                <a16:creationId xmlns:a16="http://schemas.microsoft.com/office/drawing/2014/main" id="{48F89CF5-3D76-4FD8-A969-F055669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model charges for customer acquisition and optional operating software.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273A8DE-D12A-4BB6-B2B0-4FD3F90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8FA0671-79F2-4F22-9AE2-D810AF5E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2152650"/>
                <a:gridCol w="5238750"/>
              </a:tblGrid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stream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When it is earned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Typical-property finder fee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Large-property finder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Very-large-property finder fee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 subscription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$49 / month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Recruiting, scheduling, history, estimates and routes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Teams subscription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$99 / month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Multi-crew permissions, labor costing and utilization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The first finder fee is waived for each new provid">
            <a:extLst xmlns:a="http://schemas.openxmlformats.org/drawingml/2006/main">
              <a:ext uri="{FF2B5EF4-FFF2-40B4-BE49-F238E27FC236}">
                <a16:creationId xmlns:a16="http://schemas.microsoft.com/office/drawing/2014/main" id="{15FE97B4-8579-4219-BEB9-F9BEA5A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first finder fee is waived for each new provider. Pro and Teams are optional; crew members pay nothing. Subscription status does not influence matching rank.</a:t>
            </a:r>
          </a:p>
        </p:txBody>
      </p:sp>
    </p:spTree>
    <p:extLst>
      <p:ext uri="{BB962C8B-B14F-4D97-AF65-F5344CB8AC3E}">
        <p14:creationId xmlns:p14="http://schemas.microsoft.com/office/powerpoint/2010/main" val="1137258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cdoc supports the acquisition-fee logic">
            <a:extLst xmlns:a="http://schemas.openxmlformats.org/drawingml/2006/main">
              <a:ext uri="{FF2B5EF4-FFF2-40B4-BE49-F238E27FC236}">
                <a16:creationId xmlns:a16="http://schemas.microsoft.com/office/drawing/2014/main" id="{28E5717F-71A4-435F-853E-99DAF73E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Zocdoc supports the acquisition-fee logic</a:t>
            </a:r>
          </a:p>
        </p:txBody>
      </p:sp>
      <p:sp>
        <p:nvSpPr>
          <p:cNvPr id="2" name="The analogy is customer discovery, not the healthc">
            <a:extLst xmlns:a="http://schemas.openxmlformats.org/drawingml/2006/main">
              <a:ext uri="{FF2B5EF4-FFF2-40B4-BE49-F238E27FC236}">
                <a16:creationId xmlns:a16="http://schemas.microsoft.com/office/drawing/2014/main" id="{AB35E75A-D729-4F76-85D7-11E03D19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analogy is customer discovery, not the healthcare payment flow.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1BA79AD2-1D2D-48AD-8D2F-DC0F9C35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6D53C54B-1187-4DA4-966D-6FE69C8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4210050"/>
                <a:gridCol w="4552950"/>
              </a:tblGrid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Zocdoc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YardMatch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Charge event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Qualifying new-patient discovery booking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pair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 with same provider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No new discovery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No new finder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How service is paid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Patient / insurer pays practice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pays provider directly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Additional monetization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Sponsored and practice products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Pro, Teams and later sponsored backups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A homeowner may use fewer providers than a patient">
            <a:extLst xmlns:a="http://schemas.openxmlformats.org/drawingml/2006/main">
              <a:ext uri="{FF2B5EF4-FFF2-40B4-BE49-F238E27FC236}">
                <a16:creationId xmlns:a16="http://schemas.microsoft.com/office/drawing/2014/main" id="{8D5B4CA4-51AC-4055-B4D3-CC28CEF5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homeowner may use fewer providers than a patient uses doctors. YardMatch therefore pairs finder fees with provider software rather than relying on repeat transaction fees.</a:t>
            </a:r>
          </a:p>
        </p:txBody>
      </p:sp>
    </p:spTree>
    <p:extLst>
      <p:ext uri="{BB962C8B-B14F-4D97-AF65-F5344CB8AC3E}">
        <p14:creationId xmlns:p14="http://schemas.microsoft.com/office/powerpoint/2010/main" val="6928200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YardMatch stays outside the service-payment flow">
            <a:extLst xmlns:a="http://schemas.openxmlformats.org/drawingml/2006/main">
              <a:ext uri="{FF2B5EF4-FFF2-40B4-BE49-F238E27FC236}">
                <a16:creationId xmlns:a16="http://schemas.microsoft.com/office/drawing/2014/main" id="{47E18CFC-31FC-4D8C-8877-763F6FE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YardMatch stays outside the service-payment flow</a:t>
            </a:r>
          </a:p>
        </p:txBody>
      </p:sp>
      <p:sp>
        <p:nvSpPr>
          <p:cNvPr id="2" name="Removing payment processing simplifies the model a">
            <a:extLst xmlns:a="http://schemas.openxmlformats.org/drawingml/2006/main">
              <a:ext uri="{FF2B5EF4-FFF2-40B4-BE49-F238E27FC236}">
                <a16:creationId xmlns:a16="http://schemas.microsoft.com/office/drawing/2014/main" id="{AB31B8AD-E5E2-4A7E-88CB-00C1891B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Removing payment processing simplifies the model and preserves provider economics.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6127A75-FFF2-4689-8E57-3D30874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5567D704-DA07-4DFB-8A3A-16DCDC1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$0">
            <a:extLst xmlns:a="http://schemas.openxmlformats.org/drawingml/2006/main">
              <a:ext uri="{FF2B5EF4-FFF2-40B4-BE49-F238E27FC236}">
                <a16:creationId xmlns:a16="http://schemas.microsoft.com/office/drawing/2014/main" id="{AA5E7517-5D13-49A1-96AA-67C0967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6" name="YardMatch recurring service fee">
            <a:extLst xmlns:a="http://schemas.openxmlformats.org/drawingml/2006/main">
              <a:ext uri="{FF2B5EF4-FFF2-40B4-BE49-F238E27FC236}">
                <a16:creationId xmlns:a16="http://schemas.microsoft.com/office/drawing/2014/main" id="{0AA7E473-07E4-4E15-AB07-6EA80E14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YardMatch recurring service fee</a:t>
            </a:r>
          </a:p>
        </p:txBody>
      </p:sp>
      <p:sp>
        <p:nvSpPr>
          <p:cNvPr id="7" name="$0">
            <a:extLst xmlns:a="http://schemas.openxmlformats.org/drawingml/2006/main">
              <a:ext uri="{FF2B5EF4-FFF2-40B4-BE49-F238E27FC236}">
                <a16:creationId xmlns:a16="http://schemas.microsoft.com/office/drawing/2014/main" id="{DE1CE292-DE24-49E1-83C7-D07E3553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8" name="Customer service funds handled by YardMatch">
            <a:extLst xmlns:a="http://schemas.openxmlformats.org/drawingml/2006/main">
              <a:ext uri="{FF2B5EF4-FFF2-40B4-BE49-F238E27FC236}">
                <a16:creationId xmlns:a16="http://schemas.microsoft.com/office/drawing/2014/main" id="{7B466E82-B341-4669-8C6A-853CDD7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 service funds handled by YardMatch</a:t>
            </a:r>
          </a:p>
        </p:txBody>
      </p:sp>
      <p:sp>
        <p:nvSpPr>
          <p:cNvPr id="9" name="$0">
            <a:extLst xmlns:a="http://schemas.openxmlformats.org/drawingml/2006/main">
              <a:ext uri="{FF2B5EF4-FFF2-40B4-BE49-F238E27FC236}">
                <a16:creationId xmlns:a16="http://schemas.microsoft.com/office/drawing/2014/main" id="{DD16A7D6-983C-490D-861B-96A0AB29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10" name="Crew-member fee">
            <a:extLst xmlns:a="http://schemas.openxmlformats.org/drawingml/2006/main">
              <a:ext uri="{FF2B5EF4-FFF2-40B4-BE49-F238E27FC236}">
                <a16:creationId xmlns:a16="http://schemas.microsoft.com/office/drawing/2014/main" id="{A2F0DF6F-18A2-4EBD-AEEE-0E618906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Crew-member fee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4057650"/>
          <a:ext xmlns:a="http://schemas.openxmlformats.org/drawingml/2006/main" cx="10972800" cy="146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YardMatch records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provider controls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Booking, service scope and scheduled 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Cash, check or the provider’s existing payment method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Completion status and service history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billing, collections and tax treatment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eligibility and subscription 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Crew payroll, equipment and operating margin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YardMatch separately bills providers for finder fe">
            <a:extLst xmlns:a="http://schemas.openxmlformats.org/drawingml/2006/main">
              <a:ext uri="{FF2B5EF4-FFF2-40B4-BE49-F238E27FC236}">
                <a16:creationId xmlns:a16="http://schemas.microsoft.com/office/drawing/2014/main" id="{00C0F13F-0AE7-41D2-8C87-F79875D1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 separately bills providers for finder fees and subscriptions. The forecast has no Stripe Connect, payout, chargeback reserve or proprietary payment-engine cost.</a:t>
            </a:r>
          </a:p>
        </p:txBody>
      </p:sp>
    </p:spTree>
    <p:extLst>
      <p:ext uri="{BB962C8B-B14F-4D97-AF65-F5344CB8AC3E}">
        <p14:creationId xmlns:p14="http://schemas.microsoft.com/office/powerpoint/2010/main" val="1130683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$60 mowing is the floor, not the average job">
            <a:extLst xmlns:a="http://schemas.openxmlformats.org/drawingml/2006/main">
              <a:ext uri="{FF2B5EF4-FFF2-40B4-BE49-F238E27FC236}">
                <a16:creationId xmlns:a16="http://schemas.microsoft.com/office/drawing/2014/main" id="{35709A1A-3763-463B-B26B-8A3ADCA4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$60 mowing is the floor, not the average job</a:t>
            </a:r>
          </a:p>
        </p:txBody>
      </p:sp>
      <p:sp>
        <p:nvSpPr>
          <p:cNvPr id="2" name="Service mix, neighborhood, property size and proje">
            <a:extLst xmlns:a="http://schemas.openxmlformats.org/drawingml/2006/main">
              <a:ext uri="{FF2B5EF4-FFF2-40B4-BE49-F238E27FC236}">
                <a16:creationId xmlns:a16="http://schemas.microsoft.com/office/drawing/2014/main" id="{9CEC88DE-E2D8-4E6C-852F-4FB4E88F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Service mix, neighborhood, property size and project work expand provider gross booking value.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C5E3B9C4-E1AB-4353-AD62-BFE2B31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BD772C3A-F661-4C6B-B175-A32437D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286000"/>
                <a:gridCol w="3448050"/>
              </a:tblGrid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2027 starting price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Scheduled jobs / full-season household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Basic mowing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12.00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Mowing + edging / trimming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$85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6.00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Expanded maintenance bundle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Mulch / seasonal cleanup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Tree / larger property project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0.03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national forecast uses the detailed New Jersey">
            <a:extLst xmlns:a="http://schemas.openxmlformats.org/drawingml/2006/main">
              <a:ext uri="{FF2B5EF4-FFF2-40B4-BE49-F238E27FC236}">
                <a16:creationId xmlns:a16="http://schemas.microsoft.com/office/drawing/2014/main" id="{641CE152-AAD3-4702-9898-0786244A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national forecast uses the detailed New Jersey mix as a planning proxy. 2033 weighted average ticket: $139. Customer funds remain provider gross booking value, not YardMatch revenue.</a:t>
            </a:r>
          </a:p>
        </p:txBody>
      </p:sp>
    </p:spTree>
    <p:extLst>
      <p:ext uri="{BB962C8B-B14F-4D97-AF65-F5344CB8AC3E}">
        <p14:creationId xmlns:p14="http://schemas.microsoft.com/office/powerpoint/2010/main" val="1732492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rnegat is the proving ground">
            <a:extLst xmlns:a="http://schemas.openxmlformats.org/drawingml/2006/main">
              <a:ext uri="{FF2B5EF4-FFF2-40B4-BE49-F238E27FC236}">
                <a16:creationId xmlns:a16="http://schemas.microsoft.com/office/drawing/2014/main" id="{FAEBB5EB-BA31-4765-86CD-5BB9F46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Barnegat is the proving ground</a:t>
            </a:r>
          </a:p>
        </p:txBody>
      </p:sp>
      <p:sp>
        <p:nvSpPr>
          <p:cNvPr id="2" name="The pilot converts a known local denominator into ">
            <a:extLst xmlns:a="http://schemas.openxmlformats.org/drawingml/2006/main">
              <a:ext uri="{FF2B5EF4-FFF2-40B4-BE49-F238E27FC236}">
                <a16:creationId xmlns:a16="http://schemas.microsoft.com/office/drawing/2014/main" id="{A9549AD3-155F-4973-8514-DAE8AD2E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pilot converts a known local denominator into measurable launch evidence.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2CDE157-98BD-4804-B211-FEE3D2C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71B32DF4-3E74-48D8-9C65-4169BC47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876550"/>
              </a:tblGrid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Barnegat launch funnel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Census occupied households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Owner-occupied estimate: 88%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9,033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Assumed lawn-care eligibility: 75%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6,775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Assumed propensity to hire: 45%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3,049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 active YardMatch households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The 240-household launch target is a planning assu">
            <a:extLst xmlns:a="http://schemas.openxmlformats.org/drawingml/2006/main">
              <a:ext uri="{FF2B5EF4-FFF2-40B4-BE49-F238E27FC236}">
                <a16:creationId xmlns:a16="http://schemas.microsoft.com/office/drawing/2014/main" id="{CB75439E-2F15-41B7-B7B6-BD926A9A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240-household launch target is a planning assumption, bounded by provider capacity. No signed provider commitments or measured outsourcing propensity are claimed.</a:t>
            </a:r>
          </a:p>
        </p:txBody>
      </p:sp>
    </p:spTree>
    <p:extLst>
      <p:ext uri="{BB962C8B-B14F-4D97-AF65-F5344CB8AC3E}">
        <p14:creationId xmlns:p14="http://schemas.microsoft.com/office/powerpoint/2010/main" val="1041799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he destination is national">
            <a:extLst xmlns:a="http://schemas.openxmlformats.org/drawingml/2006/main">
              <a:ext uri="{FF2B5EF4-FFF2-40B4-BE49-F238E27FC236}">
                <a16:creationId xmlns:a16="http://schemas.microsoft.com/office/drawing/2014/main" id="{671B9E27-E67A-4F90-86C3-16DD5A62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destination is national</a:t>
            </a:r>
          </a:p>
        </p:txBody>
      </p:sp>
      <p:sp>
        <p:nvSpPr>
          <p:cNvPr id="2" name="The base case expands from one New Jersey service ">
            <a:extLst xmlns:a="http://schemas.openxmlformats.org/drawingml/2006/main">
              <a:ext uri="{FF2B5EF4-FFF2-40B4-BE49-F238E27FC236}">
                <a16:creationId xmlns:a16="http://schemas.microsoft.com/office/drawing/2014/main" id="{C819642D-9FFB-4AA8-8EC8-DA3C349D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base case expands from one New Jersey service area to a broad U.S. footprint by 2033.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AF0DFEFD-07BA-4AC8-891B-54812791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D01B6703-FCA0-4FB7-AECC-AC327C8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750">
            <a:extLst xmlns:a="http://schemas.openxmlformats.org/drawingml/2006/main">
              <a:ext uri="{FF2B5EF4-FFF2-40B4-BE49-F238E27FC236}">
                <a16:creationId xmlns:a16="http://schemas.microsoft.com/office/drawing/2014/main" id="{49C2E773-0B4E-43C9-BB1A-0BC3D37B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750</a:t>
            </a:r>
          </a:p>
        </p:txBody>
      </p:sp>
      <p:sp>
        <p:nvSpPr>
          <p:cNvPr id="6" name="active service areas">
            <a:extLst xmlns:a="http://schemas.openxmlformats.org/drawingml/2006/main">
              <a:ext uri="{FF2B5EF4-FFF2-40B4-BE49-F238E27FC236}">
                <a16:creationId xmlns:a16="http://schemas.microsoft.com/office/drawing/2014/main" id="{2DC2772A-9986-4B30-8088-2347DF2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active service areas</a:t>
            </a:r>
          </a:p>
        </p:txBody>
      </p:sp>
      <p:sp>
        <p:nvSpPr>
          <p:cNvPr id="7" name="40">
            <a:extLst xmlns:a="http://schemas.openxmlformats.org/drawingml/2006/main">
              <a:ext uri="{FF2B5EF4-FFF2-40B4-BE49-F238E27FC236}">
                <a16:creationId xmlns:a16="http://schemas.microsoft.com/office/drawing/2014/main" id="{1ABE57AF-CD56-4701-A9CA-0E258BB7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8" name="states">
            <a:extLst xmlns:a="http://schemas.openxmlformats.org/drawingml/2006/main">
              <a:ext uri="{FF2B5EF4-FFF2-40B4-BE49-F238E27FC236}">
                <a16:creationId xmlns:a16="http://schemas.microsoft.com/office/drawing/2014/main" id="{E47DAB0C-FC78-4F23-B380-4538E1A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5277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9" name="50">
            <a:extLst xmlns:a="http://schemas.openxmlformats.org/drawingml/2006/main">
              <a:ext uri="{FF2B5EF4-FFF2-40B4-BE49-F238E27FC236}">
                <a16:creationId xmlns:a16="http://schemas.microsoft.com/office/drawing/2014/main" id="{F2A2757D-01C8-4F8E-AA43-4E922699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50</a:t>
            </a:r>
          </a:p>
        </p:txBody>
      </p:sp>
      <p:sp>
        <p:nvSpPr>
          <p:cNvPr id="10" name="metro clusters">
            <a:extLst xmlns:a="http://schemas.openxmlformats.org/drawingml/2006/main">
              <a:ext uri="{FF2B5EF4-FFF2-40B4-BE49-F238E27FC236}">
                <a16:creationId xmlns:a16="http://schemas.microsoft.com/office/drawing/2014/main" id="{CEB33F6D-EE97-4BAE-8419-D9588BD2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2775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metro clusters</a:t>
            </a:r>
          </a:p>
        </p:txBody>
      </p:sp>
      <p:sp>
        <p:nvSpPr>
          <p:cNvPr id="11" name="380,000">
            <a:extLst xmlns:a="http://schemas.openxmlformats.org/drawingml/2006/main">
              <a:ext uri="{FF2B5EF4-FFF2-40B4-BE49-F238E27FC236}">
                <a16:creationId xmlns:a16="http://schemas.microsoft.com/office/drawing/2014/main" id="{9DE2CD5B-7BD3-49F0-9FD2-B07A40B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380,000</a:t>
            </a:r>
          </a:p>
        </p:txBody>
      </p:sp>
      <p:sp>
        <p:nvSpPr>
          <p:cNvPr id="12" name="active households">
            <a:extLst xmlns:a="http://schemas.openxmlformats.org/drawingml/2006/main">
              <a:ext uri="{FF2B5EF4-FFF2-40B4-BE49-F238E27FC236}">
                <a16:creationId xmlns:a16="http://schemas.microsoft.com/office/drawing/2014/main" id="{69820BA4-6804-4670-8095-060E5DF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527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active households</a:t>
            </a:r>
          </a:p>
        </p:txBody>
      </p:sp>
      <p:sp>
        <p:nvSpPr>
          <p:cNvPr id="13" name="A service area can be one municipality, several ne">
            <a:extLst xmlns:a="http://schemas.openxmlformats.org/drawingml/2006/main">
              <a:ext uri="{FF2B5EF4-FFF2-40B4-BE49-F238E27FC236}">
                <a16:creationId xmlns:a16="http://schemas.microsoft.com/office/drawing/2014/main" id="{5A3D7B0F-2F97-4D32-87BC-B1973E8E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service area can be one municipality, several neighboring small towns, or a suburban neighborhood group.</a:t>
            </a:r>
          </a:p>
        </p:txBody>
      </p:sp>
      <p:sp>
        <p:nvSpPr>
          <p:cNvPr id="14" name="The schedule is a gated operating plan. Missing re">
            <a:extLst xmlns:a="http://schemas.openxmlformats.org/drawingml/2006/main">
              <a:ext uri="{FF2B5EF4-FFF2-40B4-BE49-F238E27FC236}">
                <a16:creationId xmlns:a16="http://schemas.microsoft.com/office/drawing/2014/main" id="{3E52FB56-A98A-4D4F-847E-FC222E2D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The schedule is a gated operating plan. Missing retention, supply or contribution thresholds delays the next cohort.</a:t>
            </a:r>
          </a:p>
        </p:txBody>
      </p:sp>
    </p:spTree>
    <p:extLst>
      <p:ext uri="{BB962C8B-B14F-4D97-AF65-F5344CB8AC3E}">
        <p14:creationId xmlns:p14="http://schemas.microsoft.com/office/powerpoint/2010/main" val="759732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onal expansion accelerates in cohorts">
            <a:extLst xmlns:a="http://schemas.openxmlformats.org/drawingml/2006/main">
              <a:ext uri="{FF2B5EF4-FFF2-40B4-BE49-F238E27FC236}">
                <a16:creationId xmlns:a16="http://schemas.microsoft.com/office/drawing/2014/main" id="{CD7A396C-7EAD-4EB9-B6F5-1539AB33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National expansion accelerates in cohorts</a:t>
            </a:r>
          </a:p>
        </p:txBody>
      </p:sp>
      <p:sp>
        <p:nvSpPr>
          <p:cNvPr id="2" name="The base case reaches multiple states in 2029 and ">
            <a:extLst xmlns:a="http://schemas.openxmlformats.org/drawingml/2006/main">
              <a:ext uri="{FF2B5EF4-FFF2-40B4-BE49-F238E27FC236}">
                <a16:creationId xmlns:a16="http://schemas.microsoft.com/office/drawing/2014/main" id="{1756F37C-844C-4673-95DF-628105F7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base case reaches multiple states in 2029 and 40 states by 2033.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86718392-AAE8-4AD6-AB6A-094E5BEA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4CE41356-E35F-4601-B1E6-64178F0F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476500"/>
                <a:gridCol w="1714500"/>
                <a:gridCol w="2476500"/>
                <a:gridCol w="2686050"/>
              </a:tblGrid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service areas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Metro clusters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areas launched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Base footprint: 1, 6, 25, 70, 175, 400 and 750 ser">
            <a:extLst xmlns:a="http://schemas.openxmlformats.org/drawingml/2006/main">
              <a:ext uri="{FF2B5EF4-FFF2-40B4-BE49-F238E27FC236}">
                <a16:creationId xmlns:a16="http://schemas.microsoft.com/office/drawing/2014/main" id="{F3EEDDB2-065D-4BE5-99F6-FD76610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Base footprint: 1, 6, 25, 70, 175, 400 and 750 service areas. Downside reaches 400 areas / 25 states; upside reaches 1,200 areas / 48 states.</a:t>
            </a:r>
          </a:p>
        </p:txBody>
      </p:sp>
    </p:spTree>
    <p:extLst>
      <p:ext uri="{BB962C8B-B14F-4D97-AF65-F5344CB8AC3E}">
        <p14:creationId xmlns:p14="http://schemas.microsoft.com/office/powerpoint/2010/main" val="1247346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 market needs several seasons to mature">
            <a:extLst xmlns:a="http://schemas.openxmlformats.org/drawingml/2006/main">
              <a:ext uri="{FF2B5EF4-FFF2-40B4-BE49-F238E27FC236}">
                <a16:creationId xmlns:a16="http://schemas.microsoft.com/office/drawing/2014/main" id="{A212CF61-5420-4FEC-87E8-70E04849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 market needs several seasons to mature</a:t>
            </a:r>
          </a:p>
        </p:txBody>
      </p:sp>
      <p:sp>
        <p:nvSpPr>
          <p:cNvPr id="2" name="The model separates launch speed from household de">
            <a:extLst xmlns:a="http://schemas.openxmlformats.org/drawingml/2006/main">
              <a:ext uri="{FF2B5EF4-FFF2-40B4-BE49-F238E27FC236}">
                <a16:creationId xmlns:a16="http://schemas.microsoft.com/office/drawing/2014/main" id="{1B7F7113-4C15-4635-B25F-2C21856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model separates launch speed from household density inside each service area.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AAE0187D-F38A-4C28-8E05-8AA9C820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2F13B54D-1150-452E-AA94-7DD4970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00350"/>
                <a:gridCol w="5791200"/>
              </a:tblGrid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Service-area age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households / area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must be proven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Supply, first-job completion and fee acceptance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Second-season retention and route density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Repeatable acquisition and local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1,100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capacity and Pro conversion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5+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1,300–1,550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Durable density and metro-level operating leverage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A service area does not reach maturity in one year">
            <a:extLst xmlns:a="http://schemas.openxmlformats.org/drawingml/2006/main">
              <a:ext uri="{FF2B5EF4-FFF2-40B4-BE49-F238E27FC236}">
                <a16:creationId xmlns:a16="http://schemas.microsoft.com/office/drawing/2014/main" id="{C53AD371-0CCD-4244-8F01-EE5B425D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service area does not reach maturity in one year. New cohorts create heavy acquisition and launch spending even while older cohorts become more productive.</a:t>
            </a:r>
          </a:p>
        </p:txBody>
      </p:sp>
    </p:spTree>
    <p:extLst>
      <p:ext uri="{BB962C8B-B14F-4D97-AF65-F5344CB8AC3E}">
        <p14:creationId xmlns:p14="http://schemas.microsoft.com/office/powerpoint/2010/main" val="9715125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ery new cohort passes the same launch gates">
            <a:extLst xmlns:a="http://schemas.openxmlformats.org/drawingml/2006/main">
              <a:ext uri="{FF2B5EF4-FFF2-40B4-BE49-F238E27FC236}">
                <a16:creationId xmlns:a16="http://schemas.microsoft.com/office/drawing/2014/main" id="{3451C716-DAFA-4CCE-B04D-BB967359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Every new cohort passes the same launch gates</a:t>
            </a:r>
          </a:p>
        </p:txBody>
      </p:sp>
      <p:sp>
        <p:nvSpPr>
          <p:cNvPr id="2" name="Town-by-town execution protects the recommendation">
            <a:extLst xmlns:a="http://schemas.openxmlformats.org/drawingml/2006/main">
              <a:ext uri="{FF2B5EF4-FFF2-40B4-BE49-F238E27FC236}">
                <a16:creationId xmlns:a16="http://schemas.microsoft.com/office/drawing/2014/main" id="{604931C0-7144-4202-9489-7F34D5A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Town-by-town execution protects the recommendation quality and provider experience.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5C907444-827C-4A57-AB9C-0FEC8D8F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C2A88B5C-6B68-4DDB-84C1-63E1B353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before expanding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Verified providers cover the service types, geography and seasonal capacity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Demand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Local CAC and booking conversion support the next marketing tranche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Reliability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Completion, arrival and issue-resolution standards hold under 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Homeowners return the next season and providers stay active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Economics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acceptance and contribution cover local growth spending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xpansion can move to adjacent municipalities fast">
            <a:extLst xmlns:a="http://schemas.openxmlformats.org/drawingml/2006/main">
              <a:ext uri="{FF2B5EF4-FFF2-40B4-BE49-F238E27FC236}">
                <a16:creationId xmlns:a16="http://schemas.microsoft.com/office/drawing/2014/main" id="{CD354E95-D738-4A88-80AF-9BDFF57F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Expansion can move to adjacent municipalities faster when the same provider base and marketing channels carry across the boundary.</a:t>
            </a:r>
          </a:p>
        </p:txBody>
      </p:sp>
    </p:spTree>
    <p:extLst>
      <p:ext uri="{BB962C8B-B14F-4D97-AF65-F5344CB8AC3E}">
        <p14:creationId xmlns:p14="http://schemas.microsoft.com/office/powerpoint/2010/main" val="13760556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horts create a national marketplace by 2033">
            <a:extLst xmlns:a="http://schemas.openxmlformats.org/drawingml/2006/main">
              <a:ext uri="{FF2B5EF4-FFF2-40B4-BE49-F238E27FC236}">
                <a16:creationId xmlns:a16="http://schemas.microsoft.com/office/drawing/2014/main" id="{83FB64B8-A47C-4F26-B618-36439FD2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Cohorts create a national marketplace by 2033</a:t>
            </a:r>
          </a:p>
        </p:txBody>
      </p:sp>
      <p:sp>
        <p:nvSpPr>
          <p:cNvPr id="2" name="Base case operational scale. Gross booking value i">
            <a:extLst xmlns:a="http://schemas.openxmlformats.org/drawingml/2006/main">
              <a:ext uri="{FF2B5EF4-FFF2-40B4-BE49-F238E27FC236}">
                <a16:creationId xmlns:a16="http://schemas.microsoft.com/office/drawing/2014/main" id="{00505948-0240-4E39-822E-7FA9ECF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Base case operational scale. Gross booking value is paid directly to providers.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EAC2E68-14F3-4112-B6E9-F1C456E2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B4588270-73D2-45AE-A296-CA09C3FC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74295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77462a9d84c0b"/>
          </a:graphicData>
        </a:graphic>
      </p:graphicFrame>
      <p:sp>
        <p:nvSpPr>
          <p:cNvPr id="6" name="380,000">
            <a:extLst xmlns:a="http://schemas.openxmlformats.org/drawingml/2006/main">
              <a:ext uri="{FF2B5EF4-FFF2-40B4-BE49-F238E27FC236}">
                <a16:creationId xmlns:a16="http://schemas.microsoft.com/office/drawing/2014/main" id="{E51567F2-F88F-4FB6-95DA-1CA39442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380,000</a:t>
            </a:r>
          </a:p>
        </p:txBody>
      </p:sp>
      <p:sp>
        <p:nvSpPr>
          <p:cNvPr id="7" name="2033 active households">
            <a:extLst xmlns:a="http://schemas.openxmlformats.org/drawingml/2006/main">
              <a:ext uri="{FF2B5EF4-FFF2-40B4-BE49-F238E27FC236}">
                <a16:creationId xmlns:a16="http://schemas.microsoft.com/office/drawing/2014/main" id="{2E1BFF73-BD6A-422C-9FE4-3C6C599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active households</a:t>
            </a:r>
          </a:p>
        </p:txBody>
      </p:sp>
      <p:sp>
        <p:nvSpPr>
          <p:cNvPr id="8" name="9,500">
            <a:extLst xmlns:a="http://schemas.openxmlformats.org/drawingml/2006/main">
              <a:ext uri="{FF2B5EF4-FFF2-40B4-BE49-F238E27FC236}">
                <a16:creationId xmlns:a16="http://schemas.microsoft.com/office/drawing/2014/main" id="{8BA51EB0-9B9F-4E99-B476-317D96F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9,500</a:t>
            </a:r>
          </a:p>
        </p:txBody>
      </p:sp>
      <p:sp>
        <p:nvSpPr>
          <p:cNvPr id="9" name="2033 active providers">
            <a:extLst xmlns:a="http://schemas.openxmlformats.org/drawingml/2006/main">
              <a:ext uri="{FF2B5EF4-FFF2-40B4-BE49-F238E27FC236}">
                <a16:creationId xmlns:a16="http://schemas.microsoft.com/office/drawing/2014/main" id="{7AD44DBC-6092-4147-B30E-C11C7884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active providers</a:t>
            </a:r>
          </a:p>
        </p:txBody>
      </p:sp>
      <p:sp>
        <p:nvSpPr>
          <p:cNvPr id="10" name="$653.8m">
            <a:extLst xmlns:a="http://schemas.openxmlformats.org/drawingml/2006/main">
              <a:ext uri="{FF2B5EF4-FFF2-40B4-BE49-F238E27FC236}">
                <a16:creationId xmlns:a16="http://schemas.microsoft.com/office/drawing/2014/main" id="{EE7A3E31-FBD3-41D2-9695-10266F3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$653.8m</a:t>
            </a:r>
          </a:p>
        </p:txBody>
      </p:sp>
      <p:sp>
        <p:nvSpPr>
          <p:cNvPr id="11" name="2033 provider gross booking value">
            <a:extLst xmlns:a="http://schemas.openxmlformats.org/drawingml/2006/main">
              <a:ext uri="{FF2B5EF4-FFF2-40B4-BE49-F238E27FC236}">
                <a16:creationId xmlns:a16="http://schemas.microsoft.com/office/drawing/2014/main" id="{D8FF348D-F346-4694-9CF0-6CF95FD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provider gross booking value</a:t>
            </a:r>
          </a:p>
        </p:txBody>
      </p:sp>
    </p:spTree>
    <p:extLst>
      <p:ext uri="{BB962C8B-B14F-4D97-AF65-F5344CB8AC3E}">
        <p14:creationId xmlns:p14="http://schemas.microsoft.com/office/powerpoint/2010/main" val="2147053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venue reaches $24.2m in 2033">
            <a:extLst xmlns:a="http://schemas.openxmlformats.org/drawingml/2006/main">
              <a:ext uri="{FF2B5EF4-FFF2-40B4-BE49-F238E27FC236}">
                <a16:creationId xmlns:a16="http://schemas.microsoft.com/office/drawing/2014/main" id="{AE118532-6B42-4CE9-B6AD-FD801C9A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Revenue reaches $24.2m in 2033</a:t>
            </a:r>
          </a:p>
        </p:txBody>
      </p:sp>
      <p:sp>
        <p:nvSpPr>
          <p:cNvPr id="2" name="Finder fees fund customer acquisition; provider su">
            <a:extLst xmlns:a="http://schemas.openxmlformats.org/drawingml/2006/main">
              <a:ext uri="{FF2B5EF4-FFF2-40B4-BE49-F238E27FC236}">
                <a16:creationId xmlns:a16="http://schemas.microsoft.com/office/drawing/2014/main" id="{85920A35-D2D1-411C-A3EB-EC50C2B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Finder fees fund customer acquisition; provider subscriptions add recurring company revenue.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8866787-A57B-4732-A4DD-578EB0A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60052CE5-E52C-4BF8-AF1B-E8BE7BA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133f28b95439f"/>
          </a:graphicData>
        </a:graphic>
      </p:graphicFrame>
      <p:sp>
        <p:nvSpPr>
          <p:cNvPr id="6" name="2033: $21.1m finder-fee revenue plus $3.1m net sub">
            <a:extLst xmlns:a="http://schemas.openxmlformats.org/drawingml/2006/main">
              <a:ext uri="{FF2B5EF4-FFF2-40B4-BE49-F238E27FC236}">
                <a16:creationId xmlns:a16="http://schemas.microsoft.com/office/drawing/2014/main" id="{F77A4731-EDD5-4ACD-A443-2440824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2033: $21.1m finder-fee revenue plus $3.1m net subscription revenue. YardMatch revenue equals 3.7% of provider gross booking value.</a:t>
            </a:r>
          </a:p>
        </p:txBody>
      </p:sp>
    </p:spTree>
    <p:extLst>
      <p:ext uri="{BB962C8B-B14F-4D97-AF65-F5344CB8AC3E}">
        <p14:creationId xmlns:p14="http://schemas.microsoft.com/office/powerpoint/2010/main" val="562163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national base case earns operating leverage">
            <a:extLst xmlns:a="http://schemas.openxmlformats.org/drawingml/2006/main">
              <a:ext uri="{FF2B5EF4-FFF2-40B4-BE49-F238E27FC236}">
                <a16:creationId xmlns:a16="http://schemas.microsoft.com/office/drawing/2014/main" id="{7AC0B26D-D88C-4FB8-A677-AFCFB90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national base case earns operating leverage</a:t>
            </a:r>
          </a:p>
        </p:txBody>
      </p:sp>
      <p:sp>
        <p:nvSpPr>
          <p:cNvPr id="2" name="2033 EBITDA bridge. US$ millions.">
            <a:extLst xmlns:a="http://schemas.openxmlformats.org/drawingml/2006/main">
              <a:ext uri="{FF2B5EF4-FFF2-40B4-BE49-F238E27FC236}">
                <a16:creationId xmlns:a16="http://schemas.microsoft.com/office/drawing/2014/main" id="{58C92FFE-6422-43D8-9B2C-4488461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 EBITDA bridge. US$ millions.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45EA2FDC-D29C-44CF-A8C5-AEEFFCDA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A27EEDAC-38D2-4364-95F7-C35EFC7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733800"/>
              </a:tblGrid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2033 base bridge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$21.1m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Net Pro and Teams revenue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$3.1m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Cost of 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($1.7)m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and provider acquisition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($7.5)m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Payroll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($6.6)m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Corporate + local operations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($4.8)m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 operating expense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($0.1)m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EBITDA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$3.4m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2033 net income proxy: $2.4m. The model includes 6">
            <a:extLst xmlns:a="http://schemas.openxmlformats.org/drawingml/2006/main">
              <a:ext uri="{FF2B5EF4-FFF2-40B4-BE49-F238E27FC236}">
                <a16:creationId xmlns:a16="http://schemas.microsoft.com/office/drawing/2014/main" id="{FE72A25C-3A3C-4A03-BAFF-31EB6A33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 net income proxy: $2.4m. The model includes 60 paid employees and $4.3m of that year’s service-area launch, coverage and regional operating spend.</a:t>
            </a:r>
          </a:p>
        </p:txBody>
      </p:sp>
    </p:spTree>
    <p:extLst>
      <p:ext uri="{BB962C8B-B14F-4D97-AF65-F5344CB8AC3E}">
        <p14:creationId xmlns:p14="http://schemas.microsoft.com/office/powerpoint/2010/main" val="15638393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se EBITDA turns positive in 2033">
            <a:extLst xmlns:a="http://schemas.openxmlformats.org/drawingml/2006/main">
              <a:ext uri="{FF2B5EF4-FFF2-40B4-BE49-F238E27FC236}">
                <a16:creationId xmlns:a16="http://schemas.microsoft.com/office/drawing/2014/main" id="{B05F3005-DF20-4F1F-8A8F-EF981119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Base EBITDA turns positive in 2033</a:t>
            </a:r>
          </a:p>
        </p:txBody>
      </p:sp>
      <p:sp>
        <p:nvSpPr>
          <p:cNvPr id="2" name="Scenario outcomes reflect different rollout speeds">
            <a:extLst xmlns:a="http://schemas.openxmlformats.org/drawingml/2006/main">
              <a:ext uri="{FF2B5EF4-FFF2-40B4-BE49-F238E27FC236}">
                <a16:creationId xmlns:a16="http://schemas.microsoft.com/office/drawing/2014/main" id="{D8CCA874-2A76-45B4-BDA6-2C85A82A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Scenario outcomes reflect different rollout speeds, CAC, staffing and overhead.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F87EAC4-5BA4-47F2-A363-394E501F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6331F91B-0232-4490-807D-69ABDB44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476500"/>
                <a:gridCol w="2476500"/>
                <a:gridCol w="2495550"/>
              </a:tblGrid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2033 result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Downside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Upside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Service areas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$13.9m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$24.2m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$38.2m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EBITDA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($0.8)m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$3.4m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$9.3m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Net income proxy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($1.0)m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$2.4m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$6.8m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positive EBITDA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After 2033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The downside remains EBITDA-negative in 2033. The ">
            <a:extLst xmlns:a="http://schemas.openxmlformats.org/drawingml/2006/main">
              <a:ext uri="{FF2B5EF4-FFF2-40B4-BE49-F238E27FC236}">
                <a16:creationId xmlns:a16="http://schemas.microsoft.com/office/drawing/2014/main" id="{0818C01F-DA39-4242-9945-4B8877B2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downside remains EBITDA-negative in 2033. The base becomes positive in 2033, while the upside reaches profitability in 2032. Rollout speed alone does not remove execution risk.</a:t>
            </a:r>
          </a:p>
        </p:txBody>
      </p:sp>
    </p:spTree>
    <p:extLst>
      <p:ext uri="{BB962C8B-B14F-4D97-AF65-F5344CB8AC3E}">
        <p14:creationId xmlns:p14="http://schemas.microsoft.com/office/powerpoint/2010/main" val="11877205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model requires staged capital before break-eve">
            <a:extLst xmlns:a="http://schemas.openxmlformats.org/drawingml/2006/main">
              <a:ext uri="{FF2B5EF4-FFF2-40B4-BE49-F238E27FC236}">
                <a16:creationId xmlns:a16="http://schemas.microsoft.com/office/drawing/2014/main" id="{80E58AB3-A184-411D-A388-FEF02AB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model requires staged capital before break-even</a:t>
            </a:r>
          </a:p>
        </p:txBody>
      </p:sp>
      <p:sp>
        <p:nvSpPr>
          <p:cNvPr id="2" name="The initial round funds proof; later rounds fund n">
            <a:extLst xmlns:a="http://schemas.openxmlformats.org/drawingml/2006/main">
              <a:ext uri="{FF2B5EF4-FFF2-40B4-BE49-F238E27FC236}">
                <a16:creationId xmlns:a16="http://schemas.microsoft.com/office/drawing/2014/main" id="{E66E2DDD-6339-46F7-A115-7347E06B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initial round funds proof; later rounds fund national acceleration.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92FC1E7-0BF6-425A-9C96-468F6FE3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BF72D14D-6A22-463F-92B9-C1F1DE2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$5.6m">
            <a:extLst xmlns:a="http://schemas.openxmlformats.org/drawingml/2006/main">
              <a:ext uri="{FF2B5EF4-FFF2-40B4-BE49-F238E27FC236}">
                <a16:creationId xmlns:a16="http://schemas.microsoft.com/office/drawing/2014/main" id="{3D147491-6963-4D95-B88A-A8A60E4A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$5.6m</a:t>
            </a:r>
          </a:p>
        </p:txBody>
      </p:sp>
      <p:sp>
        <p:nvSpPr>
          <p:cNvPr id="6" name="peak cumulative funding deficit">
            <a:extLst xmlns:a="http://schemas.openxmlformats.org/drawingml/2006/main">
              <a:ext uri="{FF2B5EF4-FFF2-40B4-BE49-F238E27FC236}">
                <a16:creationId xmlns:a16="http://schemas.microsoft.com/office/drawing/2014/main" id="{EA26CB53-A9CC-4545-BDDF-EFE174F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peak cumulative funding deficit</a:t>
            </a:r>
          </a:p>
        </p:txBody>
      </p:sp>
      <p:sp>
        <p:nvSpPr>
          <p:cNvPr id="7" name="$11.4m">
            <a:extLst xmlns:a="http://schemas.openxmlformats.org/drawingml/2006/main">
              <a:ext uri="{FF2B5EF4-FFF2-40B4-BE49-F238E27FC236}">
                <a16:creationId xmlns:a16="http://schemas.microsoft.com/office/drawing/2014/main" id="{5F8B261F-5C2E-4CEC-B025-48D31137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907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$11.4m</a:t>
            </a:r>
          </a:p>
        </p:txBody>
      </p:sp>
      <p:sp>
        <p:nvSpPr>
          <p:cNvPr id="8" name="capital need through 2033 incl. six-month buffer">
            <a:extLst xmlns:a="http://schemas.openxmlformats.org/drawingml/2006/main">
              <a:ext uri="{FF2B5EF4-FFF2-40B4-BE49-F238E27FC236}">
                <a16:creationId xmlns:a16="http://schemas.microsoft.com/office/drawing/2014/main" id="{383C7CD3-DD42-4022-93D0-8FA553F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861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capital need through 2033 incl. six-month buffer</a:t>
            </a:r>
          </a:p>
        </p:txBody>
      </p:sp>
      <p:sp>
        <p:nvSpPr>
          <p:cNvPr id="9" name="$2.3m">
            <a:extLst xmlns:a="http://schemas.openxmlformats.org/drawingml/2006/main">
              <a:ext uri="{FF2B5EF4-FFF2-40B4-BE49-F238E27FC236}">
                <a16:creationId xmlns:a16="http://schemas.microsoft.com/office/drawing/2014/main" id="{8B7A780A-4F52-4639-9983-B5249794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$2.3m</a:t>
            </a:r>
          </a:p>
        </p:txBody>
      </p:sp>
      <p:sp>
        <p:nvSpPr>
          <p:cNvPr id="10" name="2033 free cash flow before financing">
            <a:extLst xmlns:a="http://schemas.openxmlformats.org/drawingml/2006/main">
              <a:ext uri="{FF2B5EF4-FFF2-40B4-BE49-F238E27FC236}">
                <a16:creationId xmlns:a16="http://schemas.microsoft.com/office/drawing/2014/main" id="{33418E54-8F9D-4F66-9531-66BF1B01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free cash flow before financing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4095750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financing view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$1.5m initial round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Validate Barnegat, adjacent NJ cohorts and provider pricing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Follow-on capital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Fund metro replication, staffing and household acquisition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Operating cash generation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Begins after base EBITDA turns positive in 2033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he workbook assumes only the initial $1.5m financ">
            <a:extLst xmlns:a="http://schemas.openxmlformats.org/drawingml/2006/main">
              <a:ext uri="{FF2B5EF4-FFF2-40B4-BE49-F238E27FC236}">
                <a16:creationId xmlns:a16="http://schemas.microsoft.com/office/drawing/2014/main" id="{6D8C4715-1D75-4DA1-987C-6207FEDA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workbook assumes only the initial $1.5m financing in the cash balance. The capital-need metric adds six months of fixed-cost buffer to the peak cumulative deficit; actual round timing requires a monthly plan.</a:t>
            </a:r>
          </a:p>
        </p:txBody>
      </p:sp>
    </p:spTree>
    <p:extLst>
      <p:ext uri="{BB962C8B-B14F-4D97-AF65-F5344CB8AC3E}">
        <p14:creationId xmlns:p14="http://schemas.microsoft.com/office/powerpoint/2010/main" val="1573470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team scales with the footprint">
            <a:extLst xmlns:a="http://schemas.openxmlformats.org/drawingml/2006/main">
              <a:ext uri="{FF2B5EF4-FFF2-40B4-BE49-F238E27FC236}">
                <a16:creationId xmlns:a16="http://schemas.microsoft.com/office/drawing/2014/main" id="{4A196F06-6A76-4556-B0EA-DCA56335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team scales with the footprint</a:t>
            </a:r>
          </a:p>
        </p:txBody>
      </p:sp>
      <p:sp>
        <p:nvSpPr>
          <p:cNvPr id="2" name="A remote company still needs product, growth, mark">
            <a:extLst xmlns:a="http://schemas.openxmlformats.org/drawingml/2006/main">
              <a:ext uri="{FF2B5EF4-FFF2-40B4-BE49-F238E27FC236}">
                <a16:creationId xmlns:a16="http://schemas.microsoft.com/office/drawing/2014/main" id="{23DE4C24-5A8B-4081-AFB0-C305F61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remote company still needs product, growth, marketplace and regional operating capacity.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621022D-FC33-49AA-9C84-41AE3E46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63756171-EB02-46A2-80C5-4581952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2047875"/>
                <a:gridCol w="2047875"/>
                <a:gridCol w="2914650"/>
                <a:gridCol w="2476500"/>
              </a:tblGrid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Paid employees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areas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Payroll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$0.3m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1,750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$0.5m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8,160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$0.8m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26,600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$1.6m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72,900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$2.7m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178,850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$4.3m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380,000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$6.6m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Fully remote: no office rent, facilities or utilit">
            <a:extLst xmlns:a="http://schemas.openxmlformats.org/drawingml/2006/main">
              <a:ext uri="{FF2B5EF4-FFF2-40B4-BE49-F238E27FC236}">
                <a16:creationId xmlns:a16="http://schemas.microsoft.com/office/drawing/2014/main" id="{238C7052-0C15-488C-B733-4280B37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Fully remote: no office rent, facilities or utilities. Payroll uses an average fully loaded cost rising from $100,000 in 2027 to $110,000 in 2033.</a:t>
            </a:r>
          </a:p>
        </p:txBody>
      </p:sp>
    </p:spTree>
    <p:extLst>
      <p:ext uri="{BB962C8B-B14F-4D97-AF65-F5344CB8AC3E}">
        <p14:creationId xmlns:p14="http://schemas.microsoft.com/office/powerpoint/2010/main" val="16194070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wnership starts at 70% / 30%, then dilutes">
            <a:extLst xmlns:a="http://schemas.openxmlformats.org/drawingml/2006/main">
              <a:ext uri="{FF2B5EF4-FFF2-40B4-BE49-F238E27FC236}">
                <a16:creationId xmlns:a16="http://schemas.microsoft.com/office/drawing/2014/main" id="{9CC12A0C-CE80-42E7-B529-E7AC242E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Ownership starts at 70% / 30%, then dilutes</a:t>
            </a:r>
          </a:p>
        </p:txBody>
      </p:sp>
      <p:sp>
        <p:nvSpPr>
          <p:cNvPr id="2" name="Illustrative priced rounds show how new capital af">
            <a:extLst xmlns:a="http://schemas.openxmlformats.org/drawingml/2006/main">
              <a:ext uri="{FF2B5EF4-FFF2-40B4-BE49-F238E27FC236}">
                <a16:creationId xmlns:a16="http://schemas.microsoft.com/office/drawing/2014/main" id="{9D4BAFC7-3FEA-462C-BAEC-B30B380F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Illustrative priced rounds show how new capital affects every existing owner.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764A6A2-2956-461C-BE78-90908B86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9741AD57-91D1-485E-BD11-4DE08327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533650"/>
                <a:gridCol w="2533650"/>
              </a:tblGrid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financing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20% round 1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20% round 2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56.0%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44.8%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Other initial owners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19.2%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Round 1 investors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16.0%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Round 2 investors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 1 illustrates $1.5m for 20%, implying $6.0m ">
            <a:extLst xmlns:a="http://schemas.openxmlformats.org/drawingml/2006/main">
              <a:ext uri="{FF2B5EF4-FFF2-40B4-BE49-F238E27FC236}">
                <a16:creationId xmlns:a16="http://schemas.microsoft.com/office/drawing/2014/main" id="{100D792B-7F6F-41ED-BAA4-08D89A08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Round 1 illustrates $1.5m for 20%, implying $6.0m pre-money and $7.5m post-money. These are discussion assumptions, not an agreed valuation or term sheet.</a:t>
            </a:r>
          </a:p>
        </p:txBody>
      </p:sp>
    </p:spTree>
    <p:extLst>
      <p:ext uri="{BB962C8B-B14F-4D97-AF65-F5344CB8AC3E}">
        <p14:creationId xmlns:p14="http://schemas.microsoft.com/office/powerpoint/2010/main" val="12208872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pital buys a repeatable national launch system">
            <a:extLst xmlns:a="http://schemas.openxmlformats.org/drawingml/2006/main">
              <a:ext uri="{FF2B5EF4-FFF2-40B4-BE49-F238E27FC236}">
                <a16:creationId xmlns:a16="http://schemas.microsoft.com/office/drawing/2014/main" id="{C71C9D49-5B2A-4F41-9F11-65D4877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Capital buys a repeatable national launch system</a:t>
            </a:r>
          </a:p>
        </p:txBody>
      </p:sp>
      <p:sp>
        <p:nvSpPr>
          <p:cNvPr id="2" name="The first dollars reduce uncertainty before the co">
            <a:extLst xmlns:a="http://schemas.openxmlformats.org/drawingml/2006/main">
              <a:ext uri="{FF2B5EF4-FFF2-40B4-BE49-F238E27FC236}">
                <a16:creationId xmlns:a16="http://schemas.microsoft.com/office/drawing/2014/main" id="{BCD7450D-D987-4E26-9997-67CE3492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first dollars reduce uncertainty before the company accelerates.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8A90D3BE-5EBD-4358-BB0C-F8A1318F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40F4B815-DCAA-460A-8BEA-E02CF3E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money proves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Marketplace liquidity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Enough verified supply and homeowner demand in each launch cohort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Product reliability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Recommendation, booking, scheduling, crew workflow and service history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Acquisition playbook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Repeatable local channels with CAC that improves as the network grows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monetization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Acceptance of finder tiers and conversion to Pro / Teams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Operating controls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Support, quality, local launch and auditable marketplace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 payment engine is outside the plan. Capital is d">
            <a:extLst xmlns:a="http://schemas.openxmlformats.org/drawingml/2006/main">
              <a:ext uri="{FF2B5EF4-FFF2-40B4-BE49-F238E27FC236}">
                <a16:creationId xmlns:a16="http://schemas.microsoft.com/office/drawing/2014/main" id="{35395419-30D5-4451-A645-642AE968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payment engine is outside the plan. Capital is directed to demand, supply, product reliability and provider software.</a:t>
            </a:r>
          </a:p>
        </p:txBody>
      </p:sp>
    </p:spTree>
    <p:extLst>
      <p:ext uri="{BB962C8B-B14F-4D97-AF65-F5344CB8AC3E}">
        <p14:creationId xmlns:p14="http://schemas.microsoft.com/office/powerpoint/2010/main" val="9724541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next round should be earned with cohort eviden">
            <a:extLst xmlns:a="http://schemas.openxmlformats.org/drawingml/2006/main">
              <a:ext uri="{FF2B5EF4-FFF2-40B4-BE49-F238E27FC236}">
                <a16:creationId xmlns:a16="http://schemas.microsoft.com/office/drawing/2014/main" id="{31C597C1-3CD2-4D79-B42F-688F557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next round should be earned with cohort evidence</a:t>
            </a:r>
          </a:p>
        </p:txBody>
      </p:sp>
      <p:sp>
        <p:nvSpPr>
          <p:cNvPr id="2" name="Investors should see that the Barnegat result can ">
            <a:extLst xmlns:a="http://schemas.openxmlformats.org/drawingml/2006/main">
              <a:ext uri="{FF2B5EF4-FFF2-40B4-BE49-F238E27FC236}">
                <a16:creationId xmlns:a16="http://schemas.microsoft.com/office/drawing/2014/main" id="{F72BD770-8914-4EC7-87C8-A0AD2A0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Investors should see that the Barnegat result can be reproduced in the next markets.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A5F26CFB-7F56-4D86-A46C-6CDC1E00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6BE6ED02-7671-456C-8DBB-65447094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proof point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Demand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 active launch households and measurable booking conversion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Second-season homeowner and provider 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Pricing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acceptance across $75 / $110 / $150 property tiers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Providers use recruiting and workflow tools as customer demand rises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Replication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The same economics hold in adjacent service areas and a second metro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national forecast is credible only if early co">
            <a:extLst xmlns:a="http://schemas.openxmlformats.org/drawingml/2006/main">
              <a:ext uri="{FF2B5EF4-FFF2-40B4-BE49-F238E27FC236}">
                <a16:creationId xmlns:a16="http://schemas.microsoft.com/office/drawing/2014/main" id="{6B0B87AD-CDD8-4E04-8393-5D18B90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national forecast is credible only if early cohorts prove these inputs. Expansion pauses when quality, retention, supply or contribution misses the gate.</a:t>
            </a:r>
          </a:p>
        </p:txBody>
      </p:sp>
    </p:spTree>
    <p:extLst>
      <p:ext uri="{BB962C8B-B14F-4D97-AF65-F5344CB8AC3E}">
        <p14:creationId xmlns:p14="http://schemas.microsoft.com/office/powerpoint/2010/main" val="7553046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model makes the major risks visible">
            <a:extLst xmlns:a="http://schemas.openxmlformats.org/drawingml/2006/main">
              <a:ext uri="{FF2B5EF4-FFF2-40B4-BE49-F238E27FC236}">
                <a16:creationId xmlns:a16="http://schemas.microsoft.com/office/drawing/2014/main" id="{EA93770C-0620-4CA6-B234-D015F12D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model makes the major risks visible</a:t>
            </a:r>
          </a:p>
        </p:txBody>
      </p:sp>
      <p:sp>
        <p:nvSpPr>
          <p:cNvPr id="2" name="The upside is large because the plan is ambitious;">
            <a:extLst xmlns:a="http://schemas.openxmlformats.org/drawingml/2006/main">
              <a:ext uri="{FF2B5EF4-FFF2-40B4-BE49-F238E27FC236}">
                <a16:creationId xmlns:a16="http://schemas.microsoft.com/office/drawing/2014/main" id="{691C6548-56EC-421F-BBB2-6F755B8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upside is large because the plan is ambitious; the assumptions require evidence.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4A516466-D282-493E-BB6D-B6113310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2B096BDD-1C84-4442-A067-6CAA3E8A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8067675"/>
              </a:tblGrid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model assumes / how to manage it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Launch velocity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350 new service areas in 2033; use cohort gates and adjacent-market reuse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fee acceptance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One-time finder fee follows a completed paid job; validate tier thresholds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Off-platform behavior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Software and service history must keep the relationship useful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 adoption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60% Pro / Teams share by 2033; recruiting is the key wedge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Seasonality and cash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Staged rounds and a six-month fixed-cost buffer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Service quality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Curated supply, backup providers and auditable operations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140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ources and basis">
            <a:extLst xmlns:a="http://schemas.openxmlformats.org/drawingml/2006/main">
              <a:ext uri="{FF2B5EF4-FFF2-40B4-BE49-F238E27FC236}">
                <a16:creationId xmlns:a16="http://schemas.microsoft.com/office/drawing/2014/main" id="{12E670FF-37FD-4E47-A232-9DCF616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Sources and basis</a:t>
            </a:r>
          </a:p>
        </p:txBody>
      </p:sp>
      <p:sp>
        <p:nvSpPr>
          <p:cNvPr id="2" name="Prepared September 27, 2026. Financial projections">
            <a:extLst xmlns:a="http://schemas.openxmlformats.org/drawingml/2006/main">
              <a:ext uri="{FF2B5EF4-FFF2-40B4-BE49-F238E27FC236}">
                <a16:creationId xmlns:a16="http://schemas.microsoft.com/office/drawing/2014/main" id="{57ACAC9D-3DCD-4228-AEBA-375DDAC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Prepared September 27, 2026. Financial projections use explicit planning assumptions.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D2C8B4AA-14A5-47C8-898D-1B983700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5">
            <a:extLst xmlns:a="http://schemas.openxmlformats.org/drawingml/2006/main">
              <a:ext uri="{FF2B5EF4-FFF2-40B4-BE49-F238E27FC236}">
                <a16:creationId xmlns:a16="http://schemas.microsoft.com/office/drawing/2014/main" id="{B1FFAE8B-A3A9-4159-A263-075C17D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Company materials">
            <a:extLst xmlns:a="http://schemas.openxmlformats.org/drawingml/2006/main">
              <a:ext uri="{FF2B5EF4-FFF2-40B4-BE49-F238E27FC236}">
                <a16:creationId xmlns:a16="http://schemas.microsoft.com/office/drawing/2014/main" id="{A80FD392-CD86-4614-B4A4-FB4A76F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Company materials</a:t>
            </a:r>
          </a:p>
        </p:txBody>
      </p:sp>
      <p:sp>
        <p:nvSpPr>
          <p:cNvPr id="6" name="YardMatch partner pitch, September 2026&#10;Product po">
            <a:extLst xmlns:a="http://schemas.openxmlformats.org/drawingml/2006/main">
              <a:ext uri="{FF2B5EF4-FFF2-40B4-BE49-F238E27FC236}">
                <a16:creationId xmlns:a16="http://schemas.microsoft.com/office/drawing/2014/main" id="{E5A3E68B-7051-48CD-B105-BE20F49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YardMatch partner pitch, September 2026</a:t>
            </a:r>
          </a:p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Product positioning, role concepts and welcome offer</a:t>
            </a:r>
          </a:p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Companion formula-driven investor workbook</a:t>
            </a:r>
          </a:p>
        </p:txBody>
      </p:sp>
      <p:sp>
        <p:nvSpPr>
          <p:cNvPr id="7" name="External references">
            <a:extLst xmlns:a="http://schemas.openxmlformats.org/drawingml/2006/main">
              <a:ext uri="{FF2B5EF4-FFF2-40B4-BE49-F238E27FC236}">
                <a16:creationId xmlns:a16="http://schemas.microsoft.com/office/drawing/2014/main" id="{A1091F57-08E7-4560-A6AD-4FBAC6EF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External references</a:t>
            </a:r>
          </a:p>
        </p:txBody>
      </p:sp>
      <p:sp>
        <p:nvSpPr>
          <p:cNvPr id="8" name="Zocdoc: current pricing help">
            <a:extLst xmlns:a="http://schemas.openxmlformats.org/drawingml/2006/main">
              <a:ext uri="{FF2B5EF4-FFF2-40B4-BE49-F238E27FC236}">
                <a16:creationId xmlns:a16="http://schemas.microsoft.com/office/drawing/2014/main" id="{0385C4A7-E4CC-4AF7-B06A-7C8493E9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0b235ed964a54cb5"/>
              </a:rPr>
              <a:t>Zocdoc: current pricing help</a:t>
            </a:r>
          </a:p>
        </p:txBody>
      </p:sp>
      <p:sp>
        <p:nvSpPr>
          <p:cNvPr id="9" name="Zocdoc: published booking-fee range">
            <a:extLst xmlns:a="http://schemas.openxmlformats.org/drawingml/2006/main">
              <a:ext uri="{FF2B5EF4-FFF2-40B4-BE49-F238E27FC236}">
                <a16:creationId xmlns:a16="http://schemas.microsoft.com/office/drawing/2014/main" id="{931D2315-C134-4292-857D-D77DACA0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ba77f9ec7d8049f8"/>
              </a:rPr>
              <a:t>Zocdoc: published booking-fee range</a:t>
            </a:r>
          </a:p>
        </p:txBody>
      </p:sp>
      <p:sp>
        <p:nvSpPr>
          <p:cNvPr id="10" name="Zocdoc: Sponsored Results">
            <a:extLst xmlns:a="http://schemas.openxmlformats.org/drawingml/2006/main">
              <a:ext uri="{FF2B5EF4-FFF2-40B4-BE49-F238E27FC236}">
                <a16:creationId xmlns:a16="http://schemas.microsoft.com/office/drawing/2014/main" id="{134A100C-F4BE-4092-8C23-0353DA30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e4869b1054254fac"/>
              </a:rPr>
              <a:t>Zocdoc: Sponsored Results</a:t>
            </a:r>
          </a:p>
        </p:txBody>
      </p:sp>
      <p:sp>
        <p:nvSpPr>
          <p:cNvPr id="11" name="Jobber pricing reference">
            <a:extLst xmlns:a="http://schemas.openxmlformats.org/drawingml/2006/main">
              <a:ext uri="{FF2B5EF4-FFF2-40B4-BE49-F238E27FC236}">
                <a16:creationId xmlns:a16="http://schemas.microsoft.com/office/drawing/2014/main" id="{E5497F04-426E-4D7A-9BBB-DDB6F79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3ef526cf86e54c5e"/>
              </a:rPr>
              <a:t>Jobber pricing reference</a:t>
            </a:r>
          </a:p>
        </p:txBody>
      </p:sp>
      <p:sp>
        <p:nvSpPr>
          <p:cNvPr id="12" name="Stripe Billing pricing">
            <a:extLst xmlns:a="http://schemas.openxmlformats.org/drawingml/2006/main">
              <a:ext uri="{FF2B5EF4-FFF2-40B4-BE49-F238E27FC236}">
                <a16:creationId xmlns:a16="http://schemas.microsoft.com/office/drawing/2014/main" id="{BF32635F-A730-4680-B5F5-37199C2A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49966e2f817d47e7"/>
              </a:rPr>
              <a:t>Stripe Billing pricing</a:t>
            </a:r>
          </a:p>
        </p:txBody>
      </p:sp>
      <p:sp>
        <p:nvSpPr>
          <p:cNvPr id="13" name="Census QuickFacts: Barnegat">
            <a:extLst xmlns:a="http://schemas.openxmlformats.org/drawingml/2006/main">
              <a:ext uri="{FF2B5EF4-FFF2-40B4-BE49-F238E27FC236}">
                <a16:creationId xmlns:a16="http://schemas.microsoft.com/office/drawing/2014/main" id="{E460731F-D105-49A0-9252-EE37499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244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56e85889e9ed4831"/>
              </a:rPr>
              <a:t>Census QuickFacts: Barnegat</a:t>
            </a:r>
          </a:p>
        </p:txBody>
      </p:sp>
      <p:sp>
        <p:nvSpPr>
          <p:cNvPr id="14" name="External references are linked and cited in PowerP">
            <a:extLst xmlns:a="http://schemas.openxmlformats.org/drawingml/2006/main">
              <a:ext uri="{FF2B5EF4-FFF2-40B4-BE49-F238E27FC236}">
                <a16:creationId xmlns:a16="http://schemas.microsoft.com/office/drawing/2014/main" id="{E8ABCBDD-0129-43DA-A46C-577CA72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External references are linked and cited in PowerPoint notes. National footprint, adoption, CAC, staffing, prices, financing terms and outcomes are YardMatch assumptions.</a:t>
            </a:r>
          </a:p>
        </p:txBody>
      </p:sp>
    </p:spTree>
    <p:extLst>
      <p:ext uri="{BB962C8B-B14F-4D97-AF65-F5344CB8AC3E}">
        <p14:creationId xmlns:p14="http://schemas.microsoft.com/office/powerpoint/2010/main" val="14922743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: New Jersey launch evidence">
            <a:extLst xmlns:a="http://schemas.openxmlformats.org/drawingml/2006/main">
              <a:ext uri="{FF2B5EF4-FFF2-40B4-BE49-F238E27FC236}">
                <a16:creationId xmlns:a16="http://schemas.microsoft.com/office/drawing/2014/main" id="{91D84BC3-B313-4AAF-BF3E-CBFDCD5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Appendix: New Jersey launch evidence</a:t>
            </a:r>
          </a:p>
        </p:txBody>
      </p:sp>
      <p:sp>
        <p:nvSpPr>
          <p:cNvPr id="2" name="Named municipal inputs 1–7 support the pilot layer">
            <a:extLst xmlns:a="http://schemas.openxmlformats.org/drawingml/2006/main">
              <a:ext uri="{FF2B5EF4-FFF2-40B4-BE49-F238E27FC236}">
                <a16:creationId xmlns:a16="http://schemas.microsoft.com/office/drawing/2014/main" id="{A6397E57-4B3C-480D-BA8C-D1D1CD7F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Named municipal inputs 1–7 support the pilot layer; national cohorts drive the consolidated forecast.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E73080FD-89F0-4E8C-B166-EF07810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333308CC-984B-46D7-BDDC-5E5B3D6F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4350"/>
                <a:gridCol w="2047875"/>
                <a:gridCol w="2047875"/>
                <a:gridCol w="2552700"/>
              </a:tblGrid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Municipality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 share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income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96ae1bdd5b2c4b1d"/>
                        </a:rPr>
                        <a:t>Barnegat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$91,540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de1af524b9443ac"/>
                        </a:rPr>
                        <a:t>Stafford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12,007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90.3%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$117,612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864e1c2f1cb423b"/>
                        </a:rPr>
                        <a:t>Lacey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11,338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$102,624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9c499cf1dab149b8"/>
                        </a:rPr>
                        <a:t>Ocean / Waretown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3,908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$100,524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0ed5809744a4da8"/>
                        </a:rPr>
                        <a:t>Berkeley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21,950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$66,008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8b36d606c2da4c60"/>
                        </a:rPr>
                        <a:t>Toms River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38,047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82.1%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$99,547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23299531a9ec4997"/>
                        </a:rPr>
                        <a:t>Brick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30,289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82.2%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$106,130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awn eligibility, outsourcing, lot size, price pre">
            <a:extLst xmlns:a="http://schemas.openxmlformats.org/drawingml/2006/main">
              <a:ext uri="{FF2B5EF4-FFF2-40B4-BE49-F238E27FC236}">
                <a16:creationId xmlns:a16="http://schemas.microsoft.com/office/drawing/2014/main" id="{6D11B4A2-3615-4448-B10D-963BBAE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Lawn eligibility, outsourcing, lot size, price premiums, launch timing and provider capacity are planning assumptions, not Census findings.</a:t>
            </a:r>
          </a:p>
        </p:txBody>
      </p:sp>
    </p:spTree>
    <p:extLst>
      <p:ext uri="{BB962C8B-B14F-4D97-AF65-F5344CB8AC3E}">
        <p14:creationId xmlns:p14="http://schemas.microsoft.com/office/powerpoint/2010/main" val="4431026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: New Jersey launch evidence">
            <a:extLst xmlns:a="http://schemas.openxmlformats.org/drawingml/2006/main">
              <a:ext uri="{FF2B5EF4-FFF2-40B4-BE49-F238E27FC236}">
                <a16:creationId xmlns:a16="http://schemas.microsoft.com/office/drawing/2014/main" id="{B158D66A-22DB-4C89-A56C-F5CCB36C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Appendix: New Jersey launch evidence</a:t>
            </a:r>
          </a:p>
        </p:txBody>
      </p:sp>
      <p:sp>
        <p:nvSpPr>
          <p:cNvPr id="2" name="Named municipal inputs 8–14 support the pilot laye">
            <a:extLst xmlns:a="http://schemas.openxmlformats.org/drawingml/2006/main">
              <a:ext uri="{FF2B5EF4-FFF2-40B4-BE49-F238E27FC236}">
                <a16:creationId xmlns:a16="http://schemas.microsoft.com/office/drawing/2014/main" id="{70144728-B22A-4355-85F2-3FDB751E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Named municipal inputs 8–14 support the pilot layer; national cohorts drive the consolidated forecast.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15B6F38B-35ED-49F8-9432-B6B71AEC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B66DD22D-D046-47CF-BA81-BE3CC5F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4350"/>
                <a:gridCol w="2047875"/>
                <a:gridCol w="2047875"/>
                <a:gridCol w="2552700"/>
              </a:tblGrid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Municipality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 share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income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53d270765c3463f"/>
                        </a:rPr>
                        <a:t>Jackson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20,633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87.0%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$115,511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f1269409116d48f3"/>
                        </a:rPr>
                        <a:t>Howell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19,134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88.8%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$134,854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a9251ec88134120"/>
                        </a:rPr>
                        <a:t>Wall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10,124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83.4%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$142,768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941fdff98ae84bba"/>
                        </a:rPr>
                        <a:t>Middletown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25,211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85.7%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$141,810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3d3e7cb9d98483a"/>
                        </a:rPr>
                        <a:t>Holmdel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6,429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91.6%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$165,013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f7a702e3a3f94407"/>
                        </a:rPr>
                        <a:t>Colts Neck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3,610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94.3%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$199,573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78308cba1924426"/>
                        </a:rPr>
                        <a:t>Rumson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2,451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$250,000+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awn eligibility, outsourcing, lot size, price pre">
            <a:extLst xmlns:a="http://schemas.openxmlformats.org/drawingml/2006/main">
              <a:ext uri="{FF2B5EF4-FFF2-40B4-BE49-F238E27FC236}">
                <a16:creationId xmlns:a16="http://schemas.microsoft.com/office/drawing/2014/main" id="{0D40763B-6E4D-472A-96EE-C1047B16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Lawn eligibility, outsourcing, lot size, price premiums, launch timing and provider capacity are planning assumptions, not Census findings.</a:t>
            </a:r>
          </a:p>
        </p:txBody>
      </p:sp>
    </p:spTree>
    <p:extLst>
      <p:ext uri="{BB962C8B-B14F-4D97-AF65-F5344CB8AC3E}">
        <p14:creationId xmlns:p14="http://schemas.microsoft.com/office/powerpoint/2010/main" val="2093994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2026-09-28T00:06:22.2120000Z</dcterms:created>
  <dcterms:modified xsi:type="dcterms:W3CDTF">2026-09-28T00:06:22.2120000Z</dcterms:modified>
</coreProperties>
</file>