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ad0d186f6d48b1" /><Relationship Type="http://schemas.openxmlformats.org/officeDocument/2006/relationships/extended-properties" Target="/docProps/app.xml" Id="Re76af6c9af9b4ad7" /><Relationship Type="http://schemas.openxmlformats.org/officeDocument/2006/relationships/officeDocument" Target="/ppt/presentation.xml" Id="Ree5a0eadafcc4ca9" /></Relationships>
</file>

<file path=ppt/presentation.xml><?xml version="1.0" encoding="utf-8"?>
<p:presentation xmlns:p="http://schemas.openxmlformats.org/presentationml/2006/main">
  <p:sldMasterIdLst>
    <p:sldMasterId xmlns:r="http://schemas.openxmlformats.org/officeDocument/2006/relationships" id="2147483648" r:id="R676297ff41a34e2b"/>
  </p:sldMasterIdLst>
  <p:notesMasterIdLst>
    <p:notesMasterId xmlns:r="http://schemas.openxmlformats.org/officeDocument/2006/relationships" r:id="R65a8e50ab90446a3"/>
  </p:notesMasterIdLst>
  <p:sldIdLst>
    <p:sldId xmlns:r="http://schemas.openxmlformats.org/officeDocument/2006/relationships" id="256" r:id="R3735c8f127234b12"/>
    <p:sldId xmlns:r="http://schemas.openxmlformats.org/officeDocument/2006/relationships" id="257" r:id="R8a94c451be9c40c8"/>
    <p:sldId xmlns:r="http://schemas.openxmlformats.org/officeDocument/2006/relationships" id="258" r:id="R9fcce5c5348842f0"/>
    <p:sldId xmlns:r="http://schemas.openxmlformats.org/officeDocument/2006/relationships" id="259" r:id="R17c66e89e50d46fb"/>
    <p:sldId xmlns:r="http://schemas.openxmlformats.org/officeDocument/2006/relationships" id="260" r:id="Rc0830a43067146e9"/>
    <p:sldId xmlns:r="http://schemas.openxmlformats.org/officeDocument/2006/relationships" id="261" r:id="R226eb5ab84424547"/>
    <p:sldId xmlns:r="http://schemas.openxmlformats.org/officeDocument/2006/relationships" id="262" r:id="R18184f7b40944eb6"/>
    <p:sldId xmlns:r="http://schemas.openxmlformats.org/officeDocument/2006/relationships" id="263" r:id="R4b7fed662a2b477b"/>
    <p:sldId xmlns:r="http://schemas.openxmlformats.org/officeDocument/2006/relationships" id="264" r:id="Rc8507d92ec014a4e"/>
    <p:sldId xmlns:r="http://schemas.openxmlformats.org/officeDocument/2006/relationships" id="265" r:id="Ra090bd8670814447"/>
    <p:sldId xmlns:r="http://schemas.openxmlformats.org/officeDocument/2006/relationships" id="266" r:id="Rb68d41e6d57642fe"/>
    <p:sldId xmlns:r="http://schemas.openxmlformats.org/officeDocument/2006/relationships" id="267" r:id="Rbc8bb1274045482f"/>
    <p:sldId xmlns:r="http://schemas.openxmlformats.org/officeDocument/2006/relationships" id="268" r:id="R6fafe8ba50884140"/>
    <p:sldId xmlns:r="http://schemas.openxmlformats.org/officeDocument/2006/relationships" id="269" r:id="R1f5c85959bbb45ff"/>
    <p:sldId xmlns:r="http://schemas.openxmlformats.org/officeDocument/2006/relationships" id="270" r:id="R73e35257e8084fb8"/>
    <p:sldId xmlns:r="http://schemas.openxmlformats.org/officeDocument/2006/relationships" id="271" r:id="Rdca94013fbc142db"/>
    <p:sldId xmlns:r="http://schemas.openxmlformats.org/officeDocument/2006/relationships" id="272" r:id="R7072eb5f8c0c46cd"/>
    <p:sldId xmlns:r="http://schemas.openxmlformats.org/officeDocument/2006/relationships" id="273" r:id="Re566d4ee8e6344ad"/>
    <p:sldId xmlns:r="http://schemas.openxmlformats.org/officeDocument/2006/relationships" id="274" r:id="R648822eeeced434f"/>
    <p:sldId xmlns:r="http://schemas.openxmlformats.org/officeDocument/2006/relationships" id="275" r:id="R6dcabe1a392c4a3d"/>
    <p:sldId xmlns:r="http://schemas.openxmlformats.org/officeDocument/2006/relationships" id="276" r:id="R2b2c56e308e44f9b"/>
    <p:sldId xmlns:r="http://schemas.openxmlformats.org/officeDocument/2006/relationships" id="277" r:id="Re1a8e6f262ee4591"/>
    <p:sldId xmlns:r="http://schemas.openxmlformats.org/officeDocument/2006/relationships" id="278" r:id="R4348ec40ba21435f"/>
    <p:sldId xmlns:r="http://schemas.openxmlformats.org/officeDocument/2006/relationships" id="279" r:id="Ra1f25ffb4f244ea9"/>
    <p:sldId xmlns:r="http://schemas.openxmlformats.org/officeDocument/2006/relationships" id="280" r:id="R231aaebd117a459e"/>
    <p:sldId xmlns:r="http://schemas.openxmlformats.org/officeDocument/2006/relationships" id="281" r:id="R6fdbc4443d34420e"/>
    <p:sldId xmlns:r="http://schemas.openxmlformats.org/officeDocument/2006/relationships" id="282" r:id="Rc9122fe28b9a4f57"/>
    <p:sldId xmlns:r="http://schemas.openxmlformats.org/officeDocument/2006/relationships" id="283" r:id="Rba4b45c1f32f4d21"/>
    <p:sldId xmlns:r="http://schemas.openxmlformats.org/officeDocument/2006/relationships" id="284" r:id="R28123a23d070417e"/>
    <p:sldId xmlns:r="http://schemas.openxmlformats.org/officeDocument/2006/relationships" id="285" r:id="Rb5f263cc94074eb4"/>
    <p:sldId xmlns:r="http://schemas.openxmlformats.org/officeDocument/2006/relationships" id="286" r:id="Rd11b4d455fe7494e"/>
    <p:sldId xmlns:r="http://schemas.openxmlformats.org/officeDocument/2006/relationships" id="287" r:id="R64dbd8b536384afe"/>
    <p:sldId xmlns:r="http://schemas.openxmlformats.org/officeDocument/2006/relationships" id="288" r:id="R4f27c2bd8a184142"/>
    <p:sldId xmlns:r="http://schemas.openxmlformats.org/officeDocument/2006/relationships" id="289" r:id="R527e5b03d00f492a"/>
    <p:sldId xmlns:r="http://schemas.openxmlformats.org/officeDocument/2006/relationships" id="290" r:id="R31635180034445b8"/>
    <p:sldId xmlns:r="http://schemas.openxmlformats.org/officeDocument/2006/relationships" id="291" r:id="Rd9998e2ae2d9472f"/>
    <p:sldId xmlns:r="http://schemas.openxmlformats.org/officeDocument/2006/relationships" id="292" r:id="Rc0a7889d63254363"/>
    <p:sldId xmlns:r="http://schemas.openxmlformats.org/officeDocument/2006/relationships" id="293" r:id="R4b6322334e734d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9bd507bc8a496c" /><Relationship Type="http://schemas.openxmlformats.org/officeDocument/2006/relationships/slideMaster" Target="/ppt/slideMasters/slideMaster1.xml" Id="R676297ff41a34e2b" /><Relationship Type="http://schemas.openxmlformats.org/officeDocument/2006/relationships/notesMaster" Target="/ppt/notesMasters/notesMaster1.xml" Id="R65a8e50ab90446a3" /><Relationship Type="http://schemas.openxmlformats.org/officeDocument/2006/relationships/presProps" Target="/ppt/presProps.xml" Id="R005d22ff3de745b5" /><Relationship Type="http://schemas.openxmlformats.org/officeDocument/2006/relationships/tableStyles" Target="/ppt/tableStyles.xml" Id="Rb70d41c5c87148a9" /><Relationship Type="http://schemas.openxmlformats.org/officeDocument/2006/relationships/slide" Target="/ppt/slides/slide1.xml" Id="R3735c8f127234b12" /><Relationship Type="http://schemas.openxmlformats.org/officeDocument/2006/relationships/slide" Target="/ppt/slides/slide2.xml" Id="R8a94c451be9c40c8" /><Relationship Type="http://schemas.openxmlformats.org/officeDocument/2006/relationships/slide" Target="/ppt/slides/slide3.xml" Id="R9fcce5c5348842f0" /><Relationship Type="http://schemas.openxmlformats.org/officeDocument/2006/relationships/slide" Target="/ppt/slides/slide4.xml" Id="R17c66e89e50d46fb" /><Relationship Type="http://schemas.openxmlformats.org/officeDocument/2006/relationships/slide" Target="/ppt/slides/slide5.xml" Id="Rc0830a43067146e9" /><Relationship Type="http://schemas.openxmlformats.org/officeDocument/2006/relationships/slide" Target="/ppt/slides/slide6.xml" Id="R226eb5ab84424547" /><Relationship Type="http://schemas.openxmlformats.org/officeDocument/2006/relationships/slide" Target="/ppt/slides/slide7.xml" Id="R18184f7b40944eb6" /><Relationship Type="http://schemas.openxmlformats.org/officeDocument/2006/relationships/slide" Target="/ppt/slides/slide8.xml" Id="R4b7fed662a2b477b" /><Relationship Type="http://schemas.openxmlformats.org/officeDocument/2006/relationships/slide" Target="/ppt/slides/slide9.xml" Id="Rc8507d92ec014a4e" /><Relationship Type="http://schemas.openxmlformats.org/officeDocument/2006/relationships/slide" Target="/ppt/slides/slide10.xml" Id="Ra090bd8670814447" /><Relationship Type="http://schemas.openxmlformats.org/officeDocument/2006/relationships/slide" Target="/ppt/slides/slide11.xml" Id="Rb68d41e6d57642fe" /><Relationship Type="http://schemas.openxmlformats.org/officeDocument/2006/relationships/slide" Target="/ppt/slides/slide12.xml" Id="Rbc8bb1274045482f" /><Relationship Type="http://schemas.openxmlformats.org/officeDocument/2006/relationships/slide" Target="/ppt/slides/slide13.xml" Id="R6fafe8ba50884140" /><Relationship Type="http://schemas.openxmlformats.org/officeDocument/2006/relationships/slide" Target="/ppt/slides/slide14.xml" Id="R1f5c85959bbb45ff" /><Relationship Type="http://schemas.openxmlformats.org/officeDocument/2006/relationships/slide" Target="/ppt/slides/slide15.xml" Id="R73e35257e8084fb8" /><Relationship Type="http://schemas.openxmlformats.org/officeDocument/2006/relationships/slide" Target="/ppt/slides/slide16.xml" Id="Rdca94013fbc142db" /><Relationship Type="http://schemas.openxmlformats.org/officeDocument/2006/relationships/slide" Target="/ppt/slides/slide17.xml" Id="R7072eb5f8c0c46cd" /><Relationship Type="http://schemas.openxmlformats.org/officeDocument/2006/relationships/slide" Target="/ppt/slides/slide18.xml" Id="Re566d4ee8e6344ad" /><Relationship Type="http://schemas.openxmlformats.org/officeDocument/2006/relationships/slide" Target="/ppt/slides/slide19.xml" Id="R648822eeeced434f" /><Relationship Type="http://schemas.openxmlformats.org/officeDocument/2006/relationships/slide" Target="/ppt/slides/slide20.xml" Id="R6dcabe1a392c4a3d" /><Relationship Type="http://schemas.openxmlformats.org/officeDocument/2006/relationships/slide" Target="/ppt/slides/slide21.xml" Id="R2b2c56e308e44f9b" /><Relationship Type="http://schemas.openxmlformats.org/officeDocument/2006/relationships/slide" Target="/ppt/slides/slide22.xml" Id="Re1a8e6f262ee4591" /><Relationship Type="http://schemas.openxmlformats.org/officeDocument/2006/relationships/slide" Target="/ppt/slides/slide23.xml" Id="R4348ec40ba21435f" /><Relationship Type="http://schemas.openxmlformats.org/officeDocument/2006/relationships/slide" Target="/ppt/slides/slide24.xml" Id="Ra1f25ffb4f244ea9" /><Relationship Type="http://schemas.openxmlformats.org/officeDocument/2006/relationships/slide" Target="/ppt/slides/slide25.xml" Id="R231aaebd117a459e" /><Relationship Type="http://schemas.openxmlformats.org/officeDocument/2006/relationships/slide" Target="/ppt/slides/slide26.xml" Id="R6fdbc4443d34420e" /><Relationship Type="http://schemas.openxmlformats.org/officeDocument/2006/relationships/slide" Target="/ppt/slides/slide27.xml" Id="Rc9122fe28b9a4f57" /><Relationship Type="http://schemas.openxmlformats.org/officeDocument/2006/relationships/slide" Target="/ppt/slides/slide28.xml" Id="Rba4b45c1f32f4d21" /><Relationship Type="http://schemas.openxmlformats.org/officeDocument/2006/relationships/slide" Target="/ppt/slides/slide29.xml" Id="R28123a23d070417e" /><Relationship Type="http://schemas.openxmlformats.org/officeDocument/2006/relationships/slide" Target="/ppt/slides/slide30.xml" Id="Rb5f263cc94074eb4" /><Relationship Type="http://schemas.openxmlformats.org/officeDocument/2006/relationships/slide" Target="/ppt/slides/slide31.xml" Id="Rd11b4d455fe7494e" /><Relationship Type="http://schemas.openxmlformats.org/officeDocument/2006/relationships/slide" Target="/ppt/slides/slide32.xml" Id="R64dbd8b536384afe" /><Relationship Type="http://schemas.openxmlformats.org/officeDocument/2006/relationships/slide" Target="/ppt/slides/slide33.xml" Id="R4f27c2bd8a184142" /><Relationship Type="http://schemas.openxmlformats.org/officeDocument/2006/relationships/slide" Target="/ppt/slides/slide34.xml" Id="R527e5b03d00f492a" /><Relationship Type="http://schemas.openxmlformats.org/officeDocument/2006/relationships/slide" Target="/ppt/slides/slide35.xml" Id="R31635180034445b8" /><Relationship Type="http://schemas.openxmlformats.org/officeDocument/2006/relationships/slide" Target="/ppt/slides/slide36.xml" Id="Rd9998e2ae2d9472f" /><Relationship Type="http://schemas.openxmlformats.org/officeDocument/2006/relationships/slide" Target="/ppt/slides/slide37.xml" Id="Rc0a7889d63254363" /><Relationship Type="http://schemas.openxmlformats.org/officeDocument/2006/relationships/slide" Target="/ppt/slides/slide38.xml" Id="R4b6322334e734d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2f37bfd74148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bd76e3c97849a3" /><Relationship Type="http://schemas.openxmlformats.org/officeDocument/2006/relationships/notesMaster" Target="/ppt/notesMasters/notesMaster1.xml" Id="R44f444252d264d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8268c82d1748fd" /><Relationship Type="http://schemas.openxmlformats.org/officeDocument/2006/relationships/notesMaster" Target="/ppt/notesMasters/notesMaster1.xml" Id="Rf3dac12f0f82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e1f5b153524592" /><Relationship Type="http://schemas.openxmlformats.org/officeDocument/2006/relationships/notesMaster" Target="/ppt/notesMasters/notesMaster1.xml" Id="Rae509b7459744d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ac5698c164141" /><Relationship Type="http://schemas.openxmlformats.org/officeDocument/2006/relationships/notesMaster" Target="/ppt/notesMasters/notesMaster1.xml" Id="Rdcb7514b221a43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0710d1b10742f2" /><Relationship Type="http://schemas.openxmlformats.org/officeDocument/2006/relationships/notesMaster" Target="/ppt/notesMasters/notesMaster1.xml" Id="R60da1481a4e64b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7d649128f24c1e" /><Relationship Type="http://schemas.openxmlformats.org/officeDocument/2006/relationships/notesMaster" Target="/ppt/notesMasters/notesMaster1.xml" Id="Re8bc5428559248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e241836a8b4530" /><Relationship Type="http://schemas.openxmlformats.org/officeDocument/2006/relationships/notesMaster" Target="/ppt/notesMasters/notesMaster1.xml" Id="R2898154262e245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c33455dd104ecb" /><Relationship Type="http://schemas.openxmlformats.org/officeDocument/2006/relationships/notesMaster" Target="/ppt/notesMasters/notesMaster1.xml" Id="R5be67309942546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42480437c74248" /><Relationship Type="http://schemas.openxmlformats.org/officeDocument/2006/relationships/notesMaster" Target="/ppt/notesMasters/notesMaster1.xml" Id="Rc3d62e9d3a2e43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6baee5a83347b7" /><Relationship Type="http://schemas.openxmlformats.org/officeDocument/2006/relationships/notesMaster" Target="/ppt/notesMasters/notesMaster1.xml" Id="R678ab66f1af94f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169786c3bb4904" /><Relationship Type="http://schemas.openxmlformats.org/officeDocument/2006/relationships/notesMaster" Target="/ppt/notesMasters/notesMaster1.xml" Id="R564613e71c1c41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dc1da17d384931" /><Relationship Type="http://schemas.openxmlformats.org/officeDocument/2006/relationships/notesMaster" Target="/ppt/notesMasters/notesMaster1.xml" Id="R6d88d718ff814d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eb82d543b94206" /><Relationship Type="http://schemas.openxmlformats.org/officeDocument/2006/relationships/notesMaster" Target="/ppt/notesMasters/notesMaster1.xml" Id="R759b2b41087648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f2c638d9974ad9" /><Relationship Type="http://schemas.openxmlformats.org/officeDocument/2006/relationships/notesMaster" Target="/ppt/notesMasters/notesMaster1.xml" Id="R1996742588b74f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db1ed5592b41e2" /><Relationship Type="http://schemas.openxmlformats.org/officeDocument/2006/relationships/notesMaster" Target="/ppt/notesMasters/notesMaster1.xml" Id="Rb26755e830ab49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bf8cd7b70b4c30" /><Relationship Type="http://schemas.openxmlformats.org/officeDocument/2006/relationships/notesMaster" Target="/ppt/notesMasters/notesMaster1.xml" Id="R84318453de5942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8ff3bf8b3e4eca" /><Relationship Type="http://schemas.openxmlformats.org/officeDocument/2006/relationships/notesMaster" Target="/ppt/notesMasters/notesMaster1.xml" Id="Rb0c1d24e3eeb44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025d48fe2c4b58" /><Relationship Type="http://schemas.openxmlformats.org/officeDocument/2006/relationships/notesMaster" Target="/ppt/notesMasters/notesMaster1.xml" Id="R614f595a880f44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91e8fc59b943a7" /><Relationship Type="http://schemas.openxmlformats.org/officeDocument/2006/relationships/notesMaster" Target="/ppt/notesMasters/notesMaster1.xml" Id="Rfdd3b6174c3d40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316af77c3c4557" /><Relationship Type="http://schemas.openxmlformats.org/officeDocument/2006/relationships/notesMaster" Target="/ppt/notesMasters/notesMaster1.xml" Id="Raf6bf8971b5440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36111b6ad74c64" /><Relationship Type="http://schemas.openxmlformats.org/officeDocument/2006/relationships/notesMaster" Target="/ppt/notesMasters/notesMaster1.xml" Id="R9a6315e3fda241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0d5cae64a54911" /><Relationship Type="http://schemas.openxmlformats.org/officeDocument/2006/relationships/notesMaster" Target="/ppt/notesMasters/notesMaster1.xml" Id="R6d0bae2bffae4d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aa85c1ada640a7" /><Relationship Type="http://schemas.openxmlformats.org/officeDocument/2006/relationships/notesMaster" Target="/ppt/notesMasters/notesMaster1.xml" Id="R3db8830ccbf94d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b24d01439142b3" /><Relationship Type="http://schemas.openxmlformats.org/officeDocument/2006/relationships/notesMaster" Target="/ppt/notesMasters/notesMaster1.xml" Id="R227fb404064c42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aac08e33184a64" /><Relationship Type="http://schemas.openxmlformats.org/officeDocument/2006/relationships/notesMaster" Target="/ppt/notesMasters/notesMaster1.xml" Id="R2f0b42c242064c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4a01c4c14984255" /><Relationship Type="http://schemas.openxmlformats.org/officeDocument/2006/relationships/notesMaster" Target="/ppt/notesMasters/notesMaster1.xml" Id="R0e6ad75723a04f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f45abb86b745b3" /><Relationship Type="http://schemas.openxmlformats.org/officeDocument/2006/relationships/notesMaster" Target="/ppt/notesMasters/notesMaster1.xml" Id="Rc70e3fe95fd84e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459b374ef36401a" /><Relationship Type="http://schemas.openxmlformats.org/officeDocument/2006/relationships/notesMaster" Target="/ppt/notesMasters/notesMaster1.xml" Id="R49d674b7ef26475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015f5855c941e7" /><Relationship Type="http://schemas.openxmlformats.org/officeDocument/2006/relationships/notesMaster" Target="/ppt/notesMasters/notesMaster1.xml" Id="R8b826a931f5d40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bffeb420b04976" /><Relationship Type="http://schemas.openxmlformats.org/officeDocument/2006/relationships/notesMaster" Target="/ppt/notesMasters/notesMaster1.xml" Id="R21f3de89a06b4c5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5999e38f69447a2" /><Relationship Type="http://schemas.openxmlformats.org/officeDocument/2006/relationships/notesMaster" Target="/ppt/notesMasters/notesMaster1.xml" Id="R22d5aa6bc9ab4e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a2c7ca337c4fa2" /><Relationship Type="http://schemas.openxmlformats.org/officeDocument/2006/relationships/notesMaster" Target="/ppt/notesMasters/notesMaster1.xml" Id="R979ffef916964d7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2a61fe8ccf74027" /><Relationship Type="http://schemas.openxmlformats.org/officeDocument/2006/relationships/notesMaster" Target="/ppt/notesMasters/notesMaster1.xml" Id="Rf3aef94f5d3c4c7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515578281344873" /><Relationship Type="http://schemas.openxmlformats.org/officeDocument/2006/relationships/notesMaster" Target="/ppt/notesMasters/notesMaster1.xml" Id="R3108851b63e74c7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084f06a94964c93" /><Relationship Type="http://schemas.openxmlformats.org/officeDocument/2006/relationships/notesMaster" Target="/ppt/notesMasters/notesMaster1.xml" Id="Rfbc06337c1e6477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86247440bc241f5" /><Relationship Type="http://schemas.openxmlformats.org/officeDocument/2006/relationships/notesMaster" Target="/ppt/notesMasters/notesMaster1.xml" Id="R7898a7468b4743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b4af86efa549af" /><Relationship Type="http://schemas.openxmlformats.org/officeDocument/2006/relationships/notesMaster" Target="/ppt/notesMasters/notesMaster1.xml" Id="R8ad0cc738fbc4be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182b03d1e0f40c6" /><Relationship Type="http://schemas.openxmlformats.org/officeDocument/2006/relationships/notesMaster" Target="/ppt/notesMasters/notesMaster1.xml" Id="Rd8a9773afd0841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21, 2026. 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Typical $45, large $65, very large $90. Planning tiers based on serviceable property scope, not income or ZIP code. Classify at first match and disclose the fee before acceptance. Thresholds require provider quote validation. New-customer town/lot mix determines finder revenue; waivers are proportional within each town. No later service or size change with the same provider generates another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21, 2026. All 2027-2033 figures are illustrative forecasts, not actuals or promises. US dollars. No commercial actuals supplied. Standard US card rate 2.9% + $0.30. ACH 0.8% capped at $5. Platform fee 4% for card or 2% for ACH, no minimum.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is finder fees after welcome waivers plus 4% of card-paid service GMV and 2% of ACH-paid service GMV, with no minimum.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Previous pricing: MAX($4.49,1%) plus processing, recalculated using the same remote overhead budget as both other columns. Selected: 4% card / 2% ACH, no minimum. Alternative: 4% card / 2.5% ACH, no minimum. Alternative is a comparison, not selected pricing. Processing recovered at cost in all columns. $40 CAC and property finder tiers remain. No adoption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One operating model is recalculated for each snapshot. Only 2033 ACH share changes, keeping earlier years unchanged. Same share applies to every service category, so share of jobs equals share of GMV. Processing cost recovery, payout cost and new bank-link allowance recalculate. No customer incentives or growth benefit assumed. ACH requires homeowner authorization: https://docs.stripe.com/payments/ach-direct-debit/accept-a-payment . ACH can fail or be disputed after an apparent success; loss and risk allowances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Financing illustration: $1.5m gross less $25k transaction expenses. Model opens with zero cash. 2027-2028 budget recalculates from the revised job mix. Remote corporate overhead starts at $42,000: insurance $12,000, legal $12,000, accounting $6,000 and software $12,000, inflated 3% annually. The previous $60,000 allowance was unsplit, so the reduction is a planning revision, not quoted rent savings.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21,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a81994854944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1eae90763a4a51" /><Relationship Type="http://schemas.openxmlformats.org/officeDocument/2006/relationships/slideLayout" Target="/ppt/slideLayouts/slideLayout1.xml" Id="R10ba0ccf5ef241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ba0ccf5ef241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7fc6cb814f4324" /><Relationship Type="http://schemas.openxmlformats.org/officeDocument/2006/relationships/image" Target="/ppt/media/image.png" Id="R1db2d0300f7e4dbb" /><Relationship Type="http://schemas.openxmlformats.org/officeDocument/2006/relationships/notesSlide" Target="/ppt/notesSlides/notesSlide1.xml" Id="R973dd5f1ed6b4a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5735fe63e496e" /><Relationship Type="http://schemas.openxmlformats.org/officeDocument/2006/relationships/notesSlide" Target="/ppt/notesSlides/notesSlide2.xml" Id="Rc5d4d2a204e845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e418c1dd03470b" /><Relationship Type="http://schemas.openxmlformats.org/officeDocument/2006/relationships/notesSlide" Target="/ppt/notesSlides/notesSlide3.xml" Id="R1575a81313c845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89e318183649a0" /><Relationship Type="http://schemas.openxmlformats.org/officeDocument/2006/relationships/image" Target="/ppt/media/image2.png" Id="Ra6d0882d27e3484d" /><Relationship Type="http://schemas.openxmlformats.org/officeDocument/2006/relationships/notesSlide" Target="/ppt/notesSlides/notesSlide4.xml" Id="R5e8fec52d39c4a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b3a089577949af" /><Relationship Type="http://schemas.openxmlformats.org/officeDocument/2006/relationships/image" Target="/ppt/media/image3.png" Id="Rdda3e8d929c54561" /><Relationship Type="http://schemas.openxmlformats.org/officeDocument/2006/relationships/notesSlide" Target="/ppt/notesSlides/notesSlide5.xml" Id="Rc9e3d4e9070e4c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bdac475fd2432b" /><Relationship Type="http://schemas.openxmlformats.org/officeDocument/2006/relationships/notesSlide" Target="/ppt/notesSlides/notesSlide6.xml" Id="R38327fc3c8524b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2b886d8f654c35" /><Relationship Type="http://schemas.openxmlformats.org/officeDocument/2006/relationships/notesSlide" Target="/ppt/notesSlides/notesSlide7.xml" Id="Rb77a35e6a6414d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37a5ca44dc4378" /><Relationship Type="http://schemas.openxmlformats.org/officeDocument/2006/relationships/notesSlide" Target="/ppt/notesSlides/notesSlide8.xml" Id="Ra0b1e0317f2c48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bcbded3b5e47a6" /><Relationship Type="http://schemas.openxmlformats.org/officeDocument/2006/relationships/notesSlide" Target="/ppt/notesSlides/notesSlide9.xml" Id="R8c176eaa8d504f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35cf8619324895" /><Relationship Type="http://schemas.openxmlformats.org/officeDocument/2006/relationships/notesSlide" Target="/ppt/notesSlides/notesSlide10.xml" Id="R9b65b7de925244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1f237804e047e4" /><Relationship Type="http://schemas.openxmlformats.org/officeDocument/2006/relationships/notesSlide" Target="/ppt/notesSlides/notesSlide11.xml" Id="R824e4cfed8d54a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b2d8fd199f4bf9" /><Relationship Type="http://schemas.openxmlformats.org/officeDocument/2006/relationships/notesSlide" Target="/ppt/notesSlides/notesSlide12.xml" Id="Ra131870dbe1f43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2767f651f6418d" /><Relationship Type="http://schemas.openxmlformats.org/officeDocument/2006/relationships/notesSlide" Target="/ppt/notesSlides/notesSlide13.xml" Id="R0289496d80eb4b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ebb56f16774bb3" /><Relationship Type="http://schemas.openxmlformats.org/officeDocument/2006/relationships/notesSlide" Target="/ppt/notesSlides/notesSlide14.xml" Id="R03e3dc0f7d7d44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1b2685b19d45ce" /><Relationship Type="http://schemas.openxmlformats.org/officeDocument/2006/relationships/notesSlide" Target="/ppt/notesSlides/notesSlide15.xml" Id="R4c8b6ef3f07340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6eea569cfb0432a" /><Relationship Type="http://schemas.openxmlformats.org/officeDocument/2006/relationships/notesSlide" Target="/ppt/notesSlides/notesSlide16.xml" Id="Rdc42f2b59b804b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64e2d2d49c4758" /><Relationship Type="http://schemas.openxmlformats.org/officeDocument/2006/relationships/notesSlide" Target="/ppt/notesSlides/notesSlide17.xml" Id="R6ff9bdb13e1046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cada4087ae4b47" /><Relationship Type="http://schemas.openxmlformats.org/officeDocument/2006/relationships/notesSlide" Target="/ppt/notesSlides/notesSlide18.xml" Id="Rec68f83141b24a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0232f56d03a413a" /><Relationship Type="http://schemas.openxmlformats.org/officeDocument/2006/relationships/notesSlide" Target="/ppt/notesSlides/notesSlide19.xml" Id="Refb3adf5e26348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17d3badd9345c9" /><Relationship Type="http://schemas.openxmlformats.org/officeDocument/2006/relationships/notesSlide" Target="/ppt/notesSlides/notesSlide20.xml" Id="Re65f4f1c534c4d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97b7377d254ad3" /><Relationship Type="http://schemas.openxmlformats.org/officeDocument/2006/relationships/notesSlide" Target="/ppt/notesSlides/notesSlide21.xml" Id="Rc006693be81542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622854af39e4dbf" /><Relationship Type="http://schemas.openxmlformats.org/officeDocument/2006/relationships/notesSlide" Target="/ppt/notesSlides/notesSlide22.xml" Id="Rf9b8f6cd663c4e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f22f513ca2b4603" /><Relationship Type="http://schemas.openxmlformats.org/officeDocument/2006/relationships/notesSlide" Target="/ppt/notesSlides/notesSlide23.xml" Id="Rd7789929706547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a6dc9875fd44cc" /><Relationship Type="http://schemas.openxmlformats.org/officeDocument/2006/relationships/chart" Target="/ppt/slides/charts/chart1.xml" Id="Rb2bcc6ca713342fe" /><Relationship Type="http://schemas.openxmlformats.org/officeDocument/2006/relationships/notesSlide" Target="/ppt/notesSlides/notesSlide24.xml" Id="R92879acfad4747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8b20f8ff404b9d" /><Relationship Type="http://schemas.openxmlformats.org/officeDocument/2006/relationships/notesSlide" Target="/ppt/notesSlides/notesSlide25.xml" Id="Rc1a5e355ac3e4b8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f3c54f799ae4d7b" /><Relationship Type="http://schemas.openxmlformats.org/officeDocument/2006/relationships/notesSlide" Target="/ppt/notesSlides/notesSlide26.xml" Id="R453112481a314c5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327f28a61da4b04" /><Relationship Type="http://schemas.openxmlformats.org/officeDocument/2006/relationships/notesSlide" Target="/ppt/notesSlides/notesSlide27.xml" Id="R29764feb7e2a4f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922f2a930164896" /><Relationship Type="http://schemas.openxmlformats.org/officeDocument/2006/relationships/notesSlide" Target="/ppt/notesSlides/notesSlide28.xml" Id="R57003052dc464c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2ff757c2d8d4e79" /><Relationship Type="http://schemas.openxmlformats.org/officeDocument/2006/relationships/notesSlide" Target="/ppt/notesSlides/notesSlide29.xml" Id="R85ea2e69e30d4b6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3fee19aa8a6426f" /><Relationship Type="http://schemas.openxmlformats.org/officeDocument/2006/relationships/notesSlide" Target="/ppt/notesSlides/notesSlide30.xml" Id="R59700fd15ded47e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765d86982a941d6" /><Relationship Type="http://schemas.openxmlformats.org/officeDocument/2006/relationships/notesSlide" Target="/ppt/notesSlides/notesSlide31.xml" Id="R9fecc06860b341a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a50a5620d0c492b" /><Relationship Type="http://schemas.openxmlformats.org/officeDocument/2006/relationships/notesSlide" Target="/ppt/notesSlides/notesSlide32.xml" Id="Rb87cd620a3d64f2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9ebddf82df04c71" /><Relationship Type="http://schemas.openxmlformats.org/officeDocument/2006/relationships/notesSlide" Target="/ppt/notesSlides/notesSlide33.xml" Id="R44d120935f4e408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4f333242de64232" /><Relationship Type="http://schemas.openxmlformats.org/officeDocument/2006/relationships/notesSlide" Target="/ppt/notesSlides/notesSlide34.xml" Id="R357a38c9f1a043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81fcf3ea5c6453a" /><Relationship Type="http://schemas.openxmlformats.org/officeDocument/2006/relationships/notesSlide" Target="/ppt/notesSlides/notesSlide35.xml" Id="R172c845f28f147c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cc4fd040f9d4b59" /><Relationship Type="http://schemas.openxmlformats.org/officeDocument/2006/relationships/hyperlink" Target="https://stripe.com/pricing" TargetMode="External" Id="R1e4bbe181e564939" /><Relationship Type="http://schemas.openxmlformats.org/officeDocument/2006/relationships/hyperlink" Target="https://stripe.com/connect/pricing" TargetMode="External" Id="R0be75a6e4bd04ca6" /><Relationship Type="http://schemas.openxmlformats.org/officeDocument/2006/relationships/hyperlink" Target="https://stripe.com/financial-connections" TargetMode="External" Id="R06e0f17146ac4d48" /><Relationship Type="http://schemas.openxmlformats.org/officeDocument/2006/relationships/hyperlink" Target="https://www.zocdoc.com/provider-help/en/articles/10859404-understanding-zocdoc-pricing-and-billing" TargetMode="External" Id="R87fab538a4594048" /><Relationship Type="http://schemas.openxmlformats.org/officeDocument/2006/relationships/hyperlink" Target="https://www.zocdoc.com/about/understanding-your-bill/" TargetMode="External" Id="R971f6d1ef824428b" /><Relationship Type="http://schemas.openxmlformats.org/officeDocument/2006/relationships/hyperlink" Target="https://usa.visa.com/support/small-business/regulations-fees.html" TargetMode="External" Id="R3d5e623982274001" /><Relationship Type="http://schemas.openxmlformats.org/officeDocument/2006/relationships/hyperlink" Target="https://www.frbservices.org/resources/fees/ach-2026" TargetMode="External" Id="R5daad707cb44479b" /><Relationship Type="http://schemas.openxmlformats.org/officeDocument/2006/relationships/hyperlink" Target="https://www.pcisecuritystandards.org/standards/pci-dss/" TargetMode="External" Id="R2670e501bab24981" /><Relationship Type="http://schemas.openxmlformats.org/officeDocument/2006/relationships/hyperlink" Target="https://www.census.gov/quickfacts/fact/table/barnegattownshipoceancountynewjersey/PST045225" TargetMode="External" Id="R092bb38f0ee24728" /><Relationship Type="http://schemas.openxmlformats.org/officeDocument/2006/relationships/hyperlink" Target="https://www.getjobber.com/pricing/" TargetMode="External" Id="Rfa3e6802f1fc4a68" /><Relationship Type="http://schemas.openxmlformats.org/officeDocument/2006/relationships/hyperlink" Target="https://www.zocdoc.com/provider-help/en/articles/8709753-how-much-does-sponsored-results-cost" TargetMode="External" Id="R070513b13a8e49f0" /><Relationship Type="http://schemas.openxmlformats.org/officeDocument/2006/relationships/hyperlink" Target="https://stripe.com/billing/pricing" TargetMode="External" Id="R985763eb668d4ad1" /><Relationship Type="http://schemas.openxmlformats.org/officeDocument/2006/relationships/notesSlide" Target="/ppt/notesSlides/notesSlide36.xml" Id="R703ac9c4875641e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ce0b360fbc94238" /><Relationship Type="http://schemas.openxmlformats.org/officeDocument/2006/relationships/hyperlink" Target="https://www.census.gov/quickfacts/fact/table/barnegattownshipoceancountynewjersey/PST045225" TargetMode="External" Id="R8435a1f6059b4e45" /><Relationship Type="http://schemas.openxmlformats.org/officeDocument/2006/relationships/hyperlink" Target="https://www.census.gov/quickfacts/fact/table/staffordtownshipoceancountynewjersey/PST045225" TargetMode="External" Id="Rf3761eda336a4224" /><Relationship Type="http://schemas.openxmlformats.org/officeDocument/2006/relationships/hyperlink" Target="https://www.census.gov/quickfacts/fact/table/laceytownshipoceancountynewjersey/PST045225" TargetMode="External" Id="Ra7443bf0b865435e" /><Relationship Type="http://schemas.openxmlformats.org/officeDocument/2006/relationships/hyperlink" Target="https://www.census.gov/quickfacts/fact/table/oceantownshipoceancountynewjersey/PST045225" TargetMode="External" Id="Ra9ece84ca90e4ec0" /><Relationship Type="http://schemas.openxmlformats.org/officeDocument/2006/relationships/hyperlink" Target="https://www.census.gov/quickfacts/fact/table/berkeleytownshipoceancountynewjersey/PST045225" TargetMode="External" Id="R73c43c3b02f1412b" /><Relationship Type="http://schemas.openxmlformats.org/officeDocument/2006/relationships/hyperlink" Target="https://www.census.gov/quickfacts/fact/table/tomsrivertownshipoceancountynewjersey/PST045225" TargetMode="External" Id="R6ad60b3557cd4ab8" /><Relationship Type="http://schemas.openxmlformats.org/officeDocument/2006/relationships/hyperlink" Target="https://www.census.gov/quickfacts/fact/table/bricktownshipoceancountynewjersey/PST045225" TargetMode="External" Id="Rb27ec24f209e4db2" /><Relationship Type="http://schemas.openxmlformats.org/officeDocument/2006/relationships/notesSlide" Target="/ppt/notesSlides/notesSlide37.xml" Id="R69f6dd6a5d0a419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2e66dd8be294271" /><Relationship Type="http://schemas.openxmlformats.org/officeDocument/2006/relationships/hyperlink" Target="https://www.census.gov/quickfacts/fact/table/jacksontownshipoceancountynewjersey/PST045225" TargetMode="External" Id="R4ef3e1b6fe594486" /><Relationship Type="http://schemas.openxmlformats.org/officeDocument/2006/relationships/hyperlink" Target="https://www.census.gov/quickfacts/fact/table/howelltownshipmonmouthcountynewjersey/PST045225" TargetMode="External" Id="R9084aead07ea4380" /><Relationship Type="http://schemas.openxmlformats.org/officeDocument/2006/relationships/hyperlink" Target="https://www.census.gov/quickfacts/fact/table/walltownshipmonmouthcountynewjersey/PST045225" TargetMode="External" Id="Reb2709dfd8c44537" /><Relationship Type="http://schemas.openxmlformats.org/officeDocument/2006/relationships/hyperlink" Target="https://www.census.gov/quickfacts/fact/table/middletowntownshipmonmouthcountynewjersey/PST045225" TargetMode="External" Id="Re732540d68364289" /><Relationship Type="http://schemas.openxmlformats.org/officeDocument/2006/relationships/hyperlink" Target="https://www.census.gov/quickfacts/fact/table/holmdeltownshipmonmouthcountynewjersey/PST045225" TargetMode="External" Id="R64140896293c47c7" /><Relationship Type="http://schemas.openxmlformats.org/officeDocument/2006/relationships/hyperlink" Target="https://www.census.gov/quickfacts/fact/table/coltsnecktownshipmonmouthcountynewjersey/PST045225" TargetMode="External" Id="R42518756a45e4105" /><Relationship Type="http://schemas.openxmlformats.org/officeDocument/2006/relationships/hyperlink" Target="https://www.census.gov/quickfacts/fact/table/rumsonboroughnewjersey/PST045225" TargetMode="External" Id="R0e96c2d0ed0245b6" /><Relationship Type="http://schemas.openxmlformats.org/officeDocument/2006/relationships/notesSlide" Target="/ppt/notesSlides/notesSlide38.xml" Id="Rcad085c45db94a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0.012226</c:v>
                </c:pt>
                <c:pt idx="1">
                  <c:v>0.050178</c:v>
                </c:pt>
                <c:pt idx="2">
                  <c:v>0.104879</c:v>
                </c:pt>
                <c:pt idx="3">
                  <c:v>0.171307</c:v>
                </c:pt>
                <c:pt idx="4">
                  <c:v>0.233759</c:v>
                </c:pt>
                <c:pt idx="5">
                  <c:v>0.301908</c:v>
                </c:pt>
                <c:pt idx="6">
                  <c:v>0.341678</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0.007385</c:v>
                </c:pt>
                <c:pt idx="1">
                  <c:v>0.04228</c:v>
                </c:pt>
                <c:pt idx="2">
                  <c:v>0.120918</c:v>
                </c:pt>
                <c:pt idx="3">
                  <c:v>0.25251</c:v>
                </c:pt>
                <c:pt idx="4">
                  <c:v>0.433823</c:v>
                </c:pt>
                <c:pt idx="5">
                  <c:v>0.671673</c:v>
                </c:pt>
                <c:pt idx="6">
                  <c:v>0.938446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6896012E-5EE0-4CFC-8E03-13972A588A0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94587504-6EEF-4516-839E-AA4EA164D69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db2d0300f7e4dbb"/>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9AB1A521-DB25-44D8-BE02-F7710B4EE654}"/>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98EC9953-8B93-488C-97A3-5E73D2CCEE68}"/>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22612595-8DBF-4673-B655-491906EFEF44}"/>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07974914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6A5AF1B1-6D95-41CC-AA84-76A4A948BED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9E5DABF8-A203-4C27-BEB8-74F3A74876B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2AE4E92F-61E0-4486-90BC-5E232A4E613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DFA165B2-CD8E-4C41-95C6-59EF94C2603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84C7DE22-BB5B-4BAE-B4A0-838BB841C96E}"/>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B40F8E5F-87A8-4752-A7C2-674BB72D6377}"/>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8AAE1D98-243C-4127-9C28-EA3043625D31}"/>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702A448A-0AB9-46EA-A237-10A0801AB7E8}"/>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F80ADA93-9331-4D61-B6BC-278A46319802}"/>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Property-based finder fees and recurring service f">
            <a:extLst xmlns:a="http://schemas.openxmlformats.org/drawingml/2006/main">
              <a:ext uri="{FF2B5EF4-FFF2-40B4-BE49-F238E27FC236}">
                <a16:creationId xmlns:a16="http://schemas.microsoft.com/office/drawing/2014/main" id="{2EC5229A-EA82-4211-BCB2-8E222600753E}"/>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Property-based finder fees and recurring service fees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935ABFDA-17EC-4DED-8514-765679D6A54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133696257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81FA8E2F-DB18-476A-B09F-5721AEFCD7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C991BDC8-78B5-42F8-A5D7-1C283D226E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5463241F-B49F-4CC8-92C3-6E444EF76CD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E0CA6D97-0D60-496B-9DA0-EA7FB66C379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39DEFF64-5C0D-452C-8206-FDFA5DA3E26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71962810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0D3C88BB-037A-4577-9893-D935B02BBFB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C8B45213-C1A0-4569-92BE-BB46365800E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F38FE0DA-AF88-431E-91D4-F7DD359C983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C7451574-6953-42A8-92A0-0F3410EBA81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6d0882d27e3484d"/>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43F11B80-1669-4F82-AF42-230F48473298}"/>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97F4C9A9-7437-4543-BF3F-63C34F77350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54123737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01D14C87-D9F5-4D4B-8B33-5F66FB7193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26FCAC9D-C3C8-48AF-B85F-A3246DB5371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C9ABBF68-4053-4D35-8D7C-9E5D5835EEF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C65C8286-862C-4A88-B0C8-3B367212A8B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da3e8d929c54561"/>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25B5904C-ED37-4A3E-888A-851014AAF1B7}"/>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1868B6A3-09DA-4395-AEB0-CAFE0BDCAD59}"/>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3887A3D6-34C5-4752-9842-D0CA57ADD1BF}"/>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50C17A14-3366-4AFF-A103-8AC9CCD3BE33}"/>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D49694E2-BF68-4868-82A5-444DC75321A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95470453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Finder fees increase with property scope">
            <a:extLst xmlns:a="http://schemas.openxmlformats.org/drawingml/2006/main">
              <a:ext uri="{FF2B5EF4-FFF2-40B4-BE49-F238E27FC236}">
                <a16:creationId xmlns:a16="http://schemas.microsoft.com/office/drawing/2014/main" id="{8474609E-528E-48A5-A7FF-452AB6F1A00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Finder fees increase with property scope</a:t>
            </a:r>
          </a:p>
        </p:txBody>
      </p:sp>
      <p:sp>
        <p:nvSpPr>
          <p:cNvPr id="2" name="Proposed acquisition fees, paid by the provider on">
            <a:extLst xmlns:a="http://schemas.openxmlformats.org/drawingml/2006/main">
              <a:ext uri="{FF2B5EF4-FFF2-40B4-BE49-F238E27FC236}">
                <a16:creationId xmlns:a16="http://schemas.microsoft.com/office/drawing/2014/main" id="{A826D3AE-C3AF-4F35-976C-84F7E9363EB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acquisition fees, paid by the provider once per new customer/provider relationship.</a:t>
            </a:r>
          </a:p>
        </p:txBody>
      </p:sp>
      <p:sp>
        <p:nvSpPr>
          <p:cNvPr id="3" name="YardMatch">
            <a:extLst xmlns:a="http://schemas.openxmlformats.org/drawingml/2006/main">
              <a:ext uri="{FF2B5EF4-FFF2-40B4-BE49-F238E27FC236}">
                <a16:creationId xmlns:a16="http://schemas.microsoft.com/office/drawing/2014/main" id="{21D7A46C-3945-4B3B-BE6C-781F9C294AF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44991972-0681-4A4F-B8BC-CC858CC7ECA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graphicFrame>
        <p:nvGraphicFramePr>
          <p:cNvPr id="13" name=""/>
          <p:cNvGraphicFramePr/>
          <p:nvPr/>
        </p:nvGraphicFramePr>
        <p:xfrm>
          <a:off xmlns:a="http://schemas.openxmlformats.org/drawingml/2006/main" x="609600" y="2333625"/>
          <a:ext xmlns:a="http://schemas.openxmlformats.org/drawingml/2006/main" cx="10972800" cy="2324100"/>
        </p:xfrm>
        <a:graphic xmlns:a="http://schemas.openxmlformats.org/drawingml/2006/main">
          <a:graphicData uri="http://schemas.openxmlformats.org/drawingml/2006/table">
            <a:tbl>
              <a:tblPr/>
              <a:tblGrid>
                <a:gridCol w="3009900"/>
                <a:gridCol w="1990725"/>
                <a:gridCol w="2838450"/>
                <a:gridCol w="3133725"/>
              </a:tblGrid>
              <a:tr h="581025">
                <a:tc>
                  <a:txBody>
                    <a:bodyPr lIns="114300" tIns="76200" rIns="114300" bIns="76200">
                      <a:noAutofit/>
                    </a:bodyPr>
                    <a:lstStyle/>
                    <a:p>
                      <a:pPr algn="l"/>
                      <a:r>
                        <a:rPr sz="1875" b="1">
                          <a:solidFill>
                            <a:srgbClr val="FFFFFF"/>
                          </a:solidFill>
                          <a:latin typeface="Arial"/>
                          <a:ea typeface="Arial"/>
                          <a:cs typeface="Arial"/>
                        </a:rPr>
                        <a:t>Property tier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Finder fee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Example first bill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proceeds / card</a:t>
                      </a:r>
                    </a:p>
                  </a:txBody>
                  <a:tcPr marL="91440" marR="91440" marT="45720" marB="45720" anchor="ctr">
                    <a:solidFill>
                      <a:srgbClr val="205938"/>
                    </a:solidFill>
                  </a:tcPr>
                </a:tc>
              </a:tr>
              <a:tr h="581025">
                <a:tc>
                  <a:txBody>
                    <a:bodyPr lIns="114300" tIns="76200" rIns="114300" bIns="76200">
                      <a:noAutofit/>
                    </a:bodyPr>
                    <a:lstStyle/>
                    <a:p>
                      <a:pPr algn="l"/>
                      <a:r>
                        <a:rPr sz="1875" b="0">
                          <a:solidFill>
                            <a:srgbClr val="14281D"/>
                          </a:solidFill>
                          <a:latin typeface="Arial"/>
                          <a:ea typeface="Arial"/>
                          <a:cs typeface="Arial"/>
                        </a:rPr>
                        <a:t>Typical</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$10.56</a:t>
                      </a:r>
                    </a:p>
                  </a:txBody>
                  <a:tcPr marL="91440" marR="91440" marT="45720" marB="45720" anchor="ctr">
                    <a:solidFill>
                      <a:srgbClr val="FFFFFF"/>
                    </a:solidFill>
                  </a:tcPr>
                </a:tc>
              </a:tr>
              <a:tr h="581025">
                <a:tc>
                  <a:txBody>
                    <a:bodyPr lIns="114300" tIns="76200" rIns="114300" bIns="76200">
                      <a:noAutofit/>
                    </a:bodyPr>
                    <a:lstStyle/>
                    <a:p>
                      <a:pPr algn="l"/>
                      <a:r>
                        <a:rPr sz="1875" b="0">
                          <a:solidFill>
                            <a:srgbClr val="14281D"/>
                          </a:solidFill>
                          <a:latin typeface="Arial"/>
                          <a:ea typeface="Arial"/>
                          <a:cs typeface="Arial"/>
                        </a:rPr>
                        <a:t>Large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$81</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$10.11</a:t>
                      </a:r>
                    </a:p>
                  </a:txBody>
                  <a:tcPr marL="91440" marR="91440" marT="45720" marB="45720" anchor="ctr">
                    <a:solidFill>
                      <a:srgbClr val="F7F5EF"/>
                    </a:solidFill>
                  </a:tcPr>
                </a:tc>
              </a:tr>
              <a:tr h="581025">
                <a:tc>
                  <a:txBody>
                    <a:bodyPr lIns="114300" tIns="76200" rIns="114300" bIns="76200">
                      <a:noAutofit/>
                    </a:bodyPr>
                    <a:lstStyle/>
                    <a:p>
                      <a:pPr algn="l"/>
                      <a:r>
                        <a:rPr sz="1875" b="0">
                          <a:solidFill>
                            <a:srgbClr val="14281D"/>
                          </a:solidFill>
                          <a:latin typeface="Arial"/>
                          <a:ea typeface="Arial"/>
                          <a:cs typeface="Arial"/>
                        </a:rPr>
                        <a:t>Very large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$10.25</a:t>
                      </a:r>
                    </a:p>
                  </a:txBody>
                  <a:tcPr marL="91440" marR="91440" marT="45720" marB="45720" anchor="ctr">
                    <a:solidFill>
                      <a:srgbClr val="FFFFFF"/>
                    </a:solidFill>
                  </a:tcPr>
                </a:tc>
              </a:tr>
            </a:tbl>
          </a:graphicData>
        </a:graphic>
      </p:graphicFrame>
      <p:sp>
        <p:nvSpPr>
          <p:cNvPr id="6" name="Recurring fee: 4% card or 2% ACH, no minimum">
            <a:extLst xmlns:a="http://schemas.openxmlformats.org/drawingml/2006/main">
              <a:ext uri="{FF2B5EF4-FFF2-40B4-BE49-F238E27FC236}">
                <a16:creationId xmlns:a16="http://schemas.microsoft.com/office/drawing/2014/main" id="{BC462F5A-D801-4765-8B90-028C021CA7E1}"/>
              </a:ext>
            </a:extLst>
          </p:cNvPr>
          <p:cNvSpPr>
            <a:spLocks xmlns:a="http://schemas.openxmlformats.org/drawingml/2006/main" noGrp="1"/>
          </p:cNvSpPr>
          <p:nvPr/>
        </p:nvSpPr>
        <p:spPr>
          <a:xfrm xmlns:a="http://schemas.openxmlformats.org/drawingml/2006/main">
            <a:off x="628650" y="48768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5938"/>
                </a:solidFill>
                <a:latin typeface="Arial"/>
                <a:ea typeface="Arial"/>
                <a:cs typeface="Arial"/>
              </a:defRPr>
            </a:pPr>
            <a:r>
              <a:rPr sz="2325" b="1">
                <a:solidFill>
                  <a:srgbClr val="205938"/>
                </a:solidFill>
                <a:latin typeface="Arial"/>
                <a:ea typeface="Arial"/>
                <a:cs typeface="Arial"/>
              </a:rPr>
              <a:t>Recurring fee: 4% card or 2% ACH, no minimum</a:t>
            </a:r>
          </a:p>
        </p:txBody>
      </p:sp>
      <p:sp>
        <p:nvSpPr>
          <p:cNvPr id="7" name="Providers also cover actual card / ACH processing ">
            <a:extLst xmlns:a="http://schemas.openxmlformats.org/drawingml/2006/main">
              <a:ext uri="{FF2B5EF4-FFF2-40B4-BE49-F238E27FC236}">
                <a16:creationId xmlns:a16="http://schemas.microsoft.com/office/drawing/2014/main" id="{071E811A-DBFA-4A0B-B654-0ECEC4A46881}"/>
              </a:ext>
            </a:extLst>
          </p:cNvPr>
          <p:cNvSpPr>
            <a:spLocks xmlns:a="http://schemas.openxmlformats.org/drawingml/2006/main" noGrp="1"/>
          </p:cNvSpPr>
          <p:nvPr/>
        </p:nvSpPr>
        <p:spPr>
          <a:xfrm xmlns:a="http://schemas.openxmlformats.org/drawingml/2006/main">
            <a:off x="628650" y="5410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Providers also cover actual card / ACH processing on each service.</a:t>
            </a:r>
          </a:p>
        </p:txBody>
      </p:sp>
      <p:sp>
        <p:nvSpPr>
          <p:cNvPr id="8" name="First-job examples use basic mowing, property fact">
            <a:extLst xmlns:a="http://schemas.openxmlformats.org/drawingml/2006/main">
              <a:ext uri="{FF2B5EF4-FFF2-40B4-BE49-F238E27FC236}">
                <a16:creationId xmlns:a16="http://schemas.microsoft.com/office/drawing/2014/main" id="{9F43C1E2-2D66-4D6C-A9FC-8DBF9F0A011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First-job examples use basic mowing, property factors of 1.00 / 1.35 / 1.80, and card processing. Proceeds exclude provider labor and materials. First-client finder waiver remains. Validate acceptance and actual yard-size bands.</a:t>
            </a:r>
          </a:p>
        </p:txBody>
      </p:sp>
    </p:spTree>
    <p:extLst>
      <p:ext uri="{BB962C8B-B14F-4D97-AF65-F5344CB8AC3E}">
        <p14:creationId xmlns:p14="http://schemas.microsoft.com/office/powerpoint/2010/main" val="33061808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E20DB492-95CB-4246-AD97-C967A0FBE1C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20337371-ACAB-4EFE-9354-FB0BD58DABD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4EB59168-872F-40CA-BF24-28EAC42912A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7EB50FE6-C443-4AF3-A70E-3F8CFCB7261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991775F5-CCB6-49A1-8733-67C997707A03}"/>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3CCC7442-19A6-440B-BE16-E34CD67A9EDC}"/>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646B5C2B-DBBF-4653-9547-927F7BECD62E}"/>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D3FC888C-0943-4ECC-8E9C-81D9703419E9}"/>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finder fee follows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491B707B-4A5F-4C0D-8E29-64907051C09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74006222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6D5BAB56-66E4-43BB-A3CA-5E03D656786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18412FA9-2CCD-4293-8992-9DE7DABBC55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A46F8C39-4CAB-4F60-A9F2-0343C15C8C8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A2943191-31FD-476A-80DD-58D1062041F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6113B4D5-B967-4358-BD18-5DFE362DFA7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522026441"/>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6DB83A3A-AF3E-4F80-9D4C-B2FC7660652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FAD4084A-62EA-41C2-96F6-B3C211852A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CD26A83E-EB1D-499B-BD6A-92BC93CC830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92ACD99C-6762-4AE6-B77F-FE4CC8805D2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1524000"/>
                <a:gridCol w="2476500"/>
                <a:gridCol w="2095500"/>
                <a:gridCol w="2095500"/>
              </a:tblGrid>
              <a:tr h="519113">
                <a:tc>
                  <a:txBody>
                    <a:bodyPr lIns="114300" tIns="76200" rIns="114300" bIns="76200">
                      <a:noAutofit/>
                    </a:bodyPr>
                    <a:lstStyle/>
                    <a:p>
                      <a:pPr algn="l"/>
                      <a:r>
                        <a:rPr sz="1725"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Fee card / ACH</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72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$2.40 / $1.20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$4.44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$1.68</a:t>
                      </a:r>
                    </a:p>
                  </a:txBody>
                  <a:tcPr marL="91440" marR="91440" marT="45720" marB="45720" anchor="ctr">
                    <a:solidFill>
                      <a:srgbClr val="FFFFFF"/>
                    </a:solidFill>
                  </a:tcPr>
                </a:tc>
              </a:tr>
              <a:tr h="519113">
                <a:tc>
                  <a:txBody>
                    <a:bodyPr lIns="114300" tIns="76200" rIns="114300" bIns="76200">
                      <a:noAutofit/>
                    </a:bodyPr>
                    <a:lstStyle/>
                    <a:p>
                      <a:pPr algn="l"/>
                      <a:r>
                        <a:rPr sz="1725"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$4.00 / $2.00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$7.20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$2.80</a:t>
                      </a:r>
                    </a:p>
                  </a:txBody>
                  <a:tcPr marL="91440" marR="91440" marT="45720" marB="45720" anchor="ctr">
                    <a:solidFill>
                      <a:srgbClr val="F7F5EF"/>
                    </a:solidFill>
                  </a:tcPr>
                </a:tc>
              </a:tr>
              <a:tr h="519113">
                <a:tc>
                  <a:txBody>
                    <a:bodyPr lIns="114300" tIns="76200" rIns="114300" bIns="76200">
                      <a:noAutofit/>
                    </a:bodyPr>
                    <a:lstStyle/>
                    <a:p>
                      <a:pPr algn="l"/>
                      <a:r>
                        <a:rPr sz="1725"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$12.00 / $6.00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$8.40</a:t>
                      </a:r>
                    </a:p>
                  </a:txBody>
                  <a:tcPr marL="91440" marR="91440" marT="45720" marB="45720" anchor="ctr">
                    <a:solidFill>
                      <a:srgbClr val="FFFFFF"/>
                    </a:solidFill>
                  </a:tcPr>
                </a:tc>
              </a:tr>
              <a:tr h="519113">
                <a:tc>
                  <a:txBody>
                    <a:bodyPr lIns="114300" tIns="76200" rIns="114300" bIns="76200">
                      <a:noAutofit/>
                    </a:bodyPr>
                    <a:lstStyle/>
                    <a:p>
                      <a:pPr algn="l"/>
                      <a:r>
                        <a:rPr sz="1725"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$40.00 / $20.00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$69.30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a:t>
                      </a:r>
                    </a:p>
                  </a:txBody>
                  <a:tcPr marL="91440" marR="91440" marT="45720" marB="45720" anchor="ctr">
                    <a:solidFill>
                      <a:srgbClr val="F7F5EF"/>
                    </a:solidFill>
                  </a:tcPr>
                </a:tc>
              </a:tr>
              <a:tr h="519113">
                <a:tc>
                  <a:txBody>
                    <a:bodyPr lIns="114300" tIns="76200" rIns="114300" bIns="76200">
                      <a:noAutofit/>
                    </a:bodyPr>
                    <a:lstStyle/>
                    <a:p>
                      <a:pPr algn="l"/>
                      <a:r>
                        <a:rPr sz="1725"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$100.00 / $50.00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$172.80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$55.00</a:t>
                      </a:r>
                    </a:p>
                  </a:txBody>
                  <a:tcPr marL="91440" marR="91440" marT="45720" marB="45720" anchor="ctr">
                    <a:solidFill>
                      <a:srgbClr val="FFFFFF"/>
                    </a:solidFill>
                  </a:tcPr>
                </a:tc>
              </a:tr>
            </a:tbl>
          </a:graphicData>
        </a:graphic>
      </p:graphicFrame>
      <p:sp>
        <p:nvSpPr>
          <p:cNvPr id="6" name="$2.60">
            <a:extLst xmlns:a="http://schemas.openxmlformats.org/drawingml/2006/main">
              <a:ext uri="{FF2B5EF4-FFF2-40B4-BE49-F238E27FC236}">
                <a16:creationId xmlns:a16="http://schemas.microsoft.com/office/drawing/2014/main" id="{C7E5EF74-0AB3-4585-A301-EECEF67C8A66}"/>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$2.60</a:t>
            </a:r>
          </a:p>
        </p:txBody>
      </p:sp>
      <p:sp>
        <p:nvSpPr>
          <p:cNvPr id="7" name="Average repeat contribution in the 2031 base mix">
            <a:extLst xmlns:a="http://schemas.openxmlformats.org/drawingml/2006/main">
              <a:ext uri="{FF2B5EF4-FFF2-40B4-BE49-F238E27FC236}">
                <a16:creationId xmlns:a16="http://schemas.microsoft.com/office/drawing/2014/main" id="{CF14105A-A482-4001-8B30-92D67984E3F7}"/>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The homeowner must pay by ACH to qualify. Processi">
            <a:extLst xmlns:a="http://schemas.openxmlformats.org/drawingml/2006/main">
              <a:ext uri="{FF2B5EF4-FFF2-40B4-BE49-F238E27FC236}">
                <a16:creationId xmlns:a16="http://schemas.microsoft.com/office/drawing/2014/main" id="{F79842DC-F825-4074-96FE-B76D18DE993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homeowner must pay by ACH to qualify. Processing savings already go to providers. The lower platform fee is an additional YardMatch-funded discount. No automatic adoption lift is assumed.</a:t>
            </a:r>
          </a:p>
        </p:txBody>
      </p:sp>
    </p:spTree>
    <p:extLst>
      <p:ext uri="{BB962C8B-B14F-4D97-AF65-F5344CB8AC3E}">
        <p14:creationId xmlns:p14="http://schemas.microsoft.com/office/powerpoint/2010/main" val="156773154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BB9248E2-B1C2-4609-87FC-B8539576511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AD3DE271-42CF-4FE3-A970-160CB530980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EDB12E1F-9E59-484E-8A35-00EA9C9973E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82CDD446-896B-4CDF-86F6-1ABEE4F0C3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92D1F27A-D51A-4F6D-9BF0-BF02A6F52C5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39297692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E810B19F-6341-4DFD-BC9F-4E054FC29B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204F856F-5A3E-4AB6-8ECE-8B23FA6B22D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52C9AAF4-0B79-45DE-85EF-6A45F3D55C6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B9062BF9-ABF4-40A7-91DC-AC0781F0DC5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89B392DB-B0FF-4A17-B85B-CA655DC8D43B}"/>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1799AE60-79DB-4E67-A58A-8E58845E0D49}"/>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5594E64D-0786-41CC-9CC9-D8A2E66AC9F7}"/>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5ACC1ED2-D141-4D64-9B07-BF8F49B0D53F}"/>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3B5C5A9D-4678-41EE-859B-B691D2682AA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552284885"/>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FDA6DE61-4590-4A6A-A217-BDAD8FFED41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AD3D6D99-1A53-4DD2-9B9C-A4BD1798EDB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2EBE2BA2-A4D1-46A2-AA7C-8E18B665E50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02891F6A-D624-4847-8BAC-0D2BFF8076F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04F7E8AF-DFE5-4E05-912D-2C4DDEFBA51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308193611"/>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5BDEF28F-FC99-4F6B-B0F2-030DC9F6AE3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968121EB-73CF-4565-9311-BE4877D4488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0E4729DF-E7F7-43B1-98ED-4076617845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6023C46E-1DA5-48EE-8991-C7A0EB60F16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46BC338F-8AF3-44A7-947B-EB54AEC1628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692707127"/>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0EE5EEF2-FEDC-40C7-9D1F-40CF28EE2C3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3701DCB6-D448-4DDE-BBEF-EEA8F7C9009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60470E6E-A95B-410A-A947-0EAD30B598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40CCC38E-2D98-4CD0-BAFE-FC25B1DAEA1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BB10E3FA-8E6C-4BF4-ABC4-CDC1585AB91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1117604082"/>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2B8865FC-5929-4051-B7F0-678D71569B4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D14E091E-113C-401C-A1CF-569BD88C1F4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4A5AE5B3-1CD7-4F5F-874C-6F50308207F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4ABE7F42-8162-43CD-BD37-0349C8924E9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B996A1F6-72F4-4CC3-83AE-04CEB676975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1142610527"/>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552581F6-EB63-4DFC-B1D3-63EC7D8F03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AD8E7EF1-43F9-43C5-981A-76DF4EE9058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0E1979FA-6758-450D-BB19-CB406B0FC3A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52A58434-5D71-44C1-87B9-677DAE6D73A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2F8DA982-51CD-40AB-8548-304B641FC9EB}"/>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FBC8E295-21B1-49E8-BCEF-55325C249EAA}"/>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51A040A6-81B9-4281-8C4D-4C5FB81E7497}"/>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23EA6967-FDE9-43B9-A093-A74EE4C319B5}"/>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2A0167AF-0EE2-4BC9-BB66-B45BA9DE9361}"/>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68E7F546-7238-4271-8287-72293E6FD236}"/>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E0BE88AA-B23C-48A2-9935-39DF66DDEB7D}"/>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9DA53507-3F20-425A-B6CA-43DD2FA22585}"/>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17423201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A6EC221B-2138-4B9F-A2E9-63F14317346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24609475-9988-4DFD-AC0E-BB8FB7733F9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D0842C4B-4244-4375-B2D0-CAA00B63351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DC00F59B-82B5-44DA-8B2A-6A68BBEB3C4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E4915A91-2F63-41C2-9CA9-B1CBFE79AD80}"/>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C4572937-7C7C-42BB-B2FC-4777FF385927}"/>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CB0D63B5-C6D8-406F-B2C0-341C768BACA6}"/>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D40B5A5D-3C81-42D3-8170-10BB7DA820E2}"/>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4B5EB5E2-6039-40B3-A5A7-F80F7F0E66CC}"/>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57A646D0-5A76-4199-A8E5-06E837A25C37}"/>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E50A3A98-2732-41C0-82AB-6B368B45216B}"/>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A1E6B21E-E81A-4820-8E3E-F75EC36AEBFB}"/>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733101042"/>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9D281AE2-11C8-4711-87AE-56F4858551C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55BDF5E9-CEF2-4619-9CA5-DE57D38EB60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F697F619-36B3-4813-8A6A-E20B4E391FA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EEAA1E3D-5D42-4C43-92B9-E995E085911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A952E579-B3A3-4771-98F3-D63E960F443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1161423049"/>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E95514EE-571B-4FF4-A9E4-CAE4A016AE5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29AAEEFF-7F59-4725-BAB8-26AE923895B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4EBB01A0-B053-442C-AFD4-3D57664973C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EACB8637-7948-4A6F-818F-03D3821F5C5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605E5733-F0A0-45EA-BE38-EEE452D6921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866499074"/>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2D1D730A-D37B-40FA-B2DE-66A976E1325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D5AE6FE6-9251-4575-B799-43867AC22BA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20E8739C-AD08-40BC-9166-930E53512FD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EE87D1D1-62FD-4520-96AC-302942307D8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134796CB-C6E9-4718-8C24-20F1E0011484}"/>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07D74706-0873-4DC7-A62C-1F41B5348700}"/>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0563D48F-C7E4-45CE-AD28-D975FA19D665}"/>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3DD18726-9485-4DC1-AF46-4646F1E2278E}"/>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95AE078D-90D6-4E50-A388-1308EF6B916A}"/>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D1BD6E23-CDAB-492C-A9C6-C5F91A129BF5}"/>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ADE26364-CFE4-41FF-AFF7-1CCBEF2944F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15245145"/>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39DB4EA1-ABB7-4AEA-8163-7C7C23877A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F153A91A-4F34-45D3-AC1B-5D9AAD8EC91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C949259F-8FF2-4E9F-A692-DEA34001D92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7BD4BFE2-CB02-4B88-9190-D44CE37A888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applicable $45 / $65 / $9">
            <a:extLst xmlns:a="http://schemas.openxmlformats.org/drawingml/2006/main">
              <a:ext uri="{FF2B5EF4-FFF2-40B4-BE49-F238E27FC236}">
                <a16:creationId xmlns:a16="http://schemas.microsoft.com/office/drawing/2014/main" id="{A65F040F-1F93-4048-B5E6-06758A7200C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applicable $45 / $65 / $90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15427644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AF84EA49-1C86-416A-9FAB-580A96F43AE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2EED0EE3-7379-4240-BDA6-017B5762F68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31906047-8E1E-492A-81CE-D0AA907CF8F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3B22B7B0-7AA4-4EEB-BBCB-E4B2D70E91B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$1.28m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$1.36m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$1.37m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($0.28)m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($0.04)m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($0.24)m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($0.30)m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36DD5E9F-7333-4A09-B2E9-286028D3358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1273222419"/>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2EA884AE-30EE-4960-A4BC-55BA44B111B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6E34631E-AF34-48BD-A3AF-49450C146EF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240D7593-5D1A-4A63-9DC5-F41D5ACA866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05E4F4C1-17A0-4AE9-B3D6-06C9ADD7F81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$54</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D40108B7-2B0C-48A2-BF89-2EC4BF9B537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5 paid staff in the base. Downside prices are 15% higher. All cases use the proposed property-tier finder fees and recurring fee plus processing.</a:t>
            </a:r>
          </a:p>
        </p:txBody>
      </p:sp>
    </p:spTree>
    <p:extLst>
      <p:ext uri="{BB962C8B-B14F-4D97-AF65-F5344CB8AC3E}">
        <p14:creationId xmlns:p14="http://schemas.microsoft.com/office/powerpoint/2010/main" val="1548026790"/>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3m in 2033">
            <a:extLst xmlns:a="http://schemas.openxmlformats.org/drawingml/2006/main">
              <a:ext uri="{FF2B5EF4-FFF2-40B4-BE49-F238E27FC236}">
                <a16:creationId xmlns:a16="http://schemas.microsoft.com/office/drawing/2014/main" id="{22DEB795-BA58-4BB8-8B26-5E0F1EDD43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$1.3m in 2033</a:t>
            </a:r>
          </a:p>
        </p:txBody>
      </p:sp>
      <p:sp>
        <p:nvSpPr>
          <p:cNvPr id="2" name="Net marketplace revenue, US$ millions. Finder fees">
            <a:extLst xmlns:a="http://schemas.openxmlformats.org/drawingml/2006/main">
              <a:ext uri="{FF2B5EF4-FFF2-40B4-BE49-F238E27FC236}">
                <a16:creationId xmlns:a16="http://schemas.microsoft.com/office/drawing/2014/main" id="{51277EE5-234E-4181-9D28-6D6BBFEA4B6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FC48370E-9CDE-4BB1-8E3B-01DFE608433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7E2A8809-40F1-45C1-9C91-559EE60480F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b2bcc6ca713342fe"/>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1A0BC2E1-6D9C-49D3-B553-E73D1704CCA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21898142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approaches EBITDA break-even in 2033">
            <a:extLst xmlns:a="http://schemas.openxmlformats.org/drawingml/2006/main">
              <a:ext uri="{FF2B5EF4-FFF2-40B4-BE49-F238E27FC236}">
                <a16:creationId xmlns:a16="http://schemas.microsoft.com/office/drawing/2014/main" id="{073D12E7-B9AC-4A20-9518-8A9E6B895E1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approaches EBITDA break-even in 2033</a:t>
            </a:r>
          </a:p>
        </p:txBody>
      </p:sp>
      <p:sp>
        <p:nvSpPr>
          <p:cNvPr id="2" name="US$ millions. Recommended pricing; Stripe retained">
            <a:extLst xmlns:a="http://schemas.openxmlformats.org/drawingml/2006/main">
              <a:ext uri="{FF2B5EF4-FFF2-40B4-BE49-F238E27FC236}">
                <a16:creationId xmlns:a16="http://schemas.microsoft.com/office/drawing/2014/main" id="{E0F8B9B5-0A8B-4A8E-AC01-38DDFBF4F8A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DBAF0DA9-DD77-4FCD-9B08-7E077A5898E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B796C806-945F-41C0-ADAD-D577783418D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$0.97</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$1.28</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$1.01</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($0.04)</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($0.15)</a:t>
                      </a:r>
                    </a:p>
                  </a:txBody>
                  <a:tcPr marL="91440" marR="91440" marT="45720" marB="45720" anchor="ctr">
                    <a:solidFill>
                      <a:srgbClr val="F7F5EF"/>
                    </a:solidFill>
                  </a:tcPr>
                </a:tc>
              </a:tr>
            </a:tbl>
          </a:graphicData>
        </a:graphic>
      </p:graphicFrame>
      <p:sp>
        <p:nvSpPr>
          <p:cNvPr id="6" name="2033 net income proxy: ($0.04)m. Free cash flow: (">
            <a:extLst xmlns:a="http://schemas.openxmlformats.org/drawingml/2006/main">
              <a:ext uri="{FF2B5EF4-FFF2-40B4-BE49-F238E27FC236}">
                <a16:creationId xmlns:a16="http://schemas.microsoft.com/office/drawing/2014/main" id="{3DCB2DEC-DAD2-4F9C-A088-91CB3EF4DCD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($0.04)m. Free cash flow: ($0.15)m. The selected 4% card / 2% ACH plan remains below EBITDA break-even through 2033. Free cash flow also funds equipment and restricted risk cash.</a:t>
            </a:r>
          </a:p>
        </p:txBody>
      </p:sp>
    </p:spTree>
    <p:extLst>
      <p:ext uri="{BB962C8B-B14F-4D97-AF65-F5344CB8AC3E}">
        <p14:creationId xmlns:p14="http://schemas.microsoft.com/office/powerpoint/2010/main" val="65206949"/>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0C882160-33F2-40F5-BFC9-634748F308F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D7122B9F-51BC-44F0-ADAA-A64A0A6BC64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373E90CC-9D45-4599-A99D-5E29CE6469E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DE39E4D9-9C62-49F8-B934-FAFE0B541FC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$0.36m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$0.67m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$0.93m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($0.56)m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($0.20)m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$0.65m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$1.86m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($0.44)m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($0.04)m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$0.26m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2032</a:t>
                      </a:r>
                    </a:p>
                  </a:txBody>
                  <a:tcPr marL="91440" marR="91440" marT="45720" marB="45720" anchor="ctr">
                    <a:solidFill>
                      <a:srgbClr val="FFFFFF"/>
                    </a:solidFill>
                  </a:tcPr>
                </a:tc>
              </a:tr>
            </a:tbl>
          </a:graphicData>
        </a:graphic>
      </p:graphicFrame>
      <p:sp>
        <p:nvSpPr>
          <p:cNvPr id="6" name="First positive EBITDA: downside None by 2033, base">
            <a:extLst xmlns:a="http://schemas.openxmlformats.org/drawingml/2006/main">
              <a:ext uri="{FF2B5EF4-FFF2-40B4-BE49-F238E27FC236}">
                <a16:creationId xmlns:a16="http://schemas.microsoft.com/office/drawing/2014/main" id="{937B0EE1-8A2A-4FA6-BACD-28CE289094D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 positive EBITDA: downside None by 2033, base None by 2033, upside 2032. All cases cap staffing at five. The model assumes fee acceptance and sufficient team capacity; validate both.</a:t>
            </a:r>
          </a:p>
        </p:txBody>
      </p:sp>
    </p:spTree>
    <p:extLst>
      <p:ext uri="{BB962C8B-B14F-4D97-AF65-F5344CB8AC3E}">
        <p14:creationId xmlns:p14="http://schemas.microsoft.com/office/powerpoint/2010/main" val="1530786730"/>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ACH discount changes the profit outlook">
            <a:extLst xmlns:a="http://schemas.openxmlformats.org/drawingml/2006/main">
              <a:ext uri="{FF2B5EF4-FFF2-40B4-BE49-F238E27FC236}">
                <a16:creationId xmlns:a16="http://schemas.microsoft.com/office/drawing/2014/main" id="{F6077ACF-BE1E-4F68-B2C5-089F810877C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ACH discount changes the profit outlook</a:t>
            </a:r>
          </a:p>
        </p:txBody>
      </p:sp>
      <p:sp>
        <p:nvSpPr>
          <p:cNvPr id="2" name="2033 base comparison. Same service volume, 60% ACH">
            <a:extLst xmlns:a="http://schemas.openxmlformats.org/drawingml/2006/main">
              <a:ext uri="{FF2B5EF4-FFF2-40B4-BE49-F238E27FC236}">
                <a16:creationId xmlns:a16="http://schemas.microsoft.com/office/drawing/2014/main" id="{B79B97AD-45D2-4F3C-B041-43F75E03488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2033 base comparison. Same service volume, 60% ACH share and five remote staff. All columns use the revised overhead budget.</a:t>
            </a:r>
          </a:p>
        </p:txBody>
      </p:sp>
      <p:sp>
        <p:nvSpPr>
          <p:cNvPr id="3" name="YardMatch">
            <a:extLst xmlns:a="http://schemas.openxmlformats.org/drawingml/2006/main">
              <a:ext uri="{FF2B5EF4-FFF2-40B4-BE49-F238E27FC236}">
                <a16:creationId xmlns:a16="http://schemas.microsoft.com/office/drawing/2014/main" id="{E5980924-FFA0-4386-9DD5-2D878A4EA5D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7FFCA596-2C65-46B9-BC91-E6522B077A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343150"/>
          <a:ext xmlns:a="http://schemas.openxmlformats.org/drawingml/2006/main" cx="10972800" cy="3133725"/>
        </p:xfrm>
        <a:graphic xmlns:a="http://schemas.openxmlformats.org/drawingml/2006/main">
          <a:graphicData uri="http://schemas.openxmlformats.org/drawingml/2006/table">
            <a:tbl>
              <a:tblPr/>
              <a:tblGrid>
                <a:gridCol w="3657600"/>
                <a:gridCol w="2190750"/>
                <a:gridCol w="2476500"/>
                <a:gridCol w="2647950"/>
              </a:tblGrid>
              <a:tr h="626745">
                <a:tc>
                  <a:txBody>
                    <a:bodyPr lIns="114300" tIns="76200" rIns="114300" bIns="76200">
                      <a:noAutofit/>
                    </a:bodyPr>
                    <a:lstStyle/>
                    <a:p>
                      <a:pPr algn="l"/>
                      <a:r>
                        <a:rPr sz="1650" b="1">
                          <a:solidFill>
                            <a:srgbClr val="FFFFFF"/>
                          </a:solidFill>
                          <a:latin typeface="Arial"/>
                          <a:ea typeface="Arial"/>
                          <a:cs typeface="Arial"/>
                        </a:rPr>
                        <a:t>2033 base comparison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Previous pricing</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Selected 4% / 2%</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Alternative 4% / 2.5%</a:t>
                      </a:r>
                    </a:p>
                  </a:txBody>
                  <a:tcPr marL="91440" marR="91440" marT="45720" marB="45720" anchor="ctr">
                    <a:solidFill>
                      <a:srgbClr val="205938"/>
                    </a:solidFill>
                  </a:tcPr>
                </a:tc>
              </a:tr>
              <a:tr h="626745">
                <a:tc>
                  <a:txBody>
                    <a:bodyPr lIns="114300" tIns="76200" rIns="114300" bIns="76200">
                      <a:noAutofit/>
                    </a:bodyPr>
                    <a:lstStyle/>
                    <a:p>
                      <a:pPr algn="l"/>
                      <a:r>
                        <a:rPr sz="1650" b="0">
                          <a:solidFill>
                            <a:srgbClr val="14281D"/>
                          </a:solidFill>
                          <a:latin typeface="Arial"/>
                          <a:ea typeface="Arial"/>
                          <a:cs typeface="Arial"/>
                        </a:rPr>
                        <a:t>Minimum platform fee</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$4.49</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a:t>
                      </a:r>
                    </a:p>
                  </a:txBody>
                  <a:tcPr marL="91440" marR="91440" marT="45720" marB="45720" anchor="ctr">
                    <a:solidFill>
                      <a:srgbClr val="FFFFFF"/>
                    </a:solidFill>
                  </a:tcPr>
                </a:tc>
              </a:tr>
              <a:tr h="626745">
                <a:tc>
                  <a:txBody>
                    <a:bodyPr lIns="114300" tIns="76200" rIns="114300" bIns="76200">
                      <a:noAutofit/>
                    </a:bodyPr>
                    <a:lstStyle/>
                    <a:p>
                      <a:pPr algn="l"/>
                      <a:r>
                        <a:rPr sz="1650" b="0">
                          <a:solidFill>
                            <a:srgbClr val="14281D"/>
                          </a:solidFill>
                          <a:latin typeface="Arial"/>
                          <a:ea typeface="Arial"/>
                          <a:cs typeface="Arial"/>
                        </a:rPr>
                        <a:t>Total revenue</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$1.44m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$1.28m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$1.38m</a:t>
                      </a:r>
                    </a:p>
                  </a:txBody>
                  <a:tcPr marL="91440" marR="91440" marT="45720" marB="45720" anchor="ctr">
                    <a:solidFill>
                      <a:srgbClr val="F7F5EF"/>
                    </a:solidFill>
                  </a:tcPr>
                </a:tc>
              </a:tr>
              <a:tr h="626745">
                <a:tc>
                  <a:txBody>
                    <a:bodyPr lIns="114300" tIns="76200" rIns="114300" bIns="76200">
                      <a:noAutofit/>
                    </a:bodyPr>
                    <a:lstStyle/>
                    <a:p>
                      <a:pPr algn="l"/>
                      <a:r>
                        <a:rPr sz="165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$144,307</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($17,229)</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$83,570</a:t>
                      </a:r>
                    </a:p>
                  </a:txBody>
                  <a:tcPr marL="91440" marR="91440" marT="45720" marB="45720" anchor="ctr">
                    <a:solidFill>
                      <a:srgbClr val="E8EDDF"/>
                    </a:solidFill>
                  </a:tcPr>
                </a:tc>
              </a:tr>
              <a:tr h="626745">
                <a:tc>
                  <a:txBody>
                    <a:bodyPr lIns="114300" tIns="76200" rIns="114300" bIns="76200">
                      <a:noAutofit/>
                    </a:bodyPr>
                    <a:lstStyle/>
                    <a:p>
                      <a:pPr algn="l"/>
                      <a:r>
                        <a:rPr sz="165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($14,068)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($145,777)</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($59,621)</a:t>
                      </a:r>
                    </a:p>
                  </a:txBody>
                  <a:tcPr marL="91440" marR="91440" marT="45720" marB="45720" anchor="ctr">
                    <a:solidFill>
                      <a:srgbClr val="F7F5EF"/>
                    </a:solidFill>
                  </a:tcPr>
                </a:tc>
              </a:tr>
            </a:tbl>
          </a:graphicData>
        </a:graphic>
      </p:graphicFrame>
      <p:sp>
        <p:nvSpPr>
          <p:cNvPr id="6" name="At 60% ACH share, the modeled ACH rate for zero EB">
            <a:extLst xmlns:a="http://schemas.openxmlformats.org/drawingml/2006/main">
              <a:ext uri="{FF2B5EF4-FFF2-40B4-BE49-F238E27FC236}">
                <a16:creationId xmlns:a16="http://schemas.microsoft.com/office/drawing/2014/main" id="{29C3872E-4CAF-4479-AF6D-32F23157440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At 60% ACH share, the modeled ACH rate for zero EBITDA is 2.09%, holding the 4% card fee and all other assumptions constant. Provider acceptance still needs testing.</a:t>
            </a:r>
          </a:p>
        </p:txBody>
      </p:sp>
    </p:spTree>
    <p:extLst>
      <p:ext uri="{BB962C8B-B14F-4D97-AF65-F5344CB8AC3E}">
        <p14:creationId xmlns:p14="http://schemas.microsoft.com/office/powerpoint/2010/main" val="1118599476"/>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ore ACH adoption lowers platform revenue">
            <a:extLst xmlns:a="http://schemas.openxmlformats.org/drawingml/2006/main">
              <a:ext uri="{FF2B5EF4-FFF2-40B4-BE49-F238E27FC236}">
                <a16:creationId xmlns:a16="http://schemas.microsoft.com/office/drawing/2014/main" id="{AD45784E-DE72-4046-8625-28CA9AD9F94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More ACH adoption lowers platform revenue</a:t>
            </a:r>
          </a:p>
        </p:txBody>
      </p:sp>
      <p:sp>
        <p:nvSpPr>
          <p:cNvPr id="2" name="2033 sensitivity under the selected 4% card / 2% A">
            <a:extLst xmlns:a="http://schemas.openxmlformats.org/drawingml/2006/main">
              <a:ext uri="{FF2B5EF4-FFF2-40B4-BE49-F238E27FC236}">
                <a16:creationId xmlns:a16="http://schemas.microsoft.com/office/drawing/2014/main" id="{B9B70A33-B766-4F6D-8F44-41CA42B5963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2033 sensitivity under the selected 4% card / 2% ACH fees. All service and customer volumes stay fixed.</a:t>
            </a:r>
          </a:p>
        </p:txBody>
      </p:sp>
      <p:sp>
        <p:nvSpPr>
          <p:cNvPr id="3" name="YardMatch">
            <a:extLst xmlns:a="http://schemas.openxmlformats.org/drawingml/2006/main">
              <a:ext uri="{FF2B5EF4-FFF2-40B4-BE49-F238E27FC236}">
                <a16:creationId xmlns:a16="http://schemas.microsoft.com/office/drawing/2014/main" id="{D87B0689-34F2-4917-BA05-3C0A34E07E5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D6CEE77C-9EDE-4AC7-9438-36C67B74C01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1" name=""/>
          <p:cNvGraphicFramePr/>
          <p:nvPr/>
        </p:nvGraphicFramePr>
        <p:xfrm>
          <a:off xmlns:a="http://schemas.openxmlformats.org/drawingml/2006/main" x="609600" y="2343150"/>
          <a:ext xmlns:a="http://schemas.openxmlformats.org/drawingml/2006/main" cx="10972800" cy="3095625"/>
        </p:xfrm>
        <a:graphic xmlns:a="http://schemas.openxmlformats.org/drawingml/2006/main">
          <a:graphicData uri="http://schemas.openxmlformats.org/drawingml/2006/table">
            <a:tbl>
              <a:tblPr/>
              <a:tblGrid>
                <a:gridCol w="2857500"/>
                <a:gridCol w="3143250"/>
                <a:gridCol w="2486025"/>
                <a:gridCol w="2486025"/>
              </a:tblGrid>
              <a:tr h="515938">
                <a:tc>
                  <a:txBody>
                    <a:bodyPr lIns="114300" tIns="76200" rIns="114300" bIns="76200">
                      <a:noAutofit/>
                    </a:bodyPr>
                    <a:lstStyle/>
                    <a:p>
                      <a:pPr algn="l"/>
                      <a:r>
                        <a:rPr sz="1800" b="1">
                          <a:solidFill>
                            <a:srgbClr val="FFFFFF"/>
                          </a:solidFill>
                          <a:latin typeface="Arial"/>
                          <a:ea typeface="Arial"/>
                          <a:cs typeface="Arial"/>
                        </a:rPr>
                        <a:t>ACH share of jobs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Blended platform rate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Net revenue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EBITDA</a:t>
                      </a:r>
                    </a:p>
                  </a:txBody>
                  <a:tcPr marL="91440" marR="91440" marT="45720" marB="45720" anchor="ctr">
                    <a:solidFill>
                      <a:srgbClr val="205938"/>
                    </a:solidFill>
                  </a:tcPr>
                </a:tc>
              </a:tr>
              <a:tr h="515938">
                <a:tc>
                  <a:txBody>
                    <a:bodyPr lIns="114300" tIns="76200" rIns="114300" bIns="76200">
                      <a:noAutofit/>
                    </a:bodyPr>
                    <a:lstStyle/>
                    <a:p>
                      <a:pPr algn="l"/>
                      <a:r>
                        <a:rPr sz="180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4.0%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$393,602</a:t>
                      </a:r>
                    </a:p>
                  </a:txBody>
                  <a:tcPr marL="91440" marR="91440" marT="45720" marB="45720" anchor="ctr">
                    <a:solidFill>
                      <a:srgbClr val="FFFFFF"/>
                    </a:solidFill>
                  </a:tcPr>
                </a:tc>
              </a:tr>
              <a:tr h="515938">
                <a:tc>
                  <a:txBody>
                    <a:bodyPr lIns="114300" tIns="76200" rIns="114300" bIns="76200">
                      <a:noAutofit/>
                    </a:bodyPr>
                    <a:lstStyle/>
                    <a:p>
                      <a:pPr algn="l"/>
                      <a:r>
                        <a:rPr sz="1800" b="0">
                          <a:solidFill>
                            <a:srgbClr val="14281D"/>
                          </a:solidFill>
                          <a:latin typeface="Arial"/>
                          <a:ea typeface="Arial"/>
                          <a:cs typeface="Arial"/>
                        </a:rPr>
                        <a:t>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3.4%</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$1.48m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$188,571</a:t>
                      </a:r>
                    </a:p>
                  </a:txBody>
                  <a:tcPr marL="91440" marR="91440" marT="45720" marB="45720" anchor="ctr">
                    <a:solidFill>
                      <a:srgbClr val="F7F5EF"/>
                    </a:solidFill>
                  </a:tcPr>
                </a:tc>
              </a:tr>
              <a:tr h="515938">
                <a:tc>
                  <a:txBody>
                    <a:bodyPr lIns="114300" tIns="76200" rIns="114300" bIns="76200">
                      <a:noAutofit/>
                    </a:bodyPr>
                    <a:lstStyle/>
                    <a:p>
                      <a:pPr algn="l"/>
                      <a:r>
                        <a:rPr sz="1800" b="1">
                          <a:solidFill>
                            <a:srgbClr val="14281D"/>
                          </a:solidFill>
                          <a:latin typeface="Arial"/>
                          <a:ea typeface="Arial"/>
                          <a:cs typeface="Arial"/>
                        </a:rPr>
                        <a:t>60%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$1.28m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($17,229)</a:t>
                      </a:r>
                    </a:p>
                  </a:txBody>
                  <a:tcPr marL="91440" marR="91440" marT="45720" marB="45720" anchor="ctr">
                    <a:solidFill>
                      <a:srgbClr val="E8EDDF"/>
                    </a:solidFill>
                  </a:tcPr>
                </a:tc>
              </a:tr>
              <a:tr h="515938">
                <a:tc>
                  <a:txBody>
                    <a:bodyPr lIns="114300" tIns="76200" rIns="114300" bIns="76200">
                      <a:noAutofit/>
                    </a:bodyPr>
                    <a:lstStyle/>
                    <a:p>
                      <a:pPr algn="l"/>
                      <a:r>
                        <a:rPr sz="180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$1.15m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($156,991)</a:t>
                      </a:r>
                    </a:p>
                  </a:txBody>
                  <a:tcPr marL="91440" marR="91440" marT="45720" marB="45720" anchor="ctr">
                    <a:solidFill>
                      <a:srgbClr val="F7F5EF"/>
                    </a:solidFill>
                  </a:tcPr>
                </a:tc>
              </a:tr>
              <a:tr h="515938">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($296,753)</a:t>
                      </a:r>
                    </a:p>
                  </a:txBody>
                  <a:tcPr marL="91440" marR="91440" marT="45720" marB="45720" anchor="ctr">
                    <a:solidFill>
                      <a:srgbClr val="FFFFFF"/>
                    </a:solidFill>
                  </a:tcPr>
                </a:tc>
              </a:tr>
            </a:tbl>
          </a:graphicData>
        </a:graphic>
      </p:graphicFrame>
      <p:sp>
        <p:nvSpPr>
          <p:cNvPr id="6" name="Providers benefit when homeowners switch to bank d">
            <a:extLst xmlns:a="http://schemas.openxmlformats.org/drawingml/2006/main">
              <a:ext uri="{FF2B5EF4-FFF2-40B4-BE49-F238E27FC236}">
                <a16:creationId xmlns:a16="http://schemas.microsoft.com/office/drawing/2014/main" id="{E64485A5-3C7C-412E-8023-AAAA9BBBB89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Providers benefit when homeowners switch to bank debit. Show the savings and offer a consent-based bank setup prompt. Budget any homeowner reward separately. Measure repeat use and failed payments before expanding the incentive.</a:t>
            </a:r>
          </a:p>
        </p:txBody>
      </p:sp>
    </p:spTree>
    <p:extLst>
      <p:ext uri="{BB962C8B-B14F-4D97-AF65-F5344CB8AC3E}">
        <p14:creationId xmlns:p14="http://schemas.microsoft.com/office/powerpoint/2010/main" val="1273810596"/>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5E92427D-5F41-455E-917C-FD2CEB86C6E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Fully remote team. Office rent and facilities cost">
            <a:extLst xmlns:a="http://schemas.openxmlformats.org/drawingml/2006/main">
              <a:ext uri="{FF2B5EF4-FFF2-40B4-BE49-F238E27FC236}">
                <a16:creationId xmlns:a16="http://schemas.microsoft.com/office/drawing/2014/main" id="{EC985301-F0FC-460F-BC38-DF51E2FCF0B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Fully remote team. Office rent and facilities cost $0. Legal, insurance, accounting and software remain.</a:t>
            </a:r>
          </a:p>
        </p:txBody>
      </p:sp>
      <p:sp>
        <p:nvSpPr>
          <p:cNvPr id="3" name="YardMatch">
            <a:extLst xmlns:a="http://schemas.openxmlformats.org/drawingml/2006/main">
              <a:ext uri="{FF2B5EF4-FFF2-40B4-BE49-F238E27FC236}">
                <a16:creationId xmlns:a16="http://schemas.microsoft.com/office/drawing/2014/main" id="{85A7CB08-7EC0-4852-9054-36220B0CEFC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06805042-50E1-424B-9FAE-F00E5F420D3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$706,667</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$68,383</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$158,880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($99,252)</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$881,423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$593,577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C09149EA-1674-4F1A-BDE1-B7D1C1A8EB9B}"/>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A13F97F9-935F-4805-A6FB-09D79B75DAFE}"/>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2.86m">
            <a:extLst xmlns:a="http://schemas.openxmlformats.org/drawingml/2006/main">
              <a:ext uri="{FF2B5EF4-FFF2-40B4-BE49-F238E27FC236}">
                <a16:creationId xmlns:a16="http://schemas.microsoft.com/office/drawing/2014/main" id="{D2846725-616D-4E93-9433-2A2274863CAE}"/>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$2.86m</a:t>
            </a:r>
          </a:p>
        </p:txBody>
      </p:sp>
      <p:sp>
        <p:nvSpPr>
          <p:cNvPr id="9" name="Peak cumulative cash deficit before financing unde">
            <a:extLst xmlns:a="http://schemas.openxmlformats.org/drawingml/2006/main">
              <a:ext uri="{FF2B5EF4-FFF2-40B4-BE49-F238E27FC236}">
                <a16:creationId xmlns:a16="http://schemas.microsoft.com/office/drawing/2014/main" id="{3F9AAAD5-B91E-44AB-A7D0-F886578DC7F0}"/>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36m 2033 fixed-cost buffer gives $3.">
            <a:extLst xmlns:a="http://schemas.openxmlformats.org/drawingml/2006/main">
              <a:ext uri="{FF2B5EF4-FFF2-40B4-BE49-F238E27FC236}">
                <a16:creationId xmlns:a16="http://schemas.microsoft.com/office/drawing/2014/main" id="{0B4E1962-262F-4D1F-96A9-E39F1771643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$0.36m 2033 fixed-cost buffer gives $3.23m, before financing fees. The $1.5m round is an initial pilot illustration; follow-on capital would be needed.</a:t>
            </a:r>
          </a:p>
        </p:txBody>
      </p:sp>
    </p:spTree>
    <p:extLst>
      <p:ext uri="{BB962C8B-B14F-4D97-AF65-F5344CB8AC3E}">
        <p14:creationId xmlns:p14="http://schemas.microsoft.com/office/powerpoint/2010/main" val="197631768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0E0F42A1-A416-4ABE-9815-15E4058FB31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285347C9-5D12-4BC9-961B-150B45256F3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823D49AB-F52E-4246-9A27-E26602403BC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2A232742-D181-48DA-BBBE-7BDA0B1EB45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72EAAE60-AA6B-4E48-8458-79B9C2DDC5CF}"/>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8273037C-C2CD-4EB1-92B9-92DF1BAC94A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2040313998"/>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7036FDB9-859B-45BD-90F5-5A97ABA4B04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A8ACF402-A67F-47F9-B121-23E38839121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D60E36BD-3201-4610-820A-A631D895BAB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5890705B-41D7-4B0D-A8B6-873175C5E26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($295,924)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($285,795)</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($2,410,772)</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($2,064,789)</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9D892AF8-8004-4948-8E80-CA3C9757171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785323332"/>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49B691EC-5A95-4855-B249-AA4CAA4D405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17B20AA1-CF5E-451A-8FFE-CD0BFCD8E1F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6C6CD71A-7793-4360-9B8E-97199F3586F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5AFA688D-513D-4DDF-95B0-4704B9016AD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92A9BD15-B307-49C2-9AB2-08D602567FF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552309270"/>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28124133-887A-451D-9911-FF717CA833E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91DA5590-979C-46F1-9B81-F868A46BB3F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EF3F6C5D-4465-41D8-B6A7-B4B7795F794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4A3645BE-6099-4779-ABAC-16029E24E66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6EA1E85F-0985-4926-888A-DA165A8FDA77}"/>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252CCF06-8813-423B-BB5B-74F84B9C6253}"/>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7CBD5E2F-2B91-47D9-A10F-A5FEFBA472A0}"/>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48B48AD4-1A6E-44F3-AEA5-93D6E383E5B4}"/>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4FA555C0-CF02-435C-A9A0-5DBD2A2616C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526435546"/>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45EC65B6-D96E-4A6B-9790-6D91D5A1E42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CAA54517-C16D-4910-B9B2-E21064C9CA2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B8BC0CF9-13D7-4741-BE2B-307E0B581F1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EAFC5946-23D4-40DF-BB9E-75FDEC06E06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validate a path to $40 by 2033</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1F72A1A1-255E-4A84-9B28-D0D4E11F114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595072825"/>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4068BD5C-60C6-4CA1-9715-6C200974001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03AEC814-0E36-4516-A7B6-E55CF2D9DEB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436CBB47-83D2-401E-9382-D93BC40598A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897154B7-36C8-479D-8AAB-01FBC2945AC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Households and paid visits">
            <a:extLst xmlns:a="http://schemas.openxmlformats.org/drawingml/2006/main">
              <a:ext uri="{FF2B5EF4-FFF2-40B4-BE49-F238E27FC236}">
                <a16:creationId xmlns:a16="http://schemas.microsoft.com/office/drawing/2014/main" id="{367B62E5-018C-4E56-A3F0-3DEF9892612E}"/>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0EC4C4B0-6234-4196-B6F9-9062C4D04BC9}"/>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D749F16E-DA50-4E3B-BC60-682D6D6F1A11}"/>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60 per repeat job aft">
            <a:extLst xmlns:a="http://schemas.openxmlformats.org/drawingml/2006/main">
              <a:ext uri="{FF2B5EF4-FFF2-40B4-BE49-F238E27FC236}">
                <a16:creationId xmlns:a16="http://schemas.microsoft.com/office/drawing/2014/main" id="{FB02D264-5369-4B20-88B1-43B6BC9535BE}"/>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$2.60 per repeat job after variable costs. Processing is recovered at cost; acquisition and fixed overhead remain separate.</a:t>
            </a:r>
          </a:p>
        </p:txBody>
      </p:sp>
      <p:sp>
        <p:nvSpPr>
          <p:cNvPr id="9" name="Remote operations and cash">
            <a:extLst xmlns:a="http://schemas.openxmlformats.org/drawingml/2006/main">
              <a:ext uri="{FF2B5EF4-FFF2-40B4-BE49-F238E27FC236}">
                <a16:creationId xmlns:a16="http://schemas.microsoft.com/office/drawing/2014/main" id="{5EDFC7E3-9DE4-49CE-80E3-FA770B15327C}"/>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Remote operations and cash</a:t>
            </a:r>
          </a:p>
        </p:txBody>
      </p:sp>
      <p:sp>
        <p:nvSpPr>
          <p:cNvPr id="10" name="Five staff include the founder. Office costs are $">
            <a:extLst xmlns:a="http://schemas.openxmlformats.org/drawingml/2006/main">
              <a:ext uri="{FF2B5EF4-FFF2-40B4-BE49-F238E27FC236}">
                <a16:creationId xmlns:a16="http://schemas.microsoft.com/office/drawing/2014/main" id="{8518F6E4-7D1B-431F-9A3E-EB5748621228}"/>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Five staff include the founder. Office costs are $0. The $42,000 starting overhead budget covers insurance, legal, accounting and software. Cash also funds IT equipment and risk reserves.</a:t>
            </a:r>
          </a:p>
        </p:txBody>
      </p:sp>
      <p:sp>
        <p:nvSpPr>
          <p:cNvPr id="11" name="A cohort check">
            <a:extLst xmlns:a="http://schemas.openxmlformats.org/drawingml/2006/main">
              <a:ext uri="{FF2B5EF4-FFF2-40B4-BE49-F238E27FC236}">
                <a16:creationId xmlns:a16="http://schemas.microsoft.com/office/drawing/2014/main" id="{B6B90933-C095-4C4E-92A6-E291074E6171}"/>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83 of five-year contri">
            <a:extLst xmlns:a="http://schemas.openxmlformats.org/drawingml/2006/main">
              <a:ext uri="{FF2B5EF4-FFF2-40B4-BE49-F238E27FC236}">
                <a16:creationId xmlns:a16="http://schemas.microsoft.com/office/drawing/2014/main" id="{F9DF974C-9E8F-40BD-8117-20E4CECE722C}"/>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$183 of five-year contribution versus $44 CAC, or 4.1x. This assumes retention and unchanged cohort economics.</a:t>
            </a:r>
          </a:p>
        </p:txBody>
      </p:sp>
    </p:spTree>
    <p:extLst>
      <p:ext uri="{BB962C8B-B14F-4D97-AF65-F5344CB8AC3E}">
        <p14:creationId xmlns:p14="http://schemas.microsoft.com/office/powerpoint/2010/main" val="1191699982"/>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38138E49-C53B-46AD-BF21-83CA0CA551E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1, 2026. Financial projections">
            <a:extLst xmlns:a="http://schemas.openxmlformats.org/drawingml/2006/main">
              <a:ext uri="{FF2B5EF4-FFF2-40B4-BE49-F238E27FC236}">
                <a16:creationId xmlns:a16="http://schemas.microsoft.com/office/drawing/2014/main" id="{5E56BB92-B3C9-417E-82D1-E500C68A412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21,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A2FC1466-FAA3-44F1-8206-BF3A687FA9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96720C5C-B0E5-4DF2-89BC-B8B4C31B23F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sp>
        <p:nvSpPr>
          <p:cNvPr id="5" name="Company materials">
            <a:extLst xmlns:a="http://schemas.openxmlformats.org/drawingml/2006/main">
              <a:ext uri="{FF2B5EF4-FFF2-40B4-BE49-F238E27FC236}">
                <a16:creationId xmlns:a16="http://schemas.microsoft.com/office/drawing/2014/main" id="{E0BD02EE-38D7-4E18-876F-31E935259CA6}"/>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2AA5B187-BC58-447C-A7C8-6C8D08FB22F5}"/>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BA460505-7B14-4635-A7F3-186CAD8FE414}"/>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2823B4BF-566D-4988-94E1-5A88396986C8}"/>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e4bbe181e564939"/>
              </a:rPr>
              <a:t>Stripe Payments pricing</a:t>
            </a:r>
          </a:p>
        </p:txBody>
      </p:sp>
      <p:sp>
        <p:nvSpPr>
          <p:cNvPr id="9" name="Stripe Connect pricing">
            <a:extLst xmlns:a="http://schemas.openxmlformats.org/drawingml/2006/main">
              <a:ext uri="{FF2B5EF4-FFF2-40B4-BE49-F238E27FC236}">
                <a16:creationId xmlns:a16="http://schemas.microsoft.com/office/drawing/2014/main" id="{7339A751-D128-4511-88E3-228D739AF91B}"/>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be75a6e4bd04ca6"/>
              </a:rPr>
              <a:t>Stripe Connect pricing</a:t>
            </a:r>
          </a:p>
        </p:txBody>
      </p:sp>
      <p:sp>
        <p:nvSpPr>
          <p:cNvPr id="10" name="Stripe Financial Connections">
            <a:extLst xmlns:a="http://schemas.openxmlformats.org/drawingml/2006/main">
              <a:ext uri="{FF2B5EF4-FFF2-40B4-BE49-F238E27FC236}">
                <a16:creationId xmlns:a16="http://schemas.microsoft.com/office/drawing/2014/main" id="{339DA852-0465-477E-AEAD-F3B13DF04C68}"/>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6e0f17146ac4d48"/>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DA96F3BA-808A-49B1-87CC-15228A00B9A5}"/>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87fab538a4594048"/>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63C48C9C-EA1E-4ED6-BAA5-BC6FDDCF8ADF}"/>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71f6d1ef824428b"/>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00549020-901A-428C-95AE-E0A87F3BCE60}"/>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d5e623982274001"/>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8CBCE1B3-262C-45E1-9689-20F4380408FF}"/>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daad707cb44479b"/>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495F5DA7-08BD-48BE-B26C-52D5D2C827D0}"/>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670e501bab24981"/>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844A5ADC-A887-42E1-8B3E-7A7E62BAB363}"/>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92bb38f0ee24728"/>
              </a:rPr>
              <a:t>Census QuickFacts: Barnegat</a:t>
            </a:r>
          </a:p>
        </p:txBody>
      </p:sp>
      <p:sp>
        <p:nvSpPr>
          <p:cNvPr id="17" name="Jobber: software pricing">
            <a:extLst xmlns:a="http://schemas.openxmlformats.org/drawingml/2006/main">
              <a:ext uri="{FF2B5EF4-FFF2-40B4-BE49-F238E27FC236}">
                <a16:creationId xmlns:a16="http://schemas.microsoft.com/office/drawing/2014/main" id="{EAD6A900-AF6A-43AA-8D3D-20CC31C1475C}"/>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fa3e6802f1fc4a68"/>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BDD7BFA2-98DA-45C5-96B4-44F2E31026FD}"/>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70513b13a8e49f0"/>
              </a:rPr>
              <a:t>Zocdoc: Sponsored Results cost</a:t>
            </a:r>
          </a:p>
        </p:txBody>
      </p:sp>
      <p:sp>
        <p:nvSpPr>
          <p:cNvPr id="19" name="Stripe Billing pricing">
            <a:extLst xmlns:a="http://schemas.openxmlformats.org/drawingml/2006/main">
              <a:ext uri="{FF2B5EF4-FFF2-40B4-BE49-F238E27FC236}">
                <a16:creationId xmlns:a16="http://schemas.microsoft.com/office/drawing/2014/main" id="{572B969F-67B4-43AE-889C-1CD6C713646B}"/>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85763eb668d4ad1"/>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40ED0BBE-E2A7-40D7-B387-1C383086826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29656639"/>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E503BF01-0185-43A6-82FE-028CBB9E13C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6DA5F767-3971-4F0A-A03E-4ECCFFC3883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FE8F5169-BA66-42B7-B7E8-B0BD91998E5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FC66B962-1F1B-443C-894D-B76CAF2A2DD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435a1f6059b4e45"/>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f3761eda336a4224"/>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a7443bf0b865435e"/>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a9ece84ca90e4ec0"/>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3c43c3b02f1412b"/>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ad60b3557cd4ab8"/>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b27ec24f209e4db2"/>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0F7E9C2C-04CE-4319-B699-8637F02FC8F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026308602"/>
      </p:ext>
    </p:extLst>
  </p:cSld>
</p:sld>
</file>

<file path=ppt/slides/slide3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EB160696-A5B8-4165-8B48-A841ABF02DB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8D8BA6B8-EEE8-4CD7-A313-09601A048FE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4A6214A6-510A-449A-9E53-48CA5717F6B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8">
            <a:extLst xmlns:a="http://schemas.openxmlformats.org/drawingml/2006/main">
              <a:ext uri="{FF2B5EF4-FFF2-40B4-BE49-F238E27FC236}">
                <a16:creationId xmlns:a16="http://schemas.microsoft.com/office/drawing/2014/main" id="{E9067A7F-823C-4182-9CCB-B0D337FB176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38</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ef3e1b6fe594486"/>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084aead07ea4380"/>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eb2709dfd8c44537"/>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e732540d68364289"/>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4140896293c47c7"/>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2518756a45e4105"/>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e96c2d0ed0245b6"/>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4E8DB2DA-183A-4EE8-ABBE-4630DCDCF2F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613675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2026-09-21T04:16:40.7690000Z</dcterms:created>
  <dcterms:modified xsi:type="dcterms:W3CDTF">2026-09-21T04:16:40.7690000Z</dcterms:modified>
</coreProperties>
</file>