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7718d48d1d4eb1" /><Relationship Type="http://schemas.openxmlformats.org/officeDocument/2006/relationships/extended-properties" Target="/docProps/app.xml" Id="R58047047981e42e6" /><Relationship Type="http://schemas.openxmlformats.org/officeDocument/2006/relationships/officeDocument" Target="/ppt/presentation.xml" Id="R08edb9e6de6f4ec4" /></Relationships>
</file>

<file path=ppt/presentation.xml><?xml version="1.0" encoding="utf-8"?>
<p:presentation xmlns:p="http://schemas.openxmlformats.org/presentationml/2006/main">
  <p:sldMasterIdLst>
    <p:sldMasterId xmlns:r="http://schemas.openxmlformats.org/officeDocument/2006/relationships" id="2147483648" r:id="R5fefbfce504948ae"/>
  </p:sldMasterIdLst>
  <p:notesMasterIdLst>
    <p:notesMasterId xmlns:r="http://schemas.openxmlformats.org/officeDocument/2006/relationships" r:id="R85f7d32bc87041ff"/>
  </p:notesMasterIdLst>
  <p:sldIdLst>
    <p:sldId xmlns:r="http://schemas.openxmlformats.org/officeDocument/2006/relationships" id="256" r:id="R379f35e710ce4170"/>
    <p:sldId xmlns:r="http://schemas.openxmlformats.org/officeDocument/2006/relationships" id="257" r:id="R6f1b68b732c4401a"/>
    <p:sldId xmlns:r="http://schemas.openxmlformats.org/officeDocument/2006/relationships" id="258" r:id="R1e224c5c279f4107"/>
    <p:sldId xmlns:r="http://schemas.openxmlformats.org/officeDocument/2006/relationships" id="259" r:id="Ra780b88b40954f3f"/>
    <p:sldId xmlns:r="http://schemas.openxmlformats.org/officeDocument/2006/relationships" id="260" r:id="Re72f5675e34a4e80"/>
    <p:sldId xmlns:r="http://schemas.openxmlformats.org/officeDocument/2006/relationships" id="261" r:id="Ra47e1d29ae5b4c11"/>
    <p:sldId xmlns:r="http://schemas.openxmlformats.org/officeDocument/2006/relationships" id="262" r:id="R70a67abc67ab458a"/>
    <p:sldId xmlns:r="http://schemas.openxmlformats.org/officeDocument/2006/relationships" id="263" r:id="R1e73188b9586400d"/>
    <p:sldId xmlns:r="http://schemas.openxmlformats.org/officeDocument/2006/relationships" id="264" r:id="Rb174ace5cc2e4792"/>
    <p:sldId xmlns:r="http://schemas.openxmlformats.org/officeDocument/2006/relationships" id="265" r:id="R0236f1ccf0c84c2e"/>
    <p:sldId xmlns:r="http://schemas.openxmlformats.org/officeDocument/2006/relationships" id="266" r:id="R0583b954ae71484f"/>
    <p:sldId xmlns:r="http://schemas.openxmlformats.org/officeDocument/2006/relationships" id="267" r:id="R5a6459d05db14b38"/>
    <p:sldId xmlns:r="http://schemas.openxmlformats.org/officeDocument/2006/relationships" id="268" r:id="R3a9a34bcfa44458c"/>
    <p:sldId xmlns:r="http://schemas.openxmlformats.org/officeDocument/2006/relationships" id="269" r:id="R2672a6bb63504ef0"/>
    <p:sldId xmlns:r="http://schemas.openxmlformats.org/officeDocument/2006/relationships" id="270" r:id="R34c0559085dd4060"/>
    <p:sldId xmlns:r="http://schemas.openxmlformats.org/officeDocument/2006/relationships" id="271" r:id="Re9cef79309ae4ff5"/>
    <p:sldId xmlns:r="http://schemas.openxmlformats.org/officeDocument/2006/relationships" id="272" r:id="R3f626a21a8984d21"/>
    <p:sldId xmlns:r="http://schemas.openxmlformats.org/officeDocument/2006/relationships" id="273" r:id="Rf18069c507c74867"/>
    <p:sldId xmlns:r="http://schemas.openxmlformats.org/officeDocument/2006/relationships" id="274" r:id="Rd81b7b2c30a84d79"/>
    <p:sldId xmlns:r="http://schemas.openxmlformats.org/officeDocument/2006/relationships" id="275" r:id="R846e7f0f7af540a3"/>
    <p:sldId xmlns:r="http://schemas.openxmlformats.org/officeDocument/2006/relationships" id="276" r:id="R4dba991369ef4361"/>
    <p:sldId xmlns:r="http://schemas.openxmlformats.org/officeDocument/2006/relationships" id="277" r:id="R8aa16591b66a43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e675b1231c4dbe" /><Relationship Type="http://schemas.openxmlformats.org/officeDocument/2006/relationships/slideMaster" Target="/ppt/slideMasters/slideMaster1.xml" Id="R5fefbfce504948ae" /><Relationship Type="http://schemas.openxmlformats.org/officeDocument/2006/relationships/notesMaster" Target="/ppt/notesMasters/notesMaster1.xml" Id="R85f7d32bc87041ff" /><Relationship Type="http://schemas.openxmlformats.org/officeDocument/2006/relationships/presProps" Target="/ppt/presProps.xml" Id="R44028e69eefe4bd7" /><Relationship Type="http://schemas.openxmlformats.org/officeDocument/2006/relationships/tableStyles" Target="/ppt/tableStyles.xml" Id="R48ce63bb24fb43e4" /><Relationship Type="http://schemas.openxmlformats.org/officeDocument/2006/relationships/slide" Target="/ppt/slides/slide1.xml" Id="R379f35e710ce4170" /><Relationship Type="http://schemas.openxmlformats.org/officeDocument/2006/relationships/slide" Target="/ppt/slides/slide2.xml" Id="R6f1b68b732c4401a" /><Relationship Type="http://schemas.openxmlformats.org/officeDocument/2006/relationships/slide" Target="/ppt/slides/slide3.xml" Id="R1e224c5c279f4107" /><Relationship Type="http://schemas.openxmlformats.org/officeDocument/2006/relationships/slide" Target="/ppt/slides/slide4.xml" Id="Ra780b88b40954f3f" /><Relationship Type="http://schemas.openxmlformats.org/officeDocument/2006/relationships/slide" Target="/ppt/slides/slide5.xml" Id="Re72f5675e34a4e80" /><Relationship Type="http://schemas.openxmlformats.org/officeDocument/2006/relationships/slide" Target="/ppt/slides/slide6.xml" Id="Ra47e1d29ae5b4c11" /><Relationship Type="http://schemas.openxmlformats.org/officeDocument/2006/relationships/slide" Target="/ppt/slides/slide7.xml" Id="R70a67abc67ab458a" /><Relationship Type="http://schemas.openxmlformats.org/officeDocument/2006/relationships/slide" Target="/ppt/slides/slide8.xml" Id="R1e73188b9586400d" /><Relationship Type="http://schemas.openxmlformats.org/officeDocument/2006/relationships/slide" Target="/ppt/slides/slide9.xml" Id="Rb174ace5cc2e4792" /><Relationship Type="http://schemas.openxmlformats.org/officeDocument/2006/relationships/slide" Target="/ppt/slides/slide10.xml" Id="R0236f1ccf0c84c2e" /><Relationship Type="http://schemas.openxmlformats.org/officeDocument/2006/relationships/slide" Target="/ppt/slides/slide11.xml" Id="R0583b954ae71484f" /><Relationship Type="http://schemas.openxmlformats.org/officeDocument/2006/relationships/slide" Target="/ppt/slides/slide12.xml" Id="R5a6459d05db14b38" /><Relationship Type="http://schemas.openxmlformats.org/officeDocument/2006/relationships/slide" Target="/ppt/slides/slide13.xml" Id="R3a9a34bcfa44458c" /><Relationship Type="http://schemas.openxmlformats.org/officeDocument/2006/relationships/slide" Target="/ppt/slides/slide14.xml" Id="R2672a6bb63504ef0" /><Relationship Type="http://schemas.openxmlformats.org/officeDocument/2006/relationships/slide" Target="/ppt/slides/slide15.xml" Id="R34c0559085dd4060" /><Relationship Type="http://schemas.openxmlformats.org/officeDocument/2006/relationships/slide" Target="/ppt/slides/slide16.xml" Id="Re9cef79309ae4ff5" /><Relationship Type="http://schemas.openxmlformats.org/officeDocument/2006/relationships/slide" Target="/ppt/slides/slide17.xml" Id="R3f626a21a8984d21" /><Relationship Type="http://schemas.openxmlformats.org/officeDocument/2006/relationships/slide" Target="/ppt/slides/slide18.xml" Id="Rf18069c507c74867" /><Relationship Type="http://schemas.openxmlformats.org/officeDocument/2006/relationships/slide" Target="/ppt/slides/slide19.xml" Id="Rd81b7b2c30a84d79" /><Relationship Type="http://schemas.openxmlformats.org/officeDocument/2006/relationships/slide" Target="/ppt/slides/slide20.xml" Id="R846e7f0f7af540a3" /><Relationship Type="http://schemas.openxmlformats.org/officeDocument/2006/relationships/slide" Target="/ppt/slides/slide21.xml" Id="R4dba991369ef4361" /><Relationship Type="http://schemas.openxmlformats.org/officeDocument/2006/relationships/slide" Target="/ppt/slides/slide22.xml" Id="R8aa16591b66a43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d8067b100449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9ec230c96f4324" /><Relationship Type="http://schemas.openxmlformats.org/officeDocument/2006/relationships/notesMaster" Target="/ppt/notesMasters/notesMaster1.xml" Id="Rd27208a657784f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d8d60951544e9b" /><Relationship Type="http://schemas.openxmlformats.org/officeDocument/2006/relationships/notesMaster" Target="/ppt/notesMasters/notesMaster1.xml" Id="R2c0a1dcfb75541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6c61ac27b04905" /><Relationship Type="http://schemas.openxmlformats.org/officeDocument/2006/relationships/notesMaster" Target="/ppt/notesMasters/notesMaster1.xml" Id="R2b7714ce47c841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97459480cc4c5f" /><Relationship Type="http://schemas.openxmlformats.org/officeDocument/2006/relationships/notesMaster" Target="/ppt/notesMasters/notesMaster1.xml" Id="R31319b9516004a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968cbb206b474e" /><Relationship Type="http://schemas.openxmlformats.org/officeDocument/2006/relationships/notesMaster" Target="/ppt/notesMasters/notesMaster1.xml" Id="R238caf7aff2d40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730cdf12b24dc1" /><Relationship Type="http://schemas.openxmlformats.org/officeDocument/2006/relationships/notesMaster" Target="/ppt/notesMasters/notesMaster1.xml" Id="Ree5ec074f98a4b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577e477dc24356" /><Relationship Type="http://schemas.openxmlformats.org/officeDocument/2006/relationships/notesMaster" Target="/ppt/notesMasters/notesMaster1.xml" Id="Rb943fc8a5027410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9aff12ef78425f" /><Relationship Type="http://schemas.openxmlformats.org/officeDocument/2006/relationships/notesMaster" Target="/ppt/notesMasters/notesMaster1.xml" Id="R889762b3c3c844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e0b56f9b641cc" /><Relationship Type="http://schemas.openxmlformats.org/officeDocument/2006/relationships/notesMaster" Target="/ppt/notesMasters/notesMaster1.xml" Id="R8feae9c66d3a49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9ade6306c54d7a" /><Relationship Type="http://schemas.openxmlformats.org/officeDocument/2006/relationships/notesMaster" Target="/ppt/notesMasters/notesMaster1.xml" Id="R0ff278c1ef1040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50affc5e6f4ec9" /><Relationship Type="http://schemas.openxmlformats.org/officeDocument/2006/relationships/notesMaster" Target="/ppt/notesMasters/notesMaster1.xml" Id="Rf524f74b14fb49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13cb2fee99c45af" /><Relationship Type="http://schemas.openxmlformats.org/officeDocument/2006/relationships/notesMaster" Target="/ppt/notesMasters/notesMaster1.xml" Id="Re3f12b7da931460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b29a00c36a4b93" /><Relationship Type="http://schemas.openxmlformats.org/officeDocument/2006/relationships/notesMaster" Target="/ppt/notesMasters/notesMaster1.xml" Id="R47e3f5ffe18040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24e8cd184c485b" /><Relationship Type="http://schemas.openxmlformats.org/officeDocument/2006/relationships/notesMaster" Target="/ppt/notesMasters/notesMaster1.xml" Id="Rbf7b67c3355248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f7d832a9c84b2a" /><Relationship Type="http://schemas.openxmlformats.org/officeDocument/2006/relationships/notesMaster" Target="/ppt/notesMasters/notesMaster1.xml" Id="Rdae9c07bf1674b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f08a0b2a874a7f" /><Relationship Type="http://schemas.openxmlformats.org/officeDocument/2006/relationships/notesMaster" Target="/ppt/notesMasters/notesMaster1.xml" Id="R1177893748ba43f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0b842043074e6c" /><Relationship Type="http://schemas.openxmlformats.org/officeDocument/2006/relationships/notesMaster" Target="/ppt/notesMasters/notesMaster1.xml" Id="Ra387a9bb9e5c45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a4f6844c844a42" /><Relationship Type="http://schemas.openxmlformats.org/officeDocument/2006/relationships/notesMaster" Target="/ppt/notesMasters/notesMaster1.xml" Id="R77eeb39ec4d043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91db5dc03ed43a0" /><Relationship Type="http://schemas.openxmlformats.org/officeDocument/2006/relationships/notesMaster" Target="/ppt/notesMasters/notesMaster1.xml" Id="R209075df6bdb4b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96a0d6f8e1d4c31" /><Relationship Type="http://schemas.openxmlformats.org/officeDocument/2006/relationships/notesMaster" Target="/ppt/notesMasters/notesMaster1.xml" Id="Rfd2620c1563b49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0d4e39ceb334e9b" /><Relationship Type="http://schemas.openxmlformats.org/officeDocument/2006/relationships/notesMaster" Target="/ppt/notesMasters/notesMaster1.xml" Id="R0346b03d360b42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ff1f44076f404e" /><Relationship Type="http://schemas.openxmlformats.org/officeDocument/2006/relationships/notesMaster" Target="/ppt/notesMasters/notesMaster1.xml" Id="Rf535b69545e546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Patrick instructions September 20, 2026: provider pays $2.99 per completed service. Source: YardMatch-Investor-Model.xlsx, assumptions and formula-driven Operating model, prepared September 20, 2026. All 2027-2033 figures are illustrative forecasts, not actuals or promises. US dollars. No commercial actuals supplied. $45 once per new relationship. One welcome finder-fee waiver per new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Unit economics uses 2031 Base volumes to allocate account and payout-count costs. Repeat payout base excludes the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 Approximate owner households = 10,265 * 88% = 9,033.2. 500 / 9,033.2 = 5.5%. This is an upper-envelope denominator, not a lawn-care TAM.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completed paid jobs * $2.99.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projected FCF burn $1.053m and ending cash $421,907.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https://www.census.gov/quickfacts/fact/table/barnegattownshipoceancountynewjersey/SBO010223 . 10,265 households and 88.0% owner occupancy. Households with lawn-care demand are a subset, not measured here.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fe7de7207c4b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5ab30b3014487b" /><Relationship Type="http://schemas.openxmlformats.org/officeDocument/2006/relationships/slideLayout" Target="/ppt/slideLayouts/slideLayout1.xml" Id="Rce02097023e941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02097023e941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d567b3e4884cc8" /><Relationship Type="http://schemas.openxmlformats.org/officeDocument/2006/relationships/image" Target="/ppt/media/image.png" Id="R9c0b82ac94bc4b12" /><Relationship Type="http://schemas.openxmlformats.org/officeDocument/2006/relationships/notesSlide" Target="/ppt/notesSlides/notesSlide1.xml" Id="R012796bc76134d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d62fa90aa14aa8" /><Relationship Type="http://schemas.openxmlformats.org/officeDocument/2006/relationships/notesSlide" Target="/ppt/notesSlides/notesSlide2.xml" Id="R667e7d30a34e4d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68ef0fc3fb4ba4" /><Relationship Type="http://schemas.openxmlformats.org/officeDocument/2006/relationships/notesSlide" Target="/ppt/notesSlides/notesSlide3.xml" Id="Rf5b24796e16541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74669879404d7f" /><Relationship Type="http://schemas.openxmlformats.org/officeDocument/2006/relationships/image" Target="/ppt/media/image2.png" Id="R8bf4c6f5f5a048f2" /><Relationship Type="http://schemas.openxmlformats.org/officeDocument/2006/relationships/notesSlide" Target="/ppt/notesSlides/notesSlide4.xml" Id="R04c5ac234aba4e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3cee5268f14599" /><Relationship Type="http://schemas.openxmlformats.org/officeDocument/2006/relationships/image" Target="/ppt/media/image3.png" Id="Rf53631f636ed4fe3" /><Relationship Type="http://schemas.openxmlformats.org/officeDocument/2006/relationships/notesSlide" Target="/ppt/notesSlides/notesSlide5.xml" Id="R414407987c8444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c7c25291164d66" /><Relationship Type="http://schemas.openxmlformats.org/officeDocument/2006/relationships/notesSlide" Target="/ppt/notesSlides/notesSlide6.xml" Id="Rddff6c562ffe41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fbec02372a4419" /><Relationship Type="http://schemas.openxmlformats.org/officeDocument/2006/relationships/notesSlide" Target="/ppt/notesSlides/notesSlide7.xml" Id="Ra80d9b7a93074f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44bd60a7244020" /><Relationship Type="http://schemas.openxmlformats.org/officeDocument/2006/relationships/notesSlide" Target="/ppt/notesSlides/notesSlide8.xml" Id="R911f6592c98e4c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d1304aba274847" /><Relationship Type="http://schemas.openxmlformats.org/officeDocument/2006/relationships/notesSlide" Target="/ppt/notesSlides/notesSlide9.xml" Id="R3cd7a1a0ca2145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61dee9a9cc4df7" /><Relationship Type="http://schemas.openxmlformats.org/officeDocument/2006/relationships/notesSlide" Target="/ppt/notesSlides/notesSlide10.xml" Id="R8e06a7dcdf3b49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cb75856e8bf4f55" /><Relationship Type="http://schemas.openxmlformats.org/officeDocument/2006/relationships/notesSlide" Target="/ppt/notesSlides/notesSlide11.xml" Id="R295a9c6a6dac45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13c7dae6154543" /><Relationship Type="http://schemas.openxmlformats.org/officeDocument/2006/relationships/notesSlide" Target="/ppt/notesSlides/notesSlide12.xml" Id="R43f2abc234814f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c8b144ba7d24134" /><Relationship Type="http://schemas.openxmlformats.org/officeDocument/2006/relationships/notesSlide" Target="/ppt/notesSlides/notesSlide13.xml" Id="R39182a7986a444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819cba88ce84896" /><Relationship Type="http://schemas.openxmlformats.org/officeDocument/2006/relationships/chart" Target="/ppt/slides/charts/chart1.xml" Id="Re105f03195ef4fb9" /><Relationship Type="http://schemas.openxmlformats.org/officeDocument/2006/relationships/notesSlide" Target="/ppt/notesSlides/notesSlide14.xml" Id="Rb14d29fe041348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320b42e07c48ed" /><Relationship Type="http://schemas.openxmlformats.org/officeDocument/2006/relationships/notesSlide" Target="/ppt/notesSlides/notesSlide15.xml" Id="Re74ff4f3f8bd43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5107d093674be1" /><Relationship Type="http://schemas.openxmlformats.org/officeDocument/2006/relationships/notesSlide" Target="/ppt/notesSlides/notesSlide16.xml" Id="R2b0bdabcd39c4b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8231a571324dc9" /><Relationship Type="http://schemas.openxmlformats.org/officeDocument/2006/relationships/notesSlide" Target="/ppt/notesSlides/notesSlide17.xml" Id="Rbc56ec04361c45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bc3217c0454243" /><Relationship Type="http://schemas.openxmlformats.org/officeDocument/2006/relationships/notesSlide" Target="/ppt/notesSlides/notesSlide18.xml" Id="R0c124cc3105e48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f668178bbc45fa" /><Relationship Type="http://schemas.openxmlformats.org/officeDocument/2006/relationships/notesSlide" Target="/ppt/notesSlides/notesSlide19.xml" Id="R4e513d22117e4e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0c305e2a420457e" /><Relationship Type="http://schemas.openxmlformats.org/officeDocument/2006/relationships/notesSlide" Target="/ppt/notesSlides/notesSlide20.xml" Id="Rcf0ed60b9f59432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40fd11bb364cfd" /><Relationship Type="http://schemas.openxmlformats.org/officeDocument/2006/relationships/notesSlide" Target="/ppt/notesSlides/notesSlide21.xml" Id="Rf494510b67f14b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b842e095b784192" /><Relationship Type="http://schemas.openxmlformats.org/officeDocument/2006/relationships/hyperlink" Target="https://stripe.com/pricing" TargetMode="External" Id="R0b3e9cfd34ff44e6" /><Relationship Type="http://schemas.openxmlformats.org/officeDocument/2006/relationships/hyperlink" Target="https://stripe.com/connect/pricing" TargetMode="External" Id="R0c6e178b56df4974" /><Relationship Type="http://schemas.openxmlformats.org/officeDocument/2006/relationships/hyperlink" Target="https://stripe.com/financial-connections" TargetMode="External" Id="Ra62da365a7bb457e" /><Relationship Type="http://schemas.openxmlformats.org/officeDocument/2006/relationships/hyperlink" Target="https://www.zocdoc.com/provider-help/en/articles/10859404-understanding-zocdoc-pricing-and-billing" TargetMode="External" Id="R6db05c4a965041f9" /><Relationship Type="http://schemas.openxmlformats.org/officeDocument/2006/relationships/hyperlink" Target="https://www.census.gov/quickfacts/fact/table/barnegattownshipoceancountynewjersey/SBO010223" TargetMode="External" Id="Rbdee861553ea43f6" /><Relationship Type="http://schemas.openxmlformats.org/officeDocument/2006/relationships/notesSlide" Target="/ppt/notesSlides/notesSlide22.xml" Id="Reebd2bafadb9419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0.0216</c:v>
                </c:pt>
                <c:pt idx="1">
                  <c:v>0.110025</c:v>
                </c:pt>
                <c:pt idx="2">
                  <c:v>0.395199</c:v>
                </c:pt>
                <c:pt idx="3">
                  <c:v>1.097737</c:v>
                </c:pt>
                <c:pt idx="4">
                  <c:v>2.41504</c:v>
                </c:pt>
                <c:pt idx="5">
                  <c:v>4.392119</c:v>
                </c:pt>
                <c:pt idx="6">
                  <c:v>7.029277</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0.012782</c:v>
                </c:pt>
                <c:pt idx="1">
                  <c:v>0.081806</c:v>
                </c:pt>
                <c:pt idx="2">
                  <c:v>0.339369</c:v>
                </c:pt>
                <c:pt idx="3">
                  <c:v>1.083283</c:v>
                </c:pt>
                <c:pt idx="4">
                  <c:v>2.783964</c:v>
                </c:pt>
                <c:pt idx="5">
                  <c:v>5.908459</c:v>
                </c:pt>
                <c:pt idx="6">
                  <c:v>10.862247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5"/>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F29E10BC-8563-4934-962A-BC8B832CADD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D5779FA1-1B42-4BDE-B849-93688BE767B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0b82ac94bc4b12"/>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C60E6166-B88A-4BED-84FC-FC8CC7983913}"/>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14D35A1B-B2EE-4932-9B8C-0B5F1280EB8A}"/>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950A73F3-1C84-4332-8DAB-E5726A251B6E}"/>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853956614"/>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17A1EE9C-90EF-4D6F-B479-4A2322CF888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C069E8C1-D1DA-4454-8193-A686D479AFD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80E9F699-5EFF-4528-B329-E587CFA112A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CE643D4A-1ED6-4036-AB9E-A8782B886C3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7CDF98A1-1582-4E45-BD2B-A036FED84B5D}"/>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6C9E2BE6-E7A7-4D82-91EB-05232D2B6AC6}"/>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B5B6DD62-2826-43C4-8A0F-9A5B21650319}"/>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DED6B92F-35C2-47ED-AC09-1C774BBD4491}"/>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619C6EE6-02EB-4DB4-907C-24BB2D976785}"/>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Local density can lower acquisition and operating ">
            <a:extLst xmlns:a="http://schemas.openxmlformats.org/drawingml/2006/main">
              <a:ext uri="{FF2B5EF4-FFF2-40B4-BE49-F238E27FC236}">
                <a16:creationId xmlns:a16="http://schemas.microsoft.com/office/drawing/2014/main" id="{F47AC4BD-4A79-43D1-A393-32138E85604C}"/>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Local density can lower acquisition and operating costs. Each expansion must demonstrate those savings before it earns more capital.</a:t>
            </a:r>
          </a:p>
        </p:txBody>
      </p:sp>
      <p:sp>
        <p:nvSpPr>
          <p:cNvPr id="11" name="Investment hypothesis. The model does not assume s">
            <a:extLst xmlns:a="http://schemas.openxmlformats.org/drawingml/2006/main">
              <a:ext uri="{FF2B5EF4-FFF2-40B4-BE49-F238E27FC236}">
                <a16:creationId xmlns:a16="http://schemas.microsoft.com/office/drawing/2014/main" id="{F39DCE20-1939-4B50-941F-B261365598D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The model does not assume subscriptions, advertising or repeated finder fees from the same relationship.</a:t>
            </a:r>
          </a:p>
        </p:txBody>
      </p:sp>
    </p:spTree>
    <p:extLst>
      <p:ext uri="{BB962C8B-B14F-4D97-AF65-F5344CB8AC3E}">
        <p14:creationId xmlns:p14="http://schemas.microsoft.com/office/powerpoint/2010/main" val="856816424"/>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F546A9AE-7CA9-4BED-85AD-AC6A9798FE4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FA6BC864-ECB4-45C3-AA22-2B69B6A0806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FF54ACEB-1313-43CD-915F-15364B7FE7E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F995A234-4DBE-49A2-AE42-F2BDD0EF329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B2290689-32D3-4702-954C-FFFB4CD1576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1583506110"/>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44EB53F0-5C48-4AE9-8F01-EE15D3607AC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25395661-4974-41AF-AE3F-60FFF14F124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C6CC8109-148B-40B9-8744-B416A8C6FE1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1BB4E768-5917-49A6-94CD-7546799FD8F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bf4c6f5f5a048f2"/>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DA68A588-92BB-414A-9B21-E720D946CB28}"/>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70589976-817A-4046-8254-09920A98D01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919225661"/>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826DA748-5310-452E-B59F-37558D462AC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8270DDB3-E57D-4346-B395-C6DE3556CB1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07799823-49B6-4956-A6B6-4A793D7C2DD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E6B40E16-F29D-421B-A720-65215256B2B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53631f636ed4fe3"/>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6028C549-D003-4E40-874B-8501A2A11B26}"/>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98BD39BA-EAC1-4A44-B170-E01FC2F8B1D0}"/>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69511C4D-ACB3-40FF-B832-7D9A1F6D308D}"/>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04D1E428-121D-41C5-971F-6095F735BB68}"/>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54A98874-FF4F-4D79-BD20-FB78E6B57C1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1687895184"/>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 finder fee plus $2.99 for every paid service">
            <a:extLst xmlns:a="http://schemas.openxmlformats.org/drawingml/2006/main">
              <a:ext uri="{FF2B5EF4-FFF2-40B4-BE49-F238E27FC236}">
                <a16:creationId xmlns:a16="http://schemas.microsoft.com/office/drawing/2014/main" id="{75CB694A-51DD-46F1-99F1-BFF7FAA1BC8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finder fee plus $2.99 for every paid service</a:t>
            </a:r>
          </a:p>
        </p:txBody>
      </p:sp>
      <p:sp>
        <p:nvSpPr>
          <p:cNvPr id="2" name="Providers pay both fees. YardMatch covers modeled ">
            <a:extLst xmlns:a="http://schemas.openxmlformats.org/drawingml/2006/main">
              <a:ext uri="{FF2B5EF4-FFF2-40B4-BE49-F238E27FC236}">
                <a16:creationId xmlns:a16="http://schemas.microsoft.com/office/drawing/2014/main" id="{E95E0CA3-4841-4FBC-9E8D-75A5448809F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Providers pay both fees. YardMatch covers modeled processing costs.</a:t>
            </a:r>
          </a:p>
        </p:txBody>
      </p:sp>
      <p:sp>
        <p:nvSpPr>
          <p:cNvPr id="3" name="YardMatch">
            <a:extLst xmlns:a="http://schemas.openxmlformats.org/drawingml/2006/main">
              <a:ext uri="{FF2B5EF4-FFF2-40B4-BE49-F238E27FC236}">
                <a16:creationId xmlns:a16="http://schemas.microsoft.com/office/drawing/2014/main" id="{399CD743-687C-44BA-887F-9ABB476D855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FFC38694-D032-4B3D-BC75-9079D23FC2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sp>
        <p:nvSpPr>
          <p:cNvPr id="5" name="$45">
            <a:extLst xmlns:a="http://schemas.openxmlformats.org/drawingml/2006/main">
              <a:ext uri="{FF2B5EF4-FFF2-40B4-BE49-F238E27FC236}">
                <a16:creationId xmlns:a16="http://schemas.microsoft.com/office/drawing/2014/main" id="{CCBB9133-78B5-4605-A7C0-953C020A399F}"/>
              </a:ext>
            </a:extLst>
          </p:cNvPr>
          <p:cNvSpPr>
            <a:spLocks xmlns:a="http://schemas.openxmlformats.org/drawingml/2006/main" noGrp="1"/>
          </p:cNvSpPr>
          <p:nvPr/>
        </p:nvSpPr>
        <p:spPr>
          <a:xfrm xmlns:a="http://schemas.openxmlformats.org/drawingml/2006/main">
            <a:off x="647700" y="23241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$45</a:t>
            </a:r>
          </a:p>
        </p:txBody>
      </p:sp>
      <p:sp>
        <p:nvSpPr>
          <p:cNvPr id="6" name="Once per new customer/provider pairing,&#10;after the ">
            <a:extLst xmlns:a="http://schemas.openxmlformats.org/drawingml/2006/main">
              <a:ext uri="{FF2B5EF4-FFF2-40B4-BE49-F238E27FC236}">
                <a16:creationId xmlns:a16="http://schemas.microsoft.com/office/drawing/2014/main" id="{624BA3C1-E564-4A1D-A8AF-4F34ED5D0976}"/>
              </a:ext>
            </a:extLst>
          </p:cNvPr>
          <p:cNvSpPr>
            <a:spLocks xmlns:a="http://schemas.openxmlformats.org/drawingml/2006/main" noGrp="1"/>
          </p:cNvSpPr>
          <p:nvPr/>
        </p:nvSpPr>
        <p:spPr>
          <a:xfrm xmlns:a="http://schemas.openxmlformats.org/drawingml/2006/main">
            <a:off x="647700"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Once per new customer/provider pairing,</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after the first paid completed job</a:t>
            </a:r>
          </a:p>
        </p:txBody>
      </p:sp>
      <p:sp>
        <p:nvSpPr>
          <p:cNvPr id="7" name="$2.99">
            <a:extLst xmlns:a="http://schemas.openxmlformats.org/drawingml/2006/main">
              <a:ext uri="{FF2B5EF4-FFF2-40B4-BE49-F238E27FC236}">
                <a16:creationId xmlns:a16="http://schemas.microsoft.com/office/drawing/2014/main" id="{4EDD94C8-3BBB-4867-B126-DAA4127503BC}"/>
              </a:ext>
            </a:extLst>
          </p:cNvPr>
          <p:cNvSpPr>
            <a:spLocks xmlns:a="http://schemas.openxmlformats.org/drawingml/2006/main" noGrp="1"/>
          </p:cNvSpPr>
          <p:nvPr/>
        </p:nvSpPr>
        <p:spPr>
          <a:xfrm xmlns:a="http://schemas.openxmlformats.org/drawingml/2006/main">
            <a:off x="6391275" y="2324100"/>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05938"/>
                </a:solidFill>
                <a:latin typeface="Arial"/>
                <a:ea typeface="Arial"/>
                <a:cs typeface="Arial"/>
              </a:defRPr>
            </a:pPr>
            <a:r>
              <a:rPr sz="5850" b="1">
                <a:solidFill>
                  <a:srgbClr val="205938"/>
                </a:solidFill>
                <a:latin typeface="Arial"/>
                <a:ea typeface="Arial"/>
                <a:cs typeface="Arial"/>
              </a:rPr>
              <a:t>$2.99</a:t>
            </a:r>
          </a:p>
        </p:txBody>
      </p:sp>
      <p:sp>
        <p:nvSpPr>
          <p:cNvPr id="8" name="On every paid completed service,&#10;including repeat ">
            <a:extLst xmlns:a="http://schemas.openxmlformats.org/drawingml/2006/main">
              <a:ext uri="{FF2B5EF4-FFF2-40B4-BE49-F238E27FC236}">
                <a16:creationId xmlns:a16="http://schemas.microsoft.com/office/drawing/2014/main" id="{11E9C6D2-EC60-452D-BC5D-03786A7F6C25}"/>
              </a:ext>
            </a:extLst>
          </p:cNvPr>
          <p:cNvSpPr>
            <a:spLocks xmlns:a="http://schemas.openxmlformats.org/drawingml/2006/main" noGrp="1"/>
          </p:cNvSpPr>
          <p:nvPr/>
        </p:nvSpPr>
        <p:spPr>
          <a:xfrm xmlns:a="http://schemas.openxmlformats.org/drawingml/2006/main">
            <a:off x="6391275" y="3295650"/>
            <a:ext cx="4829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On every paid completed service,</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including repeat visits</a:t>
            </a:r>
          </a:p>
        </p:txBody>
      </p:sp>
      <p:graphicFrame>
        <p:nvGraphicFramePr>
          <p:cNvPr id="19" name=""/>
          <p:cNvGraphicFramePr/>
          <p:nvPr/>
        </p:nvGraphicFramePr>
        <p:xfrm>
          <a:off xmlns:a="http://schemas.openxmlformats.org/drawingml/2006/main" x="609600" y="4533900"/>
          <a:ext xmlns:a="http://schemas.openxmlformats.org/drawingml/2006/main" cx="10972800" cy="1057275"/>
        </p:xfrm>
        <a:graphic xmlns:a="http://schemas.openxmlformats.org/drawingml/2006/main">
          <a:graphicData uri="http://schemas.openxmlformats.org/drawingml/2006/table">
            <a:tbl>
              <a:tblPr/>
              <a:tblGrid>
                <a:gridCol w="6191250"/>
                <a:gridCol w="2390775"/>
                <a:gridCol w="2390775"/>
              </a:tblGrid>
              <a:tr h="528638">
                <a:tc>
                  <a:txBody>
                    <a:bodyPr lIns="114300" tIns="76200" rIns="114300" bIns="76200">
                      <a:noAutofit/>
                    </a:bodyPr>
                    <a:lstStyle/>
                    <a:p>
                      <a:pPr algn="l"/>
                      <a:r>
                        <a:rPr sz="1725" b="1">
                          <a:solidFill>
                            <a:srgbClr val="FFFFFF"/>
                          </a:solidFill>
                          <a:latin typeface="Arial"/>
                          <a:ea typeface="Arial"/>
                          <a:cs typeface="Arial"/>
                        </a:rPr>
                        <a:t>A $60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First paid visit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Later paid visit</a:t>
                      </a:r>
                    </a:p>
                  </a:txBody>
                  <a:tcPr marL="91440" marR="91440" marT="45720" marB="45720" anchor="ctr">
                    <a:solidFill>
                      <a:srgbClr val="205938"/>
                    </a:solidFill>
                  </a:tcPr>
                </a:tc>
              </a:tr>
              <a:tr h="528638">
                <a:tc>
                  <a:txBody>
                    <a:bodyPr lIns="114300" tIns="76200" rIns="114300" bIns="76200">
                      <a:noAutofit/>
                    </a:bodyPr>
                    <a:lstStyle/>
                    <a:p>
                      <a:pPr algn="l"/>
                      <a:r>
                        <a:rPr sz="1725" b="1">
                          <a:solidFill>
                            <a:srgbClr val="14281D"/>
                          </a:solidFill>
                          <a:latin typeface="Arial"/>
                          <a:ea typeface="Arial"/>
                          <a:cs typeface="Arial"/>
                        </a:rPr>
                        <a:t>Provider proceeds before business costs</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$12.01</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$57.01</a:t>
                      </a:r>
                    </a:p>
                  </a:txBody>
                  <a:tcPr marL="91440" marR="91440" marT="45720" marB="45720" anchor="ctr">
                    <a:solidFill>
                      <a:srgbClr val="E8EDDF"/>
                    </a:solidFill>
                  </a:tcPr>
                </a:tc>
              </a:tr>
            </a:tbl>
          </a:graphicData>
        </a:graphic>
      </p:graphicFrame>
      <p:sp>
        <p:nvSpPr>
          <p:cNvPr id="10" name="Welcome offer waives the first $45 finder fee for ">
            <a:extLst xmlns:a="http://schemas.openxmlformats.org/drawingml/2006/main">
              <a:ext uri="{FF2B5EF4-FFF2-40B4-BE49-F238E27FC236}">
                <a16:creationId xmlns:a16="http://schemas.microsoft.com/office/drawing/2014/main" id="{B61ECCCF-FD99-42CD-908E-761A88326C1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Welcome offer waives the first $45 finder fee for a new provider. It does not waive the $2.99 service fee. No customer surcharge modeled.</a:t>
            </a:r>
          </a:p>
        </p:txBody>
      </p:sp>
    </p:spTree>
    <p:extLst>
      <p:ext uri="{BB962C8B-B14F-4D97-AF65-F5344CB8AC3E}">
        <p14:creationId xmlns:p14="http://schemas.microsoft.com/office/powerpoint/2010/main" val="44498383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266FDA34-76B6-442E-A643-8DAAE4570CA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51BB9D31-08A4-48AC-BC46-EC8A1F95F78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5C422195-EAE3-4358-B347-9F4C1BD9CBC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39E2C70E-D2EE-4B44-AEDC-9E8B73D9F91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$2.99 service fee applies.</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CDFBCA89-EEA4-490B-B800-28A63E7E49F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94090626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At $60, repeat card payments leave about $0.20">
            <a:extLst xmlns:a="http://schemas.openxmlformats.org/drawingml/2006/main">
              <a:ext uri="{FF2B5EF4-FFF2-40B4-BE49-F238E27FC236}">
                <a16:creationId xmlns:a16="http://schemas.microsoft.com/office/drawing/2014/main" id="{10D308AB-E2A1-4CB8-BBD8-B09100A2200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At $60, repeat card payments leave about $0.20</a:t>
            </a:r>
          </a:p>
        </p:txBody>
      </p:sp>
      <p:sp>
        <p:nvSpPr>
          <p:cNvPr id="2" name="Illustrative contribution after payment costs and ">
            <a:extLst xmlns:a="http://schemas.openxmlformats.org/drawingml/2006/main">
              <a:ext uri="{FF2B5EF4-FFF2-40B4-BE49-F238E27FC236}">
                <a16:creationId xmlns:a16="http://schemas.microsoft.com/office/drawing/2014/main" id="{500E5D9D-8DDD-4ECD-B98A-A3F632A7DB9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contribution after payment costs and variable operating costs, before acquisition and fixed overhead.</a:t>
            </a:r>
          </a:p>
        </p:txBody>
      </p:sp>
      <p:sp>
        <p:nvSpPr>
          <p:cNvPr id="3" name="YardMatch">
            <a:extLst xmlns:a="http://schemas.openxmlformats.org/drawingml/2006/main">
              <a:ext uri="{FF2B5EF4-FFF2-40B4-BE49-F238E27FC236}">
                <a16:creationId xmlns:a16="http://schemas.microsoft.com/office/drawing/2014/main" id="{42EDFE19-BC1E-4929-9BA0-973C522CBD2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3E573304-D9F5-4478-9D6D-F86A340D5F5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4" name=""/>
          <p:cNvGraphicFramePr/>
          <p:nvPr/>
        </p:nvGraphicFramePr>
        <p:xfrm>
          <a:off xmlns:a="http://schemas.openxmlformats.org/drawingml/2006/main" x="609600" y="2409825"/>
          <a:ext xmlns:a="http://schemas.openxmlformats.org/drawingml/2006/main" cx="7810500" cy="2781300"/>
        </p:xfrm>
        <a:graphic xmlns:a="http://schemas.openxmlformats.org/drawingml/2006/main">
          <a:graphicData uri="http://schemas.openxmlformats.org/drawingml/2006/table">
            <a:tbl>
              <a:tblPr/>
              <a:tblGrid>
                <a:gridCol w="4953000"/>
                <a:gridCol w="1428750"/>
                <a:gridCol w="1428750"/>
              </a:tblGrid>
              <a:tr h="556260">
                <a:tc>
                  <a:txBody>
                    <a:bodyPr lIns="114300" tIns="76200" rIns="114300" bIns="76200">
                      <a:noAutofit/>
                    </a:bodyPr>
                    <a:lstStyle/>
                    <a:p>
                      <a:pPr algn="l"/>
                      <a:r>
                        <a:rPr sz="1725" b="1">
                          <a:solidFill>
                            <a:srgbClr val="FFFFFF"/>
                          </a:solidFill>
                          <a:latin typeface="Arial"/>
                          <a:ea typeface="Arial"/>
                          <a:cs typeface="Arial"/>
                        </a:rPr>
                        <a:t>Per paid repeat service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Card</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Bank debit (ACH)</a:t>
                      </a:r>
                    </a:p>
                  </a:txBody>
                  <a:tcPr marL="91440" marR="91440" marT="45720" marB="45720" anchor="ctr">
                    <a:solidFill>
                      <a:srgbClr val="205938"/>
                    </a:solidFill>
                  </a:tcPr>
                </a:tc>
              </a:tr>
              <a:tr h="556260">
                <a:tc>
                  <a:txBody>
                    <a:bodyPr lIns="114300" tIns="76200" rIns="114300" bIns="76200">
                      <a:noAutofit/>
                    </a:bodyPr>
                    <a:lstStyle/>
                    <a:p>
                      <a:pPr algn="l"/>
                      <a:r>
                        <a:rPr sz="1725" b="0">
                          <a:solidFill>
                            <a:srgbClr val="14281D"/>
                          </a:solidFill>
                          <a:latin typeface="Arial"/>
                          <a:ea typeface="Arial"/>
                          <a:cs typeface="Arial"/>
                        </a:rPr>
                        <a:t>Provider service fee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r>
              <a:tr h="556260">
                <a:tc>
                  <a:txBody>
                    <a:bodyPr lIns="114300" tIns="76200" rIns="114300" bIns="76200">
                      <a:noAutofit/>
                    </a:bodyPr>
                    <a:lstStyle/>
                    <a:p>
                      <a:pPr algn="l"/>
                      <a:r>
                        <a:rPr sz="1725" b="0">
                          <a:solidFill>
                            <a:srgbClr val="14281D"/>
                          </a:solidFill>
                          <a:latin typeface="Arial"/>
                          <a:ea typeface="Arial"/>
                          <a:cs typeface="Arial"/>
                        </a:rPr>
                        <a:t>Payment processing</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($2.04)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($0.48)</a:t>
                      </a:r>
                    </a:p>
                  </a:txBody>
                  <a:tcPr marL="91440" marR="91440" marT="45720" marB="45720" anchor="ctr">
                    <a:solidFill>
                      <a:srgbClr val="F7F5EF"/>
                    </a:solidFill>
                  </a:tcPr>
                </a:tc>
              </a:tr>
              <a:tr h="556260">
                <a:tc>
                  <a:txBody>
                    <a:bodyPr lIns="114300" tIns="76200" rIns="114300" bIns="76200">
                      <a:noAutofit/>
                    </a:bodyPr>
                    <a:lstStyle/>
                    <a:p>
                      <a:pPr algn="l"/>
                      <a:r>
                        <a:rPr sz="1725" b="0">
                          <a:solidFill>
                            <a:srgbClr val="14281D"/>
                          </a:solidFill>
                          <a:latin typeface="Arial"/>
                          <a:ea typeface="Arial"/>
                          <a:cs typeface="Arial"/>
                        </a:rPr>
                        <a:t>Payouts, account costs and variable operations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($0.75)</a:t>
                      </a:r>
                    </a:p>
                  </a:txBody>
                  <a:tcPr marL="91440" marR="91440" marT="45720" marB="45720" anchor="ctr">
                    <a:solidFill>
                      <a:srgbClr val="FFFFFF"/>
                    </a:solidFill>
                  </a:tcPr>
                </a:tc>
              </a:tr>
              <a:tr h="556260">
                <a:tc>
                  <a:txBody>
                    <a:bodyPr lIns="114300" tIns="76200" rIns="114300" bIns="76200">
                      <a:noAutofit/>
                    </a:bodyPr>
                    <a:lstStyle/>
                    <a:p>
                      <a:pPr algn="l"/>
                      <a:r>
                        <a:rPr sz="1725" b="1">
                          <a:solidFill>
                            <a:srgbClr val="14281D"/>
                          </a:solidFill>
                          <a:latin typeface="Arial"/>
                          <a:ea typeface="Arial"/>
                          <a:cs typeface="Arial"/>
                        </a:rPr>
                        <a:t>Contribution before fixed overhead</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$0.20</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$1.76</a:t>
                      </a:r>
                    </a:p>
                  </a:txBody>
                  <a:tcPr marL="91440" marR="91440" marT="45720" marB="45720" anchor="ctr">
                    <a:solidFill>
                      <a:srgbClr val="E8EDDF"/>
                    </a:solidFill>
                  </a:tcPr>
                </a:tc>
              </a:tr>
            </a:tbl>
          </a:graphicData>
        </a:graphic>
      </p:graphicFrame>
      <p:sp>
        <p:nvSpPr>
          <p:cNvPr id="6" name="About $66">
            <a:extLst xmlns:a="http://schemas.openxmlformats.org/drawingml/2006/main">
              <a:ext uri="{FF2B5EF4-FFF2-40B4-BE49-F238E27FC236}">
                <a16:creationId xmlns:a16="http://schemas.microsoft.com/office/drawing/2014/main" id="{D480746E-AD13-4886-991E-1CEA2EF9F917}"/>
              </a:ext>
            </a:extLst>
          </p:cNvPr>
          <p:cNvSpPr>
            <a:spLocks xmlns:a="http://schemas.openxmlformats.org/drawingml/2006/main" noGrp="1"/>
          </p:cNvSpPr>
          <p:nvPr/>
        </p:nvSpPr>
        <p:spPr>
          <a:xfrm xmlns:a="http://schemas.openxmlformats.org/drawingml/2006/main">
            <a:off x="8810625" y="2543175"/>
            <a:ext cx="2781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5938"/>
                </a:solidFill>
                <a:latin typeface="Arial"/>
                <a:ea typeface="Arial"/>
                <a:cs typeface="Arial"/>
              </a:defRPr>
            </a:pPr>
            <a:r>
              <a:rPr sz="3000" b="1">
                <a:solidFill>
                  <a:srgbClr val="205938"/>
                </a:solidFill>
                <a:latin typeface="Arial"/>
                <a:ea typeface="Arial"/>
                <a:cs typeface="Arial"/>
              </a:rPr>
              <a:t>About $66</a:t>
            </a:r>
          </a:p>
        </p:txBody>
      </p:sp>
      <p:sp>
        <p:nvSpPr>
          <p:cNvPr id="7" name="Card-ticket ceiling for a positive repeat contribu">
            <a:extLst xmlns:a="http://schemas.openxmlformats.org/drawingml/2006/main">
              <a:ext uri="{FF2B5EF4-FFF2-40B4-BE49-F238E27FC236}">
                <a16:creationId xmlns:a16="http://schemas.microsoft.com/office/drawing/2014/main" id="{23290236-B190-4FDE-AEE6-895FC819A88D}"/>
              </a:ext>
            </a:extLst>
          </p:cNvPr>
          <p:cNvSpPr>
            <a:spLocks xmlns:a="http://schemas.openxmlformats.org/drawingml/2006/main" noGrp="1"/>
          </p:cNvSpPr>
          <p:nvPr/>
        </p:nvSpPr>
        <p:spPr>
          <a:xfrm xmlns:a="http://schemas.openxmlformats.org/drawingml/2006/main">
            <a:off x="8810625" y="3324225"/>
            <a:ext cx="27432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Card-ticket ceiling for a positive repeat contribution under these assumptions.</a:t>
            </a:r>
          </a:p>
        </p:txBody>
      </p:sp>
      <p:sp>
        <p:nvSpPr>
          <p:cNvPr id="8" name="Larger jobs need separate pricing economics">
            <a:extLst xmlns:a="http://schemas.openxmlformats.org/drawingml/2006/main">
              <a:ext uri="{FF2B5EF4-FFF2-40B4-BE49-F238E27FC236}">
                <a16:creationId xmlns:a16="http://schemas.microsoft.com/office/drawing/2014/main" id="{D77C4200-F7FF-4A66-90C1-86FFFAD9C404}"/>
              </a:ext>
            </a:extLst>
          </p:cNvPr>
          <p:cNvSpPr>
            <a:spLocks xmlns:a="http://schemas.openxmlformats.org/drawingml/2006/main" noGrp="1"/>
          </p:cNvSpPr>
          <p:nvPr/>
        </p:nvSpPr>
        <p:spPr>
          <a:xfrm xmlns:a="http://schemas.openxmlformats.org/drawingml/2006/main">
            <a:off x="628650" y="5410200"/>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A24D3E"/>
                </a:solidFill>
                <a:latin typeface="Arial"/>
                <a:ea typeface="Arial"/>
                <a:cs typeface="Arial"/>
              </a:defRPr>
            </a:pPr>
            <a:r>
              <a:rPr sz="2100" b="1">
                <a:solidFill>
                  <a:srgbClr val="A24D3E"/>
                </a:solidFill>
                <a:latin typeface="Arial"/>
                <a:ea typeface="Arial"/>
                <a:cs typeface="Arial"/>
              </a:rPr>
              <a:t>Larger jobs need separate pricing economics</a:t>
            </a:r>
          </a:p>
        </p:txBody>
      </p:sp>
      <p:sp>
        <p:nvSpPr>
          <p:cNvPr id="9" name="A $100 card-paid repeat job loses about $1.14 befo">
            <a:extLst xmlns:a="http://schemas.openxmlformats.org/drawingml/2006/main">
              <a:ext uri="{FF2B5EF4-FFF2-40B4-BE49-F238E27FC236}">
                <a16:creationId xmlns:a16="http://schemas.microsoft.com/office/drawing/2014/main" id="{65F3C8D6-C24E-4979-96E6-F6876CF98FC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$100 card-paid repeat job loses about $1.14 before fixed costs. ACH excludes a $1.50 initial bank-link allowance. Rates and operating costs are assumptions or published standard prices.</a:t>
            </a:r>
          </a:p>
        </p:txBody>
      </p:sp>
    </p:spTree>
    <p:extLst>
      <p:ext uri="{BB962C8B-B14F-4D97-AF65-F5344CB8AC3E}">
        <p14:creationId xmlns:p14="http://schemas.microsoft.com/office/powerpoint/2010/main" val="1422777211"/>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Barnegat is a starting market">
            <a:extLst xmlns:a="http://schemas.openxmlformats.org/drawingml/2006/main">
              <a:ext uri="{FF2B5EF4-FFF2-40B4-BE49-F238E27FC236}">
                <a16:creationId xmlns:a16="http://schemas.microsoft.com/office/drawing/2014/main" id="{3E6C9EAF-F201-4008-8807-F05B6417A12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is a starting market</a:t>
            </a:r>
          </a:p>
        </p:txBody>
      </p:sp>
      <p:sp>
        <p:nvSpPr>
          <p:cNvPr id="2" name="The investment case requires expansion into many l">
            <a:extLst xmlns:a="http://schemas.openxmlformats.org/drawingml/2006/main">
              <a:ext uri="{FF2B5EF4-FFF2-40B4-BE49-F238E27FC236}">
                <a16:creationId xmlns:a16="http://schemas.microsoft.com/office/drawing/2014/main" id="{55C58A4B-AD69-49D4-8AEB-F3126BCD42D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investment case requires expansion into many local markets after the first market works.</a:t>
            </a:r>
          </a:p>
        </p:txBody>
      </p:sp>
      <p:sp>
        <p:nvSpPr>
          <p:cNvPr id="3" name="YardMatch">
            <a:extLst xmlns:a="http://schemas.openxmlformats.org/drawingml/2006/main">
              <a:ext uri="{FF2B5EF4-FFF2-40B4-BE49-F238E27FC236}">
                <a16:creationId xmlns:a16="http://schemas.microsoft.com/office/drawing/2014/main" id="{9B810B36-1463-4504-8E43-0F8282B463B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59B257EE-CD82-46EB-988D-C4DC7EB3093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sp>
        <p:nvSpPr>
          <p:cNvPr id="5" name="10,265">
            <a:extLst xmlns:a="http://schemas.openxmlformats.org/drawingml/2006/main">
              <a:ext uri="{FF2B5EF4-FFF2-40B4-BE49-F238E27FC236}">
                <a16:creationId xmlns:a16="http://schemas.microsoft.com/office/drawing/2014/main" id="{A583FC0A-8F7D-4007-A726-AEFE946627EA}"/>
              </a:ext>
            </a:extLst>
          </p:cNvPr>
          <p:cNvSpPr>
            <a:spLocks xmlns:a="http://schemas.openxmlformats.org/drawingml/2006/main" noGrp="1"/>
          </p:cNvSpPr>
          <p:nvPr/>
        </p:nvSpPr>
        <p:spPr>
          <a:xfrm xmlns:a="http://schemas.openxmlformats.org/drawingml/2006/main">
            <a:off x="628650" y="2400300"/>
            <a:ext cx="4667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10,265</a:t>
            </a:r>
          </a:p>
        </p:txBody>
      </p:sp>
      <p:sp>
        <p:nvSpPr>
          <p:cNvPr id="6" name="Barnegat households">
            <a:extLst xmlns:a="http://schemas.openxmlformats.org/drawingml/2006/main">
              <a:ext uri="{FF2B5EF4-FFF2-40B4-BE49-F238E27FC236}">
                <a16:creationId xmlns:a16="http://schemas.microsoft.com/office/drawing/2014/main" id="{E6A7A1DF-26CB-42BB-A60C-6D5EA397B71A}"/>
              </a:ext>
            </a:extLst>
          </p:cNvPr>
          <p:cNvSpPr>
            <a:spLocks xmlns:a="http://schemas.openxmlformats.org/drawingml/2006/main" noGrp="1"/>
          </p:cNvSpPr>
          <p:nvPr/>
        </p:nvSpPr>
        <p:spPr>
          <a:xfrm xmlns:a="http://schemas.openxmlformats.org/drawingml/2006/main">
            <a:off x="647700" y="330517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Barnegat households</a:t>
            </a:r>
          </a:p>
        </p:txBody>
      </p:sp>
      <p:sp>
        <p:nvSpPr>
          <p:cNvPr id="7" name="88%">
            <a:extLst xmlns:a="http://schemas.openxmlformats.org/drawingml/2006/main">
              <a:ext uri="{FF2B5EF4-FFF2-40B4-BE49-F238E27FC236}">
                <a16:creationId xmlns:a16="http://schemas.microsoft.com/office/drawing/2014/main" id="{B98B7C35-CA0A-4559-984D-E870812BA0BE}"/>
              </a:ext>
            </a:extLst>
          </p:cNvPr>
          <p:cNvSpPr>
            <a:spLocks xmlns:a="http://schemas.openxmlformats.org/drawingml/2006/main" noGrp="1"/>
          </p:cNvSpPr>
          <p:nvPr/>
        </p:nvSpPr>
        <p:spPr>
          <a:xfrm xmlns:a="http://schemas.openxmlformats.org/drawingml/2006/main">
            <a:off x="6429375" y="2400300"/>
            <a:ext cx="4381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88%</a:t>
            </a:r>
          </a:p>
        </p:txBody>
      </p:sp>
      <p:sp>
        <p:nvSpPr>
          <p:cNvPr id="8" name="Homes occupied by their owners">
            <a:extLst xmlns:a="http://schemas.openxmlformats.org/drawingml/2006/main">
              <a:ext uri="{FF2B5EF4-FFF2-40B4-BE49-F238E27FC236}">
                <a16:creationId xmlns:a16="http://schemas.microsoft.com/office/drawing/2014/main" id="{62CA134E-8920-497B-B999-58CB966CB268}"/>
              </a:ext>
            </a:extLst>
          </p:cNvPr>
          <p:cNvSpPr>
            <a:spLocks xmlns:a="http://schemas.openxmlformats.org/drawingml/2006/main" noGrp="1"/>
          </p:cNvSpPr>
          <p:nvPr/>
        </p:nvSpPr>
        <p:spPr>
          <a:xfrm xmlns:a="http://schemas.openxmlformats.org/drawingml/2006/main">
            <a:off x="6448425" y="33051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4281D"/>
                </a:solidFill>
                <a:latin typeface="Arial"/>
                <a:ea typeface="Arial"/>
                <a:cs typeface="Arial"/>
              </a:defRPr>
            </a:pPr>
            <a:r>
              <a:rPr sz="2175" b="0">
                <a:solidFill>
                  <a:srgbClr val="14281D"/>
                </a:solidFill>
                <a:latin typeface="Arial"/>
                <a:ea typeface="Arial"/>
                <a:cs typeface="Arial"/>
              </a:rPr>
              <a:t>Homes occupied by their owners</a:t>
            </a:r>
          </a:p>
        </p:txBody>
      </p:sp>
      <p:sp>
        <p:nvSpPr>
          <p:cNvPr id="9" name="500 paying households in the first forecast year">
            <a:extLst xmlns:a="http://schemas.openxmlformats.org/drawingml/2006/main">
              <a:ext uri="{FF2B5EF4-FFF2-40B4-BE49-F238E27FC236}">
                <a16:creationId xmlns:a16="http://schemas.microsoft.com/office/drawing/2014/main" id="{682C9FDC-6AE8-4C0B-901A-946E43533EA6}"/>
              </a:ext>
            </a:extLst>
          </p:cNvPr>
          <p:cNvSpPr>
            <a:spLocks xmlns:a="http://schemas.openxmlformats.org/drawingml/2006/main" noGrp="1"/>
          </p:cNvSpPr>
          <p:nvPr/>
        </p:nvSpPr>
        <p:spPr>
          <a:xfrm xmlns:a="http://schemas.openxmlformats.org/drawingml/2006/main">
            <a:off x="628650" y="4381500"/>
            <a:ext cx="10839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4281D"/>
                </a:solidFill>
                <a:latin typeface="Arial"/>
                <a:ea typeface="Arial"/>
                <a:cs typeface="Arial"/>
              </a:defRPr>
            </a:pPr>
            <a:r>
              <a:rPr sz="2550" b="1">
                <a:solidFill>
                  <a:srgbClr val="14281D"/>
                </a:solidFill>
                <a:latin typeface="Arial"/>
                <a:ea typeface="Arial"/>
                <a:cs typeface="Arial"/>
              </a:rPr>
              <a:t>500 paying households in the first forecast year</a:t>
            </a:r>
          </a:p>
        </p:txBody>
      </p:sp>
      <p:sp>
        <p:nvSpPr>
          <p:cNvPr id="10" name="About 5.5% of the roughly 9,033 owner households. ">
            <a:extLst xmlns:a="http://schemas.openxmlformats.org/drawingml/2006/main">
              <a:ext uri="{FF2B5EF4-FFF2-40B4-BE49-F238E27FC236}">
                <a16:creationId xmlns:a16="http://schemas.microsoft.com/office/drawing/2014/main" id="{2BCFB345-D45D-47BE-870C-2AEE35E927F8}"/>
              </a:ext>
            </a:extLst>
          </p:cNvPr>
          <p:cNvSpPr>
            <a:spLocks xmlns:a="http://schemas.openxmlformats.org/drawingml/2006/main" noGrp="1"/>
          </p:cNvSpPr>
          <p:nvPr/>
        </p:nvSpPr>
        <p:spPr>
          <a:xfrm xmlns:a="http://schemas.openxmlformats.org/drawingml/2006/main">
            <a:off x="647700" y="5057775"/>
            <a:ext cx="10620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About 5.5% of the roughly 9,033 owner households. Actual eligible lawns and willingness to pay remain unmeasured.</a:t>
            </a:r>
          </a:p>
        </p:txBody>
      </p:sp>
      <p:sp>
        <p:nvSpPr>
          <p:cNvPr id="11" name="Census 2020-2024 estimates. Launch target is illus">
            <a:extLst xmlns:a="http://schemas.openxmlformats.org/drawingml/2006/main">
              <a:ext uri="{FF2B5EF4-FFF2-40B4-BE49-F238E27FC236}">
                <a16:creationId xmlns:a16="http://schemas.microsoft.com/office/drawing/2014/main" id="{4EFCA191-B78C-4FB1-968F-5B77A71B48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Census 2020-2024 estimates. Launch target is illustrative. Later-year household totals require regional and multi-market expansion.</a:t>
            </a:r>
          </a:p>
        </p:txBody>
      </p:sp>
    </p:spTree>
    <p:extLst>
      <p:ext uri="{BB962C8B-B14F-4D97-AF65-F5344CB8AC3E}">
        <p14:creationId xmlns:p14="http://schemas.microsoft.com/office/powerpoint/2010/main" val="1454968803"/>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EAC175E7-FC98-4BEC-A49D-1ED464155BB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4F1346AD-2ABE-4C19-AFFA-1B464B9CBB2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9A9196A7-2FDB-47E3-A7D5-67B5592D578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CE20A96B-F324-442E-AED3-E49124A5F12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sp>
        <p:nvSpPr>
          <p:cNvPr id="5" name="1. Concentrated provider launch">
            <a:extLst xmlns:a="http://schemas.openxmlformats.org/drawingml/2006/main">
              <a:ext uri="{FF2B5EF4-FFF2-40B4-BE49-F238E27FC236}">
                <a16:creationId xmlns:a16="http://schemas.microsoft.com/office/drawing/2014/main" id="{B7837E17-F4A4-42B6-B8AA-4FC1BA8D5D78}"/>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8FE3E164-26BB-46C1-A209-4A0EEB829B65}"/>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E219F53D-B1CE-443E-BBE5-633349FB2CED}"/>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2421F725-8D56-44D1-939E-496D21FF76AF}"/>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42D57804-73D3-4CAB-ADCE-C54FA2411373}"/>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2C8F1E24-9B67-4624-9309-AA858F7F0B68}"/>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73BCFDB5-E3A6-4B3D-A759-5B3A12F84ED5}"/>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5D267E27-4130-4D4E-A7F0-0B90FF2DFB65}"/>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99796465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67F1F3FB-F752-4F65-83D2-8EDED2707CD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505E8839-B31B-4D57-B88E-3AAFDA11B1D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07027B63-8827-49A1-A100-6D8F280C2F7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1CAA6072-F94E-4572-884B-ABD57D9223B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Product foundation">
            <a:extLst xmlns:a="http://schemas.openxmlformats.org/drawingml/2006/main">
              <a:ext uri="{FF2B5EF4-FFF2-40B4-BE49-F238E27FC236}">
                <a16:creationId xmlns:a16="http://schemas.microsoft.com/office/drawing/2014/main" id="{EFFBB8E2-247A-4E92-A182-E99CB4EDC1A5}"/>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156612A7-F838-4F87-9233-945793082ED8}"/>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A14EDC3C-CEE3-44E2-9898-8B98FA2DA399}"/>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7465D966-5D6D-49E7-A336-A33685CBC24F}"/>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6778FB43-E97F-4E4B-8072-667BDA48F358}"/>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03A59A86-0FF6-43FE-AF97-9A931566B12F}"/>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D06B7C62-6603-4B48-9376-AB3893AD10C5}"/>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E70B8D96-D3AA-43E0-9060-EFBC6557788D}"/>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381966462"/>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ABE8D327-1DAD-4C42-9569-BA24049EB8C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578573F8-1AB9-4739-8F97-9654990DB3A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D1627007-ECC6-43E4-A5D9-21983EFB425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CE0983C6-CC94-44E8-9CCE-07B4CE6E30B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assigns no revenue to subscriptions, pro">
            <a:extLst xmlns:a="http://schemas.openxmlformats.org/drawingml/2006/main">
              <a:ext uri="{FF2B5EF4-FFF2-40B4-BE49-F238E27FC236}">
                <a16:creationId xmlns:a16="http://schemas.microsoft.com/office/drawing/2014/main" id="{BBAAF2FC-C521-4F20-AD97-5EDEB900DD1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assigns no revenue to subscriptions, provider recruiting fees, advertising or specialist cross-sell. These remain optional future tests.</a:t>
            </a:r>
          </a:p>
        </p:txBody>
      </p:sp>
    </p:spTree>
    <p:extLst>
      <p:ext uri="{BB962C8B-B14F-4D97-AF65-F5344CB8AC3E}">
        <p14:creationId xmlns:p14="http://schemas.microsoft.com/office/powerpoint/2010/main" val="36704408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forecast makes the assumptions visible">
            <a:extLst xmlns:a="http://schemas.openxmlformats.org/drawingml/2006/main">
              <a:ext uri="{FF2B5EF4-FFF2-40B4-BE49-F238E27FC236}">
                <a16:creationId xmlns:a16="http://schemas.microsoft.com/office/drawing/2014/main" id="{938BCD29-D966-4E37-8B56-75F2EE2D48A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forecast makes the assumptions visible</a:t>
            </a:r>
          </a:p>
        </p:txBody>
      </p:sp>
      <p:sp>
        <p:nvSpPr>
          <p:cNvPr id="2" name="2027-2033 calendar years. No historical operating ">
            <a:extLst xmlns:a="http://schemas.openxmlformats.org/drawingml/2006/main">
              <a:ext uri="{FF2B5EF4-FFF2-40B4-BE49-F238E27FC236}">
                <a16:creationId xmlns:a16="http://schemas.microsoft.com/office/drawing/2014/main" id="{5ED3C790-D1FD-486E-B191-E109C7D3A17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No historical operating results are implied.</a:t>
            </a:r>
          </a:p>
        </p:txBody>
      </p:sp>
      <p:sp>
        <p:nvSpPr>
          <p:cNvPr id="3" name="YardMatch">
            <a:extLst xmlns:a="http://schemas.openxmlformats.org/drawingml/2006/main">
              <a:ext uri="{FF2B5EF4-FFF2-40B4-BE49-F238E27FC236}">
                <a16:creationId xmlns:a16="http://schemas.microsoft.com/office/drawing/2014/main" id="{17599913-9AAA-412A-929D-60D3D2C2B58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86F354EF-D7DA-483F-8905-7B9B6539960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paying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300 / 40,000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160,000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500 / 280,000</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Scheduled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 / $50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$28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$45 / $22</a:t>
                      </a:r>
                    </a:p>
                  </a:txBody>
                  <a:tcPr marL="91440" marR="91440" marT="45720" marB="45720" anchor="ctr">
                    <a:solidFill>
                      <a:srgbClr val="F7F5EF"/>
                    </a:solidFill>
                  </a:tcPr>
                </a:tc>
              </a:tr>
            </a:tbl>
          </a:graphicData>
        </a:graphic>
      </p:graphicFrame>
      <p:sp>
        <p:nvSpPr>
          <p:cNvPr id="6" name="Base: $60 service ticket, 95% completion/collectio">
            <a:extLst xmlns:a="http://schemas.openxmlformats.org/drawingml/2006/main">
              <a:ext uri="{FF2B5EF4-FFF2-40B4-BE49-F238E27FC236}">
                <a16:creationId xmlns:a16="http://schemas.microsoft.com/office/drawing/2014/main" id="{100A1612-DAA2-4E83-8F8E-D0912FD66F4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$60 service ticket, 95% completion/collection, eight payout-active months, 3 to 36 paid employees. All cases retain $45 plus $2.99 pricing.</a:t>
            </a:r>
          </a:p>
        </p:txBody>
      </p:sp>
    </p:spTree>
    <p:extLst>
      <p:ext uri="{BB962C8B-B14F-4D97-AF65-F5344CB8AC3E}">
        <p14:creationId xmlns:p14="http://schemas.microsoft.com/office/powerpoint/2010/main" val="212938646"/>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7.9m in 2033">
            <a:extLst xmlns:a="http://schemas.openxmlformats.org/drawingml/2006/main">
              <a:ext uri="{FF2B5EF4-FFF2-40B4-BE49-F238E27FC236}">
                <a16:creationId xmlns:a16="http://schemas.microsoft.com/office/drawing/2014/main" id="{79FFFC3A-F73A-4BF0-925B-933AD37E0A5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$17.9m in 2033</a:t>
            </a:r>
          </a:p>
        </p:txBody>
      </p:sp>
      <p:sp>
        <p:nvSpPr>
          <p:cNvPr id="2" name="Net marketplace revenue, US$ millions. Finder fees">
            <a:extLst xmlns:a="http://schemas.openxmlformats.org/drawingml/2006/main">
              <a:ext uri="{FF2B5EF4-FFF2-40B4-BE49-F238E27FC236}">
                <a16:creationId xmlns:a16="http://schemas.microsoft.com/office/drawing/2014/main" id="{BC496925-8492-465B-B974-AEDBFE76B8D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79BE6718-A2EA-4C19-B1DF-73BB70DBA6D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29090F4D-B9D0-40AC-BD7E-A44F76B8B6E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e105f03195ef4fb9"/>
          </a:graphicData>
        </a:graphic>
      </p:graphicFrame>
      <p:sp>
        <p:nvSpPr>
          <p:cNvPr id="6" name="Base 2033: 292,448 year-end paying households, 3.6">
            <a:extLst xmlns:a="http://schemas.openxmlformats.org/drawingml/2006/main">
              <a:ext uri="{FF2B5EF4-FFF2-40B4-BE49-F238E27FC236}">
                <a16:creationId xmlns:a16="http://schemas.microsoft.com/office/drawing/2014/main" id="{9817F82B-CD32-4BCB-B132-CEC67F80CFF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292,448 year-end paying households, 3.63m paid visits and $218.0m GMV. The $218.0m is service volume, not YardMatch revenue.</a:t>
            </a:r>
          </a:p>
        </p:txBody>
      </p:sp>
    </p:spTree>
    <p:extLst>
      <p:ext uri="{BB962C8B-B14F-4D97-AF65-F5344CB8AC3E}">
        <p14:creationId xmlns:p14="http://schemas.microsoft.com/office/powerpoint/2010/main" val="1367142799"/>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operating profitability arrives in 2033">
            <a:extLst xmlns:a="http://schemas.openxmlformats.org/drawingml/2006/main">
              <a:ext uri="{FF2B5EF4-FFF2-40B4-BE49-F238E27FC236}">
                <a16:creationId xmlns:a16="http://schemas.microsoft.com/office/drawing/2014/main" id="{30F4FFCA-E826-43DE-843F-B63E7812C44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operating profitability arrives in 2033</a:t>
            </a:r>
          </a:p>
        </p:txBody>
      </p:sp>
      <p:sp>
        <p:nvSpPr>
          <p:cNvPr id="2" name="US$ millions. The company funds several loss-makin">
            <a:extLst xmlns:a="http://schemas.openxmlformats.org/drawingml/2006/main">
              <a:ext uri="{FF2B5EF4-FFF2-40B4-BE49-F238E27FC236}">
                <a16:creationId xmlns:a16="http://schemas.microsoft.com/office/drawing/2014/main" id="{C1438B1E-AF91-40C5-9EFC-F8665EBB3F5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The company funds several loss-making years before reaching this scale.</a:t>
            </a:r>
          </a:p>
        </p:txBody>
      </p:sp>
      <p:sp>
        <p:nvSpPr>
          <p:cNvPr id="3" name="YardMatch">
            <a:extLst xmlns:a="http://schemas.openxmlformats.org/drawingml/2006/main">
              <a:ext uri="{FF2B5EF4-FFF2-40B4-BE49-F238E27FC236}">
                <a16:creationId xmlns:a16="http://schemas.microsoft.com/office/drawing/2014/main" id="{B6F2949B-CA8A-4010-BB9A-E168AC32B47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6ED74E90-92B1-42A6-BE9D-B18C4014DCA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$2.18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$5.20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$10.30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$17.89</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$3.29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$6.41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$11.02</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($0.99)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($1.29)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$0.64</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($0.64)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($1.02)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($1.36)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($0.72)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$0.48</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($1.73)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($0.56)</a:t>
                      </a:r>
                    </a:p>
                  </a:txBody>
                  <a:tcPr marL="91440" marR="91440" marT="45720" marB="45720" anchor="ctr">
                    <a:solidFill>
                      <a:srgbClr val="F7F5EF"/>
                    </a:solidFill>
                  </a:tcPr>
                </a:tc>
              </a:tr>
            </a:tbl>
          </a:graphicData>
        </a:graphic>
      </p:graphicFrame>
      <p:sp>
        <p:nvSpPr>
          <p:cNvPr id="6" name="2033 net income is $0.48m, while free cash flow is">
            <a:extLst xmlns:a="http://schemas.openxmlformats.org/drawingml/2006/main">
              <a:ext uri="{FF2B5EF4-FFF2-40B4-BE49-F238E27FC236}">
                <a16:creationId xmlns:a16="http://schemas.microsoft.com/office/drawing/2014/main" id="{AE5613BF-0944-40B4-A3E2-2FD0E01C017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is $0.48m, while free cash flow is ($0.56m) because growth requires more risk cash and equipment. Profit and cash generation differ.</a:t>
            </a:r>
          </a:p>
        </p:txBody>
      </p:sp>
    </p:spTree>
    <p:extLst>
      <p:ext uri="{BB962C8B-B14F-4D97-AF65-F5344CB8AC3E}">
        <p14:creationId xmlns:p14="http://schemas.microsoft.com/office/powerpoint/2010/main" val="1841147744"/>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89FC2AB2-32C2-44F8-B1AD-D0231DA1D6F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rovider pricing. Ret">
            <a:extLst xmlns:a="http://schemas.openxmlformats.org/drawingml/2006/main">
              <a:ext uri="{FF2B5EF4-FFF2-40B4-BE49-F238E27FC236}">
                <a16:creationId xmlns:a16="http://schemas.microsoft.com/office/drawing/2014/main" id="{307D2D85-5AB0-4E43-9DF9-71F8B3A743A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provider pricing.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A9DCDC52-991A-40C9-8ACA-FF641741DC4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FD09BBA9-46E6-4EDC-9FF6-C5A118C3C1C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$1.16m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$5.20m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$9.21m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($1.61)m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($1.30)m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$0.37m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$3.33m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$17.89m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$37.09m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($2.83)m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$6.46m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through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In the downside case, larger service tickets and l">
            <a:extLst xmlns:a="http://schemas.openxmlformats.org/drawingml/2006/main">
              <a:ext uri="{FF2B5EF4-FFF2-40B4-BE49-F238E27FC236}">
                <a16:creationId xmlns:a16="http://schemas.microsoft.com/office/drawing/2014/main" id="{848D513C-B6D7-438A-B794-D3DAED2F367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 the downside case, larger service tickets and low ACH use make repeat contribution negative through 2032. More such transactions deepen the loss.</a:t>
            </a:r>
          </a:p>
        </p:txBody>
      </p:sp>
    </p:spTree>
    <p:extLst>
      <p:ext uri="{BB962C8B-B14F-4D97-AF65-F5344CB8AC3E}">
        <p14:creationId xmlns:p14="http://schemas.microsoft.com/office/powerpoint/2010/main" val="297962473"/>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An illustrative $1.5m first round funds validation">
            <a:extLst xmlns:a="http://schemas.openxmlformats.org/drawingml/2006/main">
              <a:ext uri="{FF2B5EF4-FFF2-40B4-BE49-F238E27FC236}">
                <a16:creationId xmlns:a16="http://schemas.microsoft.com/office/drawing/2014/main" id="{18BA78DA-39A0-47B9-8A5C-8C15EDC1315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An illustrative $1.5m first round funds validation</a:t>
            </a:r>
          </a:p>
        </p:txBody>
      </p:sp>
      <p:sp>
        <p:nvSpPr>
          <p:cNvPr id="2" name="The two-year base budget tests commercial adoption">
            <a:extLst xmlns:a="http://schemas.openxmlformats.org/drawingml/2006/main">
              <a:ext uri="{FF2B5EF4-FFF2-40B4-BE49-F238E27FC236}">
                <a16:creationId xmlns:a16="http://schemas.microsoft.com/office/drawing/2014/main" id="{14A387A6-0E54-4CC3-BA04-4E5B4703CBE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95975E96-FC9D-413D-97AE-6EE52AC94CD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538D4F94-A25B-4AD2-9AE3-001D3803771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$825,000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$158,125</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Fixed overhead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$160,000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$56,416</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($146,448)</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$1,053,093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$421,907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B66FA0A5-BB53-438F-B268-0B0F7D55C89B}"/>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The base case needs further funding from 2029.">
            <a:extLst xmlns:a="http://schemas.openxmlformats.org/drawingml/2006/main">
              <a:ext uri="{FF2B5EF4-FFF2-40B4-BE49-F238E27FC236}">
                <a16:creationId xmlns:a16="http://schemas.microsoft.com/office/drawing/2014/main" id="{F109A118-C1DB-4035-9A33-E88A2D19E0A2}"/>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The base case needs further funding from 2029.</a:t>
            </a:r>
          </a:p>
        </p:txBody>
      </p:sp>
      <p:sp>
        <p:nvSpPr>
          <p:cNvPr id="8" name="$7.30m">
            <a:extLst xmlns:a="http://schemas.openxmlformats.org/drawingml/2006/main">
              <a:ext uri="{FF2B5EF4-FFF2-40B4-BE49-F238E27FC236}">
                <a16:creationId xmlns:a16="http://schemas.microsoft.com/office/drawing/2014/main" id="{89A16A56-375A-4233-B4BF-E1327475116F}"/>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$7.30m</a:t>
            </a:r>
          </a:p>
        </p:txBody>
      </p:sp>
      <p:sp>
        <p:nvSpPr>
          <p:cNvPr id="9" name="Cumulative base cash deficit through 2033, before ">
            <a:extLst xmlns:a="http://schemas.openxmlformats.org/drawingml/2006/main">
              <a:ext uri="{FF2B5EF4-FFF2-40B4-BE49-F238E27FC236}">
                <a16:creationId xmlns:a16="http://schemas.microsoft.com/office/drawing/2014/main" id="{CF3432B9-552F-472C-81AB-890016848F68}"/>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Cumulative base cash deficit through 2033, before a liquidity buffer.</a:t>
            </a:r>
          </a:p>
        </p:txBody>
      </p:sp>
      <p:sp>
        <p:nvSpPr>
          <p:cNvPr id="10" name="A six-month 2033 fixed-cost buffer adds $2.74m, fo">
            <a:extLst xmlns:a="http://schemas.openxmlformats.org/drawingml/2006/main">
              <a:ext uri="{FF2B5EF4-FFF2-40B4-BE49-F238E27FC236}">
                <a16:creationId xmlns:a16="http://schemas.microsoft.com/office/drawing/2014/main" id="{179E0A25-32C7-4F2A-B07B-C6523A1AC5B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 six-month 2033 fixed-cost buffer adds $2.74m, for $10.04m in the model. Financing amounts and valuation are illustrative, not agreed terms.</a:t>
            </a:r>
          </a:p>
        </p:txBody>
      </p:sp>
    </p:spTree>
    <p:extLst>
      <p:ext uri="{BB962C8B-B14F-4D97-AF65-F5344CB8AC3E}">
        <p14:creationId xmlns:p14="http://schemas.microsoft.com/office/powerpoint/2010/main" val="1656263345"/>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378DB483-2255-41EB-A550-408285A04C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8065401A-B3AD-48EB-9F89-67201F389EE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5B9D7BBE-9FF2-4BED-9FA1-0737F40A274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7A8EDBB5-F6E3-4245-999A-D7361D860F8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F3BC49DB-655B-4B98-B1AD-8107E9C5698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1878661176"/>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8AE90F36-4E76-4BEF-891F-AE6F165C1BA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BFC07EEF-3AFA-43B2-841A-8D42277E9D6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DE719DFE-DB5F-48CC-84E2-B1F2203A660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728752EA-DD5B-44C0-B697-9ECD91794CF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50629A33-B7BD-4A9F-BBAE-185FBE1B1B2D}"/>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40021B0A-2747-4A8E-BACB-CB8E32E5F48B}"/>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AFF74676-BD2C-44C9-BE49-D11694118D9D}"/>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4C33CE22-D5ED-4C39-B3A0-A1219D38E7D4}"/>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093A8A97-DD40-46C0-82AE-20897D86D47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862651331"/>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74A0DECA-D2E8-4D50-95AD-61F086114F1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04264043-848E-40BF-AC89-EA0541BA775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275F53B5-1B67-462F-85B0-6F21CF5E1FE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9BB165D3-ABF7-4543-8A9E-C318FFE252D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500 paying households and measured second-season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visits continue with a $2.99 provider fee</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Cash CAC of $50 or less in year two</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mix supports at least $0.50 per paid repeat visit</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2E0429D4-B033-442F-861E-C3A87E0C473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036759929"/>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B8EF0837-C4CA-48C5-9B8B-D766CDD038B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357AA74C-6C96-4836-91D5-89AB442A444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43ADC401-52E9-4928-8DC9-1040704360B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A3326E61-4FCD-4293-945E-09D67BDAC8F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sp>
        <p:nvSpPr>
          <p:cNvPr id="5" name="Households and paid visits">
            <a:extLst xmlns:a="http://schemas.openxmlformats.org/drawingml/2006/main">
              <a:ext uri="{FF2B5EF4-FFF2-40B4-BE49-F238E27FC236}">
                <a16:creationId xmlns:a16="http://schemas.microsoft.com/office/drawing/2014/main" id="{4A5048ED-6B26-4CA5-9A8D-DFFA568EB86B}"/>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B014F125-5AB4-430B-88E2-B9FE816C92B7}"/>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service base. Visits then reflect platform capture and completion.</a:t>
            </a:r>
          </a:p>
        </p:txBody>
      </p:sp>
      <p:sp>
        <p:nvSpPr>
          <p:cNvPr id="7" name="Revenue and cost">
            <a:extLst xmlns:a="http://schemas.openxmlformats.org/drawingml/2006/main">
              <a:ext uri="{FF2B5EF4-FFF2-40B4-BE49-F238E27FC236}">
                <a16:creationId xmlns:a16="http://schemas.microsoft.com/office/drawing/2014/main" id="{02FB738F-E47C-4EED-9B58-D062B2B6CDCB}"/>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Revenue and cost</a:t>
            </a:r>
          </a:p>
        </p:txBody>
      </p:sp>
      <p:sp>
        <p:nvSpPr>
          <p:cNvPr id="8" name="$45 per new pairing after waivers, plus $2.99 per ">
            <a:extLst xmlns:a="http://schemas.openxmlformats.org/drawingml/2006/main">
              <a:ext uri="{FF2B5EF4-FFF2-40B4-BE49-F238E27FC236}">
                <a16:creationId xmlns:a16="http://schemas.microsoft.com/office/drawing/2014/main" id="{6A87FC39-9504-4204-83C5-202232903CEC}"/>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$45 per new pairing after waivers, plus $2.99 per paid visit. Processing uses the whole service ticket. Crew costs stay with the provider.</a:t>
            </a:r>
          </a:p>
        </p:txBody>
      </p:sp>
      <p:sp>
        <p:nvSpPr>
          <p:cNvPr id="9" name="Profit and cash">
            <a:extLst xmlns:a="http://schemas.openxmlformats.org/drawingml/2006/main">
              <a:ext uri="{FF2B5EF4-FFF2-40B4-BE49-F238E27FC236}">
                <a16:creationId xmlns:a16="http://schemas.microsoft.com/office/drawing/2014/main" id="{62EE64CA-50C7-4F9E-99EB-40C266F7591D}"/>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74E8691C-415C-4713-A6A5-0D71B1253BD9}"/>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9D9758C4-24BF-448B-A602-8EF200D9CB59}"/>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about $89 of five-year c">
            <a:extLst xmlns:a="http://schemas.openxmlformats.org/drawingml/2006/main">
              <a:ext uri="{FF2B5EF4-FFF2-40B4-BE49-F238E27FC236}">
                <a16:creationId xmlns:a16="http://schemas.microsoft.com/office/drawing/2014/main" id="{5B7AC0A9-0A47-49CB-86D3-35340ED41F22}"/>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about $89 of five-year contribution per acquired household versus $35 CAC, or 2.6x. This is an assumption test.</a:t>
            </a:r>
          </a:p>
        </p:txBody>
      </p:sp>
    </p:spTree>
    <p:extLst>
      <p:ext uri="{BB962C8B-B14F-4D97-AF65-F5344CB8AC3E}">
        <p14:creationId xmlns:p14="http://schemas.microsoft.com/office/powerpoint/2010/main" val="1388303104"/>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Sources and basis">
            <a:extLst xmlns:a="http://schemas.openxmlformats.org/drawingml/2006/main">
              <a:ext uri="{FF2B5EF4-FFF2-40B4-BE49-F238E27FC236}">
                <a16:creationId xmlns:a16="http://schemas.microsoft.com/office/drawing/2014/main" id="{79288072-EDF0-4AAC-8855-7636F129217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01AC5FF6-9346-4BC6-B3E1-9EAC12F5051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785A4AEB-73FD-4034-858E-4DFF4C7DC1E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BD3FBE14-D01D-4951-92C7-67AFCDED385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sp>
        <p:nvSpPr>
          <p:cNvPr id="5" name="Company materials">
            <a:extLst xmlns:a="http://schemas.openxmlformats.org/drawingml/2006/main">
              <a:ext uri="{FF2B5EF4-FFF2-40B4-BE49-F238E27FC236}">
                <a16:creationId xmlns:a16="http://schemas.microsoft.com/office/drawing/2014/main" id="{8F1F9892-8E6E-4175-844E-D4B6E5D2C46E}"/>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D8F4643D-3981-4079-9D7A-E9E2F3974798}"/>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6665AC4F-D8B7-48FF-8817-276AC7443414}"/>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24E96824-542D-4A22-9388-DF7A7F70A86D}"/>
              </a:ext>
            </a:extLst>
          </p:cNvPr>
          <p:cNvSpPr>
            <a:spLocks xmlns:a="http://schemas.openxmlformats.org/drawingml/2006/main" noGrp="1"/>
          </p:cNvSpPr>
          <p:nvPr/>
        </p:nvSpPr>
        <p:spPr>
          <a:xfrm xmlns:a="http://schemas.openxmlformats.org/drawingml/2006/main">
            <a:off x="628650" y="43529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0b3e9cfd34ff44e6"/>
              </a:rPr>
              <a:t>Stripe Payments pricing</a:t>
            </a:r>
          </a:p>
        </p:txBody>
      </p:sp>
      <p:sp>
        <p:nvSpPr>
          <p:cNvPr id="9" name="Stripe Connect pricing">
            <a:extLst xmlns:a="http://schemas.openxmlformats.org/drawingml/2006/main">
              <a:ext uri="{FF2B5EF4-FFF2-40B4-BE49-F238E27FC236}">
                <a16:creationId xmlns:a16="http://schemas.microsoft.com/office/drawing/2014/main" id="{4A7F2D14-85AE-4EA7-9AD9-2DEAE29BB11C}"/>
              </a:ext>
            </a:extLst>
          </p:cNvPr>
          <p:cNvSpPr>
            <a:spLocks xmlns:a="http://schemas.openxmlformats.org/drawingml/2006/main" noGrp="1"/>
          </p:cNvSpPr>
          <p:nvPr/>
        </p:nvSpPr>
        <p:spPr>
          <a:xfrm xmlns:a="http://schemas.openxmlformats.org/drawingml/2006/main">
            <a:off x="628650" y="462915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0c6e178b56df4974"/>
              </a:rPr>
              <a:t>Stripe Connect pricing</a:t>
            </a:r>
          </a:p>
        </p:txBody>
      </p:sp>
      <p:sp>
        <p:nvSpPr>
          <p:cNvPr id="10" name="Stripe Financial Connections pricing">
            <a:extLst xmlns:a="http://schemas.openxmlformats.org/drawingml/2006/main">
              <a:ext uri="{FF2B5EF4-FFF2-40B4-BE49-F238E27FC236}">
                <a16:creationId xmlns:a16="http://schemas.microsoft.com/office/drawing/2014/main" id="{A55E7ED4-420E-4622-8168-E8C91CD0EB3E}"/>
              </a:ext>
            </a:extLst>
          </p:cNvPr>
          <p:cNvSpPr>
            <a:spLocks xmlns:a="http://schemas.openxmlformats.org/drawingml/2006/main" noGrp="1"/>
          </p:cNvSpPr>
          <p:nvPr/>
        </p:nvSpPr>
        <p:spPr>
          <a:xfrm xmlns:a="http://schemas.openxmlformats.org/drawingml/2006/main">
            <a:off x="628650" y="490537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a62da365a7bb457e"/>
              </a:rPr>
              <a:t>Stripe Financial Connections pricing</a:t>
            </a:r>
          </a:p>
        </p:txBody>
      </p:sp>
      <p:sp>
        <p:nvSpPr>
          <p:cNvPr id="11" name="Zocdoc: Understanding pricing and billing">
            <a:extLst xmlns:a="http://schemas.openxmlformats.org/drawingml/2006/main">
              <a:ext uri="{FF2B5EF4-FFF2-40B4-BE49-F238E27FC236}">
                <a16:creationId xmlns:a16="http://schemas.microsoft.com/office/drawing/2014/main" id="{4EF01E4F-FC4D-465A-B54E-5403840BD3F6}"/>
              </a:ext>
            </a:extLst>
          </p:cNvPr>
          <p:cNvSpPr>
            <a:spLocks xmlns:a="http://schemas.openxmlformats.org/drawingml/2006/main" noGrp="1"/>
          </p:cNvSpPr>
          <p:nvPr/>
        </p:nvSpPr>
        <p:spPr>
          <a:xfrm xmlns:a="http://schemas.openxmlformats.org/drawingml/2006/main">
            <a:off x="628650" y="5181600"/>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6db05c4a965041f9"/>
              </a:rPr>
              <a:t>Zocdoc: Understanding pricing and billing</a:t>
            </a:r>
          </a:p>
        </p:txBody>
      </p:sp>
      <p:sp>
        <p:nvSpPr>
          <p:cNvPr id="12" name="US Census QuickFacts: Barnegat, 2020-2024">
            <a:extLst xmlns:a="http://schemas.openxmlformats.org/drawingml/2006/main">
              <a:ext uri="{FF2B5EF4-FFF2-40B4-BE49-F238E27FC236}">
                <a16:creationId xmlns:a16="http://schemas.microsoft.com/office/drawing/2014/main" id="{DC21F8C4-E404-4BDF-873D-A0ED3E2DAFCC}"/>
              </a:ext>
            </a:extLst>
          </p:cNvPr>
          <p:cNvSpPr>
            <a:spLocks xmlns:a="http://schemas.openxmlformats.org/drawingml/2006/main" noGrp="1"/>
          </p:cNvSpPr>
          <p:nvPr/>
        </p:nvSpPr>
        <p:spPr>
          <a:xfrm xmlns:a="http://schemas.openxmlformats.org/drawingml/2006/main">
            <a:off x="628650" y="5457825"/>
            <a:ext cx="10839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205938"/>
                </a:solidFill>
                <a:latin typeface="Arial"/>
                <a:ea typeface="Arial"/>
                <a:cs typeface="Arial"/>
              </a:defRPr>
            </a:pPr>
            <a:r>
              <a:rPr sz="1575" b="0">
                <a:solidFill>
                  <a:srgbClr val="205938"/>
                </a:solidFill>
                <a:latin typeface="Arial"/>
                <a:ea typeface="Arial"/>
                <a:cs typeface="Arial"/>
                <a:hlinkClick xmlns:r="http://schemas.openxmlformats.org/officeDocument/2006/relationships" r:id="Rbdee861553ea43f6"/>
              </a:rPr>
              <a:t>US Census QuickFacts: Barnegat, 2020-2024</a:t>
            </a:r>
          </a:p>
        </p:txBody>
      </p:sp>
      <p:sp>
        <p:nvSpPr>
          <p:cNvPr id="13" name="External references are linked. Full citations are">
            <a:extLst xmlns:a="http://schemas.openxmlformats.org/drawingml/2006/main">
              <a:ext uri="{FF2B5EF4-FFF2-40B4-BE49-F238E27FC236}">
                <a16:creationId xmlns:a16="http://schemas.microsoft.com/office/drawing/2014/main" id="{1EB8E82F-ABF3-4FAB-9329-C977EFD31FA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7768787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2026-09-20T18:21:39.2620000Z</dcterms:created>
  <dcterms:modified xsi:type="dcterms:W3CDTF">2026-09-20T18:21:39.2620000Z</dcterms:modified>
</coreProperties>
</file>