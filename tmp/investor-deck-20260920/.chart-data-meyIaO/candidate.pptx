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1.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b6124991e1f34e20" /><Relationship Type="http://schemas.openxmlformats.org/officeDocument/2006/relationships/extended-properties" Target="/docProps/app.xml" Id="R66be1951d307442d" /><Relationship Type="http://schemas.openxmlformats.org/officeDocument/2006/relationships/officeDocument" Target="/ppt/presentation.xml" Id="R0e0a92c8e6c448ef" /></Relationships>
</file>

<file path=ppt/presentation.xml><?xml version="1.0" encoding="utf-8"?>
<p:presentation xmlns:p="http://schemas.openxmlformats.org/presentationml/2006/main">
  <p:sldMasterIdLst>
    <p:sldMasterId xmlns:r="http://schemas.openxmlformats.org/officeDocument/2006/relationships" id="2147483648" r:id="R5581b84f6cf44a90"/>
  </p:sldMasterIdLst>
  <p:notesMasterIdLst>
    <p:notesMasterId xmlns:r="http://schemas.openxmlformats.org/officeDocument/2006/relationships" r:id="R375e10248db04f38"/>
  </p:notesMasterIdLst>
  <p:sldIdLst>
    <p:sldId xmlns:r="http://schemas.openxmlformats.org/officeDocument/2006/relationships" id="256" r:id="Rffd49966f19143de"/>
    <p:sldId xmlns:r="http://schemas.openxmlformats.org/officeDocument/2006/relationships" id="257" r:id="R052304d887c042fc"/>
    <p:sldId xmlns:r="http://schemas.openxmlformats.org/officeDocument/2006/relationships" id="258" r:id="R8f0b84db9fac4941"/>
    <p:sldId xmlns:r="http://schemas.openxmlformats.org/officeDocument/2006/relationships" id="259" r:id="Reb77037ff23d443b"/>
    <p:sldId xmlns:r="http://schemas.openxmlformats.org/officeDocument/2006/relationships" id="260" r:id="R3f124f51e0a74a4b"/>
    <p:sldId xmlns:r="http://schemas.openxmlformats.org/officeDocument/2006/relationships" id="261" r:id="R356cefd8bbe84786"/>
    <p:sldId xmlns:r="http://schemas.openxmlformats.org/officeDocument/2006/relationships" id="262" r:id="R44962a90c87842ae"/>
    <p:sldId xmlns:r="http://schemas.openxmlformats.org/officeDocument/2006/relationships" id="263" r:id="R8481c99136fd49ba"/>
    <p:sldId xmlns:r="http://schemas.openxmlformats.org/officeDocument/2006/relationships" id="264" r:id="R349d04caa7454ef6"/>
    <p:sldId xmlns:r="http://schemas.openxmlformats.org/officeDocument/2006/relationships" id="265" r:id="R85a0bc2115054c06"/>
    <p:sldId xmlns:r="http://schemas.openxmlformats.org/officeDocument/2006/relationships" id="266" r:id="R1643f7b884514f7d"/>
    <p:sldId xmlns:r="http://schemas.openxmlformats.org/officeDocument/2006/relationships" id="267" r:id="R0492d7c59dd44a61"/>
    <p:sldId xmlns:r="http://schemas.openxmlformats.org/officeDocument/2006/relationships" id="268" r:id="Re4bc90c64fda4fc7"/>
    <p:sldId xmlns:r="http://schemas.openxmlformats.org/officeDocument/2006/relationships" id="269" r:id="R48ef538bdf204ef6"/>
    <p:sldId xmlns:r="http://schemas.openxmlformats.org/officeDocument/2006/relationships" id="270" r:id="Raf0b211875cc4248"/>
    <p:sldId xmlns:r="http://schemas.openxmlformats.org/officeDocument/2006/relationships" id="271" r:id="R55f86ae6efa244e4"/>
    <p:sldId xmlns:r="http://schemas.openxmlformats.org/officeDocument/2006/relationships" id="272" r:id="R495fd5e90f964304"/>
    <p:sldId xmlns:r="http://schemas.openxmlformats.org/officeDocument/2006/relationships" id="273" r:id="R4aac7256b9f94d8a"/>
    <p:sldId xmlns:r="http://schemas.openxmlformats.org/officeDocument/2006/relationships" id="274" r:id="R72016ec7189c4b13"/>
    <p:sldId xmlns:r="http://schemas.openxmlformats.org/officeDocument/2006/relationships" id="275" r:id="Rdb9e11e4ac6d42c7"/>
    <p:sldId xmlns:r="http://schemas.openxmlformats.org/officeDocument/2006/relationships" id="276" r:id="R7b521423215c4aca"/>
    <p:sldId xmlns:r="http://schemas.openxmlformats.org/officeDocument/2006/relationships" id="277" r:id="Rf5485053b91f499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3d464572aa042b9" /><Relationship Type="http://schemas.openxmlformats.org/officeDocument/2006/relationships/slideMaster" Target="/ppt/slideMasters/slideMaster1.xml" Id="R5581b84f6cf44a90" /><Relationship Type="http://schemas.openxmlformats.org/officeDocument/2006/relationships/notesMaster" Target="/ppt/notesMasters/notesMaster1.xml" Id="R375e10248db04f38" /><Relationship Type="http://schemas.openxmlformats.org/officeDocument/2006/relationships/presProps" Target="/ppt/presProps.xml" Id="R4c57ff988ef94369" /><Relationship Type="http://schemas.openxmlformats.org/officeDocument/2006/relationships/tableStyles" Target="/ppt/tableStyles.xml" Id="R9f24c442da27424b" /><Relationship Type="http://schemas.openxmlformats.org/officeDocument/2006/relationships/slide" Target="/ppt/slides/slide1.xml" Id="Rffd49966f19143de" /><Relationship Type="http://schemas.openxmlformats.org/officeDocument/2006/relationships/slide" Target="/ppt/slides/slide2.xml" Id="R052304d887c042fc" /><Relationship Type="http://schemas.openxmlformats.org/officeDocument/2006/relationships/slide" Target="/ppt/slides/slide3.xml" Id="R8f0b84db9fac4941" /><Relationship Type="http://schemas.openxmlformats.org/officeDocument/2006/relationships/slide" Target="/ppt/slides/slide4.xml" Id="Reb77037ff23d443b" /><Relationship Type="http://schemas.openxmlformats.org/officeDocument/2006/relationships/slide" Target="/ppt/slides/slide5.xml" Id="R3f124f51e0a74a4b" /><Relationship Type="http://schemas.openxmlformats.org/officeDocument/2006/relationships/slide" Target="/ppt/slides/slide6.xml" Id="R356cefd8bbe84786" /><Relationship Type="http://schemas.openxmlformats.org/officeDocument/2006/relationships/slide" Target="/ppt/slides/slide7.xml" Id="R44962a90c87842ae" /><Relationship Type="http://schemas.openxmlformats.org/officeDocument/2006/relationships/slide" Target="/ppt/slides/slide8.xml" Id="R8481c99136fd49ba" /><Relationship Type="http://schemas.openxmlformats.org/officeDocument/2006/relationships/slide" Target="/ppt/slides/slide9.xml" Id="R349d04caa7454ef6" /><Relationship Type="http://schemas.openxmlformats.org/officeDocument/2006/relationships/slide" Target="/ppt/slides/slide10.xml" Id="R85a0bc2115054c06" /><Relationship Type="http://schemas.openxmlformats.org/officeDocument/2006/relationships/slide" Target="/ppt/slides/slide11.xml" Id="R1643f7b884514f7d" /><Relationship Type="http://schemas.openxmlformats.org/officeDocument/2006/relationships/slide" Target="/ppt/slides/slide12.xml" Id="R0492d7c59dd44a61" /><Relationship Type="http://schemas.openxmlformats.org/officeDocument/2006/relationships/slide" Target="/ppt/slides/slide13.xml" Id="Re4bc90c64fda4fc7" /><Relationship Type="http://schemas.openxmlformats.org/officeDocument/2006/relationships/slide" Target="/ppt/slides/slide14.xml" Id="R48ef538bdf204ef6" /><Relationship Type="http://schemas.openxmlformats.org/officeDocument/2006/relationships/slide" Target="/ppt/slides/slide15.xml" Id="Raf0b211875cc4248" /><Relationship Type="http://schemas.openxmlformats.org/officeDocument/2006/relationships/slide" Target="/ppt/slides/slide16.xml" Id="R55f86ae6efa244e4" /><Relationship Type="http://schemas.openxmlformats.org/officeDocument/2006/relationships/slide" Target="/ppt/slides/slide17.xml" Id="R495fd5e90f964304" /><Relationship Type="http://schemas.openxmlformats.org/officeDocument/2006/relationships/slide" Target="/ppt/slides/slide18.xml" Id="R4aac7256b9f94d8a" /><Relationship Type="http://schemas.openxmlformats.org/officeDocument/2006/relationships/slide" Target="/ppt/slides/slide19.xml" Id="R72016ec7189c4b13" /><Relationship Type="http://schemas.openxmlformats.org/officeDocument/2006/relationships/slide" Target="/ppt/slides/slide20.xml" Id="Rdb9e11e4ac6d42c7" /><Relationship Type="http://schemas.openxmlformats.org/officeDocument/2006/relationships/slide" Target="/ppt/slides/slide21.xml" Id="R7b521423215c4aca" /><Relationship Type="http://schemas.openxmlformats.org/officeDocument/2006/relationships/slide" Target="/ppt/slides/slide22.xml" Id="Rf5485053b91f499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014da3a1b29462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95ac8855c9942f8" /><Relationship Type="http://schemas.openxmlformats.org/officeDocument/2006/relationships/notesMaster" Target="/ppt/notesMasters/notesMaster1.xml" Id="R0837424d71384f3e" /></Relationships>
</file>

<file path=ppt/notesSlides/_rels/notesSlide2.xml.rels>&#65279;<?xml version="1.0" encoding="utf-8"?><Relationships xmlns="http://schemas.openxmlformats.org/package/2006/relationships"><Relationship Type="http://schemas.openxmlformats.org/officeDocument/2006/relationships/slide" Target="/ppt/slides/slide2.xml" Id="R635628febbab4adc" /><Relationship Type="http://schemas.openxmlformats.org/officeDocument/2006/relationships/notesMaster" Target="/ppt/notesMasters/notesMaster1.xml" Id="Rc7247b82a50f4e6b" /></Relationships>
</file>

<file path=ppt/notesSlides/_rels/notesSlide3.xml.rels>&#65279;<?xml version="1.0" encoding="utf-8"?><Relationships xmlns="http://schemas.openxmlformats.org/package/2006/relationships"><Relationship Type="http://schemas.openxmlformats.org/officeDocument/2006/relationships/slide" Target="/ppt/slides/slide3.xml" Id="Rf99fc87afae4429f" /><Relationship Type="http://schemas.openxmlformats.org/officeDocument/2006/relationships/notesMaster" Target="/ppt/notesMasters/notesMaster1.xml" Id="R5da44a8b850540d1" /></Relationships>
</file>

<file path=ppt/notesSlides/_rels/notesSlide4.xml.rels>&#65279;<?xml version="1.0" encoding="utf-8"?><Relationships xmlns="http://schemas.openxmlformats.org/package/2006/relationships"><Relationship Type="http://schemas.openxmlformats.org/officeDocument/2006/relationships/slide" Target="/ppt/slides/slide4.xml" Id="R5398a9c78cea4058" /><Relationship Type="http://schemas.openxmlformats.org/officeDocument/2006/relationships/notesMaster" Target="/ppt/notesMasters/notesMaster1.xml" Id="R5702dcd744f4471a" /></Relationships>
</file>

<file path=ppt/notesSlides/_rels/notesSlide5.xml.rels>&#65279;<?xml version="1.0" encoding="utf-8"?><Relationships xmlns="http://schemas.openxmlformats.org/package/2006/relationships"><Relationship Type="http://schemas.openxmlformats.org/officeDocument/2006/relationships/slide" Target="/ppt/slides/slide5.xml" Id="R09dcee1e6ce54135" /><Relationship Type="http://schemas.openxmlformats.org/officeDocument/2006/relationships/notesMaster" Target="/ppt/notesMasters/notesMaster1.xml" Id="R72c596be39a548ca" /></Relationships>
</file>

<file path=ppt/notesSlides/_rels/notesSlide6.xml.rels>&#65279;<?xml version="1.0" encoding="utf-8"?><Relationships xmlns="http://schemas.openxmlformats.org/package/2006/relationships"><Relationship Type="http://schemas.openxmlformats.org/officeDocument/2006/relationships/slide" Target="/ppt/slides/slide6.xml" Id="Rec8cced0c7bb4fd9" /><Relationship Type="http://schemas.openxmlformats.org/officeDocument/2006/relationships/notesMaster" Target="/ppt/notesMasters/notesMaster1.xml" Id="R736bb22f4e7d4604" /></Relationships>
</file>

<file path=ppt/notesSlides/_rels/notesSlide7.xml.rels>&#65279;<?xml version="1.0" encoding="utf-8"?><Relationships xmlns="http://schemas.openxmlformats.org/package/2006/relationships"><Relationship Type="http://schemas.openxmlformats.org/officeDocument/2006/relationships/slide" Target="/ppt/slides/slide7.xml" Id="R8eb99a73026a4a16" /><Relationship Type="http://schemas.openxmlformats.org/officeDocument/2006/relationships/notesMaster" Target="/ppt/notesMasters/notesMaster1.xml" Id="Rd00ed39ba5704908" /></Relationships>
</file>

<file path=ppt/notesSlides/_rels/notesSlide8.xml.rels>&#65279;<?xml version="1.0" encoding="utf-8"?><Relationships xmlns="http://schemas.openxmlformats.org/package/2006/relationships"><Relationship Type="http://schemas.openxmlformats.org/officeDocument/2006/relationships/slide" Target="/ppt/slides/slide8.xml" Id="R270a78104b2148df" /><Relationship Type="http://schemas.openxmlformats.org/officeDocument/2006/relationships/notesMaster" Target="/ppt/notesMasters/notesMaster1.xml" Id="Re29428f59ca54506" /></Relationships>
</file>

<file path=ppt/notesSlides/_rels/notesSlide9.xml.rels>&#65279;<?xml version="1.0" encoding="utf-8"?><Relationships xmlns="http://schemas.openxmlformats.org/package/2006/relationships"><Relationship Type="http://schemas.openxmlformats.org/officeDocument/2006/relationships/slide" Target="/ppt/slides/slide9.xml" Id="Rab3794134836402f" /><Relationship Type="http://schemas.openxmlformats.org/officeDocument/2006/relationships/notesMaster" Target="/ppt/notesMasters/notesMaster1.xml" Id="Rafa9d8918a93400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56997c9de6f4297" /><Relationship Type="http://schemas.openxmlformats.org/officeDocument/2006/relationships/notesMaster" Target="/ppt/notesMasters/notesMaster1.xml" Id="R12b9285b761b4dc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63dffaaec5a40d6" /><Relationship Type="http://schemas.openxmlformats.org/officeDocument/2006/relationships/notesMaster" Target="/ppt/notesMasters/notesMaster1.xml" Id="R2e7fdcdd9f02466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db55f7fec814f11" /><Relationship Type="http://schemas.openxmlformats.org/officeDocument/2006/relationships/notesMaster" Target="/ppt/notesMasters/notesMaster1.xml" Id="R726142937f704cc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a156af67e184f2d" /><Relationship Type="http://schemas.openxmlformats.org/officeDocument/2006/relationships/notesMaster" Target="/ppt/notesMasters/notesMaster1.xml" Id="R8ffc11212a14452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4ddc1b2b47b403b" /><Relationship Type="http://schemas.openxmlformats.org/officeDocument/2006/relationships/notesMaster" Target="/ppt/notesMasters/notesMaster1.xml" Id="R04847b95a33c4c8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24b3a6d14f047c5" /><Relationship Type="http://schemas.openxmlformats.org/officeDocument/2006/relationships/notesMaster" Target="/ppt/notesMasters/notesMaster1.xml" Id="Re69af0e36a344e8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15c45db7bf04070" /><Relationship Type="http://schemas.openxmlformats.org/officeDocument/2006/relationships/notesMaster" Target="/ppt/notesMasters/notesMaster1.xml" Id="R6ecaa1009bb147e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8d754e85ac34aaf" /><Relationship Type="http://schemas.openxmlformats.org/officeDocument/2006/relationships/notesMaster" Target="/ppt/notesMasters/notesMaster1.xml" Id="R9958e8824d12483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31a4fb61aff44cc0" /><Relationship Type="http://schemas.openxmlformats.org/officeDocument/2006/relationships/notesMaster" Target="/ppt/notesMasters/notesMaster1.xml" Id="R0ad48af8328f4fff"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ba3577a0e48401d" /><Relationship Type="http://schemas.openxmlformats.org/officeDocument/2006/relationships/notesMaster" Target="/ppt/notesMasters/notesMaster1.xml" Id="Rbfc1c971f17f4bb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e2ecbdc57824096" /><Relationship Type="http://schemas.openxmlformats.org/officeDocument/2006/relationships/notesMaster" Target="/ppt/notesMasters/notesMaster1.xml" Id="R6c130ca12b3e4e05"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9ecceafc8b05408d" /><Relationship Type="http://schemas.openxmlformats.org/officeDocument/2006/relationships/notesMaster" Target="/ppt/notesMasters/notesMaster1.xml" Id="Rb222713bba6a4ead"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398f93a8c4f94e20" /><Relationship Type="http://schemas.openxmlformats.org/officeDocument/2006/relationships/notesMaster" Target="/ppt/notesMasters/notesMaster1.xml" Id="Rc5a4fd74720945f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Investor discussion draft. September 20, 2026. Source: YardMatch-Barnegat-Partner-Pitch.pdf, September 2026, pages 1-9. Product illustrations and sample data are conceptual, not commercial traction. Source: YardMatch-Investor-Model.xlsx, assumptions and formula-driven Operating model, prepared September 20, 2026. All 2027-2033 figures are illustrative forecasts, not actuals or promises. US dollars. No commercial actuals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YardMatch-Barnegat-Partner-Pitch.pdf, September 2026, pages 1-9. Product illustrations and sample data are conceptual, not commercial traction. Source: YardMatch-Investor-Model.xlsx, assumptions and formula-driven Operating model, prepared September 20, 2026. All 2027-2033 figures are illustrative forecasts, not actuals or promises. US dollars. No commercial actuals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YardMatch-Barnegat-Partner-Pitch.pdf, September 2026, pages 1-9. Product illustrations and sample data are conceptual, not commercial traction. Customer and provider problems are product hypotheses, not survey findings.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YardMatch-Barnegat-Partner-Pitch.pdf, September 2026, pages 1-9. Product illustrations and sample data are conceptual, not commercial traction.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YardMatch-Barnegat-Partner-Pitch.pdf, September 2026, pages 1-9. Product illustrations and sample data are conceptual, not commercial traction. Map is conceptual. No measured route savings or density effect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YardMatch-Barnegat-Partner-Pitch.pdf, September 2026, pages 1-9. Product illustrations and sample data are conceptual, not commercial traction. Patrick instructions September 20, 2026: provider pays $2.99 per completed service. Source: YardMatch-Investor-Model.xlsx, assumptions and formula-driven Operating model, prepared September 20, 2026. All 2027-2033 figures are illustrative forecasts, not actuals or promises. US dollars. No commercial actuals supplied. $45 once per new relationship. One welcome finder-fee waiver per new provider.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checked September 20, 2026: https://www.zocdoc.com/provider-help/en/articles/10859404-understanding-zocdoc-pricing-and-billing . Discovery versus reputation bookings, one-time new patient/provider connection fee. Not every new-doctor booking is chargeable. YardMatch behavior is a planning hypothesis. Source: YardMatch-Barnegat-Partner-Pitch.pdf, September 2026, pages 1-9. Product illustrations and sample data are conceptual, not commercial traction.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checked September 20, 2026: https://stripe.com/pricing ; https://stripe.com/connect/pricing ; https://support.stripe.com/questions/monetizing-payments-with-stripe-connect ; https://stripe.com/financial-connections . US domestic card and platform-controlled Connect assumptions. Exact commercial account terms require confirmation. Source: YardMatch-Investor-Model.xlsx, assumptions and formula-driven Operating model, prepared September 20, 2026. All 2027-2033 figures are illustrative forecasts, not actuals or promises. US dollars. No commercial actuals supplied. Unit economics uses 2031 Base volumes to allocate account and payout-count costs. Repeat payout base excludes the finder fee.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US Census Bureau QuickFacts, Barnegat township, Ocean County, New Jersey, 2020-2024 estimates. https://www.census.gov/quickfacts/fact/table/barnegattownshipoceancountynewjersey/SBO010223 . 10,265 households and 88.0% owner occupancy. Households with lawn-care demand are a subset, not measured here. Source: YardMatch-Investor-Model.xlsx, assumptions and formula-driven Operating model, prepared September 20, 2026. All 2027-2033 figures are illustrative forecasts, not actuals or promises. US dollars. No commercial actuals supplied. Approximate owner households = 10,265 * 88% = 9,033.2. 500 / 9,033.2 = 5.5%. This is an upper-envelope denominator, not a lawn-care TAM.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YardMatch-Barnegat-Partner-Pitch.pdf, September 2026, pages 1-9. Product illustrations and sample data are conceptual, not commercial traction. Source: YardMatch-Investor-Model.xlsx, assumptions and formula-driven Operating model, prepared September 20, 2026. All 2027-2033 figures are illustrative forecasts, not actuals or promises. US dollars. No commercial actuals supplied. These are proposed experiments and decision gates, not completed milestones.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YardMatch-Barnegat-Partner-Pitch.pdf, September 2026, pages 1-9. Product illustrations and sample data are conceptual, not commercial traction. Sources: repository README.md, ROADMAP.md and docs/agent-status/engineer.md, reviewed September 20, 2026. Local engineering checkpoint evidence is not independent production verification. No founder biography or commercial actuals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These effects are hypotheses, not measured network effects or proven competitive advantages.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New households enter halfway through the season. Annual household retention applies before the next service season. Cases share one formula-driven build.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Revenue is finder fees after welcome waivers plus completed paid jobs * $2.99. Charts are editable snapshots of the Base model, not a live workbook link.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EBITDA excludes depreciation, interest and taxes. EBIT includes equipment depreciation. Net income proxy uses an illustrative 25% tax on positive EBIT with no NOL benefit. Free cash flow includes equipment capex and a 1% annual-GMV restricted risk cash assumption.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No probability weights are assigned. Upside is a target case, not a forecast with validated inputs.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Financing illustration: $1.5m gross less $25k transaction expenses. Model opens with zero cash. 2027-2028 projected FCF burn $1.053m and ending cash $421,907. Annual model does not establish exact monthly runway.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Patrick instruction: 70% to Patrick, 30% to other initial owners, then dilute per round. Assumes new share issuance, no secondary sales or convertible instruments.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Equity proceeds arithmetic only. No exit multiple or transaction probability assumed. Initial price implies $6m pre-money and $7.5m post-money. These valuations are not supported by comparable transactions or an agreed term sheet. Equity value assumes distributable proceeds with no senior claims.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Proposed validation gates, not achieved results. Figures chosen as operating test thresholds rather than claimed industry benchmarks.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Cohort calculation is undiscounted, five-year contribution using 2031 base economics. No customer lifetime value has been observed.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YardMatch-Barnegat-Partner-Pitch.pdf, September 2026, pages 1-9. Product illustrations and sample data are conceptual, not commercial traction. Sources checked September 20, 2026: https://stripe.com/pricing ; https://stripe.com/connect/pricing ; https://support.stripe.com/questions/monetizing-payments-with-stripe-connect ; https://stripe.com/financial-connections . US domestic card and platform-controlled Connect assumptions. Exact commercial account terms require confirmation. Source checked September 20, 2026: https://www.zocdoc.com/provider-help/en/articles/10859404-understanding-zocdoc-pricing-and-billing . Discovery versus reputation bookings, one-time new patient/provider connection fee. Not every new-doctor booking is chargeable. YardMatch behavior is a planning hypothesis. Source: US Census Bureau QuickFacts, Barnegat township, Ocean County, New Jersey, 2020-2024 estimates. https://www.census.gov/quickfacts/fact/table/barnegattownshipoceancountynewjersey/SBO010223 . 10,265 households and 88.0% owner occupancy. Households with lawn-care demand are a subset, not measured here. Source: YardMatch-Investor-Model.xlsx, assumptions and formula-driven Operating model, prepared September 20, 2026. All 2027-2033 figures are illustrative forecasts, not actuals or promises. US dollars. No commercial actuals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0777dc9ae574ac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4e56ee3c746468f" /><Relationship Type="http://schemas.openxmlformats.org/officeDocument/2006/relationships/slideLayout" Target="/ppt/slideLayouts/slideLayout1.xml" Id="R5ebfd918e4d54c5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ebfd918e4d54c5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56c909b17594520" /><Relationship Type="http://schemas.openxmlformats.org/officeDocument/2006/relationships/image" Target="/ppt/media/image.png" Id="R159349b21d2b40f9" /><Relationship Type="http://schemas.openxmlformats.org/officeDocument/2006/relationships/notesSlide" Target="/ppt/notesSlides/notesSlide1.xml" Id="R3f89b1ca6d25491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562838c25594195" /><Relationship Type="http://schemas.openxmlformats.org/officeDocument/2006/relationships/notesSlide" Target="/ppt/notesSlides/notesSlide2.xml" Id="Rf152a8abfdae4f9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cbfe1abe1844325" /><Relationship Type="http://schemas.openxmlformats.org/officeDocument/2006/relationships/notesSlide" Target="/ppt/notesSlides/notesSlide3.xml" Id="Rdd0633b8ccc646e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71c8e4cd9094218" /><Relationship Type="http://schemas.openxmlformats.org/officeDocument/2006/relationships/image" Target="/ppt/media/image2.png" Id="R16760cf933714c4c" /><Relationship Type="http://schemas.openxmlformats.org/officeDocument/2006/relationships/notesSlide" Target="/ppt/notesSlides/notesSlide4.xml" Id="R4e82abe1a8814b6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21ee1ffb4a84f67" /><Relationship Type="http://schemas.openxmlformats.org/officeDocument/2006/relationships/image" Target="/ppt/media/image3.png" Id="Rbff8c68a9ec142ea" /><Relationship Type="http://schemas.openxmlformats.org/officeDocument/2006/relationships/notesSlide" Target="/ppt/notesSlides/notesSlide5.xml" Id="R7842fa6d40e0410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bf4f369b0ae4bfa" /><Relationship Type="http://schemas.openxmlformats.org/officeDocument/2006/relationships/notesSlide" Target="/ppt/notesSlides/notesSlide6.xml" Id="R5f67b307f517439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2ffcf9384374ea9" /><Relationship Type="http://schemas.openxmlformats.org/officeDocument/2006/relationships/notesSlide" Target="/ppt/notesSlides/notesSlide7.xml" Id="R436c0d9e9b7549f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13046ee084e4f9b" /><Relationship Type="http://schemas.openxmlformats.org/officeDocument/2006/relationships/notesSlide" Target="/ppt/notesSlides/notesSlide8.xml" Id="R9c499d07a939416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166ef6fd2f549b7" /><Relationship Type="http://schemas.openxmlformats.org/officeDocument/2006/relationships/notesSlide" Target="/ppt/notesSlides/notesSlide9.xml" Id="R88dff5e24bae400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7b9655a383c456a" /><Relationship Type="http://schemas.openxmlformats.org/officeDocument/2006/relationships/notesSlide" Target="/ppt/notesSlides/notesSlide10.xml" Id="R5532014586f7493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2e405e0c930a43bf" /><Relationship Type="http://schemas.openxmlformats.org/officeDocument/2006/relationships/notesSlide" Target="/ppt/notesSlides/notesSlide11.xml" Id="R48b851f8f27640d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abfacd6438642c8" /><Relationship Type="http://schemas.openxmlformats.org/officeDocument/2006/relationships/notesSlide" Target="/ppt/notesSlides/notesSlide12.xml" Id="Rb0a985b67183481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6a097493b1614751" /><Relationship Type="http://schemas.openxmlformats.org/officeDocument/2006/relationships/notesSlide" Target="/ppt/notesSlides/notesSlide13.xml" Id="Rab0156e760b6480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10f08759e20d4b77" /><Relationship Type="http://schemas.openxmlformats.org/officeDocument/2006/relationships/chart" Target="/ppt/slides/charts/chart1.xml" Id="Re2a3c19afce74ab1" /><Relationship Type="http://schemas.openxmlformats.org/officeDocument/2006/relationships/notesSlide" Target="/ppt/notesSlides/notesSlide14.xml" Id="R1e2b68b123d642d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1c281263e11e400e" /><Relationship Type="http://schemas.openxmlformats.org/officeDocument/2006/relationships/notesSlide" Target="/ppt/notesSlides/notesSlide15.xml" Id="Ra239050b088c4cd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d68ea3c11fac483d" /><Relationship Type="http://schemas.openxmlformats.org/officeDocument/2006/relationships/notesSlide" Target="/ppt/notesSlides/notesSlide16.xml" Id="R6ba0dee9b12b4e1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deaf8aa63c6f4ed7" /><Relationship Type="http://schemas.openxmlformats.org/officeDocument/2006/relationships/notesSlide" Target="/ppt/notesSlides/notesSlide17.xml" Id="R3bf682d4c465421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e7d32e525dbe4f84" /><Relationship Type="http://schemas.openxmlformats.org/officeDocument/2006/relationships/notesSlide" Target="/ppt/notesSlides/notesSlide18.xml" Id="R09d6746334344ef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32addd256b4940f1" /><Relationship Type="http://schemas.openxmlformats.org/officeDocument/2006/relationships/notesSlide" Target="/ppt/notesSlides/notesSlide19.xml" Id="R7c85e447ec164855"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b405df99f4954a96" /><Relationship Type="http://schemas.openxmlformats.org/officeDocument/2006/relationships/notesSlide" Target="/ppt/notesSlides/notesSlide20.xml" Id="R786c58b27ea2416e"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fd1a2672db134d39" /><Relationship Type="http://schemas.openxmlformats.org/officeDocument/2006/relationships/notesSlide" Target="/ppt/notesSlides/notesSlide21.xml" Id="Rf284d720136941a8"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e62e3fd6709d4815" /><Relationship Type="http://schemas.openxmlformats.org/officeDocument/2006/relationships/notesSlide" Target="/ppt/notesSlides/notesSlide22.xml" Id="Rb82295cc5d0940a8"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stacked"/>
        <c:varyColors val="0"/>
        <c:ser>
          <c:idx val="0"/>
          <c:order val="0"/>
          <c:tx>
            <c:v>Finder fees after waivers</c:v>
          </c:tx>
          <c:spPr>
            <a:solidFill xmlns:a="http://schemas.openxmlformats.org/drawingml/2006/main">
              <a:srgbClr val="8EAA79"/>
            </a:solidFill>
          </c:spPr>
          <c:cat>
            <c:numRef>
              <c:f>'Chart Data'!$A$2:$A$8</c:f>
              <c:numCache>
                <c:formatCode>General</c:formatCode>
                <c:ptCount val="7"/>
                <c:pt idx="0">
                  <c:v>2027</c:v>
                </c:pt>
                <c:pt idx="1">
                  <c:v>2028</c:v>
                </c:pt>
                <c:pt idx="2">
                  <c:v>2029</c:v>
                </c:pt>
                <c:pt idx="3">
                  <c:v>2030</c:v>
                </c:pt>
                <c:pt idx="4">
                  <c:v>2031</c:v>
                </c:pt>
                <c:pt idx="5">
                  <c:v>2032</c:v>
                </c:pt>
                <c:pt idx="6">
                  <c:v>2033</c:v>
                </c:pt>
              </c:numCache>
            </c:numRef>
          </c:cat>
          <c:val>
            <c:numRef>
              <c:f>'Chart Data'!$B$2:$B$8</c:f>
              <c:numCache>
                <c:formatCode>$0.0</c:formatCode>
                <c:ptCount val="7"/>
                <c:pt idx="0">
                  <c:v>0.0216</c:v>
                </c:pt>
                <c:pt idx="1">
                  <c:v>0.110025</c:v>
                </c:pt>
                <c:pt idx="2">
                  <c:v>0.395199</c:v>
                </c:pt>
                <c:pt idx="3">
                  <c:v>1.097737</c:v>
                </c:pt>
                <c:pt idx="4">
                  <c:v>2.41504</c:v>
                </c:pt>
                <c:pt idx="5">
                  <c:v>4.392119</c:v>
                </c:pt>
                <c:pt idx="6">
                  <c:v>7.029277</c:v>
                </c:pt>
              </c:numCache>
            </c:numRef>
          </c:val>
        </c:ser>
        <c:ser>
          <c:idx val="1"/>
          <c:order val="1"/>
          <c:tx>
            <c:v>Service fees</c:v>
          </c:tx>
          <c:spPr>
            <a:solidFill xmlns:a="http://schemas.openxmlformats.org/drawingml/2006/main">
              <a:srgbClr val="205938"/>
            </a:solidFill>
          </c:spPr>
          <c:cat>
            <c:numRef>
              <c:f>'Chart Data'!$C$2:$C$8</c:f>
              <c:numCache>
                <c:formatCode>General</c:formatCode>
                <c:ptCount val="7"/>
                <c:pt idx="0">
                  <c:v>2027</c:v>
                </c:pt>
                <c:pt idx="1">
                  <c:v>2028</c:v>
                </c:pt>
                <c:pt idx="2">
                  <c:v>2029</c:v>
                </c:pt>
                <c:pt idx="3">
                  <c:v>2030</c:v>
                </c:pt>
                <c:pt idx="4">
                  <c:v>2031</c:v>
                </c:pt>
                <c:pt idx="5">
                  <c:v>2032</c:v>
                </c:pt>
                <c:pt idx="6">
                  <c:v>2033</c:v>
                </c:pt>
              </c:numCache>
            </c:numRef>
          </c:cat>
          <c:val>
            <c:numRef>
              <c:f>'Chart Data'!$D$2:$D$8</c:f>
              <c:numCache>
                <c:formatCode>$0.0</c:formatCode>
                <c:ptCount val="7"/>
                <c:pt idx="0">
                  <c:v>0.012782</c:v>
                </c:pt>
                <c:pt idx="1">
                  <c:v>0.081806</c:v>
                </c:pt>
                <c:pt idx="2">
                  <c:v>0.339369</c:v>
                </c:pt>
                <c:pt idx="3">
                  <c:v>1.083283</c:v>
                </c:pt>
                <c:pt idx="4">
                  <c:v>2.783964</c:v>
                </c:pt>
                <c:pt idx="5">
                  <c:v>5.908459</c:v>
                </c:pt>
                <c:pt idx="6">
                  <c:v>10.862247</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85"/>
        <c:overlap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E8EDDF"/>
            </a:solidFill>
          </a:ln>
        </c:spPr>
        <c:txPr>
          <a:bodyPr xmlns:a="http://schemas.openxmlformats.org/drawingml/2006/main" anchorCtr="1"/>
          <a:lstStyle xmlns:a="http://schemas.openxmlformats.org/drawingml/2006/main"/>
          <a:p xmlns:a="http://schemas.openxmlformats.org/drawingml/2006/main">
            <a:pPr>
              <a:defRPr sz="1350">
                <a:solidFill>
                  <a:srgbClr val="14281D"/>
                </a:solidFill>
                <a:latin typeface="Arial"/>
                <a:ea typeface="Arial"/>
                <a:cs typeface="Arial"/>
              </a:defRPr>
            </a:pPr>
          </a:p>
        </c:txPr>
        <c:crossAx val="48672768"/>
      </c:catAx>
      <c:valAx>
        <c:axId val="48672768"/>
        <c:scaling>
          <c:orientation val="minMax"/>
          <c:max val="20"/>
          <c:min val="0"/>
        </c:scaling>
        <c:delete val="0"/>
        <c:axPos val="l"/>
        <c:majorGridlines>
          <c:spPr>
            <a:ln xmlns:a="http://schemas.openxmlformats.org/drawingml/2006/main" w="9525">
              <a:solidFill>
                <a:srgbClr val="D9DFD5"/>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756A"/>
                </a:solidFill>
                <a:latin typeface="Arial"/>
                <a:ea typeface="Arial"/>
                <a:cs typeface="Arial"/>
              </a:defRPr>
            </a:pPr>
          </a:p>
        </c:txPr>
        <c:crossAx val="48650112"/>
        <c:crossBetween val="between"/>
        <c:majorUnit val="5"/>
      </c:valAx>
      <c:spPr>
        <a:solidFill xmlns:a="http://schemas.openxmlformats.org/drawingml/2006/main">
          <a:srgbClr val="F7F5EF"/>
        </a:solidFill>
      </c:spPr>
    </c:plotArea>
    <c:legend>
      <c:legendPos val="b"/>
      <c:overlay val="0"/>
      <c:txPr>
        <a:bodyPr xmlns:a="http://schemas.openxmlformats.org/drawingml/2006/main" anchorCtr="1"/>
        <a:lstStyle xmlns:a="http://schemas.openxmlformats.org/drawingml/2006/main"/>
        <a:p xmlns:a="http://schemas.openxmlformats.org/drawingml/2006/main">
          <a:pPr>
            <a:defRPr sz="1425">
              <a:solidFill>
                <a:srgbClr val="14281D"/>
              </a:solidFill>
              <a:latin typeface="Arial"/>
              <a:ea typeface="Arial"/>
              <a:cs typeface="Arial"/>
            </a:defRPr>
          </a:pPr>
        </a:p>
      </c:txPr>
    </c:legend>
    <c:plotVisOnly val="1"/>
  </c:chart>
  <c:spPr>
    <a:solidFill xmlns:a="http://schemas.openxmlformats.org/drawingml/2006/main">
      <a:srgbClr val="F7F5E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YardMatch">
            <a:extLst xmlns:a="http://schemas.openxmlformats.org/drawingml/2006/main">
              <a:ext uri="{FF2B5EF4-FFF2-40B4-BE49-F238E27FC236}">
                <a16:creationId xmlns:a16="http://schemas.microsoft.com/office/drawing/2014/main" id="{8C188C2A-945E-4765-90CA-6B7498ED03F2}"/>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2" name="01">
            <a:extLst xmlns:a="http://schemas.openxmlformats.org/drawingml/2006/main">
              <a:ext uri="{FF2B5EF4-FFF2-40B4-BE49-F238E27FC236}">
                <a16:creationId xmlns:a16="http://schemas.microsoft.com/office/drawing/2014/main" id="{0D5E3280-08A3-4711-A58C-59BE29644F9D}"/>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01</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159349b21d2b40f9"/>
          <a:stretch xmlns:a="http://schemas.openxmlformats.org/drawingml/2006/main"/>
        </p:blipFill>
        <p:spPr>
          <a:xfrm xmlns:a="http://schemas.openxmlformats.org/drawingml/2006/main">
            <a:off x="552450" y="461963"/>
            <a:ext cx="4714875" cy="1571625"/>
          </a:xfrm>
          <a:prstGeom xmlns:a="http://schemas.openxmlformats.org/drawingml/2006/main" prst="rect">
            <a:avLst/>
          </a:prstGeom>
        </p:spPr>
      </p:pic>
      <p:sp>
        <p:nvSpPr>
          <p:cNvPr id="4" name="Investing in recurring&#10;local property care">
            <a:extLst xmlns:a="http://schemas.openxmlformats.org/drawingml/2006/main">
              <a:ext uri="{FF2B5EF4-FFF2-40B4-BE49-F238E27FC236}">
                <a16:creationId xmlns:a16="http://schemas.microsoft.com/office/drawing/2014/main" id="{27C00E36-94F7-4548-92FF-F8B8A29A0456}"/>
              </a:ext>
            </a:extLst>
          </p:cNvPr>
          <p:cNvSpPr>
            <a:spLocks xmlns:a="http://schemas.openxmlformats.org/drawingml/2006/main" noGrp="1"/>
          </p:cNvSpPr>
          <p:nvPr/>
        </p:nvSpPr>
        <p:spPr>
          <a:xfrm xmlns:a="http://schemas.openxmlformats.org/drawingml/2006/main">
            <a:off x="609600" y="2466975"/>
            <a:ext cx="10572750" cy="1733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100" b="0">
                <a:solidFill>
                  <a:srgbClr val="205938"/>
                </a:solidFill>
                <a:latin typeface="Georgia"/>
                <a:ea typeface="Georgia"/>
                <a:cs typeface="Georgia"/>
              </a:defRPr>
            </a:pPr>
            <a:r>
              <a:rPr sz="5100" b="0">
                <a:solidFill>
                  <a:srgbClr val="205938"/>
                </a:solidFill>
                <a:latin typeface="Georgia"/>
                <a:ea typeface="Georgia"/>
                <a:cs typeface="Georgia"/>
              </a:rPr>
              <a:t>Investing in recurring</a:t>
            </a:r>
          </a:p>
          <a:p xmlns:a="http://schemas.openxmlformats.org/drawingml/2006/main">
            <a:pPr algn="l">
              <a:defRPr sz="5100" b="0">
                <a:solidFill>
                  <a:srgbClr val="205938"/>
                </a:solidFill>
                <a:latin typeface="Georgia"/>
                <a:ea typeface="Georgia"/>
                <a:cs typeface="Georgia"/>
              </a:defRPr>
            </a:pPr>
            <a:r>
              <a:rPr sz="5100" b="0">
                <a:solidFill>
                  <a:srgbClr val="205938"/>
                </a:solidFill>
                <a:latin typeface="Georgia"/>
                <a:ea typeface="Georgia"/>
                <a:cs typeface="Georgia"/>
              </a:rPr>
              <a:t>local property care</a:t>
            </a:r>
          </a:p>
        </p:txBody>
      </p:sp>
      <p:sp>
        <p:nvSpPr>
          <p:cNvPr id="5" name="A managed marketplace for homeowners and local ser">
            <a:extLst xmlns:a="http://schemas.openxmlformats.org/drawingml/2006/main">
              <a:ext uri="{FF2B5EF4-FFF2-40B4-BE49-F238E27FC236}">
                <a16:creationId xmlns:a16="http://schemas.microsoft.com/office/drawing/2014/main" id="{993B0F6C-4CC8-4DB4-8035-7EC796A32DAE}"/>
              </a:ext>
            </a:extLst>
          </p:cNvPr>
          <p:cNvSpPr>
            <a:spLocks xmlns:a="http://schemas.openxmlformats.org/drawingml/2006/main" noGrp="1"/>
          </p:cNvSpPr>
          <p:nvPr/>
        </p:nvSpPr>
        <p:spPr>
          <a:xfrm xmlns:a="http://schemas.openxmlformats.org/drawingml/2006/main">
            <a:off x="647700" y="4552950"/>
            <a:ext cx="9715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4281D"/>
                </a:solidFill>
                <a:latin typeface="Arial"/>
                <a:ea typeface="Arial"/>
                <a:cs typeface="Arial"/>
              </a:defRPr>
            </a:pPr>
            <a:r>
              <a:rPr sz="2100" b="0">
                <a:solidFill>
                  <a:srgbClr val="14281D"/>
                </a:solidFill>
                <a:latin typeface="Arial"/>
                <a:ea typeface="Arial"/>
                <a:cs typeface="Arial"/>
              </a:rPr>
              <a:t>A managed marketplace for homeowners and local service businesses</a:t>
            </a:r>
          </a:p>
        </p:txBody>
      </p:sp>
      <p:sp>
        <p:nvSpPr>
          <p:cNvPr id="6" name="Investor discussion draft&#10;September 2026">
            <a:extLst xmlns:a="http://schemas.openxmlformats.org/drawingml/2006/main">
              <a:ext uri="{FF2B5EF4-FFF2-40B4-BE49-F238E27FC236}">
                <a16:creationId xmlns:a16="http://schemas.microsoft.com/office/drawing/2014/main" id="{88AE27D7-2674-4B73-B864-7F3915255BA9}"/>
              </a:ext>
            </a:extLst>
          </p:cNvPr>
          <p:cNvSpPr>
            <a:spLocks xmlns:a="http://schemas.openxmlformats.org/drawingml/2006/main" noGrp="1"/>
          </p:cNvSpPr>
          <p:nvPr/>
        </p:nvSpPr>
        <p:spPr>
          <a:xfrm xmlns:a="http://schemas.openxmlformats.org/drawingml/2006/main">
            <a:off x="647700" y="5505450"/>
            <a:ext cx="7429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66756A"/>
                </a:solidFill>
                <a:latin typeface="Arial"/>
                <a:ea typeface="Arial"/>
                <a:cs typeface="Arial"/>
              </a:defRPr>
            </a:pPr>
            <a:r>
              <a:rPr sz="1500" b="0">
                <a:solidFill>
                  <a:srgbClr val="66756A"/>
                </a:solidFill>
                <a:latin typeface="Arial"/>
                <a:ea typeface="Arial"/>
                <a:cs typeface="Arial"/>
              </a:rPr>
              <a:t>Investor discussion draft</a:t>
            </a:r>
          </a:p>
          <a:p xmlns:a="http://schemas.openxmlformats.org/drawingml/2006/main">
            <a:pPr algn="l">
              <a:defRPr sz="1500" b="0">
                <a:solidFill>
                  <a:srgbClr val="66756A"/>
                </a:solidFill>
                <a:latin typeface="Arial"/>
                <a:ea typeface="Arial"/>
                <a:cs typeface="Arial"/>
              </a:defRPr>
            </a:pPr>
            <a:r>
              <a:rPr sz="1500" b="0">
                <a:solidFill>
                  <a:srgbClr val="66756A"/>
                </a:solidFill>
                <a:latin typeface="Arial"/>
                <a:ea typeface="Arial"/>
                <a:cs typeface="Arial"/>
              </a:rPr>
              <a:t>September 2026</a:t>
            </a:r>
          </a:p>
        </p:txBody>
      </p:sp>
    </p:spTree>
    <p:extLst>
      <p:ext uri="{BB962C8B-B14F-4D97-AF65-F5344CB8AC3E}">
        <p14:creationId xmlns:p14="http://schemas.microsoft.com/office/powerpoint/2010/main" val="1001724702"/>
      </p:ext>
    </p:extLst>
  </p:cSld>
</p:sld>
</file>

<file path=ppt/slides/slide2.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2" name="The investment thesis">
            <a:extLst xmlns:a="http://schemas.openxmlformats.org/drawingml/2006/main">
              <a:ext uri="{FF2B5EF4-FFF2-40B4-BE49-F238E27FC236}">
                <a16:creationId xmlns:a16="http://schemas.microsoft.com/office/drawing/2014/main" id="{07ED3363-27FA-42A7-96D8-D7A857C57FB7}"/>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The investment thesis</a:t>
            </a:r>
          </a:p>
        </p:txBody>
      </p:sp>
      <p:sp>
        <p:nvSpPr>
          <p:cNvPr id="2" name="Own a share of the company that helps local servic">
            <a:extLst xmlns:a="http://schemas.openxmlformats.org/drawingml/2006/main">
              <a:ext uri="{FF2B5EF4-FFF2-40B4-BE49-F238E27FC236}">
                <a16:creationId xmlns:a16="http://schemas.microsoft.com/office/drawing/2014/main" id="{05B8FDF8-11AA-412F-A3FD-11624ECF65B3}"/>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Own a share of the company that helps local service relationships form and continue.</a:t>
            </a:r>
          </a:p>
        </p:txBody>
      </p:sp>
      <p:sp>
        <p:nvSpPr>
          <p:cNvPr id="3" name="YardMatch">
            <a:extLst xmlns:a="http://schemas.openxmlformats.org/drawingml/2006/main">
              <a:ext uri="{FF2B5EF4-FFF2-40B4-BE49-F238E27FC236}">
                <a16:creationId xmlns:a16="http://schemas.microsoft.com/office/drawing/2014/main" id="{6E54A3F0-5CA2-4C1E-997D-42560BD03762}"/>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02">
            <a:extLst xmlns:a="http://schemas.openxmlformats.org/drawingml/2006/main">
              <a:ext uri="{FF2B5EF4-FFF2-40B4-BE49-F238E27FC236}">
                <a16:creationId xmlns:a16="http://schemas.microsoft.com/office/drawing/2014/main" id="{F7640423-228F-4EE4-B3E6-CBD08EF3C857}"/>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02</a:t>
            </a:r>
          </a:p>
        </p:txBody>
      </p:sp>
      <p:sp>
        <p:nvSpPr>
          <p:cNvPr id="5" name="A useful first transaction">
            <a:extLst xmlns:a="http://schemas.openxmlformats.org/drawingml/2006/main">
              <a:ext uri="{FF2B5EF4-FFF2-40B4-BE49-F238E27FC236}">
                <a16:creationId xmlns:a16="http://schemas.microsoft.com/office/drawing/2014/main" id="{D069EA8E-8046-4A68-85EC-06E102A98F54}"/>
              </a:ext>
            </a:extLst>
          </p:cNvPr>
          <p:cNvSpPr>
            <a:spLocks xmlns:a="http://schemas.openxmlformats.org/drawingml/2006/main" noGrp="1"/>
          </p:cNvSpPr>
          <p:nvPr/>
        </p:nvSpPr>
        <p:spPr>
          <a:xfrm xmlns:a="http://schemas.openxmlformats.org/drawingml/2006/main">
            <a:off x="628650" y="2495550"/>
            <a:ext cx="4972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A useful first transaction</a:t>
            </a:r>
          </a:p>
        </p:txBody>
      </p:sp>
      <p:sp>
        <p:nvSpPr>
          <p:cNvPr id="6" name="A qualified recommendation helps a homeowner book ">
            <a:extLst xmlns:a="http://schemas.openxmlformats.org/drawingml/2006/main">
              <a:ext uri="{FF2B5EF4-FFF2-40B4-BE49-F238E27FC236}">
                <a16:creationId xmlns:a16="http://schemas.microsoft.com/office/drawing/2014/main" id="{BCA01177-9612-4B23-8641-CD0B80BDB5B5}"/>
              </a:ext>
            </a:extLst>
          </p:cNvPr>
          <p:cNvSpPr>
            <a:spLocks xmlns:a="http://schemas.openxmlformats.org/drawingml/2006/main" noGrp="1"/>
          </p:cNvSpPr>
          <p:nvPr/>
        </p:nvSpPr>
        <p:spPr>
          <a:xfrm xmlns:a="http://schemas.openxmlformats.org/drawingml/2006/main">
            <a:off x="628650" y="3019425"/>
            <a:ext cx="49720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A qualified recommendation helps a homeowner book and gives a provider a new customer.</a:t>
            </a:r>
          </a:p>
        </p:txBody>
      </p:sp>
      <p:sp>
        <p:nvSpPr>
          <p:cNvPr id="7" name="An ongoing reason to return">
            <a:extLst xmlns:a="http://schemas.openxmlformats.org/drawingml/2006/main">
              <a:ext uri="{FF2B5EF4-FFF2-40B4-BE49-F238E27FC236}">
                <a16:creationId xmlns:a16="http://schemas.microsoft.com/office/drawing/2014/main" id="{59A82701-31AA-4FBD-A99A-2E8D2B30C3F0}"/>
              </a:ext>
            </a:extLst>
          </p:cNvPr>
          <p:cNvSpPr>
            <a:spLocks xmlns:a="http://schemas.openxmlformats.org/drawingml/2006/main" noGrp="1"/>
          </p:cNvSpPr>
          <p:nvPr/>
        </p:nvSpPr>
        <p:spPr>
          <a:xfrm xmlns:a="http://schemas.openxmlformats.org/drawingml/2006/main">
            <a:off x="6381750" y="2495550"/>
            <a:ext cx="4953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An ongoing reason to return</a:t>
            </a:r>
          </a:p>
        </p:txBody>
      </p:sp>
      <p:sp>
        <p:nvSpPr>
          <p:cNvPr id="8" name="Schedules, service history, arrival updates and is">
            <a:extLst xmlns:a="http://schemas.openxmlformats.org/drawingml/2006/main">
              <a:ext uri="{FF2B5EF4-FFF2-40B4-BE49-F238E27FC236}">
                <a16:creationId xmlns:a16="http://schemas.microsoft.com/office/drawing/2014/main" id="{030287DF-ACCA-407C-93E8-ECA1D2197CFB}"/>
              </a:ext>
            </a:extLst>
          </p:cNvPr>
          <p:cNvSpPr>
            <a:spLocks xmlns:a="http://schemas.openxmlformats.org/drawingml/2006/main" noGrp="1"/>
          </p:cNvSpPr>
          <p:nvPr/>
        </p:nvSpPr>
        <p:spPr>
          <a:xfrm xmlns:a="http://schemas.openxmlformats.org/drawingml/2006/main">
            <a:off x="6381750" y="3019425"/>
            <a:ext cx="4953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Schedules, service history, arrival updates and issue resolution keep later visits connected.</a:t>
            </a:r>
          </a:p>
        </p:txBody>
      </p:sp>
      <p:sp>
        <p:nvSpPr>
          <p:cNvPr id="9" name="The opportunity depends on profitable repeat use">
            <a:extLst xmlns:a="http://schemas.openxmlformats.org/drawingml/2006/main">
              <a:ext uri="{FF2B5EF4-FFF2-40B4-BE49-F238E27FC236}">
                <a16:creationId xmlns:a16="http://schemas.microsoft.com/office/drawing/2014/main" id="{55C73BD3-560B-44AA-B79C-B82C08645FD8}"/>
              </a:ext>
            </a:extLst>
          </p:cNvPr>
          <p:cNvSpPr>
            <a:spLocks xmlns:a="http://schemas.openxmlformats.org/drawingml/2006/main" noGrp="1"/>
          </p:cNvSpPr>
          <p:nvPr/>
        </p:nvSpPr>
        <p:spPr>
          <a:xfrm xmlns:a="http://schemas.openxmlformats.org/drawingml/2006/main">
            <a:off x="628650" y="4581525"/>
            <a:ext cx="10715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205938"/>
                </a:solidFill>
                <a:latin typeface="Arial"/>
                <a:ea typeface="Arial"/>
                <a:cs typeface="Arial"/>
              </a:defRPr>
            </a:pPr>
            <a:r>
              <a:rPr sz="2475" b="1">
                <a:solidFill>
                  <a:srgbClr val="205938"/>
                </a:solidFill>
                <a:latin typeface="Arial"/>
                <a:ea typeface="Arial"/>
                <a:cs typeface="Arial"/>
              </a:rPr>
              <a:t>The opportunity depends on profitable repeat use</a:t>
            </a:r>
          </a:p>
        </p:txBody>
      </p:sp>
      <p:sp>
        <p:nvSpPr>
          <p:cNvPr id="10" name="Local density can lower acquisition and operating ">
            <a:extLst xmlns:a="http://schemas.openxmlformats.org/drawingml/2006/main">
              <a:ext uri="{FF2B5EF4-FFF2-40B4-BE49-F238E27FC236}">
                <a16:creationId xmlns:a16="http://schemas.microsoft.com/office/drawing/2014/main" id="{171EB89E-80FA-40AF-8EC7-D9F701B85AE3}"/>
              </a:ext>
            </a:extLst>
          </p:cNvPr>
          <p:cNvSpPr>
            <a:spLocks xmlns:a="http://schemas.openxmlformats.org/drawingml/2006/main" noGrp="1"/>
          </p:cNvSpPr>
          <p:nvPr/>
        </p:nvSpPr>
        <p:spPr>
          <a:xfrm xmlns:a="http://schemas.openxmlformats.org/drawingml/2006/main">
            <a:off x="628650" y="5181600"/>
            <a:ext cx="104775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4281D"/>
                </a:solidFill>
                <a:latin typeface="Arial"/>
                <a:ea typeface="Arial"/>
                <a:cs typeface="Arial"/>
              </a:defRPr>
            </a:pPr>
            <a:r>
              <a:rPr sz="1950" b="0">
                <a:solidFill>
                  <a:srgbClr val="14281D"/>
                </a:solidFill>
                <a:latin typeface="Arial"/>
                <a:ea typeface="Arial"/>
                <a:cs typeface="Arial"/>
              </a:rPr>
              <a:t>Local density can lower acquisition and operating costs. Each expansion must demonstrate those savings before it earns more capital.</a:t>
            </a:r>
          </a:p>
        </p:txBody>
      </p:sp>
      <p:sp>
        <p:nvSpPr>
          <p:cNvPr id="11" name="Investment hypothesis. The model does not assume s">
            <a:extLst xmlns:a="http://schemas.openxmlformats.org/drawingml/2006/main">
              <a:ext uri="{FF2B5EF4-FFF2-40B4-BE49-F238E27FC236}">
                <a16:creationId xmlns:a16="http://schemas.microsoft.com/office/drawing/2014/main" id="{4952D35C-4E04-497E-A54F-B691AB772093}"/>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Investment hypothesis. The model does not assume subscriptions, advertising or repeated finder fees from the same relationship.</a:t>
            </a:r>
          </a:p>
        </p:txBody>
      </p:sp>
    </p:spTree>
    <p:extLst>
      <p:ext uri="{BB962C8B-B14F-4D97-AF65-F5344CB8AC3E}">
        <p14:creationId xmlns:p14="http://schemas.microsoft.com/office/powerpoint/2010/main" val="2106711847"/>
      </p:ext>
    </p:extLst>
  </p:cSld>
</p:sld>
</file>

<file path=ppt/slides/slide3.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Booking is only the start of the work">
            <a:extLst xmlns:a="http://schemas.openxmlformats.org/drawingml/2006/main">
              <a:ext uri="{FF2B5EF4-FFF2-40B4-BE49-F238E27FC236}">
                <a16:creationId xmlns:a16="http://schemas.microsoft.com/office/drawing/2014/main" id="{ACA0B888-658D-4969-B7BB-48606AD2F6F3}"/>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Booking is only the start of the work</a:t>
            </a:r>
          </a:p>
        </p:txBody>
      </p:sp>
      <p:sp>
        <p:nvSpPr>
          <p:cNvPr id="2" name="YardMatch connects the customer request to the pro">
            <a:extLst xmlns:a="http://schemas.openxmlformats.org/drawingml/2006/main">
              <a:ext uri="{FF2B5EF4-FFF2-40B4-BE49-F238E27FC236}">
                <a16:creationId xmlns:a16="http://schemas.microsoft.com/office/drawing/2014/main" id="{E7029288-1050-4D2A-BF62-DBC07174D842}"/>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YardMatch connects the customer request to the provider’s schedule and the crew’s actual visit.</a:t>
            </a:r>
          </a:p>
        </p:txBody>
      </p:sp>
      <p:sp>
        <p:nvSpPr>
          <p:cNvPr id="3" name="YardMatch">
            <a:extLst xmlns:a="http://schemas.openxmlformats.org/drawingml/2006/main">
              <a:ext uri="{FF2B5EF4-FFF2-40B4-BE49-F238E27FC236}">
                <a16:creationId xmlns:a16="http://schemas.microsoft.com/office/drawing/2014/main" id="{33D974B3-8442-4C50-B177-32F66BE79135}"/>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03">
            <a:extLst xmlns:a="http://schemas.openxmlformats.org/drawingml/2006/main">
              <a:ext uri="{FF2B5EF4-FFF2-40B4-BE49-F238E27FC236}">
                <a16:creationId xmlns:a16="http://schemas.microsoft.com/office/drawing/2014/main" id="{EC271215-D722-4292-9391-34B35E700B9E}"/>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03</a:t>
            </a:r>
          </a:p>
        </p:txBody>
      </p:sp>
      <p:graphicFrame>
        <p:nvGraphicFramePr>
          <p:cNvPr id="11" name=""/>
          <p:cNvGraphicFramePr/>
          <p:nvPr/>
        </p:nvGraphicFramePr>
        <p:xfrm>
          <a:off xmlns:a="http://schemas.openxmlformats.org/drawingml/2006/main" x="609600" y="2352675"/>
          <a:ext xmlns:a="http://schemas.openxmlformats.org/drawingml/2006/main" cx="10972800" cy="3209925"/>
        </p:xfrm>
        <a:graphic xmlns:a="http://schemas.openxmlformats.org/drawingml/2006/main">
          <a:graphicData uri="http://schemas.openxmlformats.org/drawingml/2006/table">
            <a:tbl>
              <a:tblPr/>
              <a:tblGrid>
                <a:gridCol w="3333750"/>
                <a:gridCol w="3429000"/>
                <a:gridCol w="4210050"/>
              </a:tblGrid>
              <a:tr h="802481">
                <a:tc>
                  <a:txBody>
                    <a:bodyPr lIns="114300" tIns="76200" rIns="114300" bIns="76200">
                      <a:noAutofit/>
                    </a:bodyPr>
                    <a:lstStyle/>
                    <a:p>
                      <a:pPr algn="l"/>
                      <a:r>
                        <a:rPr sz="1875" b="1">
                          <a:solidFill>
                            <a:srgbClr val="FFFFFF"/>
                          </a:solidFill>
                          <a:latin typeface="Arial"/>
                          <a:ea typeface="Arial"/>
                          <a:cs typeface="Arial"/>
                        </a:rPr>
                        <a:t>Customer need</a:t>
                      </a:r>
                    </a:p>
                  </a:txBody>
                  <a:tcPr marL="91440" marR="91440" marT="45720" marB="45720" anchor="ctr">
                    <a:solidFill>
                      <a:srgbClr val="205938"/>
                    </a:solidFill>
                  </a:tcPr>
                </a:tc>
                <a:tc>
                  <a:txBody>
                    <a:bodyPr lIns="114300" tIns="76200" rIns="114300" bIns="76200">
                      <a:noAutofit/>
                    </a:bodyPr>
                    <a:lstStyle/>
                    <a:p>
                      <a:pPr algn="r"/>
                      <a:r>
                        <a:rPr sz="1875" b="1">
                          <a:solidFill>
                            <a:srgbClr val="FFFFFF"/>
                          </a:solidFill>
                          <a:latin typeface="Arial"/>
                          <a:ea typeface="Arial"/>
                          <a:cs typeface="Arial"/>
                        </a:rPr>
                        <a:t>Provider need</a:t>
                      </a:r>
                    </a:p>
                  </a:txBody>
                  <a:tcPr marL="91440" marR="91440" marT="45720" marB="45720" anchor="ctr">
                    <a:solidFill>
                      <a:srgbClr val="205938"/>
                    </a:solidFill>
                  </a:tcPr>
                </a:tc>
                <a:tc>
                  <a:txBody>
                    <a:bodyPr lIns="114300" tIns="76200" rIns="114300" bIns="76200">
                      <a:noAutofit/>
                    </a:bodyPr>
                    <a:lstStyle/>
                    <a:p>
                      <a:pPr algn="r"/>
                      <a:r>
                        <a:rPr sz="1875" b="1">
                          <a:solidFill>
                            <a:srgbClr val="FFFFFF"/>
                          </a:solidFill>
                          <a:latin typeface="Arial"/>
                          <a:ea typeface="Arial"/>
                          <a:cs typeface="Arial"/>
                        </a:rPr>
                        <a:t>YardMatch response</a:t>
                      </a:r>
                    </a:p>
                  </a:txBody>
                  <a:tcPr marL="91440" marR="91440" marT="45720" marB="45720" anchor="ctr">
                    <a:solidFill>
                      <a:srgbClr val="205938"/>
                    </a:solidFill>
                  </a:tcPr>
                </a:tc>
              </a:tr>
              <a:tr h="802481">
                <a:tc>
                  <a:txBody>
                    <a:bodyPr lIns="114300" tIns="76200" rIns="114300" bIns="76200">
                      <a:noAutofit/>
                    </a:bodyPr>
                    <a:lstStyle/>
                    <a:p>
                      <a:pPr algn="l"/>
                      <a:r>
                        <a:rPr sz="1875" b="0">
                          <a:solidFill>
                            <a:srgbClr val="14281D"/>
                          </a:solidFill>
                          <a:latin typeface="Arial"/>
                          <a:ea typeface="Arial"/>
                          <a:cs typeface="Arial"/>
                        </a:rPr>
                        <a:t>A suitable, available business</a:t>
                      </a:r>
                    </a:p>
                  </a:txBody>
                  <a:tcPr marL="91440" marR="91440" marT="45720" marB="45720" anchor="ctr">
                    <a:solidFill>
                      <a:srgbClr val="FFFFFF"/>
                    </a:solidFill>
                  </a:tcPr>
                </a:tc>
                <a:tc>
                  <a:txBody>
                    <a:bodyPr lIns="114300" tIns="76200" rIns="114300" bIns="76200">
                      <a:noAutofit/>
                    </a:bodyPr>
                    <a:lstStyle/>
                    <a:p>
                      <a:pPr algn="r"/>
                      <a:r>
                        <a:rPr sz="1875" b="0">
                          <a:solidFill>
                            <a:srgbClr val="14281D"/>
                          </a:solidFill>
                          <a:latin typeface="Arial"/>
                          <a:ea typeface="Arial"/>
                          <a:cs typeface="Arial"/>
                        </a:rPr>
                        <a:t>New work that fits the route</a:t>
                      </a:r>
                    </a:p>
                  </a:txBody>
                  <a:tcPr marL="91440" marR="91440" marT="45720" marB="45720" anchor="ctr">
                    <a:solidFill>
                      <a:srgbClr val="FFFFFF"/>
                    </a:solidFill>
                  </a:tcPr>
                </a:tc>
                <a:tc>
                  <a:txBody>
                    <a:bodyPr lIns="114300" tIns="76200" rIns="114300" bIns="76200">
                      <a:noAutofit/>
                    </a:bodyPr>
                    <a:lstStyle/>
                    <a:p>
                      <a:pPr algn="r"/>
                      <a:r>
                        <a:rPr sz="1875" b="0">
                          <a:solidFill>
                            <a:srgbClr val="14281D"/>
                          </a:solidFill>
                          <a:latin typeface="Arial"/>
                          <a:ea typeface="Arial"/>
                          <a:cs typeface="Arial"/>
                        </a:rPr>
                        <a:t>One recommendation and a few qualified backups</a:t>
                      </a:r>
                    </a:p>
                  </a:txBody>
                  <a:tcPr marL="91440" marR="91440" marT="45720" marB="45720" anchor="ctr">
                    <a:solidFill>
                      <a:srgbClr val="FFFFFF"/>
                    </a:solidFill>
                  </a:tcPr>
                </a:tc>
              </a:tr>
              <a:tr h="802481">
                <a:tc>
                  <a:txBody>
                    <a:bodyPr lIns="114300" tIns="76200" rIns="114300" bIns="76200">
                      <a:noAutofit/>
                    </a:bodyPr>
                    <a:lstStyle/>
                    <a:p>
                      <a:pPr algn="l"/>
                      <a:r>
                        <a:rPr sz="1875" b="0">
                          <a:solidFill>
                            <a:srgbClr val="14281D"/>
                          </a:solidFill>
                          <a:latin typeface="Arial"/>
                          <a:ea typeface="Arial"/>
                          <a:cs typeface="Arial"/>
                        </a:rPr>
                        <a:t>Confidence about arrival</a:t>
                      </a:r>
                    </a:p>
                  </a:txBody>
                  <a:tcPr marL="91440" marR="91440" marT="45720" marB="45720" anchor="ctr">
                    <a:solidFill>
                      <a:srgbClr val="F7F5EF"/>
                    </a:solidFill>
                  </a:tcPr>
                </a:tc>
                <a:tc>
                  <a:txBody>
                    <a:bodyPr lIns="114300" tIns="76200" rIns="114300" bIns="76200">
                      <a:noAutofit/>
                    </a:bodyPr>
                    <a:lstStyle/>
                    <a:p>
                      <a:pPr algn="r"/>
                      <a:r>
                        <a:rPr sz="1875" b="0">
                          <a:solidFill>
                            <a:srgbClr val="14281D"/>
                          </a:solidFill>
                          <a:latin typeface="Arial"/>
                          <a:ea typeface="Arial"/>
                          <a:cs typeface="Arial"/>
                        </a:rPr>
                        <a:t>A schedule crews can execute</a:t>
                      </a:r>
                    </a:p>
                  </a:txBody>
                  <a:tcPr marL="91440" marR="91440" marT="45720" marB="45720" anchor="ctr">
                    <a:solidFill>
                      <a:srgbClr val="F7F5EF"/>
                    </a:solidFill>
                  </a:tcPr>
                </a:tc>
                <a:tc>
                  <a:txBody>
                    <a:bodyPr lIns="114300" tIns="76200" rIns="114300" bIns="76200">
                      <a:noAutofit/>
                    </a:bodyPr>
                    <a:lstStyle/>
                    <a:p>
                      <a:pPr algn="r"/>
                      <a:r>
                        <a:rPr sz="1875" b="0">
                          <a:solidFill>
                            <a:srgbClr val="14281D"/>
                          </a:solidFill>
                          <a:latin typeface="Arial"/>
                          <a:ea typeface="Arial"/>
                          <a:cs typeface="Arial"/>
                        </a:rPr>
                        <a:t>Shared job details and arrival updates</a:t>
                      </a:r>
                    </a:p>
                  </a:txBody>
                  <a:tcPr marL="91440" marR="91440" marT="45720" marB="45720" anchor="ctr">
                    <a:solidFill>
                      <a:srgbClr val="F7F5EF"/>
                    </a:solidFill>
                  </a:tcPr>
                </a:tc>
              </a:tr>
              <a:tr h="802481">
                <a:tc>
                  <a:txBody>
                    <a:bodyPr lIns="114300" tIns="76200" rIns="114300" bIns="76200">
                      <a:noAutofit/>
                    </a:bodyPr>
                    <a:lstStyle/>
                    <a:p>
                      <a:pPr algn="l"/>
                      <a:r>
                        <a:rPr sz="1875" b="0">
                          <a:solidFill>
                            <a:srgbClr val="14281D"/>
                          </a:solidFill>
                          <a:latin typeface="Arial"/>
                          <a:ea typeface="Arial"/>
                          <a:cs typeface="Arial"/>
                        </a:rPr>
                        <a:t>A dependable next visit</a:t>
                      </a:r>
                    </a:p>
                  </a:txBody>
                  <a:tcPr marL="91440" marR="91440" marT="45720" marB="45720" anchor="ctr">
                    <a:solidFill>
                      <a:srgbClr val="FFFFFF"/>
                    </a:solidFill>
                  </a:tcPr>
                </a:tc>
                <a:tc>
                  <a:txBody>
                    <a:bodyPr lIns="114300" tIns="76200" rIns="114300" bIns="76200">
                      <a:noAutofit/>
                    </a:bodyPr>
                    <a:lstStyle/>
                    <a:p>
                      <a:pPr algn="r"/>
                      <a:r>
                        <a:rPr sz="1875" b="0">
                          <a:solidFill>
                            <a:srgbClr val="14281D"/>
                          </a:solidFill>
                          <a:latin typeface="Arial"/>
                          <a:ea typeface="Arial"/>
                          <a:cs typeface="Arial"/>
                        </a:rPr>
                        <a:t>Repeat business without another finder fee</a:t>
                      </a:r>
                    </a:p>
                  </a:txBody>
                  <a:tcPr marL="91440" marR="91440" marT="45720" marB="45720" anchor="ctr">
                    <a:solidFill>
                      <a:srgbClr val="FFFFFF"/>
                    </a:solidFill>
                  </a:tcPr>
                </a:tc>
                <a:tc>
                  <a:txBody>
                    <a:bodyPr lIns="114300" tIns="76200" rIns="114300" bIns="76200">
                      <a:noAutofit/>
                    </a:bodyPr>
                    <a:lstStyle/>
                    <a:p>
                      <a:pPr algn="r"/>
                      <a:r>
                        <a:rPr sz="1875" b="0">
                          <a:solidFill>
                            <a:srgbClr val="14281D"/>
                          </a:solidFill>
                          <a:latin typeface="Arial"/>
                          <a:ea typeface="Arial"/>
                          <a:cs typeface="Arial"/>
                        </a:rPr>
                        <a:t>Rebooking, service records and follow-up</a:t>
                      </a:r>
                    </a:p>
                  </a:txBody>
                  <a:tcPr marL="91440" marR="91440" marT="45720" marB="45720" anchor="ctr">
                    <a:solidFill>
                      <a:srgbClr val="FFFFFF"/>
                    </a:solidFill>
                  </a:tcPr>
                </a:tc>
              </a:tr>
            </a:tbl>
          </a:graphicData>
        </a:graphic>
      </p:graphicFrame>
      <p:sp>
        <p:nvSpPr>
          <p:cNvPr id="6" name="Local referrals can supply trust. Direct texting a">
            <a:extLst xmlns:a="http://schemas.openxmlformats.org/drawingml/2006/main">
              <a:ext uri="{FF2B5EF4-FFF2-40B4-BE49-F238E27FC236}">
                <a16:creationId xmlns:a16="http://schemas.microsoft.com/office/drawing/2014/main" id="{303CDECB-3F40-41E5-AB35-AE7150DE640A}"/>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Local referrals can supply trust. Direct texting and field-service tools can coordinate work. YardMatch aims to connect discovery with the ongoing job.</a:t>
            </a:r>
          </a:p>
        </p:txBody>
      </p:sp>
    </p:spTree>
    <p:extLst>
      <p:ext uri="{BB962C8B-B14F-4D97-AF65-F5344CB8AC3E}">
        <p14:creationId xmlns:p14="http://schemas.microsoft.com/office/powerpoint/2010/main" val="55990410"/>
      </p:ext>
    </p:extLst>
  </p:cSld>
</p:sld>
</file>

<file path=ppt/slides/slide4.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8" name="One service experience across three roles">
            <a:extLst xmlns:a="http://schemas.openxmlformats.org/drawingml/2006/main">
              <a:ext uri="{FF2B5EF4-FFF2-40B4-BE49-F238E27FC236}">
                <a16:creationId xmlns:a16="http://schemas.microsoft.com/office/drawing/2014/main" id="{476A2DC2-907A-4A35-9CAC-6874D8FD515E}"/>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One service experience across three roles</a:t>
            </a:r>
          </a:p>
        </p:txBody>
      </p:sp>
      <p:sp>
        <p:nvSpPr>
          <p:cNvPr id="2" name="Customer, provider and crew share the job while ea">
            <a:extLst xmlns:a="http://schemas.openxmlformats.org/drawingml/2006/main">
              <a:ext uri="{FF2B5EF4-FFF2-40B4-BE49-F238E27FC236}">
                <a16:creationId xmlns:a16="http://schemas.microsoft.com/office/drawing/2014/main" id="{030C839B-E4AC-4B24-B346-3D8AF90503F5}"/>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Customer, provider and crew share the job while each sees the information needed for their role.</a:t>
            </a:r>
          </a:p>
        </p:txBody>
      </p:sp>
      <p:sp>
        <p:nvSpPr>
          <p:cNvPr id="3" name="YardMatch">
            <a:extLst xmlns:a="http://schemas.openxmlformats.org/drawingml/2006/main">
              <a:ext uri="{FF2B5EF4-FFF2-40B4-BE49-F238E27FC236}">
                <a16:creationId xmlns:a16="http://schemas.microsoft.com/office/drawing/2014/main" id="{332D2A28-7FDF-47F6-BCCE-DE6084BCAF7A}"/>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04">
            <a:extLst xmlns:a="http://schemas.openxmlformats.org/drawingml/2006/main">
              <a:ext uri="{FF2B5EF4-FFF2-40B4-BE49-F238E27FC236}">
                <a16:creationId xmlns:a16="http://schemas.microsoft.com/office/drawing/2014/main" id="{904F92E1-87C5-4462-8861-D79F5AE455D9}"/>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04</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16760cf933714c4c"/>
          <a:stretch xmlns:a="http://schemas.openxmlformats.org/drawingml/2006/main"/>
        </p:blipFill>
        <p:spPr>
          <a:xfrm xmlns:a="http://schemas.openxmlformats.org/drawingml/2006/main">
            <a:off x="5110163" y="2276475"/>
            <a:ext cx="5286375" cy="3524250"/>
          </a:xfrm>
          <a:prstGeom xmlns:a="http://schemas.openxmlformats.org/drawingml/2006/main" prst="rect">
            <a:avLst/>
          </a:prstGeom>
        </p:spPr>
      </p:pic>
      <p:sp>
        <p:nvSpPr>
          <p:cNvPr id="6" name="Customer&#10;Book and follow the visit&#10;&#10;Provider&#10;Sched">
            <a:extLst xmlns:a="http://schemas.openxmlformats.org/drawingml/2006/main">
              <a:ext uri="{FF2B5EF4-FFF2-40B4-BE49-F238E27FC236}">
                <a16:creationId xmlns:a16="http://schemas.microsoft.com/office/drawing/2014/main" id="{60B16D30-179E-4DB3-8989-017337DD2F60}"/>
              </a:ext>
            </a:extLst>
          </p:cNvPr>
          <p:cNvSpPr>
            <a:spLocks xmlns:a="http://schemas.openxmlformats.org/drawingml/2006/main" noGrp="1"/>
          </p:cNvSpPr>
          <p:nvPr/>
        </p:nvSpPr>
        <p:spPr>
          <a:xfrm xmlns:a="http://schemas.openxmlformats.org/drawingml/2006/main">
            <a:off x="628650" y="2428875"/>
            <a:ext cx="3190875" cy="3190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Customer</a:t>
            </a:r>
          </a:p>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Book and follow the visit</a:t>
            </a:r>
          </a:p>
          <a:p xmlns:a="http://schemas.openxmlformats.org/drawingml/2006/main">
            <a:r>
              <a:t/>
            </a:r>
          </a:p>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Provider</a:t>
            </a:r>
          </a:p>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Schedule and assign work</a:t>
            </a:r>
          </a:p>
          <a:p xmlns:a="http://schemas.openxmlformats.org/drawingml/2006/main">
            <a:r>
              <a:t/>
            </a:r>
          </a:p>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Crew</a:t>
            </a:r>
          </a:p>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Know the place and task</a:t>
            </a:r>
          </a:p>
        </p:txBody>
      </p:sp>
      <p:sp>
        <p:nvSpPr>
          <p:cNvPr id="7" name="Illustrative screens and sample data from the part">
            <a:extLst xmlns:a="http://schemas.openxmlformats.org/drawingml/2006/main">
              <a:ext uri="{FF2B5EF4-FFF2-40B4-BE49-F238E27FC236}">
                <a16:creationId xmlns:a16="http://schemas.microsoft.com/office/drawing/2014/main" id="{4B36F190-CE72-49DD-AF4F-5D1F9EC0A884}"/>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Illustrative screens and sample data from the partner pitch. They do not show live customers or app-store availability.</a:t>
            </a:r>
          </a:p>
        </p:txBody>
      </p:sp>
    </p:spTree>
    <p:extLst>
      <p:ext uri="{BB962C8B-B14F-4D97-AF65-F5344CB8AC3E}">
        <p14:creationId xmlns:p14="http://schemas.microsoft.com/office/powerpoint/2010/main" val="863109531"/>
      </p:ext>
    </p:extLst>
  </p:cSld>
</p:sld>
</file>

<file path=ppt/slides/slide5.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1" name="Local density benefits both sides">
            <a:extLst xmlns:a="http://schemas.openxmlformats.org/drawingml/2006/main">
              <a:ext uri="{FF2B5EF4-FFF2-40B4-BE49-F238E27FC236}">
                <a16:creationId xmlns:a16="http://schemas.microsoft.com/office/drawing/2014/main" id="{91F26190-5B45-42B1-82E6-BB5EB0CAFA42}"/>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Local density benefits both sides</a:t>
            </a:r>
          </a:p>
        </p:txBody>
      </p:sp>
      <p:sp>
        <p:nvSpPr>
          <p:cNvPr id="2" name="Nearby bookings can fit existing routes and make a">
            <a:extLst xmlns:a="http://schemas.openxmlformats.org/drawingml/2006/main">
              <a:ext uri="{FF2B5EF4-FFF2-40B4-BE49-F238E27FC236}">
                <a16:creationId xmlns:a16="http://schemas.microsoft.com/office/drawing/2014/main" id="{25687BD2-DE99-40B0-A2F6-21B3E147FB0C}"/>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Nearby bookings can fit existing routes and make a provider’s customer base more valuable.</a:t>
            </a:r>
          </a:p>
        </p:txBody>
      </p:sp>
      <p:sp>
        <p:nvSpPr>
          <p:cNvPr id="3" name="YardMatch">
            <a:extLst xmlns:a="http://schemas.openxmlformats.org/drawingml/2006/main">
              <a:ext uri="{FF2B5EF4-FFF2-40B4-BE49-F238E27FC236}">
                <a16:creationId xmlns:a16="http://schemas.microsoft.com/office/drawing/2014/main" id="{96486065-FB6B-4A79-B379-8EAF398723F8}"/>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05">
            <a:extLst xmlns:a="http://schemas.openxmlformats.org/drawingml/2006/main">
              <a:ext uri="{FF2B5EF4-FFF2-40B4-BE49-F238E27FC236}">
                <a16:creationId xmlns:a16="http://schemas.microsoft.com/office/drawing/2014/main" id="{51506DA9-3D20-4A75-A89A-D2ABA0E949C8}"/>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05</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bff8c68a9ec142ea"/>
          <a:stretch xmlns:a="http://schemas.openxmlformats.org/drawingml/2006/main"/>
        </p:blipFill>
        <p:spPr>
          <a:xfrm xmlns:a="http://schemas.openxmlformats.org/drawingml/2006/main">
            <a:off x="1458823" y="2381250"/>
            <a:ext cx="5635804" cy="3171825"/>
          </a:xfrm>
          <a:prstGeom xmlns:a="http://schemas.openxmlformats.org/drawingml/2006/main" prst="rect">
            <a:avLst/>
          </a:prstGeom>
        </p:spPr>
      </p:pic>
      <p:sp>
        <p:nvSpPr>
          <p:cNvPr id="6" name="Provider control">
            <a:extLst xmlns:a="http://schemas.openxmlformats.org/drawingml/2006/main">
              <a:ext uri="{FF2B5EF4-FFF2-40B4-BE49-F238E27FC236}">
                <a16:creationId xmlns:a16="http://schemas.microsoft.com/office/drawing/2014/main" id="{B87A4FDE-9EF2-4502-A6CC-DD0E60945FB3}"/>
              </a:ext>
            </a:extLst>
          </p:cNvPr>
          <p:cNvSpPr>
            <a:spLocks xmlns:a="http://schemas.openxmlformats.org/drawingml/2006/main" noGrp="1"/>
          </p:cNvSpPr>
          <p:nvPr/>
        </p:nvSpPr>
        <p:spPr>
          <a:xfrm xmlns:a="http://schemas.openxmlformats.org/drawingml/2006/main">
            <a:off x="8401050" y="2390775"/>
            <a:ext cx="314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205938"/>
                </a:solidFill>
                <a:latin typeface="Arial"/>
                <a:ea typeface="Arial"/>
                <a:cs typeface="Arial"/>
              </a:defRPr>
            </a:pPr>
            <a:r>
              <a:rPr sz="2175" b="1">
                <a:solidFill>
                  <a:srgbClr val="205938"/>
                </a:solidFill>
                <a:latin typeface="Arial"/>
                <a:ea typeface="Arial"/>
                <a:cs typeface="Arial"/>
              </a:rPr>
              <a:t>Provider control</a:t>
            </a:r>
          </a:p>
        </p:txBody>
      </p:sp>
      <p:sp>
        <p:nvSpPr>
          <p:cNvPr id="7" name="The business chooses its service area, capacity an">
            <a:extLst xmlns:a="http://schemas.openxmlformats.org/drawingml/2006/main">
              <a:ext uri="{FF2B5EF4-FFF2-40B4-BE49-F238E27FC236}">
                <a16:creationId xmlns:a16="http://schemas.microsoft.com/office/drawing/2014/main" id="{661D1AAD-B5D5-47D9-BD49-7378980B8272}"/>
              </a:ext>
            </a:extLst>
          </p:cNvPr>
          <p:cNvSpPr>
            <a:spLocks xmlns:a="http://schemas.openxmlformats.org/drawingml/2006/main" noGrp="1"/>
          </p:cNvSpPr>
          <p:nvPr/>
        </p:nvSpPr>
        <p:spPr>
          <a:xfrm xmlns:a="http://schemas.openxmlformats.org/drawingml/2006/main">
            <a:off x="8401050" y="2905125"/>
            <a:ext cx="3095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The business chooses its service area, capacity and crew assignments.</a:t>
            </a:r>
          </a:p>
        </p:txBody>
      </p:sp>
      <p:sp>
        <p:nvSpPr>
          <p:cNvPr id="8" name="Customer trust">
            <a:extLst xmlns:a="http://schemas.openxmlformats.org/drawingml/2006/main">
              <a:ext uri="{FF2B5EF4-FFF2-40B4-BE49-F238E27FC236}">
                <a16:creationId xmlns:a16="http://schemas.microsoft.com/office/drawing/2014/main" id="{E4CC9B00-7D85-4246-A1A3-3D1DECBDA3E6}"/>
              </a:ext>
            </a:extLst>
          </p:cNvPr>
          <p:cNvSpPr>
            <a:spLocks xmlns:a="http://schemas.openxmlformats.org/drawingml/2006/main" noGrp="1"/>
          </p:cNvSpPr>
          <p:nvPr/>
        </p:nvSpPr>
        <p:spPr>
          <a:xfrm xmlns:a="http://schemas.openxmlformats.org/drawingml/2006/main">
            <a:off x="8401050" y="4181475"/>
            <a:ext cx="314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205938"/>
                </a:solidFill>
                <a:latin typeface="Arial"/>
                <a:ea typeface="Arial"/>
                <a:cs typeface="Arial"/>
              </a:defRPr>
            </a:pPr>
            <a:r>
              <a:rPr sz="2175" b="1">
                <a:solidFill>
                  <a:srgbClr val="205938"/>
                </a:solidFill>
                <a:latin typeface="Arial"/>
                <a:ea typeface="Arial"/>
                <a:cs typeface="Arial"/>
              </a:rPr>
              <a:t>Customer trust</a:t>
            </a:r>
          </a:p>
        </p:txBody>
      </p:sp>
      <p:sp>
        <p:nvSpPr>
          <p:cNvPr id="9" name="Recommendations favor service fit and reliability.">
            <a:extLst xmlns:a="http://schemas.openxmlformats.org/drawingml/2006/main">
              <a:ext uri="{FF2B5EF4-FFF2-40B4-BE49-F238E27FC236}">
                <a16:creationId xmlns:a16="http://schemas.microsoft.com/office/drawing/2014/main" id="{4295CEAE-A2C2-4A26-80BA-978F028F09B9}"/>
              </a:ext>
            </a:extLst>
          </p:cNvPr>
          <p:cNvSpPr>
            <a:spLocks xmlns:a="http://schemas.openxmlformats.org/drawingml/2006/main" noGrp="1"/>
          </p:cNvSpPr>
          <p:nvPr/>
        </p:nvSpPr>
        <p:spPr>
          <a:xfrm xmlns:a="http://schemas.openxmlformats.org/drawingml/2006/main">
            <a:off x="8401050" y="4695825"/>
            <a:ext cx="309562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Recommendations favor service fit and reliability. Paid placement does not set the order.</a:t>
            </a:r>
          </a:p>
        </p:txBody>
      </p:sp>
      <p:sp>
        <p:nvSpPr>
          <p:cNvPr id="10" name="Route savings and retention effects remain to be m">
            <a:extLst xmlns:a="http://schemas.openxmlformats.org/drawingml/2006/main">
              <a:ext uri="{FF2B5EF4-FFF2-40B4-BE49-F238E27FC236}">
                <a16:creationId xmlns:a16="http://schemas.microsoft.com/office/drawing/2014/main" id="{4ADDA4E0-0E09-49F4-9C4B-20F8F414F893}"/>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Route savings and retention effects remain to be measured. Providers handle equipment, insurance, supervision and crew pay.</a:t>
            </a:r>
          </a:p>
        </p:txBody>
      </p:sp>
    </p:spTree>
    <p:extLst>
      <p:ext uri="{BB962C8B-B14F-4D97-AF65-F5344CB8AC3E}">
        <p14:creationId xmlns:p14="http://schemas.microsoft.com/office/powerpoint/2010/main" val="893903882"/>
      </p:ext>
    </p:extLst>
  </p:cSld>
</p:sld>
</file>

<file path=ppt/slides/slide6.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1" name="A finder fee plus $2.99 for every paid service">
            <a:extLst xmlns:a="http://schemas.openxmlformats.org/drawingml/2006/main">
              <a:ext uri="{FF2B5EF4-FFF2-40B4-BE49-F238E27FC236}">
                <a16:creationId xmlns:a16="http://schemas.microsoft.com/office/drawing/2014/main" id="{4405EBB5-422B-4D9A-B77A-542B653F4EF3}"/>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A finder fee plus $2.99 for every paid service</a:t>
            </a:r>
          </a:p>
        </p:txBody>
      </p:sp>
      <p:sp>
        <p:nvSpPr>
          <p:cNvPr id="2" name="Providers pay both fees. YardMatch covers modeled ">
            <a:extLst xmlns:a="http://schemas.openxmlformats.org/drawingml/2006/main">
              <a:ext uri="{FF2B5EF4-FFF2-40B4-BE49-F238E27FC236}">
                <a16:creationId xmlns:a16="http://schemas.microsoft.com/office/drawing/2014/main" id="{E074AF5B-AEC7-49C1-BDEC-40C2D3A6E524}"/>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Providers pay both fees. YardMatch covers modeled processing costs.</a:t>
            </a:r>
          </a:p>
        </p:txBody>
      </p:sp>
      <p:sp>
        <p:nvSpPr>
          <p:cNvPr id="3" name="YardMatch">
            <a:extLst xmlns:a="http://schemas.openxmlformats.org/drawingml/2006/main">
              <a:ext uri="{FF2B5EF4-FFF2-40B4-BE49-F238E27FC236}">
                <a16:creationId xmlns:a16="http://schemas.microsoft.com/office/drawing/2014/main" id="{295271B3-5E0E-42BC-AE90-34FA1283A691}"/>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06">
            <a:extLst xmlns:a="http://schemas.openxmlformats.org/drawingml/2006/main">
              <a:ext uri="{FF2B5EF4-FFF2-40B4-BE49-F238E27FC236}">
                <a16:creationId xmlns:a16="http://schemas.microsoft.com/office/drawing/2014/main" id="{A23EF94A-4C9A-4F7D-8222-2FEAE74106E4}"/>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06</a:t>
            </a:r>
          </a:p>
        </p:txBody>
      </p:sp>
      <p:sp>
        <p:nvSpPr>
          <p:cNvPr id="5" name="$45">
            <a:extLst xmlns:a="http://schemas.openxmlformats.org/drawingml/2006/main">
              <a:ext uri="{FF2B5EF4-FFF2-40B4-BE49-F238E27FC236}">
                <a16:creationId xmlns:a16="http://schemas.microsoft.com/office/drawing/2014/main" id="{40DC2B69-C52E-4025-A8AC-8B96CEA13B93}"/>
              </a:ext>
            </a:extLst>
          </p:cNvPr>
          <p:cNvSpPr>
            <a:spLocks xmlns:a="http://schemas.openxmlformats.org/drawingml/2006/main" noGrp="1"/>
          </p:cNvSpPr>
          <p:nvPr/>
        </p:nvSpPr>
        <p:spPr>
          <a:xfrm xmlns:a="http://schemas.openxmlformats.org/drawingml/2006/main">
            <a:off x="647700" y="2324100"/>
            <a:ext cx="4381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850" b="1">
                <a:solidFill>
                  <a:srgbClr val="205938"/>
                </a:solidFill>
                <a:latin typeface="Arial"/>
                <a:ea typeface="Arial"/>
                <a:cs typeface="Arial"/>
              </a:defRPr>
            </a:pPr>
            <a:r>
              <a:rPr sz="5850" b="1">
                <a:solidFill>
                  <a:srgbClr val="205938"/>
                </a:solidFill>
                <a:latin typeface="Arial"/>
                <a:ea typeface="Arial"/>
                <a:cs typeface="Arial"/>
              </a:rPr>
              <a:t>$45</a:t>
            </a:r>
          </a:p>
        </p:txBody>
      </p:sp>
      <p:sp>
        <p:nvSpPr>
          <p:cNvPr id="6" name="Once per new customer/provider pairing,&#10;after the ">
            <a:extLst xmlns:a="http://schemas.openxmlformats.org/drawingml/2006/main">
              <a:ext uri="{FF2B5EF4-FFF2-40B4-BE49-F238E27FC236}">
                <a16:creationId xmlns:a16="http://schemas.microsoft.com/office/drawing/2014/main" id="{79D45C76-4C16-43BA-B20A-AB9F72555738}"/>
              </a:ext>
            </a:extLst>
          </p:cNvPr>
          <p:cNvSpPr>
            <a:spLocks xmlns:a="http://schemas.openxmlformats.org/drawingml/2006/main" noGrp="1"/>
          </p:cNvSpPr>
          <p:nvPr/>
        </p:nvSpPr>
        <p:spPr>
          <a:xfrm xmlns:a="http://schemas.openxmlformats.org/drawingml/2006/main">
            <a:off x="647700" y="3295650"/>
            <a:ext cx="482917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Once per new customer/provider pairing,</a:t>
            </a:r>
          </a:p>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after the first paid completed job</a:t>
            </a:r>
          </a:p>
        </p:txBody>
      </p:sp>
      <p:sp>
        <p:nvSpPr>
          <p:cNvPr id="7" name="$2.99">
            <a:extLst xmlns:a="http://schemas.openxmlformats.org/drawingml/2006/main">
              <a:ext uri="{FF2B5EF4-FFF2-40B4-BE49-F238E27FC236}">
                <a16:creationId xmlns:a16="http://schemas.microsoft.com/office/drawing/2014/main" id="{ED374EC0-8B31-4E78-ADCD-9A7289A6BA96}"/>
              </a:ext>
            </a:extLst>
          </p:cNvPr>
          <p:cNvSpPr>
            <a:spLocks xmlns:a="http://schemas.openxmlformats.org/drawingml/2006/main" noGrp="1"/>
          </p:cNvSpPr>
          <p:nvPr/>
        </p:nvSpPr>
        <p:spPr>
          <a:xfrm xmlns:a="http://schemas.openxmlformats.org/drawingml/2006/main">
            <a:off x="6391275" y="2324100"/>
            <a:ext cx="44291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850" b="1">
                <a:solidFill>
                  <a:srgbClr val="205938"/>
                </a:solidFill>
                <a:latin typeface="Arial"/>
                <a:ea typeface="Arial"/>
                <a:cs typeface="Arial"/>
              </a:defRPr>
            </a:pPr>
            <a:r>
              <a:rPr sz="5850" b="1">
                <a:solidFill>
                  <a:srgbClr val="205938"/>
                </a:solidFill>
                <a:latin typeface="Arial"/>
                <a:ea typeface="Arial"/>
                <a:cs typeface="Arial"/>
              </a:rPr>
              <a:t>$2.99</a:t>
            </a:r>
          </a:p>
        </p:txBody>
      </p:sp>
      <p:sp>
        <p:nvSpPr>
          <p:cNvPr id="8" name="On every paid completed service,&#10;including repeat ">
            <a:extLst xmlns:a="http://schemas.openxmlformats.org/drawingml/2006/main">
              <a:ext uri="{FF2B5EF4-FFF2-40B4-BE49-F238E27FC236}">
                <a16:creationId xmlns:a16="http://schemas.microsoft.com/office/drawing/2014/main" id="{8079B7BB-FEEA-4092-ADDB-B75AFADDD2DE}"/>
              </a:ext>
            </a:extLst>
          </p:cNvPr>
          <p:cNvSpPr>
            <a:spLocks xmlns:a="http://schemas.openxmlformats.org/drawingml/2006/main" noGrp="1"/>
          </p:cNvSpPr>
          <p:nvPr/>
        </p:nvSpPr>
        <p:spPr>
          <a:xfrm xmlns:a="http://schemas.openxmlformats.org/drawingml/2006/main">
            <a:off x="6391275" y="3295650"/>
            <a:ext cx="482917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On every paid completed service,</a:t>
            </a:r>
          </a:p>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including repeat visits</a:t>
            </a:r>
          </a:p>
        </p:txBody>
      </p:sp>
      <p:graphicFrame>
        <p:nvGraphicFramePr>
          <p:cNvPr id="19" name=""/>
          <p:cNvGraphicFramePr/>
          <p:nvPr/>
        </p:nvGraphicFramePr>
        <p:xfrm>
          <a:off xmlns:a="http://schemas.openxmlformats.org/drawingml/2006/main" x="609600" y="4533900"/>
          <a:ext xmlns:a="http://schemas.openxmlformats.org/drawingml/2006/main" cx="10972800" cy="1057275"/>
        </p:xfrm>
        <a:graphic xmlns:a="http://schemas.openxmlformats.org/drawingml/2006/main">
          <a:graphicData uri="http://schemas.openxmlformats.org/drawingml/2006/table">
            <a:tbl>
              <a:tblPr/>
              <a:tblGrid>
                <a:gridCol w="6191250"/>
                <a:gridCol w="2390775"/>
                <a:gridCol w="2390775"/>
              </a:tblGrid>
              <a:tr h="528638">
                <a:tc>
                  <a:txBody>
                    <a:bodyPr lIns="114300" tIns="76200" rIns="114300" bIns="76200">
                      <a:noAutofit/>
                    </a:bodyPr>
                    <a:lstStyle/>
                    <a:p>
                      <a:pPr algn="l"/>
                      <a:r>
                        <a:rPr sz="1725" b="1">
                          <a:solidFill>
                            <a:srgbClr val="FFFFFF"/>
                          </a:solidFill>
                          <a:latin typeface="Arial"/>
                          <a:ea typeface="Arial"/>
                          <a:cs typeface="Arial"/>
                        </a:rPr>
                        <a:t>A $60 service</a:t>
                      </a:r>
                    </a:p>
                  </a:txBody>
                  <a:tcPr marL="91440" marR="91440" marT="45720" marB="45720" anchor="ctr">
                    <a:solidFill>
                      <a:srgbClr val="205938"/>
                    </a:solidFill>
                  </a:tcPr>
                </a:tc>
                <a:tc>
                  <a:txBody>
                    <a:bodyPr lIns="114300" tIns="76200" rIns="114300" bIns="76200">
                      <a:noAutofit/>
                    </a:bodyPr>
                    <a:lstStyle/>
                    <a:p>
                      <a:pPr algn="r"/>
                      <a:r>
                        <a:rPr sz="1725" b="1">
                          <a:solidFill>
                            <a:srgbClr val="FFFFFF"/>
                          </a:solidFill>
                          <a:latin typeface="Arial"/>
                          <a:ea typeface="Arial"/>
                          <a:cs typeface="Arial"/>
                        </a:rPr>
                        <a:t>First paid visit</a:t>
                      </a:r>
                    </a:p>
                  </a:txBody>
                  <a:tcPr marL="91440" marR="91440" marT="45720" marB="45720" anchor="ctr">
                    <a:solidFill>
                      <a:srgbClr val="205938"/>
                    </a:solidFill>
                  </a:tcPr>
                </a:tc>
                <a:tc>
                  <a:txBody>
                    <a:bodyPr lIns="114300" tIns="76200" rIns="114300" bIns="76200">
                      <a:noAutofit/>
                    </a:bodyPr>
                    <a:lstStyle/>
                    <a:p>
                      <a:pPr algn="r"/>
                      <a:r>
                        <a:rPr sz="1725" b="1">
                          <a:solidFill>
                            <a:srgbClr val="FFFFFF"/>
                          </a:solidFill>
                          <a:latin typeface="Arial"/>
                          <a:ea typeface="Arial"/>
                          <a:cs typeface="Arial"/>
                        </a:rPr>
                        <a:t>Later paid visit</a:t>
                      </a:r>
                    </a:p>
                  </a:txBody>
                  <a:tcPr marL="91440" marR="91440" marT="45720" marB="45720" anchor="ctr">
                    <a:solidFill>
                      <a:srgbClr val="205938"/>
                    </a:solidFill>
                  </a:tcPr>
                </a:tc>
              </a:tr>
              <a:tr h="528638">
                <a:tc>
                  <a:txBody>
                    <a:bodyPr lIns="114300" tIns="76200" rIns="114300" bIns="76200">
                      <a:noAutofit/>
                    </a:bodyPr>
                    <a:lstStyle/>
                    <a:p>
                      <a:pPr algn="l"/>
                      <a:r>
                        <a:rPr sz="1725" b="1">
                          <a:solidFill>
                            <a:srgbClr val="14281D"/>
                          </a:solidFill>
                          <a:latin typeface="Arial"/>
                          <a:ea typeface="Arial"/>
                          <a:cs typeface="Arial"/>
                        </a:rPr>
                        <a:t>Provider proceeds before business costs</a:t>
                      </a:r>
                    </a:p>
                  </a:txBody>
                  <a:tcPr marL="91440" marR="91440" marT="45720" marB="45720" anchor="ctr">
                    <a:solidFill>
                      <a:srgbClr val="E8EDDF"/>
                    </a:solidFill>
                  </a:tcPr>
                </a:tc>
                <a:tc>
                  <a:txBody>
                    <a:bodyPr lIns="114300" tIns="76200" rIns="114300" bIns="76200">
                      <a:noAutofit/>
                    </a:bodyPr>
                    <a:lstStyle/>
                    <a:p>
                      <a:pPr algn="r"/>
                      <a:r>
                        <a:rPr sz="1725" b="1">
                          <a:solidFill>
                            <a:srgbClr val="14281D"/>
                          </a:solidFill>
                          <a:latin typeface="Arial"/>
                          <a:ea typeface="Arial"/>
                          <a:cs typeface="Arial"/>
                        </a:rPr>
                        <a:t>$12.01</a:t>
                      </a:r>
                    </a:p>
                  </a:txBody>
                  <a:tcPr marL="91440" marR="91440" marT="45720" marB="45720" anchor="ctr">
                    <a:solidFill>
                      <a:srgbClr val="E8EDDF"/>
                    </a:solidFill>
                  </a:tcPr>
                </a:tc>
                <a:tc>
                  <a:txBody>
                    <a:bodyPr lIns="114300" tIns="76200" rIns="114300" bIns="76200">
                      <a:noAutofit/>
                    </a:bodyPr>
                    <a:lstStyle/>
                    <a:p>
                      <a:pPr algn="r"/>
                      <a:r>
                        <a:rPr sz="1725" b="1">
                          <a:solidFill>
                            <a:srgbClr val="14281D"/>
                          </a:solidFill>
                          <a:latin typeface="Arial"/>
                          <a:ea typeface="Arial"/>
                          <a:cs typeface="Arial"/>
                        </a:rPr>
                        <a:t>$57.01</a:t>
                      </a:r>
                    </a:p>
                  </a:txBody>
                  <a:tcPr marL="91440" marR="91440" marT="45720" marB="45720" anchor="ctr">
                    <a:solidFill>
                      <a:srgbClr val="E8EDDF"/>
                    </a:solidFill>
                  </a:tcPr>
                </a:tc>
              </a:tr>
            </a:tbl>
          </a:graphicData>
        </a:graphic>
      </p:graphicFrame>
      <p:sp>
        <p:nvSpPr>
          <p:cNvPr id="10" name="Welcome offer waives the first $45 finder fee for ">
            <a:extLst xmlns:a="http://schemas.openxmlformats.org/drawingml/2006/main">
              <a:ext uri="{FF2B5EF4-FFF2-40B4-BE49-F238E27FC236}">
                <a16:creationId xmlns:a16="http://schemas.microsoft.com/office/drawing/2014/main" id="{389AD178-F563-4C3D-809C-E0504B34E7F5}"/>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Welcome offer waives the first $45 finder fee for a new provider. It does not waive the $2.99 service fee. No customer surcharge modeled.</a:t>
            </a:r>
          </a:p>
        </p:txBody>
      </p:sp>
    </p:spTree>
    <p:extLst>
      <p:ext uri="{BB962C8B-B14F-4D97-AF65-F5344CB8AC3E}">
        <p14:creationId xmlns:p14="http://schemas.microsoft.com/office/powerpoint/2010/main" val="1808631771"/>
      </p:ext>
    </p:extLst>
  </p:cSld>
</p:sld>
</file>

<file path=ppt/slides/slide7.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Zocdoc monetizes a different relationship pattern">
            <a:extLst xmlns:a="http://schemas.openxmlformats.org/drawingml/2006/main">
              <a:ext uri="{FF2B5EF4-FFF2-40B4-BE49-F238E27FC236}">
                <a16:creationId xmlns:a16="http://schemas.microsoft.com/office/drawing/2014/main" id="{A162BA39-1651-431F-8DF1-568F1B1BC587}"/>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Zocdoc monetizes a different relationship pattern</a:t>
            </a:r>
          </a:p>
        </p:txBody>
      </p:sp>
      <p:sp>
        <p:nvSpPr>
          <p:cNvPr id="2" name="A new service category does not automatically crea">
            <a:extLst xmlns:a="http://schemas.openxmlformats.org/drawingml/2006/main">
              <a:ext uri="{FF2B5EF4-FFF2-40B4-BE49-F238E27FC236}">
                <a16:creationId xmlns:a16="http://schemas.microsoft.com/office/drawing/2014/main" id="{6A5317A6-CC9F-4432-988F-280090012E17}"/>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A new service category does not automatically create a new YardMatch finder fee.</a:t>
            </a:r>
          </a:p>
        </p:txBody>
      </p:sp>
      <p:sp>
        <p:nvSpPr>
          <p:cNvPr id="3" name="YardMatch">
            <a:extLst xmlns:a="http://schemas.openxmlformats.org/drawingml/2006/main">
              <a:ext uri="{FF2B5EF4-FFF2-40B4-BE49-F238E27FC236}">
                <a16:creationId xmlns:a16="http://schemas.microsoft.com/office/drawing/2014/main" id="{BB2231CB-9D38-4745-B762-117BA1F9B9BE}"/>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07">
            <a:extLst xmlns:a="http://schemas.openxmlformats.org/drawingml/2006/main">
              <a:ext uri="{FF2B5EF4-FFF2-40B4-BE49-F238E27FC236}">
                <a16:creationId xmlns:a16="http://schemas.microsoft.com/office/drawing/2014/main" id="{F2A54E49-DC0F-40AC-9B94-469772CD797D}"/>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07</a:t>
            </a:r>
          </a:p>
        </p:txBody>
      </p:sp>
      <p:graphicFrame>
        <p:nvGraphicFramePr>
          <p:cNvPr id="11" name=""/>
          <p:cNvGraphicFramePr/>
          <p:nvPr/>
        </p:nvGraphicFramePr>
        <p:xfrm>
          <a:off xmlns:a="http://schemas.openxmlformats.org/drawingml/2006/main" x="609600" y="2343150"/>
          <a:ext xmlns:a="http://schemas.openxmlformats.org/drawingml/2006/main" cx="10972800" cy="3190875"/>
        </p:xfrm>
        <a:graphic xmlns:a="http://schemas.openxmlformats.org/drawingml/2006/main">
          <a:graphicData uri="http://schemas.openxmlformats.org/drawingml/2006/table">
            <a:tbl>
              <a:tblPr/>
              <a:tblGrid>
                <a:gridCol w="2238375"/>
                <a:gridCol w="4114800"/>
                <a:gridCol w="4619625"/>
              </a:tblGrid>
              <a:tr h="638175">
                <a:tc>
                  <a:txBody>
                    <a:bodyPr lIns="114300" tIns="76200" rIns="114300" bIns="76200">
                      <a:noAutofit/>
                    </a:bodyPr>
                    <a:lstStyle/>
                    <a:p>
                      <a:r>
                        <a:rPr sz="1725" b="1">
                          <a:solidFill>
                            <a:srgbClr val="FFFFFF"/>
                          </a:solidFill>
                          <a:latin typeface="Arial"/>
                          <a:ea typeface="Arial"/>
                          <a:cs typeface="Arial"/>
                        </a:rPr>
                        <a:t/>
                      </a:r>
                    </a:p>
                  </a:txBody>
                  <a:tcPr marL="91440" marR="91440" marT="45720" marB="45720" anchor="ctr">
                    <a:solidFill>
                      <a:srgbClr val="205938"/>
                    </a:solidFill>
                  </a:tcPr>
                </a:tc>
                <a:tc>
                  <a:txBody>
                    <a:bodyPr lIns="114300" tIns="76200" rIns="114300" bIns="76200">
                      <a:noAutofit/>
                    </a:bodyPr>
                    <a:lstStyle/>
                    <a:p>
                      <a:pPr algn="r"/>
                      <a:r>
                        <a:rPr sz="1725" b="1">
                          <a:solidFill>
                            <a:srgbClr val="FFFFFF"/>
                          </a:solidFill>
                          <a:latin typeface="Arial"/>
                          <a:ea typeface="Arial"/>
                          <a:cs typeface="Arial"/>
                        </a:rPr>
                        <a:t>Zocdoc</a:t>
                      </a:r>
                    </a:p>
                  </a:txBody>
                  <a:tcPr marL="91440" marR="91440" marT="45720" marB="45720" anchor="ctr">
                    <a:solidFill>
                      <a:srgbClr val="205938"/>
                    </a:solidFill>
                  </a:tcPr>
                </a:tc>
                <a:tc>
                  <a:txBody>
                    <a:bodyPr lIns="114300" tIns="76200" rIns="114300" bIns="76200">
                      <a:noAutofit/>
                    </a:bodyPr>
                    <a:lstStyle/>
                    <a:p>
                      <a:pPr algn="r"/>
                      <a:r>
                        <a:rPr sz="1725" b="1">
                          <a:solidFill>
                            <a:srgbClr val="FFFFFF"/>
                          </a:solidFill>
                          <a:latin typeface="Arial"/>
                          <a:ea typeface="Arial"/>
                          <a:cs typeface="Arial"/>
                        </a:rPr>
                        <a:t>YardMatch</a:t>
                      </a:r>
                    </a:p>
                  </a:txBody>
                  <a:tcPr marL="91440" marR="91440" marT="45720" marB="45720" anchor="ctr">
                    <a:solidFill>
                      <a:srgbClr val="205938"/>
                    </a:solidFill>
                  </a:tcPr>
                </a:tc>
              </a:tr>
              <a:tr h="638175">
                <a:tc>
                  <a:txBody>
                    <a:bodyPr lIns="114300" tIns="76200" rIns="114300" bIns="76200">
                      <a:noAutofit/>
                    </a:bodyPr>
                    <a:lstStyle/>
                    <a:p>
                      <a:pPr algn="l"/>
                      <a:r>
                        <a:rPr sz="1725" b="0">
                          <a:solidFill>
                            <a:srgbClr val="14281D"/>
                          </a:solidFill>
                          <a:latin typeface="Arial"/>
                          <a:ea typeface="Arial"/>
                          <a:cs typeface="Arial"/>
                        </a:rPr>
                        <a:t>Fee event</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New patient/provider discovery booking</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First paid job in a new customer/provider pair</a:t>
                      </a:r>
                    </a:p>
                  </a:txBody>
                  <a:tcPr marL="91440" marR="91440" marT="45720" marB="45720" anchor="ctr">
                    <a:solidFill>
                      <a:srgbClr val="FFFFFF"/>
                    </a:solidFill>
                  </a:tcPr>
                </a:tc>
              </a:tr>
              <a:tr h="638175">
                <a:tc>
                  <a:txBody>
                    <a:bodyPr lIns="114300" tIns="76200" rIns="114300" bIns="76200">
                      <a:noAutofit/>
                    </a:bodyPr>
                    <a:lstStyle/>
                    <a:p>
                      <a:pPr algn="l"/>
                      <a:r>
                        <a:rPr sz="1725" b="0">
                          <a:solidFill>
                            <a:srgbClr val="14281D"/>
                          </a:solidFill>
                          <a:latin typeface="Arial"/>
                          <a:ea typeface="Arial"/>
                          <a:cs typeface="Arial"/>
                        </a:rPr>
                        <a:t>Return to the same provider</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No new discovery fee</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No new finder fee. $2.99 service fee applies.</a:t>
                      </a:r>
                    </a:p>
                  </a:txBody>
                  <a:tcPr marL="91440" marR="91440" marT="45720" marB="45720" anchor="ctr">
                    <a:solidFill>
                      <a:srgbClr val="F7F5EF"/>
                    </a:solidFill>
                  </a:tcPr>
                </a:tc>
              </a:tr>
              <a:tr h="638175">
                <a:tc>
                  <a:txBody>
                    <a:bodyPr lIns="114300" tIns="76200" rIns="114300" bIns="76200">
                      <a:noAutofit/>
                    </a:bodyPr>
                    <a:lstStyle/>
                    <a:p>
                      <a:pPr algn="l"/>
                      <a:r>
                        <a:rPr sz="1725" b="0">
                          <a:solidFill>
                            <a:srgbClr val="14281D"/>
                          </a:solidFill>
                          <a:latin typeface="Arial"/>
                          <a:ea typeface="Arial"/>
                          <a:cs typeface="Arial"/>
                        </a:rPr>
                        <a:t>New category</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May introduce a different doctor</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May use the same landscaping company</a:t>
                      </a:r>
                    </a:p>
                  </a:txBody>
                  <a:tcPr marL="91440" marR="91440" marT="45720" marB="45720" anchor="ctr">
                    <a:solidFill>
                      <a:srgbClr val="FFFFFF"/>
                    </a:solidFill>
                  </a:tcPr>
                </a:tc>
              </a:tr>
              <a:tr h="638175">
                <a:tc>
                  <a:txBody>
                    <a:bodyPr lIns="114300" tIns="76200" rIns="114300" bIns="76200">
                      <a:noAutofit/>
                    </a:bodyPr>
                    <a:lstStyle/>
                    <a:p>
                      <a:pPr algn="l"/>
                      <a:r>
                        <a:rPr sz="1725" b="0">
                          <a:solidFill>
                            <a:srgbClr val="14281D"/>
                          </a:solidFill>
                          <a:latin typeface="Arial"/>
                          <a:ea typeface="Arial"/>
                          <a:cs typeface="Arial"/>
                        </a:rPr>
                        <a:t>Core revenue opportunity</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More qualifying new provider connections</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More profitable paid visits over time</a:t>
                      </a:r>
                    </a:p>
                  </a:txBody>
                  <a:tcPr marL="91440" marR="91440" marT="45720" marB="45720" anchor="ctr">
                    <a:solidFill>
                      <a:srgbClr val="F7F5EF"/>
                    </a:solidFill>
                  </a:tcPr>
                </a:tc>
              </a:tr>
            </a:tbl>
          </a:graphicData>
        </a:graphic>
      </p:graphicFrame>
      <p:sp>
        <p:nvSpPr>
          <p:cNvPr id="6" name="Zocdoc also exempts reputation and certain partner">
            <a:extLst xmlns:a="http://schemas.openxmlformats.org/drawingml/2006/main">
              <a:ext uri="{FF2B5EF4-FFF2-40B4-BE49-F238E27FC236}">
                <a16:creationId xmlns:a16="http://schemas.microsoft.com/office/drawing/2014/main" id="{B087BC37-EDC9-4561-9B4D-0AD2EFC09ADC}"/>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Zocdoc also exempts reputation and certain partner bookings. Fewer providers per YardMatch household is a hypothesis. Cross-category finder-fee revenue is zero in this forecast.</a:t>
            </a:r>
          </a:p>
        </p:txBody>
      </p:sp>
    </p:spTree>
    <p:extLst>
      <p:ext uri="{BB962C8B-B14F-4D97-AF65-F5344CB8AC3E}">
        <p14:creationId xmlns:p14="http://schemas.microsoft.com/office/powerpoint/2010/main" val="338975637"/>
      </p:ext>
    </p:extLst>
  </p:cSld>
</p:sld>
</file>

<file path=ppt/slides/slide8.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0" name="At $60, repeat card payments leave about $0.20">
            <a:extLst xmlns:a="http://schemas.openxmlformats.org/drawingml/2006/main">
              <a:ext uri="{FF2B5EF4-FFF2-40B4-BE49-F238E27FC236}">
                <a16:creationId xmlns:a16="http://schemas.microsoft.com/office/drawing/2014/main" id="{95583F1B-5808-440F-94C8-A83E311E8194}"/>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At $60, repeat card payments leave about $0.20</a:t>
            </a:r>
          </a:p>
        </p:txBody>
      </p:sp>
      <p:sp>
        <p:nvSpPr>
          <p:cNvPr id="2" name="Illustrative contribution after payment costs and ">
            <a:extLst xmlns:a="http://schemas.openxmlformats.org/drawingml/2006/main">
              <a:ext uri="{FF2B5EF4-FFF2-40B4-BE49-F238E27FC236}">
                <a16:creationId xmlns:a16="http://schemas.microsoft.com/office/drawing/2014/main" id="{168A4D1F-DD94-499E-81F7-2B920D868222}"/>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Illustrative contribution after payment costs and variable operating costs, before acquisition and fixed overhead.</a:t>
            </a:r>
          </a:p>
        </p:txBody>
      </p:sp>
      <p:sp>
        <p:nvSpPr>
          <p:cNvPr id="3" name="YardMatch">
            <a:extLst xmlns:a="http://schemas.openxmlformats.org/drawingml/2006/main">
              <a:ext uri="{FF2B5EF4-FFF2-40B4-BE49-F238E27FC236}">
                <a16:creationId xmlns:a16="http://schemas.microsoft.com/office/drawing/2014/main" id="{71ADFE57-812E-48BD-9ABF-DA11ED98BB3F}"/>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08">
            <a:extLst xmlns:a="http://schemas.openxmlformats.org/drawingml/2006/main">
              <a:ext uri="{FF2B5EF4-FFF2-40B4-BE49-F238E27FC236}">
                <a16:creationId xmlns:a16="http://schemas.microsoft.com/office/drawing/2014/main" id="{CD9D3C69-D4F6-487C-A07A-00D7FE523D5B}"/>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08</a:t>
            </a:r>
          </a:p>
        </p:txBody>
      </p:sp>
      <p:graphicFrame>
        <p:nvGraphicFramePr>
          <p:cNvPr id="14" name=""/>
          <p:cNvGraphicFramePr/>
          <p:nvPr/>
        </p:nvGraphicFramePr>
        <p:xfrm>
          <a:off xmlns:a="http://schemas.openxmlformats.org/drawingml/2006/main" x="609600" y="2409825"/>
          <a:ext xmlns:a="http://schemas.openxmlformats.org/drawingml/2006/main" cx="7810500" cy="2781300"/>
        </p:xfrm>
        <a:graphic xmlns:a="http://schemas.openxmlformats.org/drawingml/2006/main">
          <a:graphicData uri="http://schemas.openxmlformats.org/drawingml/2006/table">
            <a:tbl>
              <a:tblPr/>
              <a:tblGrid>
                <a:gridCol w="4953000"/>
                <a:gridCol w="1428750"/>
                <a:gridCol w="1428750"/>
              </a:tblGrid>
              <a:tr h="556260">
                <a:tc>
                  <a:txBody>
                    <a:bodyPr lIns="114300" tIns="76200" rIns="114300" bIns="76200">
                      <a:noAutofit/>
                    </a:bodyPr>
                    <a:lstStyle/>
                    <a:p>
                      <a:pPr algn="l"/>
                      <a:r>
                        <a:rPr sz="1725" b="1">
                          <a:solidFill>
                            <a:srgbClr val="FFFFFF"/>
                          </a:solidFill>
                          <a:latin typeface="Arial"/>
                          <a:ea typeface="Arial"/>
                          <a:cs typeface="Arial"/>
                        </a:rPr>
                        <a:t>Per paid repeat service</a:t>
                      </a:r>
                    </a:p>
                  </a:txBody>
                  <a:tcPr marL="91440" marR="91440" marT="45720" marB="45720" anchor="ctr">
                    <a:solidFill>
                      <a:srgbClr val="205938"/>
                    </a:solidFill>
                  </a:tcPr>
                </a:tc>
                <a:tc>
                  <a:txBody>
                    <a:bodyPr lIns="114300" tIns="76200" rIns="114300" bIns="76200">
                      <a:noAutofit/>
                    </a:bodyPr>
                    <a:lstStyle/>
                    <a:p>
                      <a:pPr algn="r"/>
                      <a:r>
                        <a:rPr sz="1725" b="1">
                          <a:solidFill>
                            <a:srgbClr val="FFFFFF"/>
                          </a:solidFill>
                          <a:latin typeface="Arial"/>
                          <a:ea typeface="Arial"/>
                          <a:cs typeface="Arial"/>
                        </a:rPr>
                        <a:t>Card</a:t>
                      </a:r>
                    </a:p>
                  </a:txBody>
                  <a:tcPr marL="91440" marR="91440" marT="45720" marB="45720" anchor="ctr">
                    <a:solidFill>
                      <a:srgbClr val="205938"/>
                    </a:solidFill>
                  </a:tcPr>
                </a:tc>
                <a:tc>
                  <a:txBody>
                    <a:bodyPr lIns="114300" tIns="76200" rIns="114300" bIns="76200">
                      <a:noAutofit/>
                    </a:bodyPr>
                    <a:lstStyle/>
                    <a:p>
                      <a:pPr algn="r"/>
                      <a:r>
                        <a:rPr sz="1725" b="1">
                          <a:solidFill>
                            <a:srgbClr val="FFFFFF"/>
                          </a:solidFill>
                          <a:latin typeface="Arial"/>
                          <a:ea typeface="Arial"/>
                          <a:cs typeface="Arial"/>
                        </a:rPr>
                        <a:t>Bank debit (ACH)</a:t>
                      </a:r>
                    </a:p>
                  </a:txBody>
                  <a:tcPr marL="91440" marR="91440" marT="45720" marB="45720" anchor="ctr">
                    <a:solidFill>
                      <a:srgbClr val="205938"/>
                    </a:solidFill>
                  </a:tcPr>
                </a:tc>
              </a:tr>
              <a:tr h="556260">
                <a:tc>
                  <a:txBody>
                    <a:bodyPr lIns="114300" tIns="76200" rIns="114300" bIns="76200">
                      <a:noAutofit/>
                    </a:bodyPr>
                    <a:lstStyle/>
                    <a:p>
                      <a:pPr algn="l"/>
                      <a:r>
                        <a:rPr sz="1725" b="0">
                          <a:solidFill>
                            <a:srgbClr val="14281D"/>
                          </a:solidFill>
                          <a:latin typeface="Arial"/>
                          <a:ea typeface="Arial"/>
                          <a:cs typeface="Arial"/>
                        </a:rPr>
                        <a:t>Provider service fee</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$2.99</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$2.99</a:t>
                      </a:r>
                    </a:p>
                  </a:txBody>
                  <a:tcPr marL="91440" marR="91440" marT="45720" marB="45720" anchor="ctr">
                    <a:solidFill>
                      <a:srgbClr val="FFFFFF"/>
                    </a:solidFill>
                  </a:tcPr>
                </a:tc>
              </a:tr>
              <a:tr h="556260">
                <a:tc>
                  <a:txBody>
                    <a:bodyPr lIns="114300" tIns="76200" rIns="114300" bIns="76200">
                      <a:noAutofit/>
                    </a:bodyPr>
                    <a:lstStyle/>
                    <a:p>
                      <a:pPr algn="l"/>
                      <a:r>
                        <a:rPr sz="1725" b="0">
                          <a:solidFill>
                            <a:srgbClr val="14281D"/>
                          </a:solidFill>
                          <a:latin typeface="Arial"/>
                          <a:ea typeface="Arial"/>
                          <a:cs typeface="Arial"/>
                        </a:rPr>
                        <a:t>Payment processing</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($2.04)</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($0.48)</a:t>
                      </a:r>
                    </a:p>
                  </a:txBody>
                  <a:tcPr marL="91440" marR="91440" marT="45720" marB="45720" anchor="ctr">
                    <a:solidFill>
                      <a:srgbClr val="F7F5EF"/>
                    </a:solidFill>
                  </a:tcPr>
                </a:tc>
              </a:tr>
              <a:tr h="556260">
                <a:tc>
                  <a:txBody>
                    <a:bodyPr lIns="114300" tIns="76200" rIns="114300" bIns="76200">
                      <a:noAutofit/>
                    </a:bodyPr>
                    <a:lstStyle/>
                    <a:p>
                      <a:pPr algn="l"/>
                      <a:r>
                        <a:rPr sz="1725" b="0">
                          <a:solidFill>
                            <a:srgbClr val="14281D"/>
                          </a:solidFill>
                          <a:latin typeface="Arial"/>
                          <a:ea typeface="Arial"/>
                          <a:cs typeface="Arial"/>
                        </a:rPr>
                        <a:t>Payouts, account costs and variable operations</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($0.75)</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($0.75)</a:t>
                      </a:r>
                    </a:p>
                  </a:txBody>
                  <a:tcPr marL="91440" marR="91440" marT="45720" marB="45720" anchor="ctr">
                    <a:solidFill>
                      <a:srgbClr val="FFFFFF"/>
                    </a:solidFill>
                  </a:tcPr>
                </a:tc>
              </a:tr>
              <a:tr h="556260">
                <a:tc>
                  <a:txBody>
                    <a:bodyPr lIns="114300" tIns="76200" rIns="114300" bIns="76200">
                      <a:noAutofit/>
                    </a:bodyPr>
                    <a:lstStyle/>
                    <a:p>
                      <a:pPr algn="l"/>
                      <a:r>
                        <a:rPr sz="1725" b="1">
                          <a:solidFill>
                            <a:srgbClr val="14281D"/>
                          </a:solidFill>
                          <a:latin typeface="Arial"/>
                          <a:ea typeface="Arial"/>
                          <a:cs typeface="Arial"/>
                        </a:rPr>
                        <a:t>Contribution before fixed overhead</a:t>
                      </a:r>
                    </a:p>
                  </a:txBody>
                  <a:tcPr marL="91440" marR="91440" marT="45720" marB="45720" anchor="ctr">
                    <a:solidFill>
                      <a:srgbClr val="E8EDDF"/>
                    </a:solidFill>
                  </a:tcPr>
                </a:tc>
                <a:tc>
                  <a:txBody>
                    <a:bodyPr lIns="114300" tIns="76200" rIns="114300" bIns="76200">
                      <a:noAutofit/>
                    </a:bodyPr>
                    <a:lstStyle/>
                    <a:p>
                      <a:pPr algn="r"/>
                      <a:r>
                        <a:rPr sz="1725" b="1">
                          <a:solidFill>
                            <a:srgbClr val="14281D"/>
                          </a:solidFill>
                          <a:latin typeface="Arial"/>
                          <a:ea typeface="Arial"/>
                          <a:cs typeface="Arial"/>
                        </a:rPr>
                        <a:t>$0.20</a:t>
                      </a:r>
                    </a:p>
                  </a:txBody>
                  <a:tcPr marL="91440" marR="91440" marT="45720" marB="45720" anchor="ctr">
                    <a:solidFill>
                      <a:srgbClr val="E8EDDF"/>
                    </a:solidFill>
                  </a:tcPr>
                </a:tc>
                <a:tc>
                  <a:txBody>
                    <a:bodyPr lIns="114300" tIns="76200" rIns="114300" bIns="76200">
                      <a:noAutofit/>
                    </a:bodyPr>
                    <a:lstStyle/>
                    <a:p>
                      <a:pPr algn="r"/>
                      <a:r>
                        <a:rPr sz="1725" b="1">
                          <a:solidFill>
                            <a:srgbClr val="14281D"/>
                          </a:solidFill>
                          <a:latin typeface="Arial"/>
                          <a:ea typeface="Arial"/>
                          <a:cs typeface="Arial"/>
                        </a:rPr>
                        <a:t>$1.76</a:t>
                      </a:r>
                    </a:p>
                  </a:txBody>
                  <a:tcPr marL="91440" marR="91440" marT="45720" marB="45720" anchor="ctr">
                    <a:solidFill>
                      <a:srgbClr val="E8EDDF"/>
                    </a:solidFill>
                  </a:tcPr>
                </a:tc>
              </a:tr>
            </a:tbl>
          </a:graphicData>
        </a:graphic>
      </p:graphicFrame>
      <p:sp>
        <p:nvSpPr>
          <p:cNvPr id="6" name="About $66">
            <a:extLst xmlns:a="http://schemas.openxmlformats.org/drawingml/2006/main">
              <a:ext uri="{FF2B5EF4-FFF2-40B4-BE49-F238E27FC236}">
                <a16:creationId xmlns:a16="http://schemas.microsoft.com/office/drawing/2014/main" id="{5D30799E-4E46-498D-B770-281A6FCB5BAD}"/>
              </a:ext>
            </a:extLst>
          </p:cNvPr>
          <p:cNvSpPr>
            <a:spLocks xmlns:a="http://schemas.openxmlformats.org/drawingml/2006/main" noGrp="1"/>
          </p:cNvSpPr>
          <p:nvPr/>
        </p:nvSpPr>
        <p:spPr>
          <a:xfrm xmlns:a="http://schemas.openxmlformats.org/drawingml/2006/main">
            <a:off x="8810625" y="2543175"/>
            <a:ext cx="27813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205938"/>
                </a:solidFill>
                <a:latin typeface="Arial"/>
                <a:ea typeface="Arial"/>
                <a:cs typeface="Arial"/>
              </a:defRPr>
            </a:pPr>
            <a:r>
              <a:rPr sz="3000" b="1">
                <a:solidFill>
                  <a:srgbClr val="205938"/>
                </a:solidFill>
                <a:latin typeface="Arial"/>
                <a:ea typeface="Arial"/>
                <a:cs typeface="Arial"/>
              </a:rPr>
              <a:t>About $66</a:t>
            </a:r>
          </a:p>
        </p:txBody>
      </p:sp>
      <p:sp>
        <p:nvSpPr>
          <p:cNvPr id="7" name="Card-ticket ceiling for a positive repeat contribu">
            <a:extLst xmlns:a="http://schemas.openxmlformats.org/drawingml/2006/main">
              <a:ext uri="{FF2B5EF4-FFF2-40B4-BE49-F238E27FC236}">
                <a16:creationId xmlns:a16="http://schemas.microsoft.com/office/drawing/2014/main" id="{9BB9C597-FC7C-4921-9D02-6E99778F6300}"/>
              </a:ext>
            </a:extLst>
          </p:cNvPr>
          <p:cNvSpPr>
            <a:spLocks xmlns:a="http://schemas.openxmlformats.org/drawingml/2006/main" noGrp="1"/>
          </p:cNvSpPr>
          <p:nvPr/>
        </p:nvSpPr>
        <p:spPr>
          <a:xfrm xmlns:a="http://schemas.openxmlformats.org/drawingml/2006/main">
            <a:off x="8810625" y="3324225"/>
            <a:ext cx="2743200" cy="1390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Card-ticket ceiling for a positive repeat contribution under these assumptions.</a:t>
            </a:r>
          </a:p>
        </p:txBody>
      </p:sp>
      <p:sp>
        <p:nvSpPr>
          <p:cNvPr id="8" name="Larger jobs need separate pricing economics">
            <a:extLst xmlns:a="http://schemas.openxmlformats.org/drawingml/2006/main">
              <a:ext uri="{FF2B5EF4-FFF2-40B4-BE49-F238E27FC236}">
                <a16:creationId xmlns:a16="http://schemas.microsoft.com/office/drawing/2014/main" id="{75E3F5EF-CB4D-47DD-ADB7-D10015767420}"/>
              </a:ext>
            </a:extLst>
          </p:cNvPr>
          <p:cNvSpPr>
            <a:spLocks xmlns:a="http://schemas.openxmlformats.org/drawingml/2006/main" noGrp="1"/>
          </p:cNvSpPr>
          <p:nvPr/>
        </p:nvSpPr>
        <p:spPr>
          <a:xfrm xmlns:a="http://schemas.openxmlformats.org/drawingml/2006/main">
            <a:off x="628650" y="5410200"/>
            <a:ext cx="10572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A24D3E"/>
                </a:solidFill>
                <a:latin typeface="Arial"/>
                <a:ea typeface="Arial"/>
                <a:cs typeface="Arial"/>
              </a:defRPr>
            </a:pPr>
            <a:r>
              <a:rPr sz="2100" b="1">
                <a:solidFill>
                  <a:srgbClr val="A24D3E"/>
                </a:solidFill>
                <a:latin typeface="Arial"/>
                <a:ea typeface="Arial"/>
                <a:cs typeface="Arial"/>
              </a:rPr>
              <a:t>Larger jobs need separate pricing economics</a:t>
            </a:r>
          </a:p>
        </p:txBody>
      </p:sp>
      <p:sp>
        <p:nvSpPr>
          <p:cNvPr id="9" name="A $100 card-paid repeat job loses about $1.14 befo">
            <a:extLst xmlns:a="http://schemas.openxmlformats.org/drawingml/2006/main">
              <a:ext uri="{FF2B5EF4-FFF2-40B4-BE49-F238E27FC236}">
                <a16:creationId xmlns:a16="http://schemas.microsoft.com/office/drawing/2014/main" id="{430D7861-0C42-4E3F-BDF5-7750EC09880A}"/>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A $100 card-paid repeat job loses about $1.14 before fixed costs. ACH excludes a $1.50 initial bank-link allowance. Rates and operating costs are assumptions or published standard prices.</a:t>
            </a:r>
          </a:p>
        </p:txBody>
      </p:sp>
    </p:spTree>
    <p:extLst>
      <p:ext uri="{BB962C8B-B14F-4D97-AF65-F5344CB8AC3E}">
        <p14:creationId xmlns:p14="http://schemas.microsoft.com/office/powerpoint/2010/main" val="1344435039"/>
      </p:ext>
    </p:extLst>
  </p:cSld>
</p:sld>
</file>

<file path=ppt/slides/slide9.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2" name="Barnegat is a starting market">
            <a:extLst xmlns:a="http://schemas.openxmlformats.org/drawingml/2006/main">
              <a:ext uri="{FF2B5EF4-FFF2-40B4-BE49-F238E27FC236}">
                <a16:creationId xmlns:a16="http://schemas.microsoft.com/office/drawing/2014/main" id="{7BB00FA9-90B7-48F8-BDD4-9EA045F92574}"/>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Barnegat is a starting market</a:t>
            </a:r>
          </a:p>
        </p:txBody>
      </p:sp>
      <p:sp>
        <p:nvSpPr>
          <p:cNvPr id="2" name="The investment case requires expansion into many l">
            <a:extLst xmlns:a="http://schemas.openxmlformats.org/drawingml/2006/main">
              <a:ext uri="{FF2B5EF4-FFF2-40B4-BE49-F238E27FC236}">
                <a16:creationId xmlns:a16="http://schemas.microsoft.com/office/drawing/2014/main" id="{DBEECA3D-2B56-419E-AF37-7F899007D648}"/>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The investment case requires expansion into many local markets after the first market works.</a:t>
            </a:r>
          </a:p>
        </p:txBody>
      </p:sp>
      <p:sp>
        <p:nvSpPr>
          <p:cNvPr id="3" name="YardMatch">
            <a:extLst xmlns:a="http://schemas.openxmlformats.org/drawingml/2006/main">
              <a:ext uri="{FF2B5EF4-FFF2-40B4-BE49-F238E27FC236}">
                <a16:creationId xmlns:a16="http://schemas.microsoft.com/office/drawing/2014/main" id="{3E4E50BD-59E9-42C8-95EF-AD01468E9D7B}"/>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09">
            <a:extLst xmlns:a="http://schemas.openxmlformats.org/drawingml/2006/main">
              <a:ext uri="{FF2B5EF4-FFF2-40B4-BE49-F238E27FC236}">
                <a16:creationId xmlns:a16="http://schemas.microsoft.com/office/drawing/2014/main" id="{709C8963-F85A-4E1A-BB00-7C5DD35D18CC}"/>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09</a:t>
            </a:r>
          </a:p>
        </p:txBody>
      </p:sp>
      <p:sp>
        <p:nvSpPr>
          <p:cNvPr id="5" name="10,265">
            <a:extLst xmlns:a="http://schemas.openxmlformats.org/drawingml/2006/main">
              <a:ext uri="{FF2B5EF4-FFF2-40B4-BE49-F238E27FC236}">
                <a16:creationId xmlns:a16="http://schemas.microsoft.com/office/drawing/2014/main" id="{69F54A23-1C41-48BB-A427-FFCE8ABD3095}"/>
              </a:ext>
            </a:extLst>
          </p:cNvPr>
          <p:cNvSpPr>
            <a:spLocks xmlns:a="http://schemas.openxmlformats.org/drawingml/2006/main" noGrp="1"/>
          </p:cNvSpPr>
          <p:nvPr/>
        </p:nvSpPr>
        <p:spPr>
          <a:xfrm xmlns:a="http://schemas.openxmlformats.org/drawingml/2006/main">
            <a:off x="628650" y="2400300"/>
            <a:ext cx="4667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800" b="1">
                <a:solidFill>
                  <a:srgbClr val="205938"/>
                </a:solidFill>
                <a:latin typeface="Arial"/>
                <a:ea typeface="Arial"/>
                <a:cs typeface="Arial"/>
              </a:defRPr>
            </a:pPr>
            <a:r>
              <a:rPr sz="4800" b="1">
                <a:solidFill>
                  <a:srgbClr val="205938"/>
                </a:solidFill>
                <a:latin typeface="Arial"/>
                <a:ea typeface="Arial"/>
                <a:cs typeface="Arial"/>
              </a:rPr>
              <a:t>10,265</a:t>
            </a:r>
          </a:p>
        </p:txBody>
      </p:sp>
      <p:sp>
        <p:nvSpPr>
          <p:cNvPr id="6" name="Barnegat households">
            <a:extLst xmlns:a="http://schemas.openxmlformats.org/drawingml/2006/main">
              <a:ext uri="{FF2B5EF4-FFF2-40B4-BE49-F238E27FC236}">
                <a16:creationId xmlns:a16="http://schemas.microsoft.com/office/drawing/2014/main" id="{FEFE78B0-F2B4-41DE-8AEC-D5AA01359FFA}"/>
              </a:ext>
            </a:extLst>
          </p:cNvPr>
          <p:cNvSpPr>
            <a:spLocks xmlns:a="http://schemas.openxmlformats.org/drawingml/2006/main" noGrp="1"/>
          </p:cNvSpPr>
          <p:nvPr/>
        </p:nvSpPr>
        <p:spPr>
          <a:xfrm xmlns:a="http://schemas.openxmlformats.org/drawingml/2006/main">
            <a:off x="647700" y="3305175"/>
            <a:ext cx="4762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4281D"/>
                </a:solidFill>
                <a:latin typeface="Arial"/>
                <a:ea typeface="Arial"/>
                <a:cs typeface="Arial"/>
              </a:defRPr>
            </a:pPr>
            <a:r>
              <a:rPr sz="2175" b="0">
                <a:solidFill>
                  <a:srgbClr val="14281D"/>
                </a:solidFill>
                <a:latin typeface="Arial"/>
                <a:ea typeface="Arial"/>
                <a:cs typeface="Arial"/>
              </a:rPr>
              <a:t>Barnegat households</a:t>
            </a:r>
          </a:p>
        </p:txBody>
      </p:sp>
      <p:sp>
        <p:nvSpPr>
          <p:cNvPr id="7" name="88%">
            <a:extLst xmlns:a="http://schemas.openxmlformats.org/drawingml/2006/main">
              <a:ext uri="{FF2B5EF4-FFF2-40B4-BE49-F238E27FC236}">
                <a16:creationId xmlns:a16="http://schemas.microsoft.com/office/drawing/2014/main" id="{D996E33F-9C35-463D-B274-5BD1B09400B3}"/>
              </a:ext>
            </a:extLst>
          </p:cNvPr>
          <p:cNvSpPr>
            <a:spLocks xmlns:a="http://schemas.openxmlformats.org/drawingml/2006/main" noGrp="1"/>
          </p:cNvSpPr>
          <p:nvPr/>
        </p:nvSpPr>
        <p:spPr>
          <a:xfrm xmlns:a="http://schemas.openxmlformats.org/drawingml/2006/main">
            <a:off x="6429375" y="2400300"/>
            <a:ext cx="4381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800" b="1">
                <a:solidFill>
                  <a:srgbClr val="205938"/>
                </a:solidFill>
                <a:latin typeface="Arial"/>
                <a:ea typeface="Arial"/>
                <a:cs typeface="Arial"/>
              </a:defRPr>
            </a:pPr>
            <a:r>
              <a:rPr sz="4800" b="1">
                <a:solidFill>
                  <a:srgbClr val="205938"/>
                </a:solidFill>
                <a:latin typeface="Arial"/>
                <a:ea typeface="Arial"/>
                <a:cs typeface="Arial"/>
              </a:rPr>
              <a:t>88%</a:t>
            </a:r>
          </a:p>
        </p:txBody>
      </p:sp>
      <p:sp>
        <p:nvSpPr>
          <p:cNvPr id="8" name="Homes occupied by their owners">
            <a:extLst xmlns:a="http://schemas.openxmlformats.org/drawingml/2006/main">
              <a:ext uri="{FF2B5EF4-FFF2-40B4-BE49-F238E27FC236}">
                <a16:creationId xmlns:a16="http://schemas.microsoft.com/office/drawing/2014/main" id="{7F6EA2B7-82A2-4F35-ADDD-11E1E09BE017}"/>
              </a:ext>
            </a:extLst>
          </p:cNvPr>
          <p:cNvSpPr>
            <a:spLocks xmlns:a="http://schemas.openxmlformats.org/drawingml/2006/main" noGrp="1"/>
          </p:cNvSpPr>
          <p:nvPr/>
        </p:nvSpPr>
        <p:spPr>
          <a:xfrm xmlns:a="http://schemas.openxmlformats.org/drawingml/2006/main">
            <a:off x="6448425" y="3305175"/>
            <a:ext cx="4857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4281D"/>
                </a:solidFill>
                <a:latin typeface="Arial"/>
                <a:ea typeface="Arial"/>
                <a:cs typeface="Arial"/>
              </a:defRPr>
            </a:pPr>
            <a:r>
              <a:rPr sz="2175" b="0">
                <a:solidFill>
                  <a:srgbClr val="14281D"/>
                </a:solidFill>
                <a:latin typeface="Arial"/>
                <a:ea typeface="Arial"/>
                <a:cs typeface="Arial"/>
              </a:rPr>
              <a:t>Homes occupied by their owners</a:t>
            </a:r>
          </a:p>
        </p:txBody>
      </p:sp>
      <p:sp>
        <p:nvSpPr>
          <p:cNvPr id="9" name="500 paying households in the first forecast year">
            <a:extLst xmlns:a="http://schemas.openxmlformats.org/drawingml/2006/main">
              <a:ext uri="{FF2B5EF4-FFF2-40B4-BE49-F238E27FC236}">
                <a16:creationId xmlns:a16="http://schemas.microsoft.com/office/drawing/2014/main" id="{56E373CF-0F57-466C-AB94-3F84F8CC4A04}"/>
              </a:ext>
            </a:extLst>
          </p:cNvPr>
          <p:cNvSpPr>
            <a:spLocks xmlns:a="http://schemas.openxmlformats.org/drawingml/2006/main" noGrp="1"/>
          </p:cNvSpPr>
          <p:nvPr/>
        </p:nvSpPr>
        <p:spPr>
          <a:xfrm xmlns:a="http://schemas.openxmlformats.org/drawingml/2006/main">
            <a:off x="628650" y="4381500"/>
            <a:ext cx="108394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4281D"/>
                </a:solidFill>
                <a:latin typeface="Arial"/>
                <a:ea typeface="Arial"/>
                <a:cs typeface="Arial"/>
              </a:defRPr>
            </a:pPr>
            <a:r>
              <a:rPr sz="2550" b="1">
                <a:solidFill>
                  <a:srgbClr val="14281D"/>
                </a:solidFill>
                <a:latin typeface="Arial"/>
                <a:ea typeface="Arial"/>
                <a:cs typeface="Arial"/>
              </a:rPr>
              <a:t>500 paying households in the first forecast year</a:t>
            </a:r>
          </a:p>
        </p:txBody>
      </p:sp>
      <p:sp>
        <p:nvSpPr>
          <p:cNvPr id="10" name="About 5.5% of the roughly 9,033 owner households. ">
            <a:extLst xmlns:a="http://schemas.openxmlformats.org/drawingml/2006/main">
              <a:ext uri="{FF2B5EF4-FFF2-40B4-BE49-F238E27FC236}">
                <a16:creationId xmlns:a16="http://schemas.microsoft.com/office/drawing/2014/main" id="{679A1CB1-62FF-40D2-AD49-FA8A37195FAE}"/>
              </a:ext>
            </a:extLst>
          </p:cNvPr>
          <p:cNvSpPr>
            <a:spLocks xmlns:a="http://schemas.openxmlformats.org/drawingml/2006/main" noGrp="1"/>
          </p:cNvSpPr>
          <p:nvPr/>
        </p:nvSpPr>
        <p:spPr>
          <a:xfrm xmlns:a="http://schemas.openxmlformats.org/drawingml/2006/main">
            <a:off x="647700" y="5057775"/>
            <a:ext cx="106203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About 5.5% of the roughly 9,033 owner households. Actual eligible lawns and willingness to pay remain unmeasured.</a:t>
            </a:r>
          </a:p>
        </p:txBody>
      </p:sp>
      <p:sp>
        <p:nvSpPr>
          <p:cNvPr id="11" name="Census 2020-2024 estimates. Launch target is illus">
            <a:extLst xmlns:a="http://schemas.openxmlformats.org/drawingml/2006/main">
              <a:ext uri="{FF2B5EF4-FFF2-40B4-BE49-F238E27FC236}">
                <a16:creationId xmlns:a16="http://schemas.microsoft.com/office/drawing/2014/main" id="{DBE0DCBC-C53E-4465-9741-71E62719FE8F}"/>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Census 2020-2024 estimates. Launch target is illustrative. Later-year household totals require regional and multi-market expansion.</a:t>
            </a:r>
          </a:p>
        </p:txBody>
      </p:sp>
    </p:spTree>
    <p:extLst>
      <p:ext uri="{BB962C8B-B14F-4D97-AF65-F5344CB8AC3E}">
        <p14:creationId xmlns:p14="http://schemas.microsoft.com/office/powerpoint/2010/main" val="1518204476"/>
      </p:ext>
    </p:extLst>
  </p:cSld>
</p:sld>
</file>

<file path=ppt/slides/slide10.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3" name="Expansion follows verified local economics">
            <a:extLst xmlns:a="http://schemas.openxmlformats.org/drawingml/2006/main">
              <a:ext uri="{FF2B5EF4-FFF2-40B4-BE49-F238E27FC236}">
                <a16:creationId xmlns:a16="http://schemas.microsoft.com/office/drawing/2014/main" id="{5BB636EC-FD18-43A9-8584-E815894323C3}"/>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Expansion follows verified local economics</a:t>
            </a:r>
          </a:p>
        </p:txBody>
      </p:sp>
      <p:sp>
        <p:nvSpPr>
          <p:cNvPr id="2" name="A proposed sequence for acquiring supply and deman">
            <a:extLst xmlns:a="http://schemas.openxmlformats.org/drawingml/2006/main">
              <a:ext uri="{FF2B5EF4-FFF2-40B4-BE49-F238E27FC236}">
                <a16:creationId xmlns:a16="http://schemas.microsoft.com/office/drawing/2014/main" id="{34E1048A-1F82-4D1E-BC63-DFC26B03D560}"/>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A proposed sequence for acquiring supply and demand without sacrificing service reliability.</a:t>
            </a:r>
          </a:p>
        </p:txBody>
      </p:sp>
      <p:sp>
        <p:nvSpPr>
          <p:cNvPr id="3" name="YardMatch">
            <a:extLst xmlns:a="http://schemas.openxmlformats.org/drawingml/2006/main">
              <a:ext uri="{FF2B5EF4-FFF2-40B4-BE49-F238E27FC236}">
                <a16:creationId xmlns:a16="http://schemas.microsoft.com/office/drawing/2014/main" id="{7FFEBE4B-231A-4BCC-9D90-D9BB36D85DE9}"/>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0">
            <a:extLst xmlns:a="http://schemas.openxmlformats.org/drawingml/2006/main">
              <a:ext uri="{FF2B5EF4-FFF2-40B4-BE49-F238E27FC236}">
                <a16:creationId xmlns:a16="http://schemas.microsoft.com/office/drawing/2014/main" id="{6BC09832-B183-4CAF-9E78-8B741297C8DE}"/>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10</a:t>
            </a:r>
          </a:p>
        </p:txBody>
      </p:sp>
      <p:sp>
        <p:nvSpPr>
          <p:cNvPr id="5" name="1. Concentrated provider launch">
            <a:extLst xmlns:a="http://schemas.openxmlformats.org/drawingml/2006/main">
              <a:ext uri="{FF2B5EF4-FFF2-40B4-BE49-F238E27FC236}">
                <a16:creationId xmlns:a16="http://schemas.microsoft.com/office/drawing/2014/main" id="{FFB2F23D-4B03-4916-A61F-789361D352B3}"/>
              </a:ext>
            </a:extLst>
          </p:cNvPr>
          <p:cNvSpPr>
            <a:spLocks xmlns:a="http://schemas.openxmlformats.org/drawingml/2006/main" noGrp="1"/>
          </p:cNvSpPr>
          <p:nvPr/>
        </p:nvSpPr>
        <p:spPr>
          <a:xfrm xmlns:a="http://schemas.openxmlformats.org/drawingml/2006/main">
            <a:off x="628650" y="2400300"/>
            <a:ext cx="5010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1. Concentrated provider launch</a:t>
            </a:r>
          </a:p>
        </p:txBody>
      </p:sp>
      <p:sp>
        <p:nvSpPr>
          <p:cNvPr id="6" name="Recruit qualified businesses around neighboring ro">
            <a:extLst xmlns:a="http://schemas.openxmlformats.org/drawingml/2006/main">
              <a:ext uri="{FF2B5EF4-FFF2-40B4-BE49-F238E27FC236}">
                <a16:creationId xmlns:a16="http://schemas.microsoft.com/office/drawing/2014/main" id="{62BCAFEF-6623-432B-9F05-13184E05F792}"/>
              </a:ext>
            </a:extLst>
          </p:cNvPr>
          <p:cNvSpPr>
            <a:spLocks xmlns:a="http://schemas.openxmlformats.org/drawingml/2006/main" noGrp="1"/>
          </p:cNvSpPr>
          <p:nvPr/>
        </p:nvSpPr>
        <p:spPr>
          <a:xfrm xmlns:a="http://schemas.openxmlformats.org/drawingml/2006/main">
            <a:off x="628650" y="2924175"/>
            <a:ext cx="50101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Recruit qualified businesses around neighboring routes. Use the first-client finder-fee waiver.</a:t>
            </a:r>
          </a:p>
        </p:txBody>
      </p:sp>
      <p:sp>
        <p:nvSpPr>
          <p:cNvPr id="7" name="2. Measured household acquisition">
            <a:extLst xmlns:a="http://schemas.openxmlformats.org/drawingml/2006/main">
              <a:ext uri="{FF2B5EF4-FFF2-40B4-BE49-F238E27FC236}">
                <a16:creationId xmlns:a16="http://schemas.microsoft.com/office/drawing/2014/main" id="{03922F3C-8E0D-44C0-88A9-F591C3C9D0F1}"/>
              </a:ext>
            </a:extLst>
          </p:cNvPr>
          <p:cNvSpPr>
            <a:spLocks xmlns:a="http://schemas.openxmlformats.org/drawingml/2006/main" noGrp="1"/>
          </p:cNvSpPr>
          <p:nvPr/>
        </p:nvSpPr>
        <p:spPr>
          <a:xfrm xmlns:a="http://schemas.openxmlformats.org/drawingml/2006/main">
            <a:off x="6400800" y="2400300"/>
            <a:ext cx="5010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2. Measured household acquisition</a:t>
            </a:r>
          </a:p>
        </p:txBody>
      </p:sp>
      <p:sp>
        <p:nvSpPr>
          <p:cNvPr id="8" name="Test local search, neighborhood referrals and prov">
            <a:extLst xmlns:a="http://schemas.openxmlformats.org/drawingml/2006/main">
              <a:ext uri="{FF2B5EF4-FFF2-40B4-BE49-F238E27FC236}">
                <a16:creationId xmlns:a16="http://schemas.microsoft.com/office/drawing/2014/main" id="{A67140D7-BE50-4CED-9A4A-AE2B83AD2FD0}"/>
              </a:ext>
            </a:extLst>
          </p:cNvPr>
          <p:cNvSpPr>
            <a:spLocks xmlns:a="http://schemas.openxmlformats.org/drawingml/2006/main" noGrp="1"/>
          </p:cNvSpPr>
          <p:nvPr/>
        </p:nvSpPr>
        <p:spPr>
          <a:xfrm xmlns:a="http://schemas.openxmlformats.org/drawingml/2006/main">
            <a:off x="6400800" y="2924175"/>
            <a:ext cx="50101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Test local search, neighborhood referrals and provider referrals. Count paying customers, not leads.</a:t>
            </a:r>
          </a:p>
        </p:txBody>
      </p:sp>
      <p:sp>
        <p:nvSpPr>
          <p:cNvPr id="9" name="3. A complete service season">
            <a:extLst xmlns:a="http://schemas.openxmlformats.org/drawingml/2006/main">
              <a:ext uri="{FF2B5EF4-FFF2-40B4-BE49-F238E27FC236}">
                <a16:creationId xmlns:a16="http://schemas.microsoft.com/office/drawing/2014/main" id="{D422844E-1B15-495A-97C9-11298B31B1C3}"/>
              </a:ext>
            </a:extLst>
          </p:cNvPr>
          <p:cNvSpPr>
            <a:spLocks xmlns:a="http://schemas.openxmlformats.org/drawingml/2006/main" noGrp="1"/>
          </p:cNvSpPr>
          <p:nvPr/>
        </p:nvSpPr>
        <p:spPr>
          <a:xfrm xmlns:a="http://schemas.openxmlformats.org/drawingml/2006/main">
            <a:off x="628650" y="4257675"/>
            <a:ext cx="5010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3. A complete service season</a:t>
            </a:r>
          </a:p>
        </p:txBody>
      </p:sp>
      <p:sp>
        <p:nvSpPr>
          <p:cNvPr id="10" name="Measure paid repeat visits, fee acceptance, servic">
            <a:extLst xmlns:a="http://schemas.openxmlformats.org/drawingml/2006/main">
              <a:ext uri="{FF2B5EF4-FFF2-40B4-BE49-F238E27FC236}">
                <a16:creationId xmlns:a16="http://schemas.microsoft.com/office/drawing/2014/main" id="{B9012C04-7EBE-40C4-9220-F9106AFAA820}"/>
              </a:ext>
            </a:extLst>
          </p:cNvPr>
          <p:cNvSpPr>
            <a:spLocks xmlns:a="http://schemas.openxmlformats.org/drawingml/2006/main" noGrp="1"/>
          </p:cNvSpPr>
          <p:nvPr/>
        </p:nvSpPr>
        <p:spPr>
          <a:xfrm xmlns:a="http://schemas.openxmlformats.org/drawingml/2006/main">
            <a:off x="628650" y="4781550"/>
            <a:ext cx="50101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Measure paid repeat visits, fee acceptance, service quality and cost per completed job.</a:t>
            </a:r>
          </a:p>
        </p:txBody>
      </p:sp>
      <p:sp>
        <p:nvSpPr>
          <p:cNvPr id="11" name="4. A second local market">
            <a:extLst xmlns:a="http://schemas.openxmlformats.org/drawingml/2006/main">
              <a:ext uri="{FF2B5EF4-FFF2-40B4-BE49-F238E27FC236}">
                <a16:creationId xmlns:a16="http://schemas.microsoft.com/office/drawing/2014/main" id="{8F15A12A-4912-42C3-96C1-FEA2C8C65318}"/>
              </a:ext>
            </a:extLst>
          </p:cNvPr>
          <p:cNvSpPr>
            <a:spLocks xmlns:a="http://schemas.openxmlformats.org/drawingml/2006/main" noGrp="1"/>
          </p:cNvSpPr>
          <p:nvPr/>
        </p:nvSpPr>
        <p:spPr>
          <a:xfrm xmlns:a="http://schemas.openxmlformats.org/drawingml/2006/main">
            <a:off x="6400800" y="4257675"/>
            <a:ext cx="5010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4. A second local market</a:t>
            </a:r>
          </a:p>
        </p:txBody>
      </p:sp>
      <p:sp>
        <p:nvSpPr>
          <p:cNvPr id="12" name="Expand only after retention and acquisition econom">
            <a:extLst xmlns:a="http://schemas.openxmlformats.org/drawingml/2006/main">
              <a:ext uri="{FF2B5EF4-FFF2-40B4-BE49-F238E27FC236}">
                <a16:creationId xmlns:a16="http://schemas.microsoft.com/office/drawing/2014/main" id="{61AC9C0C-C58F-4000-B7EB-3ACBF94E0625}"/>
              </a:ext>
            </a:extLst>
          </p:cNvPr>
          <p:cNvSpPr>
            <a:spLocks xmlns:a="http://schemas.openxmlformats.org/drawingml/2006/main" noGrp="1"/>
          </p:cNvSpPr>
          <p:nvPr/>
        </p:nvSpPr>
        <p:spPr>
          <a:xfrm xmlns:a="http://schemas.openxmlformats.org/drawingml/2006/main">
            <a:off x="6400800" y="4781550"/>
            <a:ext cx="50101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Expand only after retention and acquisition economics repeat across providers and neighborhoods.</a:t>
            </a:r>
          </a:p>
        </p:txBody>
      </p:sp>
    </p:spTree>
    <p:extLst>
      <p:ext uri="{BB962C8B-B14F-4D97-AF65-F5344CB8AC3E}">
        <p14:creationId xmlns:p14="http://schemas.microsoft.com/office/powerpoint/2010/main" val="60236819"/>
      </p:ext>
    </p:extLst>
  </p:cSld>
</p:sld>
</file>

<file path=ppt/slides/slide11.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3" name="Product progress and commercial evidence">
            <a:extLst xmlns:a="http://schemas.openxmlformats.org/drawingml/2006/main">
              <a:ext uri="{FF2B5EF4-FFF2-40B4-BE49-F238E27FC236}">
                <a16:creationId xmlns:a16="http://schemas.microsoft.com/office/drawing/2014/main" id="{2E81991B-0812-4116-8BC1-8DA9A8D25D2C}"/>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Product progress and commercial evidence</a:t>
            </a:r>
          </a:p>
        </p:txBody>
      </p:sp>
      <p:sp>
        <p:nvSpPr>
          <p:cNvPr id="2" name="An early company with working product workflows an">
            <a:extLst xmlns:a="http://schemas.openxmlformats.org/drawingml/2006/main">
              <a:ext uri="{FF2B5EF4-FFF2-40B4-BE49-F238E27FC236}">
                <a16:creationId xmlns:a16="http://schemas.microsoft.com/office/drawing/2014/main" id="{C18963AB-AFCA-448F-BF86-7EB018C8B90E}"/>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An early company with working product workflows and commercial assumptions still to validate.</a:t>
            </a:r>
          </a:p>
        </p:txBody>
      </p:sp>
      <p:sp>
        <p:nvSpPr>
          <p:cNvPr id="3" name="YardMatch">
            <a:extLst xmlns:a="http://schemas.openxmlformats.org/drawingml/2006/main">
              <a:ext uri="{FF2B5EF4-FFF2-40B4-BE49-F238E27FC236}">
                <a16:creationId xmlns:a16="http://schemas.microsoft.com/office/drawing/2014/main" id="{6C6321A3-4078-4F4C-A805-0BFEBFD78DDD}"/>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1">
            <a:extLst xmlns:a="http://schemas.openxmlformats.org/drawingml/2006/main">
              <a:ext uri="{FF2B5EF4-FFF2-40B4-BE49-F238E27FC236}">
                <a16:creationId xmlns:a16="http://schemas.microsoft.com/office/drawing/2014/main" id="{32AF24AE-F6EE-4EBC-9EC5-8007523EB820}"/>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11</a:t>
            </a:r>
          </a:p>
        </p:txBody>
      </p:sp>
      <p:sp>
        <p:nvSpPr>
          <p:cNvPr id="5" name="Product foundation">
            <a:extLst xmlns:a="http://schemas.openxmlformats.org/drawingml/2006/main">
              <a:ext uri="{FF2B5EF4-FFF2-40B4-BE49-F238E27FC236}">
                <a16:creationId xmlns:a16="http://schemas.microsoft.com/office/drawing/2014/main" id="{614BFDCF-AFCE-4F70-842B-F81DD9D1C3D9}"/>
              </a:ext>
            </a:extLst>
          </p:cNvPr>
          <p:cNvSpPr>
            <a:spLocks xmlns:a="http://schemas.openxmlformats.org/drawingml/2006/main" noGrp="1"/>
          </p:cNvSpPr>
          <p:nvPr/>
        </p:nvSpPr>
        <p:spPr>
          <a:xfrm xmlns:a="http://schemas.openxmlformats.org/drawingml/2006/main">
            <a:off x="628650" y="2400300"/>
            <a:ext cx="5067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Product foundation</a:t>
            </a:r>
          </a:p>
        </p:txBody>
      </p:sp>
      <p:sp>
        <p:nvSpPr>
          <p:cNvPr id="6" name="Customer booking and rebooking, provider calendars">
            <a:extLst xmlns:a="http://schemas.openxmlformats.org/drawingml/2006/main">
              <a:ext uri="{FF2B5EF4-FFF2-40B4-BE49-F238E27FC236}">
                <a16:creationId xmlns:a16="http://schemas.microsoft.com/office/drawing/2014/main" id="{D572AD89-73A7-4851-8F31-CFAB46193450}"/>
              </a:ext>
            </a:extLst>
          </p:cNvPr>
          <p:cNvSpPr>
            <a:spLocks xmlns:a="http://schemas.openxmlformats.org/drawingml/2006/main" noGrp="1"/>
          </p:cNvSpPr>
          <p:nvPr/>
        </p:nvSpPr>
        <p:spPr>
          <a:xfrm xmlns:a="http://schemas.openxmlformats.org/drawingml/2006/main">
            <a:off x="628650" y="2924175"/>
            <a:ext cx="50673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Customer booking and rebooking, provider calendars and client maps, crew assignments, payments and ops workflows.</a:t>
            </a:r>
          </a:p>
        </p:txBody>
      </p:sp>
      <p:sp>
        <p:nvSpPr>
          <p:cNvPr id="7" name="Launch work remaining">
            <a:extLst xmlns:a="http://schemas.openxmlformats.org/drawingml/2006/main">
              <a:ext uri="{FF2B5EF4-FFF2-40B4-BE49-F238E27FC236}">
                <a16:creationId xmlns:a16="http://schemas.microsoft.com/office/drawing/2014/main" id="{138CE9D5-04B4-43C7-BE19-B42941359FD4}"/>
              </a:ext>
            </a:extLst>
          </p:cNvPr>
          <p:cNvSpPr>
            <a:spLocks xmlns:a="http://schemas.openxmlformats.org/drawingml/2006/main" noGrp="1"/>
          </p:cNvSpPr>
          <p:nvPr/>
        </p:nvSpPr>
        <p:spPr>
          <a:xfrm xmlns:a="http://schemas.openxmlformats.org/drawingml/2006/main">
            <a:off x="6400800" y="2400300"/>
            <a:ext cx="5067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Launch work remaining</a:t>
            </a:r>
          </a:p>
        </p:txBody>
      </p:sp>
      <p:sp>
        <p:nvSpPr>
          <p:cNvPr id="8" name="Live payment acceptance, provider onboarding, prod">
            <a:extLst xmlns:a="http://schemas.openxmlformats.org/drawingml/2006/main">
              <a:ext uri="{FF2B5EF4-FFF2-40B4-BE49-F238E27FC236}">
                <a16:creationId xmlns:a16="http://schemas.microsoft.com/office/drawing/2014/main" id="{6FE489F1-B354-41B9-9582-FD9B7B9135BE}"/>
              </a:ext>
            </a:extLst>
          </p:cNvPr>
          <p:cNvSpPr>
            <a:spLocks xmlns:a="http://schemas.openxmlformats.org/drawingml/2006/main" noGrp="1"/>
          </p:cNvSpPr>
          <p:nvPr/>
        </p:nvSpPr>
        <p:spPr>
          <a:xfrm xmlns:a="http://schemas.openxmlformats.org/drawingml/2006/main">
            <a:off x="6400800" y="2924175"/>
            <a:ext cx="50673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Live payment acceptance, provider onboarding, production readiness and store distribution need independent verification.</a:t>
            </a:r>
          </a:p>
        </p:txBody>
      </p:sp>
      <p:sp>
        <p:nvSpPr>
          <p:cNvPr id="9" name="Founder and operating team">
            <a:extLst xmlns:a="http://schemas.openxmlformats.org/drawingml/2006/main">
              <a:ext uri="{FF2B5EF4-FFF2-40B4-BE49-F238E27FC236}">
                <a16:creationId xmlns:a16="http://schemas.microsoft.com/office/drawing/2014/main" id="{CC3B36E7-A1BE-4CD4-93AE-7F38D58ABF0C}"/>
              </a:ext>
            </a:extLst>
          </p:cNvPr>
          <p:cNvSpPr>
            <a:spLocks xmlns:a="http://schemas.openxmlformats.org/drawingml/2006/main" noGrp="1"/>
          </p:cNvSpPr>
          <p:nvPr/>
        </p:nvSpPr>
        <p:spPr>
          <a:xfrm xmlns:a="http://schemas.openxmlformats.org/drawingml/2006/main">
            <a:off x="628650" y="4371975"/>
            <a:ext cx="5067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Founder and operating team</a:t>
            </a:r>
          </a:p>
        </p:txBody>
      </p:sp>
      <p:sp>
        <p:nvSpPr>
          <p:cNvPr id="10" name="Patrick leads the company. The model budgets paid ">
            <a:extLst xmlns:a="http://schemas.openxmlformats.org/drawingml/2006/main">
              <a:ext uri="{FF2B5EF4-FFF2-40B4-BE49-F238E27FC236}">
                <a16:creationId xmlns:a16="http://schemas.microsoft.com/office/drawing/2014/main" id="{A71B7E1B-3ADC-42CD-9367-FF845BF02ECA}"/>
              </a:ext>
            </a:extLst>
          </p:cNvPr>
          <p:cNvSpPr>
            <a:spLocks xmlns:a="http://schemas.openxmlformats.org/drawingml/2006/main" noGrp="1"/>
          </p:cNvSpPr>
          <p:nvPr/>
        </p:nvSpPr>
        <p:spPr>
          <a:xfrm xmlns:a="http://schemas.openxmlformats.org/drawingml/2006/main">
            <a:off x="628650" y="4895850"/>
            <a:ext cx="50673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Patrick leads the company. The model budgets paid staff, including founder compensation. Other owner roles remain to be defined.</a:t>
            </a:r>
          </a:p>
        </p:txBody>
      </p:sp>
      <p:sp>
        <p:nvSpPr>
          <p:cNvPr id="11" name="Commercial evidence required">
            <a:extLst xmlns:a="http://schemas.openxmlformats.org/drawingml/2006/main">
              <a:ext uri="{FF2B5EF4-FFF2-40B4-BE49-F238E27FC236}">
                <a16:creationId xmlns:a16="http://schemas.microsoft.com/office/drawing/2014/main" id="{972583A9-FA5B-4E14-ACAF-C6078BEC1F9C}"/>
              </a:ext>
            </a:extLst>
          </p:cNvPr>
          <p:cNvSpPr>
            <a:spLocks xmlns:a="http://schemas.openxmlformats.org/drawingml/2006/main" noGrp="1"/>
          </p:cNvSpPr>
          <p:nvPr/>
        </p:nvSpPr>
        <p:spPr>
          <a:xfrm xmlns:a="http://schemas.openxmlformats.org/drawingml/2006/main">
            <a:off x="6400800" y="4371975"/>
            <a:ext cx="5067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Commercial evidence required</a:t>
            </a:r>
          </a:p>
        </p:txBody>
      </p:sp>
      <p:sp>
        <p:nvSpPr>
          <p:cNvPr id="12" name="No verified revenue, paying customer base, signed ">
            <a:extLst xmlns:a="http://schemas.openxmlformats.org/drawingml/2006/main">
              <a:ext uri="{FF2B5EF4-FFF2-40B4-BE49-F238E27FC236}">
                <a16:creationId xmlns:a16="http://schemas.microsoft.com/office/drawing/2014/main" id="{79AD4D5C-CAFC-471B-B482-70E4AC9220BB}"/>
              </a:ext>
            </a:extLst>
          </p:cNvPr>
          <p:cNvSpPr>
            <a:spLocks xmlns:a="http://schemas.openxmlformats.org/drawingml/2006/main" noGrp="1"/>
          </p:cNvSpPr>
          <p:nvPr/>
        </p:nvSpPr>
        <p:spPr>
          <a:xfrm xmlns:a="http://schemas.openxmlformats.org/drawingml/2006/main">
            <a:off x="6400800" y="4895850"/>
            <a:ext cx="50673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No verified revenue, paying customer base, signed provider count or measured retention is claimed in this deck.</a:t>
            </a:r>
          </a:p>
        </p:txBody>
      </p:sp>
    </p:spTree>
    <p:extLst>
      <p:ext uri="{BB962C8B-B14F-4D97-AF65-F5344CB8AC3E}">
        <p14:creationId xmlns:p14="http://schemas.microsoft.com/office/powerpoint/2010/main" val="2120266830"/>
      </p:ext>
    </p:extLst>
  </p:cSld>
</p:sld>
</file>

<file path=ppt/slides/slide12.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What can increase the value of the company">
            <a:extLst xmlns:a="http://schemas.openxmlformats.org/drawingml/2006/main">
              <a:ext uri="{FF2B5EF4-FFF2-40B4-BE49-F238E27FC236}">
                <a16:creationId xmlns:a16="http://schemas.microsoft.com/office/drawing/2014/main" id="{D910D523-1DA5-4058-B002-E0CF714A6A70}"/>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What can increase the value of the company</a:t>
            </a:r>
          </a:p>
        </p:txBody>
      </p:sp>
      <p:sp>
        <p:nvSpPr>
          <p:cNvPr id="2" name="More paying households matter when the relationshi">
            <a:extLst xmlns:a="http://schemas.openxmlformats.org/drawingml/2006/main">
              <a:ext uri="{FF2B5EF4-FFF2-40B4-BE49-F238E27FC236}">
                <a16:creationId xmlns:a16="http://schemas.microsoft.com/office/drawing/2014/main" id="{D0B948DF-A4AD-40C5-AE4F-9F499E8B3391}"/>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More paying households matter when the relationships remain profitable and stay on the platform.</a:t>
            </a:r>
          </a:p>
        </p:txBody>
      </p:sp>
      <p:sp>
        <p:nvSpPr>
          <p:cNvPr id="3" name="YardMatch">
            <a:extLst xmlns:a="http://schemas.openxmlformats.org/drawingml/2006/main">
              <a:ext uri="{FF2B5EF4-FFF2-40B4-BE49-F238E27FC236}">
                <a16:creationId xmlns:a16="http://schemas.microsoft.com/office/drawing/2014/main" id="{0DCA88E1-EDB5-40DF-AB77-D47A97B7EFFF}"/>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2">
            <a:extLst xmlns:a="http://schemas.openxmlformats.org/drawingml/2006/main">
              <a:ext uri="{FF2B5EF4-FFF2-40B4-BE49-F238E27FC236}">
                <a16:creationId xmlns:a16="http://schemas.microsoft.com/office/drawing/2014/main" id="{1B122F94-7A77-44D3-9FA9-EAAFB88BA89A}"/>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12</a:t>
            </a:r>
          </a:p>
        </p:txBody>
      </p:sp>
      <p:graphicFrame>
        <p:nvGraphicFramePr>
          <p:cNvPr id="11" name=""/>
          <p:cNvGraphicFramePr/>
          <p:nvPr/>
        </p:nvGraphicFramePr>
        <p:xfrm>
          <a:off xmlns:a="http://schemas.openxmlformats.org/drawingml/2006/main" x="609600" y="2400300"/>
          <a:ext xmlns:a="http://schemas.openxmlformats.org/drawingml/2006/main" cx="10972800" cy="3133725"/>
        </p:xfrm>
        <a:graphic xmlns:a="http://schemas.openxmlformats.org/drawingml/2006/main">
          <a:graphicData uri="http://schemas.openxmlformats.org/drawingml/2006/table">
            <a:tbl>
              <a:tblPr/>
              <a:tblGrid>
                <a:gridCol w="3400425"/>
                <a:gridCol w="7572375"/>
              </a:tblGrid>
              <a:tr h="626745">
                <a:tc>
                  <a:txBody>
                    <a:bodyPr lIns="114300" tIns="76200" rIns="114300" bIns="76200">
                      <a:noAutofit/>
                    </a:bodyPr>
                    <a:lstStyle/>
                    <a:p>
                      <a:pPr algn="l"/>
                      <a:r>
                        <a:rPr sz="1875" b="1">
                          <a:solidFill>
                            <a:srgbClr val="FFFFFF"/>
                          </a:solidFill>
                          <a:latin typeface="Arial"/>
                          <a:ea typeface="Arial"/>
                          <a:cs typeface="Arial"/>
                        </a:rPr>
                        <a:t>Value driver</a:t>
                      </a:r>
                    </a:p>
                  </a:txBody>
                  <a:tcPr marL="91440" marR="91440" marT="45720" marB="45720" anchor="ctr">
                    <a:solidFill>
                      <a:srgbClr val="205938"/>
                    </a:solidFill>
                  </a:tcPr>
                </a:tc>
                <a:tc>
                  <a:txBody>
                    <a:bodyPr lIns="114300" tIns="76200" rIns="114300" bIns="76200">
                      <a:noAutofit/>
                    </a:bodyPr>
                    <a:lstStyle/>
                    <a:p>
                      <a:pPr algn="r"/>
                      <a:r>
                        <a:rPr sz="1875" b="1">
                          <a:solidFill>
                            <a:srgbClr val="FFFFFF"/>
                          </a:solidFill>
                          <a:latin typeface="Arial"/>
                          <a:ea typeface="Arial"/>
                          <a:cs typeface="Arial"/>
                        </a:rPr>
                        <a:t>Evidence an investor can evaluate</a:t>
                      </a:r>
                    </a:p>
                  </a:txBody>
                  <a:tcPr marL="91440" marR="91440" marT="45720" marB="45720" anchor="ctr">
                    <a:solidFill>
                      <a:srgbClr val="205938"/>
                    </a:solidFill>
                  </a:tcPr>
                </a:tc>
              </a:tr>
              <a:tr h="626745">
                <a:tc>
                  <a:txBody>
                    <a:bodyPr lIns="114300" tIns="76200" rIns="114300" bIns="76200">
                      <a:noAutofit/>
                    </a:bodyPr>
                    <a:lstStyle/>
                    <a:p>
                      <a:pPr algn="l"/>
                      <a:r>
                        <a:rPr sz="1875" b="0">
                          <a:solidFill>
                            <a:srgbClr val="14281D"/>
                          </a:solidFill>
                          <a:latin typeface="Arial"/>
                          <a:ea typeface="Arial"/>
                          <a:cs typeface="Arial"/>
                        </a:rPr>
                        <a:t>Household retention</a:t>
                      </a:r>
                    </a:p>
                  </a:txBody>
                  <a:tcPr marL="91440" marR="91440" marT="45720" marB="45720" anchor="ctr">
                    <a:solidFill>
                      <a:srgbClr val="FFFFFF"/>
                    </a:solidFill>
                  </a:tcPr>
                </a:tc>
                <a:tc>
                  <a:txBody>
                    <a:bodyPr lIns="114300" tIns="76200" rIns="114300" bIns="76200">
                      <a:noAutofit/>
                    </a:bodyPr>
                    <a:lstStyle/>
                    <a:p>
                      <a:pPr algn="r"/>
                      <a:r>
                        <a:rPr sz="1875" b="0">
                          <a:solidFill>
                            <a:srgbClr val="14281D"/>
                          </a:solidFill>
                          <a:latin typeface="Arial"/>
                          <a:ea typeface="Arial"/>
                          <a:cs typeface="Arial"/>
                        </a:rPr>
                        <a:t>The next season’s paid bookings, not just app activity</a:t>
                      </a:r>
                    </a:p>
                  </a:txBody>
                  <a:tcPr marL="91440" marR="91440" marT="45720" marB="45720" anchor="ctr">
                    <a:solidFill>
                      <a:srgbClr val="FFFFFF"/>
                    </a:solidFill>
                  </a:tcPr>
                </a:tc>
              </a:tr>
              <a:tr h="626745">
                <a:tc>
                  <a:txBody>
                    <a:bodyPr lIns="114300" tIns="76200" rIns="114300" bIns="76200">
                      <a:noAutofit/>
                    </a:bodyPr>
                    <a:lstStyle/>
                    <a:p>
                      <a:pPr algn="l"/>
                      <a:r>
                        <a:rPr sz="1875" b="0">
                          <a:solidFill>
                            <a:srgbClr val="14281D"/>
                          </a:solidFill>
                          <a:latin typeface="Arial"/>
                          <a:ea typeface="Arial"/>
                          <a:cs typeface="Arial"/>
                        </a:rPr>
                        <a:t>Provider density</a:t>
                      </a:r>
                    </a:p>
                  </a:txBody>
                  <a:tcPr marL="91440" marR="91440" marT="45720" marB="45720" anchor="ctr">
                    <a:solidFill>
                      <a:srgbClr val="F7F5EF"/>
                    </a:solidFill>
                  </a:tcPr>
                </a:tc>
                <a:tc>
                  <a:txBody>
                    <a:bodyPr lIns="114300" tIns="76200" rIns="114300" bIns="76200">
                      <a:noAutofit/>
                    </a:bodyPr>
                    <a:lstStyle/>
                    <a:p>
                      <a:pPr algn="r"/>
                      <a:r>
                        <a:rPr sz="1875" b="0">
                          <a:solidFill>
                            <a:srgbClr val="14281D"/>
                          </a:solidFill>
                          <a:latin typeface="Arial"/>
                          <a:ea typeface="Arial"/>
                          <a:cs typeface="Arial"/>
                        </a:rPr>
                        <a:t>More completed jobs per service area and less unfilled demand</a:t>
                      </a:r>
                    </a:p>
                  </a:txBody>
                  <a:tcPr marL="91440" marR="91440" marT="45720" marB="45720" anchor="ctr">
                    <a:solidFill>
                      <a:srgbClr val="F7F5EF"/>
                    </a:solidFill>
                  </a:tcPr>
                </a:tc>
              </a:tr>
              <a:tr h="626745">
                <a:tc>
                  <a:txBody>
                    <a:bodyPr lIns="114300" tIns="76200" rIns="114300" bIns="76200">
                      <a:noAutofit/>
                    </a:bodyPr>
                    <a:lstStyle/>
                    <a:p>
                      <a:pPr algn="l"/>
                      <a:r>
                        <a:rPr sz="1875" b="0">
                          <a:solidFill>
                            <a:srgbClr val="14281D"/>
                          </a:solidFill>
                          <a:latin typeface="Arial"/>
                          <a:ea typeface="Arial"/>
                          <a:cs typeface="Arial"/>
                        </a:rPr>
                        <a:t>Acquisition efficiency</a:t>
                      </a:r>
                    </a:p>
                  </a:txBody>
                  <a:tcPr marL="91440" marR="91440" marT="45720" marB="45720" anchor="ctr">
                    <a:solidFill>
                      <a:srgbClr val="FFFFFF"/>
                    </a:solidFill>
                  </a:tcPr>
                </a:tc>
                <a:tc>
                  <a:txBody>
                    <a:bodyPr lIns="114300" tIns="76200" rIns="114300" bIns="76200">
                      <a:noAutofit/>
                    </a:bodyPr>
                    <a:lstStyle/>
                    <a:p>
                      <a:pPr algn="r"/>
                      <a:r>
                        <a:rPr sz="1875" b="0">
                          <a:solidFill>
                            <a:srgbClr val="14281D"/>
                          </a:solidFill>
                          <a:latin typeface="Arial"/>
                          <a:ea typeface="Arial"/>
                          <a:cs typeface="Arial"/>
                        </a:rPr>
                        <a:t>Contribution earned relative to cost per first paying household</a:t>
                      </a:r>
                    </a:p>
                  </a:txBody>
                  <a:tcPr marL="91440" marR="91440" marT="45720" marB="45720" anchor="ctr">
                    <a:solidFill>
                      <a:srgbClr val="FFFFFF"/>
                    </a:solidFill>
                  </a:tcPr>
                </a:tc>
              </a:tr>
              <a:tr h="626745">
                <a:tc>
                  <a:txBody>
                    <a:bodyPr lIns="114300" tIns="76200" rIns="114300" bIns="76200">
                      <a:noAutofit/>
                    </a:bodyPr>
                    <a:lstStyle/>
                    <a:p>
                      <a:pPr algn="l"/>
                      <a:r>
                        <a:rPr sz="1875" b="0">
                          <a:solidFill>
                            <a:srgbClr val="14281D"/>
                          </a:solidFill>
                          <a:latin typeface="Arial"/>
                          <a:ea typeface="Arial"/>
                          <a:cs typeface="Arial"/>
                        </a:rPr>
                        <a:t>Operational reliability</a:t>
                      </a:r>
                    </a:p>
                  </a:txBody>
                  <a:tcPr marL="91440" marR="91440" marT="45720" marB="45720" anchor="ctr">
                    <a:solidFill>
                      <a:srgbClr val="F7F5EF"/>
                    </a:solidFill>
                  </a:tcPr>
                </a:tc>
                <a:tc>
                  <a:txBody>
                    <a:bodyPr lIns="114300" tIns="76200" rIns="114300" bIns="76200">
                      <a:noAutofit/>
                    </a:bodyPr>
                    <a:lstStyle/>
                    <a:p>
                      <a:pPr algn="r"/>
                      <a:r>
                        <a:rPr sz="1875" b="0">
                          <a:solidFill>
                            <a:srgbClr val="14281D"/>
                          </a:solidFill>
                          <a:latin typeface="Arial"/>
                          <a:ea typeface="Arial"/>
                          <a:cs typeface="Arial"/>
                        </a:rPr>
                        <a:t>On-time visits, fewer service issues and resolved payment failures</a:t>
                      </a:r>
                    </a:p>
                  </a:txBody>
                  <a:tcPr marL="91440" marR="91440" marT="45720" marB="45720" anchor="ctr">
                    <a:solidFill>
                      <a:srgbClr val="F7F5EF"/>
                    </a:solidFill>
                  </a:tcPr>
                </a:tc>
              </a:tr>
            </a:tbl>
          </a:graphicData>
        </a:graphic>
      </p:graphicFrame>
      <p:sp>
        <p:nvSpPr>
          <p:cNvPr id="6" name="The model assigns no revenue to subscriptions, pro">
            <a:extLst xmlns:a="http://schemas.openxmlformats.org/drawingml/2006/main">
              <a:ext uri="{FF2B5EF4-FFF2-40B4-BE49-F238E27FC236}">
                <a16:creationId xmlns:a16="http://schemas.microsoft.com/office/drawing/2014/main" id="{53F603C0-4D60-434A-94C8-645EF20ACD8F}"/>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The model assigns no revenue to subscriptions, provider recruiting fees, advertising or specialist cross-sell. These remain optional future tests.</a:t>
            </a:r>
          </a:p>
        </p:txBody>
      </p:sp>
    </p:spTree>
    <p:extLst>
      <p:ext uri="{BB962C8B-B14F-4D97-AF65-F5344CB8AC3E}">
        <p14:creationId xmlns:p14="http://schemas.microsoft.com/office/powerpoint/2010/main" val="302323935"/>
      </p:ext>
    </p:extLst>
  </p:cSld>
</p:sld>
</file>

<file path=ppt/slides/slide13.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The forecast makes the assumptions visible">
            <a:extLst xmlns:a="http://schemas.openxmlformats.org/drawingml/2006/main">
              <a:ext uri="{FF2B5EF4-FFF2-40B4-BE49-F238E27FC236}">
                <a16:creationId xmlns:a16="http://schemas.microsoft.com/office/drawing/2014/main" id="{3CA64E9E-F6BC-4684-A102-44B49FC36109}"/>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The forecast makes the assumptions visible</a:t>
            </a:r>
          </a:p>
        </p:txBody>
      </p:sp>
      <p:sp>
        <p:nvSpPr>
          <p:cNvPr id="2" name="2027-2033 calendar years. No historical operating ">
            <a:extLst xmlns:a="http://schemas.openxmlformats.org/drawingml/2006/main">
              <a:ext uri="{FF2B5EF4-FFF2-40B4-BE49-F238E27FC236}">
                <a16:creationId xmlns:a16="http://schemas.microsoft.com/office/drawing/2014/main" id="{6BC3628A-D9E9-4909-B21C-51B165330D1A}"/>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2027-2033 calendar years. No historical operating results are implied.</a:t>
            </a:r>
          </a:p>
        </p:txBody>
      </p:sp>
      <p:sp>
        <p:nvSpPr>
          <p:cNvPr id="3" name="YardMatch">
            <a:extLst xmlns:a="http://schemas.openxmlformats.org/drawingml/2006/main">
              <a:ext uri="{FF2B5EF4-FFF2-40B4-BE49-F238E27FC236}">
                <a16:creationId xmlns:a16="http://schemas.microsoft.com/office/drawing/2014/main" id="{D248AB63-5821-44EA-AC0A-63A8763D8920}"/>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3">
            <a:extLst xmlns:a="http://schemas.openxmlformats.org/drawingml/2006/main">
              <a:ext uri="{FF2B5EF4-FFF2-40B4-BE49-F238E27FC236}">
                <a16:creationId xmlns:a16="http://schemas.microsoft.com/office/drawing/2014/main" id="{E8AB72D0-7584-449F-BE9D-45D3359F666B}"/>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13</a:t>
            </a:r>
          </a:p>
        </p:txBody>
      </p:sp>
      <p:graphicFrame>
        <p:nvGraphicFramePr>
          <p:cNvPr id="11" name=""/>
          <p:cNvGraphicFramePr/>
          <p:nvPr/>
        </p:nvGraphicFramePr>
        <p:xfrm>
          <a:off xmlns:a="http://schemas.openxmlformats.org/drawingml/2006/main" x="609600" y="2352675"/>
          <a:ext xmlns:a="http://schemas.openxmlformats.org/drawingml/2006/main" cx="10972800" cy="3381375"/>
        </p:xfrm>
        <a:graphic xmlns:a="http://schemas.openxmlformats.org/drawingml/2006/main">
          <a:graphicData uri="http://schemas.openxmlformats.org/drawingml/2006/table">
            <a:tbl>
              <a:tblPr/>
              <a:tblGrid>
                <a:gridCol w="4857750"/>
                <a:gridCol w="2038350"/>
                <a:gridCol w="2038350"/>
                <a:gridCol w="2038350"/>
              </a:tblGrid>
              <a:tr h="483054">
                <a:tc>
                  <a:txBody>
                    <a:bodyPr lIns="114300" tIns="76200" rIns="114300" bIns="76200">
                      <a:noAutofit/>
                    </a:bodyPr>
                    <a:lstStyle/>
                    <a:p>
                      <a:pPr algn="l"/>
                      <a:r>
                        <a:rPr sz="1650" b="1">
                          <a:solidFill>
                            <a:srgbClr val="FFFFFF"/>
                          </a:solidFill>
                          <a:latin typeface="Arial"/>
                          <a:ea typeface="Arial"/>
                          <a:cs typeface="Arial"/>
                        </a:rPr>
                        <a:t>Driver</a:t>
                      </a:r>
                    </a:p>
                  </a:txBody>
                  <a:tcPr marL="91440" marR="91440" marT="45720" marB="45720" anchor="ctr">
                    <a:solidFill>
                      <a:srgbClr val="205938"/>
                    </a:solidFill>
                  </a:tcPr>
                </a:tc>
                <a:tc>
                  <a:txBody>
                    <a:bodyPr lIns="114300" tIns="76200" rIns="114300" bIns="76200">
                      <a:noAutofit/>
                    </a:bodyPr>
                    <a:lstStyle/>
                    <a:p>
                      <a:pPr algn="r"/>
                      <a:r>
                        <a:rPr sz="1650" b="1">
                          <a:solidFill>
                            <a:srgbClr val="FFFFFF"/>
                          </a:solidFill>
                          <a:latin typeface="Arial"/>
                          <a:ea typeface="Arial"/>
                          <a:cs typeface="Arial"/>
                        </a:rPr>
                        <a:t>Downside</a:t>
                      </a:r>
                    </a:p>
                  </a:txBody>
                  <a:tcPr marL="91440" marR="91440" marT="45720" marB="45720" anchor="ctr">
                    <a:solidFill>
                      <a:srgbClr val="205938"/>
                    </a:solidFill>
                  </a:tcPr>
                </a:tc>
                <a:tc>
                  <a:txBody>
                    <a:bodyPr lIns="114300" tIns="76200" rIns="114300" bIns="76200">
                      <a:noAutofit/>
                    </a:bodyPr>
                    <a:lstStyle/>
                    <a:p>
                      <a:pPr algn="r"/>
                      <a:r>
                        <a:rPr sz="1650" b="1">
                          <a:solidFill>
                            <a:srgbClr val="FFFFFF"/>
                          </a:solidFill>
                          <a:latin typeface="Arial"/>
                          <a:ea typeface="Arial"/>
                          <a:cs typeface="Arial"/>
                        </a:rPr>
                        <a:t>Base</a:t>
                      </a:r>
                    </a:p>
                  </a:txBody>
                  <a:tcPr marL="91440" marR="91440" marT="45720" marB="45720" anchor="ctr">
                    <a:solidFill>
                      <a:srgbClr val="205938"/>
                    </a:solidFill>
                  </a:tcPr>
                </a:tc>
                <a:tc>
                  <a:txBody>
                    <a:bodyPr lIns="114300" tIns="76200" rIns="114300" bIns="76200">
                      <a:noAutofit/>
                    </a:bodyPr>
                    <a:lstStyle/>
                    <a:p>
                      <a:pPr algn="r"/>
                      <a:r>
                        <a:rPr sz="1650" b="1">
                          <a:solidFill>
                            <a:srgbClr val="FFFFFF"/>
                          </a:solidFill>
                          <a:latin typeface="Arial"/>
                          <a:ea typeface="Arial"/>
                          <a:cs typeface="Arial"/>
                        </a:rPr>
                        <a:t>Upside</a:t>
                      </a:r>
                    </a:p>
                  </a:txBody>
                  <a:tcPr marL="91440" marR="91440" marT="45720" marB="45720" anchor="ctr">
                    <a:solidFill>
                      <a:srgbClr val="205938"/>
                    </a:solidFill>
                  </a:tcPr>
                </a:tc>
              </a:tr>
              <a:tr h="483054">
                <a:tc>
                  <a:txBody>
                    <a:bodyPr lIns="114300" tIns="76200" rIns="114300" bIns="76200">
                      <a:noAutofit/>
                    </a:bodyPr>
                    <a:lstStyle/>
                    <a:p>
                      <a:pPr algn="l"/>
                      <a:r>
                        <a:rPr sz="1650" b="0">
                          <a:solidFill>
                            <a:srgbClr val="14281D"/>
                          </a:solidFill>
                          <a:latin typeface="Arial"/>
                          <a:ea typeface="Arial"/>
                          <a:cs typeface="Arial"/>
                        </a:rPr>
                        <a:t>New paying households, 2027 / 2033</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300 / 40,000</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500 / 160,000</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500 / 280,000</a:t>
                      </a:r>
                    </a:p>
                  </a:txBody>
                  <a:tcPr marL="91440" marR="91440" marT="45720" marB="45720" anchor="ctr">
                    <a:solidFill>
                      <a:srgbClr val="FFFFFF"/>
                    </a:solidFill>
                  </a:tcPr>
                </a:tc>
              </a:tr>
              <a:tr h="483054">
                <a:tc>
                  <a:txBody>
                    <a:bodyPr lIns="114300" tIns="76200" rIns="114300" bIns="76200">
                      <a:noAutofit/>
                    </a:bodyPr>
                    <a:lstStyle/>
                    <a:p>
                      <a:pPr algn="l"/>
                      <a:r>
                        <a:rPr sz="1650" b="0">
                          <a:solidFill>
                            <a:srgbClr val="14281D"/>
                          </a:solidFill>
                          <a:latin typeface="Arial"/>
                          <a:ea typeface="Arial"/>
                          <a:cs typeface="Arial"/>
                        </a:rPr>
                        <a:t>Annual retention by 2033</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65%</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80%</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85%</a:t>
                      </a:r>
                    </a:p>
                  </a:txBody>
                  <a:tcPr marL="91440" marR="91440" marT="45720" marB="45720" anchor="ctr">
                    <a:solidFill>
                      <a:srgbClr val="F7F5EF"/>
                    </a:solidFill>
                  </a:tcPr>
                </a:tc>
              </a:tr>
              <a:tr h="483054">
                <a:tc>
                  <a:txBody>
                    <a:bodyPr lIns="114300" tIns="76200" rIns="114300" bIns="76200">
                      <a:noAutofit/>
                    </a:bodyPr>
                    <a:lstStyle/>
                    <a:p>
                      <a:pPr algn="l"/>
                      <a:r>
                        <a:rPr sz="1650" b="0">
                          <a:solidFill>
                            <a:srgbClr val="14281D"/>
                          </a:solidFill>
                          <a:latin typeface="Arial"/>
                          <a:ea typeface="Arial"/>
                          <a:cs typeface="Arial"/>
                        </a:rPr>
                        <a:t>Scheduled visits per full season</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16</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20</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24</a:t>
                      </a:r>
                    </a:p>
                  </a:txBody>
                  <a:tcPr marL="91440" marR="91440" marT="45720" marB="45720" anchor="ctr">
                    <a:solidFill>
                      <a:srgbClr val="FFFFFF"/>
                    </a:solidFill>
                  </a:tcPr>
                </a:tc>
              </a:tr>
              <a:tr h="483054">
                <a:tc>
                  <a:txBody>
                    <a:bodyPr lIns="114300" tIns="76200" rIns="114300" bIns="76200">
                      <a:noAutofit/>
                    </a:bodyPr>
                    <a:lstStyle/>
                    <a:p>
                      <a:pPr algn="l"/>
                      <a:r>
                        <a:rPr sz="1650" b="0">
                          <a:solidFill>
                            <a:srgbClr val="14281D"/>
                          </a:solidFill>
                          <a:latin typeface="Arial"/>
                          <a:ea typeface="Arial"/>
                          <a:cs typeface="Arial"/>
                        </a:rPr>
                        <a:t>Visits kept on platform</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80%</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90%</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95%</a:t>
                      </a:r>
                    </a:p>
                  </a:txBody>
                  <a:tcPr marL="91440" marR="91440" marT="45720" marB="45720" anchor="ctr">
                    <a:solidFill>
                      <a:srgbClr val="F7F5EF"/>
                    </a:solidFill>
                  </a:tcPr>
                </a:tc>
              </a:tr>
              <a:tr h="483054">
                <a:tc>
                  <a:txBody>
                    <a:bodyPr lIns="114300" tIns="76200" rIns="114300" bIns="76200">
                      <a:noAutofit/>
                    </a:bodyPr>
                    <a:lstStyle/>
                    <a:p>
                      <a:pPr algn="l"/>
                      <a:r>
                        <a:rPr sz="1650" b="0">
                          <a:solidFill>
                            <a:srgbClr val="14281D"/>
                          </a:solidFill>
                          <a:latin typeface="Arial"/>
                          <a:ea typeface="Arial"/>
                          <a:cs typeface="Arial"/>
                        </a:rPr>
                        <a:t>ACH share, 2027 / 2033</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0% / 20%</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10% / 60%</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20% / 75%</a:t>
                      </a:r>
                    </a:p>
                  </a:txBody>
                  <a:tcPr marL="91440" marR="91440" marT="45720" marB="45720" anchor="ctr">
                    <a:solidFill>
                      <a:srgbClr val="FFFFFF"/>
                    </a:solidFill>
                  </a:tcPr>
                </a:tc>
              </a:tr>
              <a:tr h="483054">
                <a:tc>
                  <a:txBody>
                    <a:bodyPr lIns="114300" tIns="76200" rIns="114300" bIns="76200">
                      <a:noAutofit/>
                    </a:bodyPr>
                    <a:lstStyle/>
                    <a:p>
                      <a:pPr algn="l"/>
                      <a:r>
                        <a:rPr sz="1650" b="0">
                          <a:solidFill>
                            <a:srgbClr val="14281D"/>
                          </a:solidFill>
                          <a:latin typeface="Arial"/>
                          <a:ea typeface="Arial"/>
                          <a:cs typeface="Arial"/>
                        </a:rPr>
                        <a:t>Cash CAC, 2027 / 2033</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$75 / $50</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$55 / $28</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$45 / $22</a:t>
                      </a:r>
                    </a:p>
                  </a:txBody>
                  <a:tcPr marL="91440" marR="91440" marT="45720" marB="45720" anchor="ctr">
                    <a:solidFill>
                      <a:srgbClr val="F7F5EF"/>
                    </a:solidFill>
                  </a:tcPr>
                </a:tc>
              </a:tr>
            </a:tbl>
          </a:graphicData>
        </a:graphic>
      </p:graphicFrame>
      <p:sp>
        <p:nvSpPr>
          <p:cNvPr id="6" name="Base: $60 service ticket, 95% completion/collectio">
            <a:extLst xmlns:a="http://schemas.openxmlformats.org/drawingml/2006/main">
              <a:ext uri="{FF2B5EF4-FFF2-40B4-BE49-F238E27FC236}">
                <a16:creationId xmlns:a16="http://schemas.microsoft.com/office/drawing/2014/main" id="{E5903A3A-790B-4854-AA64-36C970EB438B}"/>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Base: $60 service ticket, 95% completion/collection, eight payout-active months, 3 to 36 paid employees. All cases retain $45 plus $2.99 pricing.</a:t>
            </a:r>
          </a:p>
        </p:txBody>
      </p:sp>
    </p:spTree>
    <p:extLst>
      <p:ext uri="{BB962C8B-B14F-4D97-AF65-F5344CB8AC3E}">
        <p14:creationId xmlns:p14="http://schemas.microsoft.com/office/powerpoint/2010/main" val="470486240"/>
      </p:ext>
    </p:extLst>
  </p:cSld>
</p:sld>
</file>

<file path=ppt/slides/slide14.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Base revenue reaches $17.9m in 2033">
            <a:extLst xmlns:a="http://schemas.openxmlformats.org/drawingml/2006/main">
              <a:ext uri="{FF2B5EF4-FFF2-40B4-BE49-F238E27FC236}">
                <a16:creationId xmlns:a16="http://schemas.microsoft.com/office/drawing/2014/main" id="{14FD4E30-45E2-4835-B9BF-A883A438097D}"/>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Base revenue reaches $17.9m in 2033</a:t>
            </a:r>
          </a:p>
        </p:txBody>
      </p:sp>
      <p:sp>
        <p:nvSpPr>
          <p:cNvPr id="2" name="Net marketplace revenue, US$ millions. Finder fees">
            <a:extLst xmlns:a="http://schemas.openxmlformats.org/drawingml/2006/main">
              <a:ext uri="{FF2B5EF4-FFF2-40B4-BE49-F238E27FC236}">
                <a16:creationId xmlns:a16="http://schemas.microsoft.com/office/drawing/2014/main" id="{71A2BAE2-E12A-48C2-A4B0-DBF41D13EBDF}"/>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Net marketplace revenue, US$ millions. Finder fees and recurring fees are distinct revenue streams.</a:t>
            </a:r>
          </a:p>
        </p:txBody>
      </p:sp>
      <p:sp>
        <p:nvSpPr>
          <p:cNvPr id="3" name="YardMatch">
            <a:extLst xmlns:a="http://schemas.openxmlformats.org/drawingml/2006/main">
              <a:ext uri="{FF2B5EF4-FFF2-40B4-BE49-F238E27FC236}">
                <a16:creationId xmlns:a16="http://schemas.microsoft.com/office/drawing/2014/main" id="{21A74661-859B-4EA4-8E94-10A23ACEF4BF}"/>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4">
            <a:extLst xmlns:a="http://schemas.openxmlformats.org/drawingml/2006/main">
              <a:ext uri="{FF2B5EF4-FFF2-40B4-BE49-F238E27FC236}">
                <a16:creationId xmlns:a16="http://schemas.microsoft.com/office/drawing/2014/main" id="{4E97C0AA-FBEF-415B-AB43-96AD96A11DB3}"/>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14</a:t>
            </a:r>
          </a:p>
        </p:txBody>
      </p:sp>
      <p:graphicFrame>
        <p:nvGraphicFramePr>
          <p:cNvPr id="11" name="Chart"/>
          <p:cNvGraphicFramePr/>
          <p:nvPr/>
        </p:nvGraphicFramePr>
        <p:xfrm>
          <a:off xmlns:a="http://schemas.openxmlformats.org/drawingml/2006/main" x="590550" y="2286000"/>
          <a:ext xmlns:a="http://schemas.openxmlformats.org/drawingml/2006/main" cx="11010900" cy="3362325"/>
        </p:xfrm>
        <a:graphic xmlns:a="http://schemas.openxmlformats.org/drawingml/2006/main">
          <a:graphicData uri="http://schemas.openxmlformats.org/drawingml/2006/chart">
            <c:chart xmlns:r="http://schemas.openxmlformats.org/officeDocument/2006/relationships" xmlns:c="http://schemas.openxmlformats.org/drawingml/2006/chart" r:id="Re2a3c19afce74ab1"/>
          </a:graphicData>
        </a:graphic>
      </p:graphicFrame>
      <p:sp>
        <p:nvSpPr>
          <p:cNvPr id="6" name="Base 2033: 292,448 year-end paying households, 3.6">
            <a:extLst xmlns:a="http://schemas.openxmlformats.org/drawingml/2006/main">
              <a:ext uri="{FF2B5EF4-FFF2-40B4-BE49-F238E27FC236}">
                <a16:creationId xmlns:a16="http://schemas.microsoft.com/office/drawing/2014/main" id="{5F1F3F17-A3F7-440C-B265-F278C01794D8}"/>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Base 2033: 292,448 year-end paying households, 3.63m paid visits and $218.0m GMV. The $218.0m is service volume, not YardMatch revenue.</a:t>
            </a:r>
          </a:p>
        </p:txBody>
      </p:sp>
    </p:spTree>
    <p:extLst>
      <p:ext uri="{BB962C8B-B14F-4D97-AF65-F5344CB8AC3E}">
        <p14:creationId xmlns:p14="http://schemas.microsoft.com/office/powerpoint/2010/main" val="694050126"/>
      </p:ext>
    </p:extLst>
  </p:cSld>
</p:sld>
</file>

<file path=ppt/slides/slide15.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Base operating profitability arrives in 2033">
            <a:extLst xmlns:a="http://schemas.openxmlformats.org/drawingml/2006/main">
              <a:ext uri="{FF2B5EF4-FFF2-40B4-BE49-F238E27FC236}">
                <a16:creationId xmlns:a16="http://schemas.microsoft.com/office/drawing/2014/main" id="{52E696AE-1F52-4960-AB54-836198C1D50A}"/>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Base operating profitability arrives in 2033</a:t>
            </a:r>
          </a:p>
        </p:txBody>
      </p:sp>
      <p:sp>
        <p:nvSpPr>
          <p:cNvPr id="2" name="US$ millions. The company funds several loss-makin">
            <a:extLst xmlns:a="http://schemas.openxmlformats.org/drawingml/2006/main">
              <a:ext uri="{FF2B5EF4-FFF2-40B4-BE49-F238E27FC236}">
                <a16:creationId xmlns:a16="http://schemas.microsoft.com/office/drawing/2014/main" id="{3F0831AE-9C6D-4EE9-82F9-6E4490FFEFAC}"/>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US$ millions. The company funds several loss-making years before reaching this scale.</a:t>
            </a:r>
          </a:p>
        </p:txBody>
      </p:sp>
      <p:sp>
        <p:nvSpPr>
          <p:cNvPr id="3" name="YardMatch">
            <a:extLst xmlns:a="http://schemas.openxmlformats.org/drawingml/2006/main">
              <a:ext uri="{FF2B5EF4-FFF2-40B4-BE49-F238E27FC236}">
                <a16:creationId xmlns:a16="http://schemas.microsoft.com/office/drawing/2014/main" id="{EE128867-F747-42C0-A5EF-8896D5F7F935}"/>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5">
            <a:extLst xmlns:a="http://schemas.openxmlformats.org/drawingml/2006/main">
              <a:ext uri="{FF2B5EF4-FFF2-40B4-BE49-F238E27FC236}">
                <a16:creationId xmlns:a16="http://schemas.microsoft.com/office/drawing/2014/main" id="{5DA77826-4146-49CB-96CB-54E6225457D0}"/>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15</a:t>
            </a:r>
          </a:p>
        </p:txBody>
      </p:sp>
      <p:graphicFrame>
        <p:nvGraphicFramePr>
          <p:cNvPr id="11" name=""/>
          <p:cNvGraphicFramePr/>
          <p:nvPr/>
        </p:nvGraphicFramePr>
        <p:xfrm>
          <a:off xmlns:a="http://schemas.openxmlformats.org/drawingml/2006/main" x="609600" y="2343150"/>
          <a:ext xmlns:a="http://schemas.openxmlformats.org/drawingml/2006/main" cx="10972800" cy="3228975"/>
        </p:xfrm>
        <a:graphic xmlns:a="http://schemas.openxmlformats.org/drawingml/2006/main">
          <a:graphicData uri="http://schemas.openxmlformats.org/drawingml/2006/table">
            <a:tbl>
              <a:tblPr/>
              <a:tblGrid>
                <a:gridCol w="2571750"/>
                <a:gridCol w="1200150"/>
                <a:gridCol w="1200150"/>
                <a:gridCol w="1200150"/>
                <a:gridCol w="1200150"/>
                <a:gridCol w="1200150"/>
                <a:gridCol w="1200150"/>
                <a:gridCol w="1200150"/>
              </a:tblGrid>
              <a:tr h="461282">
                <a:tc>
                  <a:txBody>
                    <a:bodyPr lIns="114300" tIns="76200" rIns="114300" bIns="76200">
                      <a:noAutofit/>
                    </a:bodyPr>
                    <a:lstStyle/>
                    <a:p>
                      <a:pPr algn="l"/>
                      <a:r>
                        <a:rPr sz="1500" b="1">
                          <a:solidFill>
                            <a:srgbClr val="FFFFFF"/>
                          </a:solidFill>
                          <a:latin typeface="Arial"/>
                          <a:ea typeface="Arial"/>
                          <a:cs typeface="Arial"/>
                        </a:rPr>
                        <a:t>Base forecast</a:t>
                      </a:r>
                    </a:p>
                  </a:txBody>
                  <a:tcPr marL="91440" marR="91440" marT="45720" marB="45720" anchor="ctr">
                    <a:solidFill>
                      <a:srgbClr val="205938"/>
                    </a:solidFill>
                  </a:tcPr>
                </a:tc>
                <a:tc>
                  <a:txBody>
                    <a:bodyPr lIns="114300" tIns="76200" rIns="114300" bIns="76200">
                      <a:noAutofit/>
                    </a:bodyPr>
                    <a:lstStyle/>
                    <a:p>
                      <a:pPr algn="r"/>
                      <a:r>
                        <a:rPr sz="1500" b="1">
                          <a:solidFill>
                            <a:srgbClr val="FFFFFF"/>
                          </a:solidFill>
                          <a:latin typeface="Arial"/>
                          <a:ea typeface="Arial"/>
                          <a:cs typeface="Arial"/>
                        </a:rPr>
                        <a:t>2027</a:t>
                      </a:r>
                    </a:p>
                  </a:txBody>
                  <a:tcPr marL="91440" marR="91440" marT="45720" marB="45720" anchor="ctr">
                    <a:solidFill>
                      <a:srgbClr val="205938"/>
                    </a:solidFill>
                  </a:tcPr>
                </a:tc>
                <a:tc>
                  <a:txBody>
                    <a:bodyPr lIns="114300" tIns="76200" rIns="114300" bIns="76200">
                      <a:noAutofit/>
                    </a:bodyPr>
                    <a:lstStyle/>
                    <a:p>
                      <a:pPr algn="r"/>
                      <a:r>
                        <a:rPr sz="1500" b="1">
                          <a:solidFill>
                            <a:srgbClr val="FFFFFF"/>
                          </a:solidFill>
                          <a:latin typeface="Arial"/>
                          <a:ea typeface="Arial"/>
                          <a:cs typeface="Arial"/>
                        </a:rPr>
                        <a:t>2028</a:t>
                      </a:r>
                    </a:p>
                  </a:txBody>
                  <a:tcPr marL="91440" marR="91440" marT="45720" marB="45720" anchor="ctr">
                    <a:solidFill>
                      <a:srgbClr val="205938"/>
                    </a:solidFill>
                  </a:tcPr>
                </a:tc>
                <a:tc>
                  <a:txBody>
                    <a:bodyPr lIns="114300" tIns="76200" rIns="114300" bIns="76200">
                      <a:noAutofit/>
                    </a:bodyPr>
                    <a:lstStyle/>
                    <a:p>
                      <a:pPr algn="r"/>
                      <a:r>
                        <a:rPr sz="1500" b="1">
                          <a:solidFill>
                            <a:srgbClr val="FFFFFF"/>
                          </a:solidFill>
                          <a:latin typeface="Arial"/>
                          <a:ea typeface="Arial"/>
                          <a:cs typeface="Arial"/>
                        </a:rPr>
                        <a:t>2029</a:t>
                      </a:r>
                    </a:p>
                  </a:txBody>
                  <a:tcPr marL="91440" marR="91440" marT="45720" marB="45720" anchor="ctr">
                    <a:solidFill>
                      <a:srgbClr val="205938"/>
                    </a:solidFill>
                  </a:tcPr>
                </a:tc>
                <a:tc>
                  <a:txBody>
                    <a:bodyPr lIns="114300" tIns="76200" rIns="114300" bIns="76200">
                      <a:noAutofit/>
                    </a:bodyPr>
                    <a:lstStyle/>
                    <a:p>
                      <a:pPr algn="r"/>
                      <a:r>
                        <a:rPr sz="1500" b="1">
                          <a:solidFill>
                            <a:srgbClr val="FFFFFF"/>
                          </a:solidFill>
                          <a:latin typeface="Arial"/>
                          <a:ea typeface="Arial"/>
                          <a:cs typeface="Arial"/>
                        </a:rPr>
                        <a:t>2030</a:t>
                      </a:r>
                    </a:p>
                  </a:txBody>
                  <a:tcPr marL="91440" marR="91440" marT="45720" marB="45720" anchor="ctr">
                    <a:solidFill>
                      <a:srgbClr val="205938"/>
                    </a:solidFill>
                  </a:tcPr>
                </a:tc>
                <a:tc>
                  <a:txBody>
                    <a:bodyPr lIns="114300" tIns="76200" rIns="114300" bIns="76200">
                      <a:noAutofit/>
                    </a:bodyPr>
                    <a:lstStyle/>
                    <a:p>
                      <a:pPr algn="r"/>
                      <a:r>
                        <a:rPr sz="1500" b="1">
                          <a:solidFill>
                            <a:srgbClr val="FFFFFF"/>
                          </a:solidFill>
                          <a:latin typeface="Arial"/>
                          <a:ea typeface="Arial"/>
                          <a:cs typeface="Arial"/>
                        </a:rPr>
                        <a:t>2031</a:t>
                      </a:r>
                    </a:p>
                  </a:txBody>
                  <a:tcPr marL="91440" marR="91440" marT="45720" marB="45720" anchor="ctr">
                    <a:solidFill>
                      <a:srgbClr val="205938"/>
                    </a:solidFill>
                  </a:tcPr>
                </a:tc>
                <a:tc>
                  <a:txBody>
                    <a:bodyPr lIns="114300" tIns="76200" rIns="114300" bIns="76200">
                      <a:noAutofit/>
                    </a:bodyPr>
                    <a:lstStyle/>
                    <a:p>
                      <a:pPr algn="r"/>
                      <a:r>
                        <a:rPr sz="1500" b="1">
                          <a:solidFill>
                            <a:srgbClr val="FFFFFF"/>
                          </a:solidFill>
                          <a:latin typeface="Arial"/>
                          <a:ea typeface="Arial"/>
                          <a:cs typeface="Arial"/>
                        </a:rPr>
                        <a:t>2032</a:t>
                      </a:r>
                    </a:p>
                  </a:txBody>
                  <a:tcPr marL="91440" marR="91440" marT="45720" marB="45720" anchor="ctr">
                    <a:solidFill>
                      <a:srgbClr val="205938"/>
                    </a:solidFill>
                  </a:tcPr>
                </a:tc>
                <a:tc>
                  <a:txBody>
                    <a:bodyPr lIns="114300" tIns="76200" rIns="114300" bIns="76200">
                      <a:noAutofit/>
                    </a:bodyPr>
                    <a:lstStyle/>
                    <a:p>
                      <a:pPr algn="r"/>
                      <a:r>
                        <a:rPr sz="1500" b="1">
                          <a:solidFill>
                            <a:srgbClr val="FFFFFF"/>
                          </a:solidFill>
                          <a:latin typeface="Arial"/>
                          <a:ea typeface="Arial"/>
                          <a:cs typeface="Arial"/>
                        </a:rPr>
                        <a:t>2033</a:t>
                      </a:r>
                    </a:p>
                  </a:txBody>
                  <a:tcPr marL="91440" marR="91440" marT="45720" marB="45720" anchor="ctr">
                    <a:solidFill>
                      <a:srgbClr val="205938"/>
                    </a:solidFill>
                  </a:tcPr>
                </a:tc>
              </a:tr>
              <a:tr h="461282">
                <a:tc>
                  <a:txBody>
                    <a:bodyPr lIns="114300" tIns="76200" rIns="114300" bIns="76200">
                      <a:noAutofit/>
                    </a:bodyPr>
                    <a:lstStyle/>
                    <a:p>
                      <a:pPr algn="l"/>
                      <a:r>
                        <a:rPr sz="1500" b="0">
                          <a:solidFill>
                            <a:srgbClr val="14281D"/>
                          </a:solidFill>
                          <a:latin typeface="Arial"/>
                          <a:ea typeface="Arial"/>
                          <a:cs typeface="Arial"/>
                        </a:rPr>
                        <a:t>Revenue</a:t>
                      </a:r>
                    </a:p>
                  </a:txBody>
                  <a:tcPr marL="91440" marR="91440" marT="45720" marB="45720" anchor="ctr">
                    <a:solidFill>
                      <a:srgbClr val="FFFFFF"/>
                    </a:solidFill>
                  </a:tcPr>
                </a:tc>
                <a:tc>
                  <a:txBody>
                    <a:bodyPr lIns="114300" tIns="76200" rIns="114300" bIns="76200">
                      <a:noAutofit/>
                    </a:bodyPr>
                    <a:lstStyle/>
                    <a:p>
                      <a:pPr algn="r"/>
                      <a:r>
                        <a:rPr sz="1500" b="0">
                          <a:solidFill>
                            <a:srgbClr val="14281D"/>
                          </a:solidFill>
                          <a:latin typeface="Arial"/>
                          <a:ea typeface="Arial"/>
                          <a:cs typeface="Arial"/>
                        </a:rPr>
                        <a:t>$0.03</a:t>
                      </a:r>
                    </a:p>
                  </a:txBody>
                  <a:tcPr marL="91440" marR="91440" marT="45720" marB="45720" anchor="ctr">
                    <a:solidFill>
                      <a:srgbClr val="FFFFFF"/>
                    </a:solidFill>
                  </a:tcPr>
                </a:tc>
                <a:tc>
                  <a:txBody>
                    <a:bodyPr lIns="114300" tIns="76200" rIns="114300" bIns="76200">
                      <a:noAutofit/>
                    </a:bodyPr>
                    <a:lstStyle/>
                    <a:p>
                      <a:pPr algn="r"/>
                      <a:r>
                        <a:rPr sz="1500" b="0">
                          <a:solidFill>
                            <a:srgbClr val="14281D"/>
                          </a:solidFill>
                          <a:latin typeface="Arial"/>
                          <a:ea typeface="Arial"/>
                          <a:cs typeface="Arial"/>
                        </a:rPr>
                        <a:t>$0.19</a:t>
                      </a:r>
                    </a:p>
                  </a:txBody>
                  <a:tcPr marL="91440" marR="91440" marT="45720" marB="45720" anchor="ctr">
                    <a:solidFill>
                      <a:srgbClr val="FFFFFF"/>
                    </a:solidFill>
                  </a:tcPr>
                </a:tc>
                <a:tc>
                  <a:txBody>
                    <a:bodyPr lIns="114300" tIns="76200" rIns="114300" bIns="76200">
                      <a:noAutofit/>
                    </a:bodyPr>
                    <a:lstStyle/>
                    <a:p>
                      <a:pPr algn="r"/>
                      <a:r>
                        <a:rPr sz="1500" b="0">
                          <a:solidFill>
                            <a:srgbClr val="14281D"/>
                          </a:solidFill>
                          <a:latin typeface="Arial"/>
                          <a:ea typeface="Arial"/>
                          <a:cs typeface="Arial"/>
                        </a:rPr>
                        <a:t>$0.73</a:t>
                      </a:r>
                    </a:p>
                  </a:txBody>
                  <a:tcPr marL="91440" marR="91440" marT="45720" marB="45720" anchor="ctr">
                    <a:solidFill>
                      <a:srgbClr val="FFFFFF"/>
                    </a:solidFill>
                  </a:tcPr>
                </a:tc>
                <a:tc>
                  <a:txBody>
                    <a:bodyPr lIns="114300" tIns="76200" rIns="114300" bIns="76200">
                      <a:noAutofit/>
                    </a:bodyPr>
                    <a:lstStyle/>
                    <a:p>
                      <a:pPr algn="r"/>
                      <a:r>
                        <a:rPr sz="1500" b="0">
                          <a:solidFill>
                            <a:srgbClr val="14281D"/>
                          </a:solidFill>
                          <a:latin typeface="Arial"/>
                          <a:ea typeface="Arial"/>
                          <a:cs typeface="Arial"/>
                        </a:rPr>
                        <a:t>$2.18</a:t>
                      </a:r>
                    </a:p>
                  </a:txBody>
                  <a:tcPr marL="91440" marR="91440" marT="45720" marB="45720" anchor="ctr">
                    <a:solidFill>
                      <a:srgbClr val="FFFFFF"/>
                    </a:solidFill>
                  </a:tcPr>
                </a:tc>
                <a:tc>
                  <a:txBody>
                    <a:bodyPr lIns="114300" tIns="76200" rIns="114300" bIns="76200">
                      <a:noAutofit/>
                    </a:bodyPr>
                    <a:lstStyle/>
                    <a:p>
                      <a:pPr algn="r"/>
                      <a:r>
                        <a:rPr sz="1500" b="0">
                          <a:solidFill>
                            <a:srgbClr val="14281D"/>
                          </a:solidFill>
                          <a:latin typeface="Arial"/>
                          <a:ea typeface="Arial"/>
                          <a:cs typeface="Arial"/>
                        </a:rPr>
                        <a:t>$5.20</a:t>
                      </a:r>
                    </a:p>
                  </a:txBody>
                  <a:tcPr marL="91440" marR="91440" marT="45720" marB="45720" anchor="ctr">
                    <a:solidFill>
                      <a:srgbClr val="FFFFFF"/>
                    </a:solidFill>
                  </a:tcPr>
                </a:tc>
                <a:tc>
                  <a:txBody>
                    <a:bodyPr lIns="114300" tIns="76200" rIns="114300" bIns="76200">
                      <a:noAutofit/>
                    </a:bodyPr>
                    <a:lstStyle/>
                    <a:p>
                      <a:pPr algn="r"/>
                      <a:r>
                        <a:rPr sz="1500" b="0">
                          <a:solidFill>
                            <a:srgbClr val="14281D"/>
                          </a:solidFill>
                          <a:latin typeface="Arial"/>
                          <a:ea typeface="Arial"/>
                          <a:cs typeface="Arial"/>
                        </a:rPr>
                        <a:t>$10.30</a:t>
                      </a:r>
                    </a:p>
                  </a:txBody>
                  <a:tcPr marL="91440" marR="91440" marT="45720" marB="45720" anchor="ctr">
                    <a:solidFill>
                      <a:srgbClr val="FFFFFF"/>
                    </a:solidFill>
                  </a:tcPr>
                </a:tc>
                <a:tc>
                  <a:txBody>
                    <a:bodyPr lIns="114300" tIns="76200" rIns="114300" bIns="76200">
                      <a:noAutofit/>
                    </a:bodyPr>
                    <a:lstStyle/>
                    <a:p>
                      <a:pPr algn="r"/>
                      <a:r>
                        <a:rPr sz="1500" b="0">
                          <a:solidFill>
                            <a:srgbClr val="14281D"/>
                          </a:solidFill>
                          <a:latin typeface="Arial"/>
                          <a:ea typeface="Arial"/>
                          <a:cs typeface="Arial"/>
                        </a:rPr>
                        <a:t>$17.89</a:t>
                      </a:r>
                    </a:p>
                  </a:txBody>
                  <a:tcPr marL="91440" marR="91440" marT="45720" marB="45720" anchor="ctr">
                    <a:solidFill>
                      <a:srgbClr val="FFFFFF"/>
                    </a:solidFill>
                  </a:tcPr>
                </a:tc>
              </a:tr>
              <a:tr h="461282">
                <a:tc>
                  <a:txBody>
                    <a:bodyPr lIns="114300" tIns="76200" rIns="114300" bIns="76200">
                      <a:noAutofit/>
                    </a:bodyPr>
                    <a:lstStyle/>
                    <a:p>
                      <a:pPr algn="l"/>
                      <a:r>
                        <a:rPr sz="1500" b="0">
                          <a:solidFill>
                            <a:srgbClr val="14281D"/>
                          </a:solidFill>
                          <a:latin typeface="Arial"/>
                          <a:ea typeface="Arial"/>
                          <a:cs typeface="Arial"/>
                        </a:rPr>
                        <a:t>Gross profit</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$0.02</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$0.12</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$0.47</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$1.38</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$3.29</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$6.41</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$11.02</a:t>
                      </a:r>
                    </a:p>
                  </a:txBody>
                  <a:tcPr marL="91440" marR="91440" marT="45720" marB="45720" anchor="ctr">
                    <a:solidFill>
                      <a:srgbClr val="F7F5EF"/>
                    </a:solidFill>
                  </a:tcPr>
                </a:tc>
              </a:tr>
              <a:tr h="461282">
                <a:tc>
                  <a:txBody>
                    <a:bodyPr lIns="114300" tIns="76200" rIns="114300" bIns="76200">
                      <a:noAutofit/>
                    </a:bodyPr>
                    <a:lstStyle/>
                    <a:p>
                      <a:pPr algn="l"/>
                      <a:r>
                        <a:rPr sz="1500" b="1">
                          <a:solidFill>
                            <a:srgbClr val="14281D"/>
                          </a:solidFill>
                          <a:latin typeface="Arial"/>
                          <a:ea typeface="Arial"/>
                          <a:cs typeface="Arial"/>
                        </a:rPr>
                        <a:t>EBITDA</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($0.37)</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($0.63)</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($0.99)</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($1.29)</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($1.30)</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($0.62)</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$0.78</a:t>
                      </a:r>
                    </a:p>
                  </a:txBody>
                  <a:tcPr marL="91440" marR="91440" marT="45720" marB="45720" anchor="ctr">
                    <a:solidFill>
                      <a:srgbClr val="E8EDDF"/>
                    </a:solidFill>
                  </a:tcPr>
                </a:tc>
              </a:tr>
              <a:tr h="461282">
                <a:tc>
                  <a:txBody>
                    <a:bodyPr lIns="114300" tIns="76200" rIns="114300" bIns="76200">
                      <a:noAutofit/>
                    </a:bodyPr>
                    <a:lstStyle/>
                    <a:p>
                      <a:pPr algn="l"/>
                      <a:r>
                        <a:rPr sz="1500" b="0">
                          <a:solidFill>
                            <a:srgbClr val="14281D"/>
                          </a:solidFill>
                          <a:latin typeface="Arial"/>
                          <a:ea typeface="Arial"/>
                          <a:cs typeface="Arial"/>
                        </a:rPr>
                        <a:t>Operating profit</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($0.37)</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($0.64)</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($1.02)</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($1.33)</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($1.36)</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($0.72)</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$0.64</a:t>
                      </a:r>
                    </a:p>
                  </a:txBody>
                  <a:tcPr marL="91440" marR="91440" marT="45720" marB="45720" anchor="ctr">
                    <a:solidFill>
                      <a:srgbClr val="F7F5EF"/>
                    </a:solidFill>
                  </a:tcPr>
                </a:tc>
              </a:tr>
              <a:tr h="461282">
                <a:tc>
                  <a:txBody>
                    <a:bodyPr lIns="114300" tIns="76200" rIns="114300" bIns="76200">
                      <a:noAutofit/>
                    </a:bodyPr>
                    <a:lstStyle/>
                    <a:p>
                      <a:pPr algn="l"/>
                      <a:r>
                        <a:rPr sz="1500" b="1">
                          <a:solidFill>
                            <a:srgbClr val="14281D"/>
                          </a:solidFill>
                          <a:latin typeface="Arial"/>
                          <a:ea typeface="Arial"/>
                          <a:cs typeface="Arial"/>
                        </a:rPr>
                        <a:t>Net income proxy</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($0.37)</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($0.64)</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($1.02)</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($1.33)</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($1.36)</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($0.72)</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$0.48</a:t>
                      </a:r>
                    </a:p>
                  </a:txBody>
                  <a:tcPr marL="91440" marR="91440" marT="45720" marB="45720" anchor="ctr">
                    <a:solidFill>
                      <a:srgbClr val="E8EDDF"/>
                    </a:solidFill>
                  </a:tcPr>
                </a:tc>
              </a:tr>
              <a:tr h="461282">
                <a:tc>
                  <a:txBody>
                    <a:bodyPr lIns="114300" tIns="76200" rIns="114300" bIns="76200">
                      <a:noAutofit/>
                    </a:bodyPr>
                    <a:lstStyle/>
                    <a:p>
                      <a:pPr algn="l"/>
                      <a:r>
                        <a:rPr sz="1500" b="0">
                          <a:solidFill>
                            <a:srgbClr val="14281D"/>
                          </a:solidFill>
                          <a:latin typeface="Arial"/>
                          <a:ea typeface="Arial"/>
                          <a:cs typeface="Arial"/>
                        </a:rPr>
                        <a:t>Free cash flow</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($0.38)</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($0.67)</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($1.09)</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($1.50)</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($1.73)</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($1.38)</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($0.56)</a:t>
                      </a:r>
                    </a:p>
                  </a:txBody>
                  <a:tcPr marL="91440" marR="91440" marT="45720" marB="45720" anchor="ctr">
                    <a:solidFill>
                      <a:srgbClr val="F7F5EF"/>
                    </a:solidFill>
                  </a:tcPr>
                </a:tc>
              </a:tr>
            </a:tbl>
          </a:graphicData>
        </a:graphic>
      </p:graphicFrame>
      <p:sp>
        <p:nvSpPr>
          <p:cNvPr id="6" name="2033 net income is $0.48m, while free cash flow is">
            <a:extLst xmlns:a="http://schemas.openxmlformats.org/drawingml/2006/main">
              <a:ext uri="{FF2B5EF4-FFF2-40B4-BE49-F238E27FC236}">
                <a16:creationId xmlns:a16="http://schemas.microsoft.com/office/drawing/2014/main" id="{0BB7E396-421B-4198-9129-3A19735A6C9D}"/>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2033 net income is $0.48m, while free cash flow is ($0.56m) because growth requires more risk cash and equipment. Profit and cash generation differ.</a:t>
            </a:r>
          </a:p>
        </p:txBody>
      </p:sp>
    </p:spTree>
    <p:extLst>
      <p:ext uri="{BB962C8B-B14F-4D97-AF65-F5344CB8AC3E}">
        <p14:creationId xmlns:p14="http://schemas.microsoft.com/office/powerpoint/2010/main" val="754268978"/>
      </p:ext>
    </p:extLst>
  </p:cSld>
</p:sld>
</file>

<file path=ppt/slides/slide16.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Returns depend on execution, not volume alone">
            <a:extLst xmlns:a="http://schemas.openxmlformats.org/drawingml/2006/main">
              <a:ext uri="{FF2B5EF4-FFF2-40B4-BE49-F238E27FC236}">
                <a16:creationId xmlns:a16="http://schemas.microsoft.com/office/drawing/2014/main" id="{8601F18E-C997-4969-B5E3-A1D744653347}"/>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Returns depend on execution, not volume alone</a:t>
            </a:r>
          </a:p>
        </p:txBody>
      </p:sp>
      <p:sp>
        <p:nvSpPr>
          <p:cNvPr id="2" name="All three cases use the same provider pricing. Ret">
            <a:extLst xmlns:a="http://schemas.openxmlformats.org/drawingml/2006/main">
              <a:ext uri="{FF2B5EF4-FFF2-40B4-BE49-F238E27FC236}">
                <a16:creationId xmlns:a16="http://schemas.microsoft.com/office/drawing/2014/main" id="{BE088D0D-B0EA-4F5C-A7C4-4FE36932F633}"/>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All three cases use the same provider pricing. Retention, acquisition and payment mix change the outcome.</a:t>
            </a:r>
          </a:p>
        </p:txBody>
      </p:sp>
      <p:sp>
        <p:nvSpPr>
          <p:cNvPr id="3" name="YardMatch">
            <a:extLst xmlns:a="http://schemas.openxmlformats.org/drawingml/2006/main">
              <a:ext uri="{FF2B5EF4-FFF2-40B4-BE49-F238E27FC236}">
                <a16:creationId xmlns:a16="http://schemas.microsoft.com/office/drawing/2014/main" id="{9E2CA9B6-27F6-4285-BD20-DCECE0AD1562}"/>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6">
            <a:extLst xmlns:a="http://schemas.openxmlformats.org/drawingml/2006/main">
              <a:ext uri="{FF2B5EF4-FFF2-40B4-BE49-F238E27FC236}">
                <a16:creationId xmlns:a16="http://schemas.microsoft.com/office/drawing/2014/main" id="{5712C40D-9230-4CBD-A863-A1BA29E3379A}"/>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16</a:t>
            </a:r>
          </a:p>
        </p:txBody>
      </p:sp>
      <p:graphicFrame>
        <p:nvGraphicFramePr>
          <p:cNvPr id="11" name=""/>
          <p:cNvGraphicFramePr/>
          <p:nvPr/>
        </p:nvGraphicFramePr>
        <p:xfrm>
          <a:off xmlns:a="http://schemas.openxmlformats.org/drawingml/2006/main" x="609600" y="2371725"/>
          <a:ext xmlns:a="http://schemas.openxmlformats.org/drawingml/2006/main" cx="10972800" cy="3057525"/>
        </p:xfrm>
        <a:graphic xmlns:a="http://schemas.openxmlformats.org/drawingml/2006/main">
          <a:graphicData uri="http://schemas.openxmlformats.org/drawingml/2006/table">
            <a:tbl>
              <a:tblPr/>
              <a:tblGrid>
                <a:gridCol w="4600575"/>
                <a:gridCol w="2124075"/>
                <a:gridCol w="2124075"/>
                <a:gridCol w="2124075"/>
              </a:tblGrid>
              <a:tr h="509588">
                <a:tc>
                  <a:txBody>
                    <a:bodyPr lIns="114300" tIns="76200" rIns="114300" bIns="76200">
                      <a:noAutofit/>
                    </a:bodyPr>
                    <a:lstStyle/>
                    <a:p>
                      <a:pPr algn="l"/>
                      <a:r>
                        <a:rPr sz="1800" b="1">
                          <a:solidFill>
                            <a:srgbClr val="FFFFFF"/>
                          </a:solidFill>
                          <a:latin typeface="Arial"/>
                          <a:ea typeface="Arial"/>
                          <a:cs typeface="Arial"/>
                        </a:rPr>
                        <a:t>Result</a:t>
                      </a:r>
                    </a:p>
                  </a:txBody>
                  <a:tcPr marL="91440" marR="91440" marT="45720" marB="45720" anchor="ctr">
                    <a:solidFill>
                      <a:srgbClr val="205938"/>
                    </a:solidFill>
                  </a:tcPr>
                </a:tc>
                <a:tc>
                  <a:txBody>
                    <a:bodyPr lIns="114300" tIns="76200" rIns="114300" bIns="76200">
                      <a:noAutofit/>
                    </a:bodyPr>
                    <a:lstStyle/>
                    <a:p>
                      <a:pPr algn="r"/>
                      <a:r>
                        <a:rPr sz="1800" b="1">
                          <a:solidFill>
                            <a:srgbClr val="FFFFFF"/>
                          </a:solidFill>
                          <a:latin typeface="Arial"/>
                          <a:ea typeface="Arial"/>
                          <a:cs typeface="Arial"/>
                        </a:rPr>
                        <a:t>Downside</a:t>
                      </a:r>
                    </a:p>
                  </a:txBody>
                  <a:tcPr marL="91440" marR="91440" marT="45720" marB="45720" anchor="ctr">
                    <a:solidFill>
                      <a:srgbClr val="205938"/>
                    </a:solidFill>
                  </a:tcPr>
                </a:tc>
                <a:tc>
                  <a:txBody>
                    <a:bodyPr lIns="114300" tIns="76200" rIns="114300" bIns="76200">
                      <a:noAutofit/>
                    </a:bodyPr>
                    <a:lstStyle/>
                    <a:p>
                      <a:pPr algn="r"/>
                      <a:r>
                        <a:rPr sz="1800" b="1">
                          <a:solidFill>
                            <a:srgbClr val="FFFFFF"/>
                          </a:solidFill>
                          <a:latin typeface="Arial"/>
                          <a:ea typeface="Arial"/>
                          <a:cs typeface="Arial"/>
                        </a:rPr>
                        <a:t>Base</a:t>
                      </a:r>
                    </a:p>
                  </a:txBody>
                  <a:tcPr marL="91440" marR="91440" marT="45720" marB="45720" anchor="ctr">
                    <a:solidFill>
                      <a:srgbClr val="205938"/>
                    </a:solidFill>
                  </a:tcPr>
                </a:tc>
                <a:tc>
                  <a:txBody>
                    <a:bodyPr lIns="114300" tIns="76200" rIns="114300" bIns="76200">
                      <a:noAutofit/>
                    </a:bodyPr>
                    <a:lstStyle/>
                    <a:p>
                      <a:pPr algn="r"/>
                      <a:r>
                        <a:rPr sz="1800" b="1">
                          <a:solidFill>
                            <a:srgbClr val="FFFFFF"/>
                          </a:solidFill>
                          <a:latin typeface="Arial"/>
                          <a:ea typeface="Arial"/>
                          <a:cs typeface="Arial"/>
                        </a:rPr>
                        <a:t>Upside</a:t>
                      </a:r>
                    </a:p>
                  </a:txBody>
                  <a:tcPr marL="91440" marR="91440" marT="45720" marB="45720" anchor="ctr">
                    <a:solidFill>
                      <a:srgbClr val="205938"/>
                    </a:solidFill>
                  </a:tcPr>
                </a:tc>
              </a:tr>
              <a:tr h="509588">
                <a:tc>
                  <a:txBody>
                    <a:bodyPr lIns="114300" tIns="76200" rIns="114300" bIns="76200">
                      <a:noAutofit/>
                    </a:bodyPr>
                    <a:lstStyle/>
                    <a:p>
                      <a:pPr algn="l"/>
                      <a:r>
                        <a:rPr sz="1800" b="0">
                          <a:solidFill>
                            <a:srgbClr val="14281D"/>
                          </a:solidFill>
                          <a:latin typeface="Arial"/>
                          <a:ea typeface="Arial"/>
                          <a:cs typeface="Arial"/>
                        </a:rPr>
                        <a:t>2031 revenue</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$1.16m</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$5.20m</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$9.21m</a:t>
                      </a:r>
                    </a:p>
                  </a:txBody>
                  <a:tcPr marL="91440" marR="91440" marT="45720" marB="45720" anchor="ctr">
                    <a:solidFill>
                      <a:srgbClr val="FFFFFF"/>
                    </a:solidFill>
                  </a:tcPr>
                </a:tc>
              </a:tr>
              <a:tr h="509588">
                <a:tc>
                  <a:txBody>
                    <a:bodyPr lIns="114300" tIns="76200" rIns="114300" bIns="76200">
                      <a:noAutofit/>
                    </a:bodyPr>
                    <a:lstStyle/>
                    <a:p>
                      <a:pPr algn="l"/>
                      <a:r>
                        <a:rPr sz="1800" b="0">
                          <a:solidFill>
                            <a:srgbClr val="14281D"/>
                          </a:solidFill>
                          <a:latin typeface="Arial"/>
                          <a:ea typeface="Arial"/>
                          <a:cs typeface="Arial"/>
                        </a:rPr>
                        <a:t>2031 EBITDA</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($1.61)m</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($1.30)m</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$0.37m</a:t>
                      </a:r>
                    </a:p>
                  </a:txBody>
                  <a:tcPr marL="91440" marR="91440" marT="45720" marB="45720" anchor="ctr">
                    <a:solidFill>
                      <a:srgbClr val="F7F5EF"/>
                    </a:solidFill>
                  </a:tcPr>
                </a:tc>
              </a:tr>
              <a:tr h="509588">
                <a:tc>
                  <a:txBody>
                    <a:bodyPr lIns="114300" tIns="76200" rIns="114300" bIns="76200">
                      <a:noAutofit/>
                    </a:bodyPr>
                    <a:lstStyle/>
                    <a:p>
                      <a:pPr algn="l"/>
                      <a:r>
                        <a:rPr sz="1800" b="0">
                          <a:solidFill>
                            <a:srgbClr val="14281D"/>
                          </a:solidFill>
                          <a:latin typeface="Arial"/>
                          <a:ea typeface="Arial"/>
                          <a:cs typeface="Arial"/>
                        </a:rPr>
                        <a:t>2033 revenue</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$3.33m</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$17.89m</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$37.09m</a:t>
                      </a:r>
                    </a:p>
                  </a:txBody>
                  <a:tcPr marL="91440" marR="91440" marT="45720" marB="45720" anchor="ctr">
                    <a:solidFill>
                      <a:srgbClr val="FFFFFF"/>
                    </a:solidFill>
                  </a:tcPr>
                </a:tc>
              </a:tr>
              <a:tr h="509588">
                <a:tc>
                  <a:txBody>
                    <a:bodyPr lIns="114300" tIns="76200" rIns="114300" bIns="76200">
                      <a:noAutofit/>
                    </a:bodyPr>
                    <a:lstStyle/>
                    <a:p>
                      <a:pPr algn="l"/>
                      <a:r>
                        <a:rPr sz="1800" b="1">
                          <a:solidFill>
                            <a:srgbClr val="14281D"/>
                          </a:solidFill>
                          <a:latin typeface="Arial"/>
                          <a:ea typeface="Arial"/>
                          <a:cs typeface="Arial"/>
                        </a:rPr>
                        <a:t>2033 net income proxy</a:t>
                      </a:r>
                    </a:p>
                  </a:txBody>
                  <a:tcPr marL="91440" marR="91440" marT="45720" marB="45720" anchor="ctr">
                    <a:solidFill>
                      <a:srgbClr val="E8EDDF"/>
                    </a:solidFill>
                  </a:tcPr>
                </a:tc>
                <a:tc>
                  <a:txBody>
                    <a:bodyPr lIns="114300" tIns="76200" rIns="114300" bIns="76200">
                      <a:noAutofit/>
                    </a:bodyPr>
                    <a:lstStyle/>
                    <a:p>
                      <a:pPr algn="r"/>
                      <a:r>
                        <a:rPr sz="1800" b="1">
                          <a:solidFill>
                            <a:srgbClr val="14281D"/>
                          </a:solidFill>
                          <a:latin typeface="Arial"/>
                          <a:ea typeface="Arial"/>
                          <a:cs typeface="Arial"/>
                        </a:rPr>
                        <a:t>($2.83)m</a:t>
                      </a:r>
                    </a:p>
                  </a:txBody>
                  <a:tcPr marL="91440" marR="91440" marT="45720" marB="45720" anchor="ctr">
                    <a:solidFill>
                      <a:srgbClr val="E8EDDF"/>
                    </a:solidFill>
                  </a:tcPr>
                </a:tc>
                <a:tc>
                  <a:txBody>
                    <a:bodyPr lIns="114300" tIns="76200" rIns="114300" bIns="76200">
                      <a:noAutofit/>
                    </a:bodyPr>
                    <a:lstStyle/>
                    <a:p>
                      <a:pPr algn="r"/>
                      <a:r>
                        <a:rPr sz="1800" b="1">
                          <a:solidFill>
                            <a:srgbClr val="14281D"/>
                          </a:solidFill>
                          <a:latin typeface="Arial"/>
                          <a:ea typeface="Arial"/>
                          <a:cs typeface="Arial"/>
                        </a:rPr>
                        <a:t>$0.48m</a:t>
                      </a:r>
                    </a:p>
                  </a:txBody>
                  <a:tcPr marL="91440" marR="91440" marT="45720" marB="45720" anchor="ctr">
                    <a:solidFill>
                      <a:srgbClr val="E8EDDF"/>
                    </a:solidFill>
                  </a:tcPr>
                </a:tc>
                <a:tc>
                  <a:txBody>
                    <a:bodyPr lIns="114300" tIns="76200" rIns="114300" bIns="76200">
                      <a:noAutofit/>
                    </a:bodyPr>
                    <a:lstStyle/>
                    <a:p>
                      <a:pPr algn="r"/>
                      <a:r>
                        <a:rPr sz="1800" b="1">
                          <a:solidFill>
                            <a:srgbClr val="14281D"/>
                          </a:solidFill>
                          <a:latin typeface="Arial"/>
                          <a:ea typeface="Arial"/>
                          <a:cs typeface="Arial"/>
                        </a:rPr>
                        <a:t>$6.46m</a:t>
                      </a:r>
                    </a:p>
                  </a:txBody>
                  <a:tcPr marL="91440" marR="91440" marT="45720" marB="45720" anchor="ctr">
                    <a:solidFill>
                      <a:srgbClr val="E8EDDF"/>
                    </a:solidFill>
                  </a:tcPr>
                </a:tc>
              </a:tr>
              <a:tr h="509588">
                <a:tc>
                  <a:txBody>
                    <a:bodyPr lIns="114300" tIns="76200" rIns="114300" bIns="76200">
                      <a:noAutofit/>
                    </a:bodyPr>
                    <a:lstStyle/>
                    <a:p>
                      <a:pPr algn="l"/>
                      <a:r>
                        <a:rPr sz="1800" b="0">
                          <a:solidFill>
                            <a:srgbClr val="14281D"/>
                          </a:solidFill>
                          <a:latin typeface="Arial"/>
                          <a:ea typeface="Arial"/>
                          <a:cs typeface="Arial"/>
                        </a:rPr>
                        <a:t>First positive EBITDA year</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None through 2033</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2033</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2031</a:t>
                      </a:r>
                    </a:p>
                  </a:txBody>
                  <a:tcPr marL="91440" marR="91440" marT="45720" marB="45720" anchor="ctr">
                    <a:solidFill>
                      <a:srgbClr val="FFFFFF"/>
                    </a:solidFill>
                  </a:tcPr>
                </a:tc>
              </a:tr>
            </a:tbl>
          </a:graphicData>
        </a:graphic>
      </p:graphicFrame>
      <p:sp>
        <p:nvSpPr>
          <p:cNvPr id="6" name="In the downside case, larger service tickets and l">
            <a:extLst xmlns:a="http://schemas.openxmlformats.org/drawingml/2006/main">
              <a:ext uri="{FF2B5EF4-FFF2-40B4-BE49-F238E27FC236}">
                <a16:creationId xmlns:a16="http://schemas.microsoft.com/office/drawing/2014/main" id="{E8AF716C-32F4-4638-A731-71CFB6039369}"/>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In the downside case, larger service tickets and low ACH use make repeat contribution negative through 2032. More such transactions deepen the loss.</a:t>
            </a:r>
          </a:p>
        </p:txBody>
      </p:sp>
    </p:spTree>
    <p:extLst>
      <p:ext uri="{BB962C8B-B14F-4D97-AF65-F5344CB8AC3E}">
        <p14:creationId xmlns:p14="http://schemas.microsoft.com/office/powerpoint/2010/main" val="1615023219"/>
      </p:ext>
    </p:extLst>
  </p:cSld>
</p:sld>
</file>

<file path=ppt/slides/slide17.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1" name="An illustrative $1.5m first round funds validation">
            <a:extLst xmlns:a="http://schemas.openxmlformats.org/drawingml/2006/main">
              <a:ext uri="{FF2B5EF4-FFF2-40B4-BE49-F238E27FC236}">
                <a16:creationId xmlns:a16="http://schemas.microsoft.com/office/drawing/2014/main" id="{61632D37-1C86-40F4-913E-D0F02AE46058}"/>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An illustrative $1.5m first round funds validation</a:t>
            </a:r>
          </a:p>
        </p:txBody>
      </p:sp>
      <p:sp>
        <p:nvSpPr>
          <p:cNvPr id="2" name="The two-year base budget tests commercial adoption">
            <a:extLst xmlns:a="http://schemas.openxmlformats.org/drawingml/2006/main">
              <a:ext uri="{FF2B5EF4-FFF2-40B4-BE49-F238E27FC236}">
                <a16:creationId xmlns:a16="http://schemas.microsoft.com/office/drawing/2014/main" id="{07FC036D-6769-467B-BD0E-C021F71D9B0C}"/>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The two-year base budget tests commercial adoption and leaves a reserve for the next financing decision.</a:t>
            </a:r>
          </a:p>
        </p:txBody>
      </p:sp>
      <p:sp>
        <p:nvSpPr>
          <p:cNvPr id="3" name="YardMatch">
            <a:extLst xmlns:a="http://schemas.openxmlformats.org/drawingml/2006/main">
              <a:ext uri="{FF2B5EF4-FFF2-40B4-BE49-F238E27FC236}">
                <a16:creationId xmlns:a16="http://schemas.microsoft.com/office/drawing/2014/main" id="{DDBEBE44-6DD0-4589-BE3A-D85F9910907A}"/>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7">
            <a:extLst xmlns:a="http://schemas.openxmlformats.org/drawingml/2006/main">
              <a:ext uri="{FF2B5EF4-FFF2-40B4-BE49-F238E27FC236}">
                <a16:creationId xmlns:a16="http://schemas.microsoft.com/office/drawing/2014/main" id="{27BBB1C8-81DB-4C87-92E9-C2CC081552C7}"/>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17</a:t>
            </a:r>
          </a:p>
        </p:txBody>
      </p:sp>
      <p:graphicFrame>
        <p:nvGraphicFramePr>
          <p:cNvPr id="15" name=""/>
          <p:cNvGraphicFramePr/>
          <p:nvPr/>
        </p:nvGraphicFramePr>
        <p:xfrm>
          <a:off xmlns:a="http://schemas.openxmlformats.org/drawingml/2006/main" x="609600" y="2314575"/>
          <a:ext xmlns:a="http://schemas.openxmlformats.org/drawingml/2006/main" cx="6858000" cy="3371850"/>
        </p:xfrm>
        <a:graphic xmlns:a="http://schemas.openxmlformats.org/drawingml/2006/main">
          <a:graphicData uri="http://schemas.openxmlformats.org/drawingml/2006/table">
            <a:tbl>
              <a:tblPr/>
              <a:tblGrid>
                <a:gridCol w="4857750"/>
                <a:gridCol w="2000250"/>
              </a:tblGrid>
              <a:tr h="374650">
                <a:tc>
                  <a:txBody>
                    <a:bodyPr lIns="114300" tIns="76200" rIns="114300" bIns="76200">
                      <a:noAutofit/>
                    </a:bodyPr>
                    <a:lstStyle/>
                    <a:p>
                      <a:pPr algn="l"/>
                      <a:r>
                        <a:rPr sz="1650" b="1">
                          <a:solidFill>
                            <a:srgbClr val="FFFFFF"/>
                          </a:solidFill>
                          <a:latin typeface="Arial"/>
                          <a:ea typeface="Arial"/>
                          <a:cs typeface="Arial"/>
                        </a:rPr>
                        <a:t>2027-2028 base cash plan</a:t>
                      </a:r>
                    </a:p>
                  </a:txBody>
                  <a:tcPr marL="91440" marR="91440" marT="45720" marB="45720" anchor="ctr">
                    <a:solidFill>
                      <a:srgbClr val="205938"/>
                    </a:solidFill>
                  </a:tcPr>
                </a:tc>
                <a:tc>
                  <a:txBody>
                    <a:bodyPr lIns="114300" tIns="76200" rIns="114300" bIns="76200">
                      <a:noAutofit/>
                    </a:bodyPr>
                    <a:lstStyle/>
                    <a:p>
                      <a:pPr algn="r"/>
                      <a:r>
                        <a:rPr sz="1650" b="1">
                          <a:solidFill>
                            <a:srgbClr val="FFFFFF"/>
                          </a:solidFill>
                          <a:latin typeface="Arial"/>
                          <a:ea typeface="Arial"/>
                          <a:cs typeface="Arial"/>
                        </a:rPr>
                        <a:t>Amount</a:t>
                      </a:r>
                    </a:p>
                  </a:txBody>
                  <a:tcPr marL="91440" marR="91440" marT="45720" marB="45720" anchor="ctr">
                    <a:solidFill>
                      <a:srgbClr val="205938"/>
                    </a:solidFill>
                  </a:tcPr>
                </a:tc>
              </a:tr>
              <a:tr h="374650">
                <a:tc>
                  <a:txBody>
                    <a:bodyPr lIns="114300" tIns="76200" rIns="114300" bIns="76200">
                      <a:noAutofit/>
                    </a:bodyPr>
                    <a:lstStyle/>
                    <a:p>
                      <a:pPr algn="l"/>
                      <a:r>
                        <a:rPr sz="1650" b="0">
                          <a:solidFill>
                            <a:srgbClr val="14281D"/>
                          </a:solidFill>
                          <a:latin typeface="Arial"/>
                          <a:ea typeface="Arial"/>
                          <a:cs typeface="Arial"/>
                        </a:rPr>
                        <a:t>Payroll</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$825,000</a:t>
                      </a:r>
                    </a:p>
                  </a:txBody>
                  <a:tcPr marL="91440" marR="91440" marT="45720" marB="45720" anchor="ctr">
                    <a:solidFill>
                      <a:srgbClr val="FFFFFF"/>
                    </a:solidFill>
                  </a:tcPr>
                </a:tc>
              </a:tr>
              <a:tr h="374650">
                <a:tc>
                  <a:txBody>
                    <a:bodyPr lIns="114300" tIns="76200" rIns="114300" bIns="76200">
                      <a:noAutofit/>
                    </a:bodyPr>
                    <a:lstStyle/>
                    <a:p>
                      <a:pPr algn="l"/>
                      <a:r>
                        <a:rPr sz="1650" b="0">
                          <a:solidFill>
                            <a:srgbClr val="14281D"/>
                          </a:solidFill>
                          <a:latin typeface="Arial"/>
                          <a:ea typeface="Arial"/>
                          <a:cs typeface="Arial"/>
                        </a:rPr>
                        <a:t>Customer acquisition and provider onboarding</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$158,125</a:t>
                      </a:r>
                    </a:p>
                  </a:txBody>
                  <a:tcPr marL="91440" marR="91440" marT="45720" marB="45720" anchor="ctr">
                    <a:solidFill>
                      <a:srgbClr val="F7F5EF"/>
                    </a:solidFill>
                  </a:tcPr>
                </a:tc>
              </a:tr>
              <a:tr h="374650">
                <a:tc>
                  <a:txBody>
                    <a:bodyPr lIns="114300" tIns="76200" rIns="114300" bIns="76200">
                      <a:noAutofit/>
                    </a:bodyPr>
                    <a:lstStyle/>
                    <a:p>
                      <a:pPr algn="l"/>
                      <a:r>
                        <a:rPr sz="1650" b="0">
                          <a:solidFill>
                            <a:srgbClr val="14281D"/>
                          </a:solidFill>
                          <a:latin typeface="Arial"/>
                          <a:ea typeface="Arial"/>
                          <a:cs typeface="Arial"/>
                        </a:rPr>
                        <a:t>Fixed overhead</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$160,000</a:t>
                      </a:r>
                    </a:p>
                  </a:txBody>
                  <a:tcPr marL="91440" marR="91440" marT="45720" marB="45720" anchor="ctr">
                    <a:solidFill>
                      <a:srgbClr val="FFFFFF"/>
                    </a:solidFill>
                  </a:tcPr>
                </a:tc>
              </a:tr>
              <a:tr h="374650">
                <a:tc>
                  <a:txBody>
                    <a:bodyPr lIns="114300" tIns="76200" rIns="114300" bIns="76200">
                      <a:noAutofit/>
                    </a:bodyPr>
                    <a:lstStyle/>
                    <a:p>
                      <a:pPr algn="l"/>
                      <a:r>
                        <a:rPr sz="1650" b="0">
                          <a:solidFill>
                            <a:srgbClr val="14281D"/>
                          </a:solidFill>
                          <a:latin typeface="Arial"/>
                          <a:ea typeface="Arial"/>
                          <a:cs typeface="Arial"/>
                        </a:rPr>
                        <a:t>Capex and restricted risk cash</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$56,416</a:t>
                      </a:r>
                    </a:p>
                  </a:txBody>
                  <a:tcPr marL="91440" marR="91440" marT="45720" marB="45720" anchor="ctr">
                    <a:solidFill>
                      <a:srgbClr val="F7F5EF"/>
                    </a:solidFill>
                  </a:tcPr>
                </a:tc>
              </a:tr>
              <a:tr h="374650">
                <a:tc>
                  <a:txBody>
                    <a:bodyPr lIns="114300" tIns="76200" rIns="114300" bIns="76200">
                      <a:noAutofit/>
                    </a:bodyPr>
                    <a:lstStyle/>
                    <a:p>
                      <a:pPr algn="l"/>
                      <a:r>
                        <a:rPr sz="1650" b="0">
                          <a:solidFill>
                            <a:srgbClr val="14281D"/>
                          </a:solidFill>
                          <a:latin typeface="Arial"/>
                          <a:ea typeface="Arial"/>
                          <a:cs typeface="Arial"/>
                        </a:rPr>
                        <a:t>Less gross profit generated</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($146,448)</a:t>
                      </a:r>
                    </a:p>
                  </a:txBody>
                  <a:tcPr marL="91440" marR="91440" marT="45720" marB="45720" anchor="ctr">
                    <a:solidFill>
                      <a:srgbClr val="FFFFFF"/>
                    </a:solidFill>
                  </a:tcPr>
                </a:tc>
              </a:tr>
              <a:tr h="374650">
                <a:tc>
                  <a:txBody>
                    <a:bodyPr lIns="114300" tIns="76200" rIns="114300" bIns="76200">
                      <a:noAutofit/>
                    </a:bodyPr>
                    <a:lstStyle/>
                    <a:p>
                      <a:pPr algn="l"/>
                      <a:r>
                        <a:rPr sz="1650" b="1">
                          <a:solidFill>
                            <a:srgbClr val="14281D"/>
                          </a:solidFill>
                          <a:latin typeface="Arial"/>
                          <a:ea typeface="Arial"/>
                          <a:cs typeface="Arial"/>
                        </a:rPr>
                        <a:t>Net cash used</a:t>
                      </a:r>
                    </a:p>
                  </a:txBody>
                  <a:tcPr marL="91440" marR="91440" marT="45720" marB="45720" anchor="ctr">
                    <a:solidFill>
                      <a:srgbClr val="E8EDDF"/>
                    </a:solidFill>
                  </a:tcPr>
                </a:tc>
                <a:tc>
                  <a:txBody>
                    <a:bodyPr lIns="114300" tIns="76200" rIns="114300" bIns="76200">
                      <a:noAutofit/>
                    </a:bodyPr>
                    <a:lstStyle/>
                    <a:p>
                      <a:pPr algn="r"/>
                      <a:r>
                        <a:rPr sz="1650" b="1">
                          <a:solidFill>
                            <a:srgbClr val="14281D"/>
                          </a:solidFill>
                          <a:latin typeface="Arial"/>
                          <a:ea typeface="Arial"/>
                          <a:cs typeface="Arial"/>
                        </a:rPr>
                        <a:t>$1,053,093</a:t>
                      </a:r>
                    </a:p>
                  </a:txBody>
                  <a:tcPr marL="91440" marR="91440" marT="45720" marB="45720" anchor="ctr">
                    <a:solidFill>
                      <a:srgbClr val="E8EDDF"/>
                    </a:solidFill>
                  </a:tcPr>
                </a:tc>
              </a:tr>
              <a:tr h="374650">
                <a:tc>
                  <a:txBody>
                    <a:bodyPr lIns="114300" tIns="76200" rIns="114300" bIns="76200">
                      <a:noAutofit/>
                    </a:bodyPr>
                    <a:lstStyle/>
                    <a:p>
                      <a:pPr algn="l"/>
                      <a:r>
                        <a:rPr sz="1650" b="0">
                          <a:solidFill>
                            <a:srgbClr val="14281D"/>
                          </a:solidFill>
                          <a:latin typeface="Arial"/>
                          <a:ea typeface="Arial"/>
                          <a:cs typeface="Arial"/>
                        </a:rPr>
                        <a:t>Financing costs</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$25,000</a:t>
                      </a:r>
                    </a:p>
                  </a:txBody>
                  <a:tcPr marL="91440" marR="91440" marT="45720" marB="45720" anchor="ctr">
                    <a:solidFill>
                      <a:srgbClr val="FFFFFF"/>
                    </a:solidFill>
                  </a:tcPr>
                </a:tc>
              </a:tr>
              <a:tr h="374650">
                <a:tc>
                  <a:txBody>
                    <a:bodyPr lIns="114300" tIns="76200" rIns="114300" bIns="76200">
                      <a:noAutofit/>
                    </a:bodyPr>
                    <a:lstStyle/>
                    <a:p>
                      <a:pPr algn="l"/>
                      <a:r>
                        <a:rPr sz="1650" b="1">
                          <a:solidFill>
                            <a:srgbClr val="14281D"/>
                          </a:solidFill>
                          <a:latin typeface="Arial"/>
                          <a:ea typeface="Arial"/>
                          <a:cs typeface="Arial"/>
                        </a:rPr>
                        <a:t>Remaining cash from $1.5m</a:t>
                      </a:r>
                    </a:p>
                  </a:txBody>
                  <a:tcPr marL="91440" marR="91440" marT="45720" marB="45720" anchor="ctr">
                    <a:solidFill>
                      <a:srgbClr val="E8EDDF"/>
                    </a:solidFill>
                  </a:tcPr>
                </a:tc>
                <a:tc>
                  <a:txBody>
                    <a:bodyPr lIns="114300" tIns="76200" rIns="114300" bIns="76200">
                      <a:noAutofit/>
                    </a:bodyPr>
                    <a:lstStyle/>
                    <a:p>
                      <a:pPr algn="r"/>
                      <a:r>
                        <a:rPr sz="1650" b="1">
                          <a:solidFill>
                            <a:srgbClr val="14281D"/>
                          </a:solidFill>
                          <a:latin typeface="Arial"/>
                          <a:ea typeface="Arial"/>
                          <a:cs typeface="Arial"/>
                        </a:rPr>
                        <a:t>$421,907</a:t>
                      </a:r>
                    </a:p>
                  </a:txBody>
                  <a:tcPr marL="91440" marR="91440" marT="45720" marB="45720" anchor="ctr">
                    <a:solidFill>
                      <a:srgbClr val="E8EDDF"/>
                    </a:solidFill>
                  </a:tcPr>
                </a:tc>
              </a:tr>
            </a:tbl>
          </a:graphicData>
        </a:graphic>
      </p:graphicFrame>
      <p:sp>
        <p:nvSpPr>
          <p:cNvPr id="6" name="A first round">
            <a:extLst xmlns:a="http://schemas.openxmlformats.org/drawingml/2006/main">
              <a:ext uri="{FF2B5EF4-FFF2-40B4-BE49-F238E27FC236}">
                <a16:creationId xmlns:a16="http://schemas.microsoft.com/office/drawing/2014/main" id="{9B6D2700-F1D3-417C-9700-4362340A412A}"/>
              </a:ext>
            </a:extLst>
          </p:cNvPr>
          <p:cNvSpPr>
            <a:spLocks xmlns:a="http://schemas.openxmlformats.org/drawingml/2006/main" noGrp="1"/>
          </p:cNvSpPr>
          <p:nvPr/>
        </p:nvSpPr>
        <p:spPr>
          <a:xfrm xmlns:a="http://schemas.openxmlformats.org/drawingml/2006/main">
            <a:off x="7962900" y="2419350"/>
            <a:ext cx="35052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205938"/>
                </a:solidFill>
                <a:latin typeface="Arial"/>
                <a:ea typeface="Arial"/>
                <a:cs typeface="Arial"/>
              </a:defRPr>
            </a:pPr>
            <a:r>
              <a:rPr sz="2550" b="1">
                <a:solidFill>
                  <a:srgbClr val="205938"/>
                </a:solidFill>
                <a:latin typeface="Arial"/>
                <a:ea typeface="Arial"/>
                <a:cs typeface="Arial"/>
              </a:rPr>
              <a:t>A first round</a:t>
            </a:r>
          </a:p>
        </p:txBody>
      </p:sp>
      <p:sp>
        <p:nvSpPr>
          <p:cNvPr id="7" name="The base case needs further funding from 2029.">
            <a:extLst xmlns:a="http://schemas.openxmlformats.org/drawingml/2006/main">
              <a:ext uri="{FF2B5EF4-FFF2-40B4-BE49-F238E27FC236}">
                <a16:creationId xmlns:a16="http://schemas.microsoft.com/office/drawing/2014/main" id="{08600F9F-5C90-4890-A9A3-41DEB665A373}"/>
              </a:ext>
            </a:extLst>
          </p:cNvPr>
          <p:cNvSpPr>
            <a:spLocks xmlns:a="http://schemas.openxmlformats.org/drawingml/2006/main" noGrp="1"/>
          </p:cNvSpPr>
          <p:nvPr/>
        </p:nvSpPr>
        <p:spPr>
          <a:xfrm xmlns:a="http://schemas.openxmlformats.org/drawingml/2006/main">
            <a:off x="7962900" y="3095625"/>
            <a:ext cx="34671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The base case needs further funding from 2029.</a:t>
            </a:r>
          </a:p>
        </p:txBody>
      </p:sp>
      <p:sp>
        <p:nvSpPr>
          <p:cNvPr id="8" name="$7.30m">
            <a:extLst xmlns:a="http://schemas.openxmlformats.org/drawingml/2006/main">
              <a:ext uri="{FF2B5EF4-FFF2-40B4-BE49-F238E27FC236}">
                <a16:creationId xmlns:a16="http://schemas.microsoft.com/office/drawing/2014/main" id="{34331892-D87E-4A41-A3C3-A0114F8AB6CE}"/>
              </a:ext>
            </a:extLst>
          </p:cNvPr>
          <p:cNvSpPr>
            <a:spLocks xmlns:a="http://schemas.openxmlformats.org/drawingml/2006/main" noGrp="1"/>
          </p:cNvSpPr>
          <p:nvPr/>
        </p:nvSpPr>
        <p:spPr>
          <a:xfrm xmlns:a="http://schemas.openxmlformats.org/drawingml/2006/main">
            <a:off x="7962900" y="4410075"/>
            <a:ext cx="34671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205938"/>
                </a:solidFill>
                <a:latin typeface="Arial"/>
                <a:ea typeface="Arial"/>
                <a:cs typeface="Arial"/>
              </a:defRPr>
            </a:pPr>
            <a:r>
              <a:rPr sz="3375" b="1">
                <a:solidFill>
                  <a:srgbClr val="205938"/>
                </a:solidFill>
                <a:latin typeface="Arial"/>
                <a:ea typeface="Arial"/>
                <a:cs typeface="Arial"/>
              </a:rPr>
              <a:t>$7.30m</a:t>
            </a:r>
          </a:p>
        </p:txBody>
      </p:sp>
      <p:sp>
        <p:nvSpPr>
          <p:cNvPr id="9" name="Cumulative base cash deficit through 2033, before ">
            <a:extLst xmlns:a="http://schemas.openxmlformats.org/drawingml/2006/main">
              <a:ext uri="{FF2B5EF4-FFF2-40B4-BE49-F238E27FC236}">
                <a16:creationId xmlns:a16="http://schemas.microsoft.com/office/drawing/2014/main" id="{EA3CF9E0-D621-493E-A76E-655E756FFFFA}"/>
              </a:ext>
            </a:extLst>
          </p:cNvPr>
          <p:cNvSpPr>
            <a:spLocks xmlns:a="http://schemas.openxmlformats.org/drawingml/2006/main" noGrp="1"/>
          </p:cNvSpPr>
          <p:nvPr/>
        </p:nvSpPr>
        <p:spPr>
          <a:xfrm xmlns:a="http://schemas.openxmlformats.org/drawingml/2006/main">
            <a:off x="7962900" y="5076825"/>
            <a:ext cx="34671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4281D"/>
                </a:solidFill>
                <a:latin typeface="Arial"/>
                <a:ea typeface="Arial"/>
                <a:cs typeface="Arial"/>
              </a:defRPr>
            </a:pPr>
            <a:r>
              <a:rPr sz="1800" b="0">
                <a:solidFill>
                  <a:srgbClr val="14281D"/>
                </a:solidFill>
                <a:latin typeface="Arial"/>
                <a:ea typeface="Arial"/>
                <a:cs typeface="Arial"/>
              </a:rPr>
              <a:t>Cumulative base cash deficit through 2033, before a liquidity buffer.</a:t>
            </a:r>
          </a:p>
        </p:txBody>
      </p:sp>
      <p:sp>
        <p:nvSpPr>
          <p:cNvPr id="10" name="A six-month 2033 fixed-cost buffer adds $2.74m, fo">
            <a:extLst xmlns:a="http://schemas.openxmlformats.org/drawingml/2006/main">
              <a:ext uri="{FF2B5EF4-FFF2-40B4-BE49-F238E27FC236}">
                <a16:creationId xmlns:a16="http://schemas.microsoft.com/office/drawing/2014/main" id="{72045A43-D86B-4F29-8BCC-D810BB00C79A}"/>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A six-month 2033 fixed-cost buffer adds $2.74m, for $10.04m in the model. Financing amounts and valuation are illustrative, not agreed terms.</a:t>
            </a:r>
          </a:p>
        </p:txBody>
      </p:sp>
    </p:spTree>
    <p:extLst>
      <p:ext uri="{BB962C8B-B14F-4D97-AF65-F5344CB8AC3E}">
        <p14:creationId xmlns:p14="http://schemas.microsoft.com/office/powerpoint/2010/main" val="718811526"/>
      </p:ext>
    </p:extLst>
  </p:cSld>
</p:sld>
</file>

<file path=ppt/slides/slide18.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70% founder ownership before new investment">
            <a:extLst xmlns:a="http://schemas.openxmlformats.org/drawingml/2006/main">
              <a:ext uri="{FF2B5EF4-FFF2-40B4-BE49-F238E27FC236}">
                <a16:creationId xmlns:a16="http://schemas.microsoft.com/office/drawing/2014/main" id="{DF129078-7616-4AED-B5FF-61F209D4AC00}"/>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70% founder ownership before new investment</a:t>
            </a:r>
          </a:p>
        </p:txBody>
      </p:sp>
      <p:sp>
        <p:nvSpPr>
          <p:cNvPr id="2" name="Every new equity round dilutes existing owners pro">
            <a:extLst xmlns:a="http://schemas.openxmlformats.org/drawingml/2006/main">
              <a:ext uri="{FF2B5EF4-FFF2-40B4-BE49-F238E27FC236}">
                <a16:creationId xmlns:a16="http://schemas.microsoft.com/office/drawing/2014/main" id="{E26668F5-9B09-4A8A-A322-88006FA03714}"/>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Every new equity round dilutes existing owners proportionately in this illustration.</a:t>
            </a:r>
          </a:p>
        </p:txBody>
      </p:sp>
      <p:sp>
        <p:nvSpPr>
          <p:cNvPr id="3" name="YardMatch">
            <a:extLst xmlns:a="http://schemas.openxmlformats.org/drawingml/2006/main">
              <a:ext uri="{FF2B5EF4-FFF2-40B4-BE49-F238E27FC236}">
                <a16:creationId xmlns:a16="http://schemas.microsoft.com/office/drawing/2014/main" id="{44A93C22-F8EF-40B1-9C66-3785F7CB1066}"/>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8">
            <a:extLst xmlns:a="http://schemas.openxmlformats.org/drawingml/2006/main">
              <a:ext uri="{FF2B5EF4-FFF2-40B4-BE49-F238E27FC236}">
                <a16:creationId xmlns:a16="http://schemas.microsoft.com/office/drawing/2014/main" id="{AE6B5815-5B0D-4751-B5C3-DE1706DB87B7}"/>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18</a:t>
            </a:r>
          </a:p>
        </p:txBody>
      </p:sp>
      <p:graphicFrame>
        <p:nvGraphicFramePr>
          <p:cNvPr id="11" name=""/>
          <p:cNvGraphicFramePr/>
          <p:nvPr/>
        </p:nvGraphicFramePr>
        <p:xfrm>
          <a:off xmlns:a="http://schemas.openxmlformats.org/drawingml/2006/main" x="609600" y="2400300"/>
          <a:ext xmlns:a="http://schemas.openxmlformats.org/drawingml/2006/main" cx="10972800" cy="3038475"/>
        </p:xfrm>
        <a:graphic xmlns:a="http://schemas.openxmlformats.org/drawingml/2006/main">
          <a:graphicData uri="http://schemas.openxmlformats.org/drawingml/2006/table">
            <a:tbl>
              <a:tblPr/>
              <a:tblGrid>
                <a:gridCol w="4257675"/>
                <a:gridCol w="2238375"/>
                <a:gridCol w="2238375"/>
                <a:gridCol w="2238375"/>
              </a:tblGrid>
              <a:tr h="506413">
                <a:tc>
                  <a:txBody>
                    <a:bodyPr lIns="114300" tIns="76200" rIns="114300" bIns="76200">
                      <a:noAutofit/>
                    </a:bodyPr>
                    <a:lstStyle/>
                    <a:p>
                      <a:pPr algn="l"/>
                      <a:r>
                        <a:rPr sz="1950" b="1">
                          <a:solidFill>
                            <a:srgbClr val="FFFFFF"/>
                          </a:solidFill>
                          <a:latin typeface="Arial"/>
                          <a:ea typeface="Arial"/>
                          <a:cs typeface="Arial"/>
                        </a:rPr>
                        <a:t>Ownership</a:t>
                      </a:r>
                    </a:p>
                  </a:txBody>
                  <a:tcPr marL="91440" marR="91440" marT="45720" marB="45720" anchor="ctr">
                    <a:solidFill>
                      <a:srgbClr val="205938"/>
                    </a:solidFill>
                  </a:tcPr>
                </a:tc>
                <a:tc>
                  <a:txBody>
                    <a:bodyPr lIns="114300" tIns="76200" rIns="114300" bIns="76200">
                      <a:noAutofit/>
                    </a:bodyPr>
                    <a:lstStyle/>
                    <a:p>
                      <a:pPr algn="r"/>
                      <a:r>
                        <a:rPr sz="1950" b="1">
                          <a:solidFill>
                            <a:srgbClr val="FFFFFF"/>
                          </a:solidFill>
                          <a:latin typeface="Arial"/>
                          <a:ea typeface="Arial"/>
                          <a:cs typeface="Arial"/>
                        </a:rPr>
                        <a:t>At formation</a:t>
                      </a:r>
                    </a:p>
                  </a:txBody>
                  <a:tcPr marL="91440" marR="91440" marT="45720" marB="45720" anchor="ctr">
                    <a:solidFill>
                      <a:srgbClr val="205938"/>
                    </a:solidFill>
                  </a:tcPr>
                </a:tc>
                <a:tc>
                  <a:txBody>
                    <a:bodyPr lIns="114300" tIns="76200" rIns="114300" bIns="76200">
                      <a:noAutofit/>
                    </a:bodyPr>
                    <a:lstStyle/>
                    <a:p>
                      <a:pPr algn="r"/>
                      <a:r>
                        <a:rPr sz="1950" b="1">
                          <a:solidFill>
                            <a:srgbClr val="FFFFFF"/>
                          </a:solidFill>
                          <a:latin typeface="Arial"/>
                          <a:ea typeface="Arial"/>
                          <a:cs typeface="Arial"/>
                        </a:rPr>
                        <a:t>After round 1</a:t>
                      </a:r>
                    </a:p>
                  </a:txBody>
                  <a:tcPr marL="91440" marR="91440" marT="45720" marB="45720" anchor="ctr">
                    <a:solidFill>
                      <a:srgbClr val="205938"/>
                    </a:solidFill>
                  </a:tcPr>
                </a:tc>
                <a:tc>
                  <a:txBody>
                    <a:bodyPr lIns="114300" tIns="76200" rIns="114300" bIns="76200">
                      <a:noAutofit/>
                    </a:bodyPr>
                    <a:lstStyle/>
                    <a:p>
                      <a:pPr algn="r"/>
                      <a:r>
                        <a:rPr sz="1950" b="1">
                          <a:solidFill>
                            <a:srgbClr val="FFFFFF"/>
                          </a:solidFill>
                          <a:latin typeface="Arial"/>
                          <a:ea typeface="Arial"/>
                          <a:cs typeface="Arial"/>
                        </a:rPr>
                        <a:t>After round 2</a:t>
                      </a:r>
                    </a:p>
                  </a:txBody>
                  <a:tcPr marL="91440" marR="91440" marT="45720" marB="45720" anchor="ctr">
                    <a:solidFill>
                      <a:srgbClr val="205938"/>
                    </a:solidFill>
                  </a:tcPr>
                </a:tc>
              </a:tr>
              <a:tr h="506413">
                <a:tc>
                  <a:txBody>
                    <a:bodyPr lIns="114300" tIns="76200" rIns="114300" bIns="76200">
                      <a:noAutofit/>
                    </a:bodyPr>
                    <a:lstStyle/>
                    <a:p>
                      <a:pPr algn="l"/>
                      <a:r>
                        <a:rPr sz="1950" b="1">
                          <a:solidFill>
                            <a:srgbClr val="14281D"/>
                          </a:solidFill>
                          <a:latin typeface="Arial"/>
                          <a:ea typeface="Arial"/>
                          <a:cs typeface="Arial"/>
                        </a:rPr>
                        <a:t>Patrick</a:t>
                      </a:r>
                    </a:p>
                  </a:txBody>
                  <a:tcPr marL="91440" marR="91440" marT="45720" marB="45720" anchor="ctr">
                    <a:solidFill>
                      <a:srgbClr val="E8EDDF"/>
                    </a:solidFill>
                  </a:tcPr>
                </a:tc>
                <a:tc>
                  <a:txBody>
                    <a:bodyPr lIns="114300" tIns="76200" rIns="114300" bIns="76200">
                      <a:noAutofit/>
                    </a:bodyPr>
                    <a:lstStyle/>
                    <a:p>
                      <a:pPr algn="r"/>
                      <a:r>
                        <a:rPr sz="1950" b="1">
                          <a:solidFill>
                            <a:srgbClr val="14281D"/>
                          </a:solidFill>
                          <a:latin typeface="Arial"/>
                          <a:ea typeface="Arial"/>
                          <a:cs typeface="Arial"/>
                        </a:rPr>
                        <a:t>70.0%</a:t>
                      </a:r>
                    </a:p>
                  </a:txBody>
                  <a:tcPr marL="91440" marR="91440" marT="45720" marB="45720" anchor="ctr">
                    <a:solidFill>
                      <a:srgbClr val="E8EDDF"/>
                    </a:solidFill>
                  </a:tcPr>
                </a:tc>
                <a:tc>
                  <a:txBody>
                    <a:bodyPr lIns="114300" tIns="76200" rIns="114300" bIns="76200">
                      <a:noAutofit/>
                    </a:bodyPr>
                    <a:lstStyle/>
                    <a:p>
                      <a:pPr algn="r"/>
                      <a:r>
                        <a:rPr sz="1950" b="1">
                          <a:solidFill>
                            <a:srgbClr val="14281D"/>
                          </a:solidFill>
                          <a:latin typeface="Arial"/>
                          <a:ea typeface="Arial"/>
                          <a:cs typeface="Arial"/>
                        </a:rPr>
                        <a:t>56.0%</a:t>
                      </a:r>
                    </a:p>
                  </a:txBody>
                  <a:tcPr marL="91440" marR="91440" marT="45720" marB="45720" anchor="ctr">
                    <a:solidFill>
                      <a:srgbClr val="E8EDDF"/>
                    </a:solidFill>
                  </a:tcPr>
                </a:tc>
                <a:tc>
                  <a:txBody>
                    <a:bodyPr lIns="114300" tIns="76200" rIns="114300" bIns="76200">
                      <a:noAutofit/>
                    </a:bodyPr>
                    <a:lstStyle/>
                    <a:p>
                      <a:pPr algn="r"/>
                      <a:r>
                        <a:rPr sz="1950" b="1">
                          <a:solidFill>
                            <a:srgbClr val="14281D"/>
                          </a:solidFill>
                          <a:latin typeface="Arial"/>
                          <a:ea typeface="Arial"/>
                          <a:cs typeface="Arial"/>
                        </a:rPr>
                        <a:t>44.8%</a:t>
                      </a:r>
                    </a:p>
                  </a:txBody>
                  <a:tcPr marL="91440" marR="91440" marT="45720" marB="45720" anchor="ctr">
                    <a:solidFill>
                      <a:srgbClr val="E8EDDF"/>
                    </a:solidFill>
                  </a:tcPr>
                </a:tc>
              </a:tr>
              <a:tr h="506413">
                <a:tc>
                  <a:txBody>
                    <a:bodyPr lIns="114300" tIns="76200" rIns="114300" bIns="76200">
                      <a:noAutofit/>
                    </a:bodyPr>
                    <a:lstStyle/>
                    <a:p>
                      <a:pPr algn="l"/>
                      <a:r>
                        <a:rPr sz="1950" b="0">
                          <a:solidFill>
                            <a:srgbClr val="14281D"/>
                          </a:solidFill>
                          <a:latin typeface="Arial"/>
                          <a:ea typeface="Arial"/>
                          <a:cs typeface="Arial"/>
                        </a:rPr>
                        <a:t>Other initial owners</a:t>
                      </a:r>
                    </a:p>
                  </a:txBody>
                  <a:tcPr marL="91440" marR="91440" marT="45720" marB="45720" anchor="ctr">
                    <a:solidFill>
                      <a:srgbClr val="F7F5EF"/>
                    </a:solidFill>
                  </a:tcPr>
                </a:tc>
                <a:tc>
                  <a:txBody>
                    <a:bodyPr lIns="114300" tIns="76200" rIns="114300" bIns="76200">
                      <a:noAutofit/>
                    </a:bodyPr>
                    <a:lstStyle/>
                    <a:p>
                      <a:pPr algn="r"/>
                      <a:r>
                        <a:rPr sz="1950" b="0">
                          <a:solidFill>
                            <a:srgbClr val="14281D"/>
                          </a:solidFill>
                          <a:latin typeface="Arial"/>
                          <a:ea typeface="Arial"/>
                          <a:cs typeface="Arial"/>
                        </a:rPr>
                        <a:t>30.0%</a:t>
                      </a:r>
                    </a:p>
                  </a:txBody>
                  <a:tcPr marL="91440" marR="91440" marT="45720" marB="45720" anchor="ctr">
                    <a:solidFill>
                      <a:srgbClr val="F7F5EF"/>
                    </a:solidFill>
                  </a:tcPr>
                </a:tc>
                <a:tc>
                  <a:txBody>
                    <a:bodyPr lIns="114300" tIns="76200" rIns="114300" bIns="76200">
                      <a:noAutofit/>
                    </a:bodyPr>
                    <a:lstStyle/>
                    <a:p>
                      <a:pPr algn="r"/>
                      <a:r>
                        <a:rPr sz="1950" b="0">
                          <a:solidFill>
                            <a:srgbClr val="14281D"/>
                          </a:solidFill>
                          <a:latin typeface="Arial"/>
                          <a:ea typeface="Arial"/>
                          <a:cs typeface="Arial"/>
                        </a:rPr>
                        <a:t>24.0%</a:t>
                      </a:r>
                    </a:p>
                  </a:txBody>
                  <a:tcPr marL="91440" marR="91440" marT="45720" marB="45720" anchor="ctr">
                    <a:solidFill>
                      <a:srgbClr val="F7F5EF"/>
                    </a:solidFill>
                  </a:tcPr>
                </a:tc>
                <a:tc>
                  <a:txBody>
                    <a:bodyPr lIns="114300" tIns="76200" rIns="114300" bIns="76200">
                      <a:noAutofit/>
                    </a:bodyPr>
                    <a:lstStyle/>
                    <a:p>
                      <a:pPr algn="r"/>
                      <a:r>
                        <a:rPr sz="1950" b="0">
                          <a:solidFill>
                            <a:srgbClr val="14281D"/>
                          </a:solidFill>
                          <a:latin typeface="Arial"/>
                          <a:ea typeface="Arial"/>
                          <a:cs typeface="Arial"/>
                        </a:rPr>
                        <a:t>19.2%</a:t>
                      </a:r>
                    </a:p>
                  </a:txBody>
                  <a:tcPr marL="91440" marR="91440" marT="45720" marB="45720" anchor="ctr">
                    <a:solidFill>
                      <a:srgbClr val="F7F5EF"/>
                    </a:solidFill>
                  </a:tcPr>
                </a:tc>
              </a:tr>
              <a:tr h="506413">
                <a:tc>
                  <a:txBody>
                    <a:bodyPr lIns="114300" tIns="76200" rIns="114300" bIns="76200">
                      <a:noAutofit/>
                    </a:bodyPr>
                    <a:lstStyle/>
                    <a:p>
                      <a:pPr algn="l"/>
                      <a:r>
                        <a:rPr sz="1950" b="0">
                          <a:solidFill>
                            <a:srgbClr val="14281D"/>
                          </a:solidFill>
                          <a:latin typeface="Arial"/>
                          <a:ea typeface="Arial"/>
                          <a:cs typeface="Arial"/>
                        </a:rPr>
                        <a:t>Round 1 investors</a:t>
                      </a:r>
                    </a:p>
                  </a:txBody>
                  <a:tcPr marL="91440" marR="91440" marT="45720" marB="45720" anchor="ctr">
                    <a:solidFill>
                      <a:srgbClr val="FFFFFF"/>
                    </a:solidFill>
                  </a:tcPr>
                </a:tc>
                <a:tc>
                  <a:txBody>
                    <a:bodyPr lIns="114300" tIns="76200" rIns="114300" bIns="76200">
                      <a:noAutofit/>
                    </a:bodyPr>
                    <a:lstStyle/>
                    <a:p>
                      <a:pPr algn="r"/>
                      <a:r>
                        <a:rPr sz="1950" b="0">
                          <a:solidFill>
                            <a:srgbClr val="14281D"/>
                          </a:solidFill>
                          <a:latin typeface="Arial"/>
                          <a:ea typeface="Arial"/>
                          <a:cs typeface="Arial"/>
                        </a:rPr>
                        <a:t>0.0%</a:t>
                      </a:r>
                    </a:p>
                  </a:txBody>
                  <a:tcPr marL="91440" marR="91440" marT="45720" marB="45720" anchor="ctr">
                    <a:solidFill>
                      <a:srgbClr val="FFFFFF"/>
                    </a:solidFill>
                  </a:tcPr>
                </a:tc>
                <a:tc>
                  <a:txBody>
                    <a:bodyPr lIns="114300" tIns="76200" rIns="114300" bIns="76200">
                      <a:noAutofit/>
                    </a:bodyPr>
                    <a:lstStyle/>
                    <a:p>
                      <a:pPr algn="r"/>
                      <a:r>
                        <a:rPr sz="1950" b="0">
                          <a:solidFill>
                            <a:srgbClr val="14281D"/>
                          </a:solidFill>
                          <a:latin typeface="Arial"/>
                          <a:ea typeface="Arial"/>
                          <a:cs typeface="Arial"/>
                        </a:rPr>
                        <a:t>20.0%</a:t>
                      </a:r>
                    </a:p>
                  </a:txBody>
                  <a:tcPr marL="91440" marR="91440" marT="45720" marB="45720" anchor="ctr">
                    <a:solidFill>
                      <a:srgbClr val="FFFFFF"/>
                    </a:solidFill>
                  </a:tcPr>
                </a:tc>
                <a:tc>
                  <a:txBody>
                    <a:bodyPr lIns="114300" tIns="76200" rIns="114300" bIns="76200">
                      <a:noAutofit/>
                    </a:bodyPr>
                    <a:lstStyle/>
                    <a:p>
                      <a:pPr algn="r"/>
                      <a:r>
                        <a:rPr sz="1950" b="0">
                          <a:solidFill>
                            <a:srgbClr val="14281D"/>
                          </a:solidFill>
                          <a:latin typeface="Arial"/>
                          <a:ea typeface="Arial"/>
                          <a:cs typeface="Arial"/>
                        </a:rPr>
                        <a:t>16.0%</a:t>
                      </a:r>
                    </a:p>
                  </a:txBody>
                  <a:tcPr marL="91440" marR="91440" marT="45720" marB="45720" anchor="ctr">
                    <a:solidFill>
                      <a:srgbClr val="FFFFFF"/>
                    </a:solidFill>
                  </a:tcPr>
                </a:tc>
              </a:tr>
              <a:tr h="506413">
                <a:tc>
                  <a:txBody>
                    <a:bodyPr lIns="114300" tIns="76200" rIns="114300" bIns="76200">
                      <a:noAutofit/>
                    </a:bodyPr>
                    <a:lstStyle/>
                    <a:p>
                      <a:pPr algn="l"/>
                      <a:r>
                        <a:rPr sz="1950" b="0">
                          <a:solidFill>
                            <a:srgbClr val="14281D"/>
                          </a:solidFill>
                          <a:latin typeface="Arial"/>
                          <a:ea typeface="Arial"/>
                          <a:cs typeface="Arial"/>
                        </a:rPr>
                        <a:t>Round 2 investors</a:t>
                      </a:r>
                    </a:p>
                  </a:txBody>
                  <a:tcPr marL="91440" marR="91440" marT="45720" marB="45720" anchor="ctr">
                    <a:solidFill>
                      <a:srgbClr val="F7F5EF"/>
                    </a:solidFill>
                  </a:tcPr>
                </a:tc>
                <a:tc>
                  <a:txBody>
                    <a:bodyPr lIns="114300" tIns="76200" rIns="114300" bIns="76200">
                      <a:noAutofit/>
                    </a:bodyPr>
                    <a:lstStyle/>
                    <a:p>
                      <a:pPr algn="r"/>
                      <a:r>
                        <a:rPr sz="1950" b="0">
                          <a:solidFill>
                            <a:srgbClr val="14281D"/>
                          </a:solidFill>
                          <a:latin typeface="Arial"/>
                          <a:ea typeface="Arial"/>
                          <a:cs typeface="Arial"/>
                        </a:rPr>
                        <a:t>0.0%</a:t>
                      </a:r>
                    </a:p>
                  </a:txBody>
                  <a:tcPr marL="91440" marR="91440" marT="45720" marB="45720" anchor="ctr">
                    <a:solidFill>
                      <a:srgbClr val="F7F5EF"/>
                    </a:solidFill>
                  </a:tcPr>
                </a:tc>
                <a:tc>
                  <a:txBody>
                    <a:bodyPr lIns="114300" tIns="76200" rIns="114300" bIns="76200">
                      <a:noAutofit/>
                    </a:bodyPr>
                    <a:lstStyle/>
                    <a:p>
                      <a:pPr algn="r"/>
                      <a:r>
                        <a:rPr sz="1950" b="0">
                          <a:solidFill>
                            <a:srgbClr val="14281D"/>
                          </a:solidFill>
                          <a:latin typeface="Arial"/>
                          <a:ea typeface="Arial"/>
                          <a:cs typeface="Arial"/>
                        </a:rPr>
                        <a:t>0.0%</a:t>
                      </a:r>
                    </a:p>
                  </a:txBody>
                  <a:tcPr marL="91440" marR="91440" marT="45720" marB="45720" anchor="ctr">
                    <a:solidFill>
                      <a:srgbClr val="F7F5EF"/>
                    </a:solidFill>
                  </a:tcPr>
                </a:tc>
                <a:tc>
                  <a:txBody>
                    <a:bodyPr lIns="114300" tIns="76200" rIns="114300" bIns="76200">
                      <a:noAutofit/>
                    </a:bodyPr>
                    <a:lstStyle/>
                    <a:p>
                      <a:pPr algn="r"/>
                      <a:r>
                        <a:rPr sz="1950" b="0">
                          <a:solidFill>
                            <a:srgbClr val="14281D"/>
                          </a:solidFill>
                          <a:latin typeface="Arial"/>
                          <a:ea typeface="Arial"/>
                          <a:cs typeface="Arial"/>
                        </a:rPr>
                        <a:t>20.0%</a:t>
                      </a:r>
                    </a:p>
                  </a:txBody>
                  <a:tcPr marL="91440" marR="91440" marT="45720" marB="45720" anchor="ctr">
                    <a:solidFill>
                      <a:srgbClr val="F7F5EF"/>
                    </a:solidFill>
                  </a:tcPr>
                </a:tc>
              </a:tr>
              <a:tr h="506413">
                <a:tc>
                  <a:txBody>
                    <a:bodyPr lIns="114300" tIns="76200" rIns="114300" bIns="76200">
                      <a:noAutofit/>
                    </a:bodyPr>
                    <a:lstStyle/>
                    <a:p>
                      <a:pPr algn="l"/>
                      <a:r>
                        <a:rPr sz="1950" b="1">
                          <a:solidFill>
                            <a:srgbClr val="14281D"/>
                          </a:solidFill>
                          <a:latin typeface="Arial"/>
                          <a:ea typeface="Arial"/>
                          <a:cs typeface="Arial"/>
                        </a:rPr>
                        <a:t>Total</a:t>
                      </a:r>
                    </a:p>
                  </a:txBody>
                  <a:tcPr marL="91440" marR="91440" marT="45720" marB="45720" anchor="ctr">
                    <a:solidFill>
                      <a:srgbClr val="E8EDDF"/>
                    </a:solidFill>
                  </a:tcPr>
                </a:tc>
                <a:tc>
                  <a:txBody>
                    <a:bodyPr lIns="114300" tIns="76200" rIns="114300" bIns="76200">
                      <a:noAutofit/>
                    </a:bodyPr>
                    <a:lstStyle/>
                    <a:p>
                      <a:pPr algn="r"/>
                      <a:r>
                        <a:rPr sz="1950" b="1">
                          <a:solidFill>
                            <a:srgbClr val="14281D"/>
                          </a:solidFill>
                          <a:latin typeface="Arial"/>
                          <a:ea typeface="Arial"/>
                          <a:cs typeface="Arial"/>
                        </a:rPr>
                        <a:t>100.0%</a:t>
                      </a:r>
                    </a:p>
                  </a:txBody>
                  <a:tcPr marL="91440" marR="91440" marT="45720" marB="45720" anchor="ctr">
                    <a:solidFill>
                      <a:srgbClr val="E8EDDF"/>
                    </a:solidFill>
                  </a:tcPr>
                </a:tc>
                <a:tc>
                  <a:txBody>
                    <a:bodyPr lIns="114300" tIns="76200" rIns="114300" bIns="76200">
                      <a:noAutofit/>
                    </a:bodyPr>
                    <a:lstStyle/>
                    <a:p>
                      <a:pPr algn="r"/>
                      <a:r>
                        <a:rPr sz="1950" b="1">
                          <a:solidFill>
                            <a:srgbClr val="14281D"/>
                          </a:solidFill>
                          <a:latin typeface="Arial"/>
                          <a:ea typeface="Arial"/>
                          <a:cs typeface="Arial"/>
                        </a:rPr>
                        <a:t>100.0%</a:t>
                      </a:r>
                    </a:p>
                  </a:txBody>
                  <a:tcPr marL="91440" marR="91440" marT="45720" marB="45720" anchor="ctr">
                    <a:solidFill>
                      <a:srgbClr val="E8EDDF"/>
                    </a:solidFill>
                  </a:tcPr>
                </a:tc>
                <a:tc>
                  <a:txBody>
                    <a:bodyPr lIns="114300" tIns="76200" rIns="114300" bIns="76200">
                      <a:noAutofit/>
                    </a:bodyPr>
                    <a:lstStyle/>
                    <a:p>
                      <a:pPr algn="r"/>
                      <a:r>
                        <a:rPr sz="1950" b="1">
                          <a:solidFill>
                            <a:srgbClr val="14281D"/>
                          </a:solidFill>
                          <a:latin typeface="Arial"/>
                          <a:ea typeface="Arial"/>
                          <a:cs typeface="Arial"/>
                        </a:rPr>
                        <a:t>100.0%</a:t>
                      </a:r>
                    </a:p>
                  </a:txBody>
                  <a:tcPr marL="91440" marR="91440" marT="45720" marB="45720" anchor="ctr">
                    <a:solidFill>
                      <a:srgbClr val="E8EDDF"/>
                    </a:solidFill>
                  </a:tcPr>
                </a:tc>
              </a:tr>
            </a:tbl>
          </a:graphicData>
        </a:graphic>
      </p:graphicFrame>
      <p:sp>
        <p:nvSpPr>
          <p:cNvPr id="6" name="Each illustrative round sells 20% post-money. A la">
            <a:extLst xmlns:a="http://schemas.openxmlformats.org/drawingml/2006/main">
              <a:ext uri="{FF2B5EF4-FFF2-40B4-BE49-F238E27FC236}">
                <a16:creationId xmlns:a16="http://schemas.microsoft.com/office/drawing/2014/main" id="{FE5AAF78-30B3-4AA1-AA19-0268ACDCC503}"/>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Each illustrative round sells 20% post-money. A later 10% option pool would reduce Patrick to 40.32%. Voting and board control require separate terms.</a:t>
            </a:r>
          </a:p>
        </p:txBody>
      </p:sp>
    </p:spTree>
    <p:extLst>
      <p:ext uri="{BB962C8B-B14F-4D97-AF65-F5344CB8AC3E}">
        <p14:creationId xmlns:p14="http://schemas.microsoft.com/office/powerpoint/2010/main" val="1118038543"/>
      </p:ext>
    </p:extLst>
  </p:cSld>
</p:sld>
</file>

<file path=ppt/slides/slide19.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1" name="The investor’s return comes from equity value">
            <a:extLst xmlns:a="http://schemas.openxmlformats.org/drawingml/2006/main">
              <a:ext uri="{FF2B5EF4-FFF2-40B4-BE49-F238E27FC236}">
                <a16:creationId xmlns:a16="http://schemas.microsoft.com/office/drawing/2014/main" id="{C4FC12BC-E35C-4903-979A-C8DB99EF2A8A}"/>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The investor’s return comes from equity value</a:t>
            </a:r>
          </a:p>
        </p:txBody>
      </p:sp>
      <p:sp>
        <p:nvSpPr>
          <p:cNvPr id="2" name="Illustration: $1.5m buys 20% initially and becomes">
            <a:extLst xmlns:a="http://schemas.openxmlformats.org/drawingml/2006/main">
              <a:ext uri="{FF2B5EF4-FFF2-40B4-BE49-F238E27FC236}">
                <a16:creationId xmlns:a16="http://schemas.microsoft.com/office/drawing/2014/main" id="{5BBEB2F1-37E3-4E29-BC7C-2FB98D8E9A81}"/>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Illustration: $1.5m buys 20% initially and becomes 16% after one further 20% round.</a:t>
            </a:r>
          </a:p>
        </p:txBody>
      </p:sp>
      <p:sp>
        <p:nvSpPr>
          <p:cNvPr id="3" name="YardMatch">
            <a:extLst xmlns:a="http://schemas.openxmlformats.org/drawingml/2006/main">
              <a:ext uri="{FF2B5EF4-FFF2-40B4-BE49-F238E27FC236}">
                <a16:creationId xmlns:a16="http://schemas.microsoft.com/office/drawing/2014/main" id="{AA2C10F0-FFC0-400C-8CCA-096D8A562563}"/>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9">
            <a:extLst xmlns:a="http://schemas.openxmlformats.org/drawingml/2006/main">
              <a:ext uri="{FF2B5EF4-FFF2-40B4-BE49-F238E27FC236}">
                <a16:creationId xmlns:a16="http://schemas.microsoft.com/office/drawing/2014/main" id="{3EFDA3C1-2CC8-44A2-BF50-033EE42B697B}"/>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19</a:t>
            </a:r>
          </a:p>
        </p:txBody>
      </p:sp>
      <p:graphicFrame>
        <p:nvGraphicFramePr>
          <p:cNvPr id="15" name=""/>
          <p:cNvGraphicFramePr/>
          <p:nvPr/>
        </p:nvGraphicFramePr>
        <p:xfrm>
          <a:off xmlns:a="http://schemas.openxmlformats.org/drawingml/2006/main" x="609600" y="2409825"/>
          <a:ext xmlns:a="http://schemas.openxmlformats.org/drawingml/2006/main" cx="8572500" cy="2828925"/>
        </p:xfrm>
        <a:graphic xmlns:a="http://schemas.openxmlformats.org/drawingml/2006/main">
          <a:graphicData uri="http://schemas.openxmlformats.org/drawingml/2006/table">
            <a:tbl>
              <a:tblPr/>
              <a:tblGrid>
                <a:gridCol w="2571750"/>
                <a:gridCol w="3619500"/>
                <a:gridCol w="2381250"/>
              </a:tblGrid>
              <a:tr h="565785">
                <a:tc>
                  <a:txBody>
                    <a:bodyPr lIns="114300" tIns="76200" rIns="114300" bIns="76200">
                      <a:noAutofit/>
                    </a:bodyPr>
                    <a:lstStyle/>
                    <a:p>
                      <a:pPr algn="l"/>
                      <a:r>
                        <a:rPr sz="2025" b="1">
                          <a:solidFill>
                            <a:srgbClr val="FFFFFF"/>
                          </a:solidFill>
                          <a:latin typeface="Arial"/>
                          <a:ea typeface="Arial"/>
                          <a:cs typeface="Arial"/>
                        </a:rPr>
                        <a:t>Exit equity value</a:t>
                      </a:r>
                    </a:p>
                  </a:txBody>
                  <a:tcPr marL="91440" marR="91440" marT="45720" marB="45720" anchor="ctr">
                    <a:solidFill>
                      <a:srgbClr val="205938"/>
                    </a:solidFill>
                  </a:tcPr>
                </a:tc>
                <a:tc>
                  <a:txBody>
                    <a:bodyPr lIns="114300" tIns="76200" rIns="114300" bIns="76200">
                      <a:noAutofit/>
                    </a:bodyPr>
                    <a:lstStyle/>
                    <a:p>
                      <a:pPr algn="r"/>
                      <a:r>
                        <a:rPr sz="2025" b="1">
                          <a:solidFill>
                            <a:srgbClr val="FFFFFF"/>
                          </a:solidFill>
                          <a:latin typeface="Arial"/>
                          <a:ea typeface="Arial"/>
                          <a:cs typeface="Arial"/>
                        </a:rPr>
                        <a:t>Initial investor proceeds</a:t>
                      </a:r>
                    </a:p>
                  </a:txBody>
                  <a:tcPr marL="91440" marR="91440" marT="45720" marB="45720" anchor="ctr">
                    <a:solidFill>
                      <a:srgbClr val="205938"/>
                    </a:solidFill>
                  </a:tcPr>
                </a:tc>
                <a:tc>
                  <a:txBody>
                    <a:bodyPr lIns="114300" tIns="76200" rIns="114300" bIns="76200">
                      <a:noAutofit/>
                    </a:bodyPr>
                    <a:lstStyle/>
                    <a:p>
                      <a:pPr algn="r"/>
                      <a:r>
                        <a:rPr sz="2025" b="1">
                          <a:solidFill>
                            <a:srgbClr val="FFFFFF"/>
                          </a:solidFill>
                          <a:latin typeface="Arial"/>
                          <a:ea typeface="Arial"/>
                          <a:cs typeface="Arial"/>
                        </a:rPr>
                        <a:t>Gross multiple</a:t>
                      </a:r>
                    </a:p>
                  </a:txBody>
                  <a:tcPr marL="91440" marR="91440" marT="45720" marB="45720" anchor="ctr">
                    <a:solidFill>
                      <a:srgbClr val="205938"/>
                    </a:solidFill>
                  </a:tcPr>
                </a:tc>
              </a:tr>
              <a:tr h="565785">
                <a:tc>
                  <a:txBody>
                    <a:bodyPr lIns="114300" tIns="76200" rIns="114300" bIns="76200">
                      <a:noAutofit/>
                    </a:bodyPr>
                    <a:lstStyle/>
                    <a:p>
                      <a:pPr algn="l"/>
                      <a:r>
                        <a:rPr sz="2025" b="0">
                          <a:solidFill>
                            <a:srgbClr val="14281D"/>
                          </a:solidFill>
                          <a:latin typeface="Arial"/>
                          <a:ea typeface="Arial"/>
                          <a:cs typeface="Arial"/>
                        </a:rPr>
                        <a:t>$0</a:t>
                      </a:r>
                    </a:p>
                  </a:txBody>
                  <a:tcPr marL="91440" marR="91440" marT="45720" marB="45720" anchor="ctr">
                    <a:solidFill>
                      <a:srgbClr val="FFFFFF"/>
                    </a:solidFill>
                  </a:tcPr>
                </a:tc>
                <a:tc>
                  <a:txBody>
                    <a:bodyPr lIns="114300" tIns="76200" rIns="114300" bIns="76200">
                      <a:noAutofit/>
                    </a:bodyPr>
                    <a:lstStyle/>
                    <a:p>
                      <a:pPr algn="r"/>
                      <a:r>
                        <a:rPr sz="2025" b="0">
                          <a:solidFill>
                            <a:srgbClr val="14281D"/>
                          </a:solidFill>
                          <a:latin typeface="Arial"/>
                          <a:ea typeface="Arial"/>
                          <a:cs typeface="Arial"/>
                        </a:rPr>
                        <a:t>$0</a:t>
                      </a:r>
                    </a:p>
                  </a:txBody>
                  <a:tcPr marL="91440" marR="91440" marT="45720" marB="45720" anchor="ctr">
                    <a:solidFill>
                      <a:srgbClr val="FFFFFF"/>
                    </a:solidFill>
                  </a:tcPr>
                </a:tc>
                <a:tc>
                  <a:txBody>
                    <a:bodyPr lIns="114300" tIns="76200" rIns="114300" bIns="76200">
                      <a:noAutofit/>
                    </a:bodyPr>
                    <a:lstStyle/>
                    <a:p>
                      <a:pPr algn="r"/>
                      <a:r>
                        <a:rPr sz="2025" b="0">
                          <a:solidFill>
                            <a:srgbClr val="14281D"/>
                          </a:solidFill>
                          <a:latin typeface="Arial"/>
                          <a:ea typeface="Arial"/>
                          <a:cs typeface="Arial"/>
                        </a:rPr>
                        <a:t>0.0x</a:t>
                      </a:r>
                    </a:p>
                  </a:txBody>
                  <a:tcPr marL="91440" marR="91440" marT="45720" marB="45720" anchor="ctr">
                    <a:solidFill>
                      <a:srgbClr val="FFFFFF"/>
                    </a:solidFill>
                  </a:tcPr>
                </a:tc>
              </a:tr>
              <a:tr h="565785">
                <a:tc>
                  <a:txBody>
                    <a:bodyPr lIns="114300" tIns="76200" rIns="114300" bIns="76200">
                      <a:noAutofit/>
                    </a:bodyPr>
                    <a:lstStyle/>
                    <a:p>
                      <a:pPr algn="l"/>
                      <a:r>
                        <a:rPr sz="2025" b="0">
                          <a:solidFill>
                            <a:srgbClr val="14281D"/>
                          </a:solidFill>
                          <a:latin typeface="Arial"/>
                          <a:ea typeface="Arial"/>
                          <a:cs typeface="Arial"/>
                        </a:rPr>
                        <a:t>$10m</a:t>
                      </a:r>
                    </a:p>
                  </a:txBody>
                  <a:tcPr marL="91440" marR="91440" marT="45720" marB="45720" anchor="ctr">
                    <a:solidFill>
                      <a:srgbClr val="F7F5EF"/>
                    </a:solidFill>
                  </a:tcPr>
                </a:tc>
                <a:tc>
                  <a:txBody>
                    <a:bodyPr lIns="114300" tIns="76200" rIns="114300" bIns="76200">
                      <a:noAutofit/>
                    </a:bodyPr>
                    <a:lstStyle/>
                    <a:p>
                      <a:pPr algn="r"/>
                      <a:r>
                        <a:rPr sz="2025" b="0">
                          <a:solidFill>
                            <a:srgbClr val="14281D"/>
                          </a:solidFill>
                          <a:latin typeface="Arial"/>
                          <a:ea typeface="Arial"/>
                          <a:cs typeface="Arial"/>
                        </a:rPr>
                        <a:t>$1.6m</a:t>
                      </a:r>
                    </a:p>
                  </a:txBody>
                  <a:tcPr marL="91440" marR="91440" marT="45720" marB="45720" anchor="ctr">
                    <a:solidFill>
                      <a:srgbClr val="F7F5EF"/>
                    </a:solidFill>
                  </a:tcPr>
                </a:tc>
                <a:tc>
                  <a:txBody>
                    <a:bodyPr lIns="114300" tIns="76200" rIns="114300" bIns="76200">
                      <a:noAutofit/>
                    </a:bodyPr>
                    <a:lstStyle/>
                    <a:p>
                      <a:pPr algn="r"/>
                      <a:r>
                        <a:rPr sz="2025" b="0">
                          <a:solidFill>
                            <a:srgbClr val="14281D"/>
                          </a:solidFill>
                          <a:latin typeface="Arial"/>
                          <a:ea typeface="Arial"/>
                          <a:cs typeface="Arial"/>
                        </a:rPr>
                        <a:t>1.1x</a:t>
                      </a:r>
                    </a:p>
                  </a:txBody>
                  <a:tcPr marL="91440" marR="91440" marT="45720" marB="45720" anchor="ctr">
                    <a:solidFill>
                      <a:srgbClr val="F7F5EF"/>
                    </a:solidFill>
                  </a:tcPr>
                </a:tc>
              </a:tr>
              <a:tr h="565785">
                <a:tc>
                  <a:txBody>
                    <a:bodyPr lIns="114300" tIns="76200" rIns="114300" bIns="76200">
                      <a:noAutofit/>
                    </a:bodyPr>
                    <a:lstStyle/>
                    <a:p>
                      <a:pPr algn="l"/>
                      <a:r>
                        <a:rPr sz="2025" b="0">
                          <a:solidFill>
                            <a:srgbClr val="14281D"/>
                          </a:solidFill>
                          <a:latin typeface="Arial"/>
                          <a:ea typeface="Arial"/>
                          <a:cs typeface="Arial"/>
                        </a:rPr>
                        <a:t>$50m</a:t>
                      </a:r>
                    </a:p>
                  </a:txBody>
                  <a:tcPr marL="91440" marR="91440" marT="45720" marB="45720" anchor="ctr">
                    <a:solidFill>
                      <a:srgbClr val="FFFFFF"/>
                    </a:solidFill>
                  </a:tcPr>
                </a:tc>
                <a:tc>
                  <a:txBody>
                    <a:bodyPr lIns="114300" tIns="76200" rIns="114300" bIns="76200">
                      <a:noAutofit/>
                    </a:bodyPr>
                    <a:lstStyle/>
                    <a:p>
                      <a:pPr algn="r"/>
                      <a:r>
                        <a:rPr sz="2025" b="0">
                          <a:solidFill>
                            <a:srgbClr val="14281D"/>
                          </a:solidFill>
                          <a:latin typeface="Arial"/>
                          <a:ea typeface="Arial"/>
                          <a:cs typeface="Arial"/>
                        </a:rPr>
                        <a:t>$8.0m</a:t>
                      </a:r>
                    </a:p>
                  </a:txBody>
                  <a:tcPr marL="91440" marR="91440" marT="45720" marB="45720" anchor="ctr">
                    <a:solidFill>
                      <a:srgbClr val="FFFFFF"/>
                    </a:solidFill>
                  </a:tcPr>
                </a:tc>
                <a:tc>
                  <a:txBody>
                    <a:bodyPr lIns="114300" tIns="76200" rIns="114300" bIns="76200">
                      <a:noAutofit/>
                    </a:bodyPr>
                    <a:lstStyle/>
                    <a:p>
                      <a:pPr algn="r"/>
                      <a:r>
                        <a:rPr sz="2025" b="0">
                          <a:solidFill>
                            <a:srgbClr val="14281D"/>
                          </a:solidFill>
                          <a:latin typeface="Arial"/>
                          <a:ea typeface="Arial"/>
                          <a:cs typeface="Arial"/>
                        </a:rPr>
                        <a:t>5.3x</a:t>
                      </a:r>
                    </a:p>
                  </a:txBody>
                  <a:tcPr marL="91440" marR="91440" marT="45720" marB="45720" anchor="ctr">
                    <a:solidFill>
                      <a:srgbClr val="FFFFFF"/>
                    </a:solidFill>
                  </a:tcPr>
                </a:tc>
              </a:tr>
              <a:tr h="565785">
                <a:tc>
                  <a:txBody>
                    <a:bodyPr lIns="114300" tIns="76200" rIns="114300" bIns="76200">
                      <a:noAutofit/>
                    </a:bodyPr>
                    <a:lstStyle/>
                    <a:p>
                      <a:pPr algn="l"/>
                      <a:r>
                        <a:rPr sz="2025" b="0">
                          <a:solidFill>
                            <a:srgbClr val="14281D"/>
                          </a:solidFill>
                          <a:latin typeface="Arial"/>
                          <a:ea typeface="Arial"/>
                          <a:cs typeface="Arial"/>
                        </a:rPr>
                        <a:t>$100m</a:t>
                      </a:r>
                    </a:p>
                  </a:txBody>
                  <a:tcPr marL="91440" marR="91440" marT="45720" marB="45720" anchor="ctr">
                    <a:solidFill>
                      <a:srgbClr val="F7F5EF"/>
                    </a:solidFill>
                  </a:tcPr>
                </a:tc>
                <a:tc>
                  <a:txBody>
                    <a:bodyPr lIns="114300" tIns="76200" rIns="114300" bIns="76200">
                      <a:noAutofit/>
                    </a:bodyPr>
                    <a:lstStyle/>
                    <a:p>
                      <a:pPr algn="r"/>
                      <a:r>
                        <a:rPr sz="2025" b="0">
                          <a:solidFill>
                            <a:srgbClr val="14281D"/>
                          </a:solidFill>
                          <a:latin typeface="Arial"/>
                          <a:ea typeface="Arial"/>
                          <a:cs typeface="Arial"/>
                        </a:rPr>
                        <a:t>$16.0m</a:t>
                      </a:r>
                    </a:p>
                  </a:txBody>
                  <a:tcPr marL="91440" marR="91440" marT="45720" marB="45720" anchor="ctr">
                    <a:solidFill>
                      <a:srgbClr val="F7F5EF"/>
                    </a:solidFill>
                  </a:tcPr>
                </a:tc>
                <a:tc>
                  <a:txBody>
                    <a:bodyPr lIns="114300" tIns="76200" rIns="114300" bIns="76200">
                      <a:noAutofit/>
                    </a:bodyPr>
                    <a:lstStyle/>
                    <a:p>
                      <a:pPr algn="r"/>
                      <a:r>
                        <a:rPr sz="2025" b="0">
                          <a:solidFill>
                            <a:srgbClr val="14281D"/>
                          </a:solidFill>
                          <a:latin typeface="Arial"/>
                          <a:ea typeface="Arial"/>
                          <a:cs typeface="Arial"/>
                        </a:rPr>
                        <a:t>10.7x</a:t>
                      </a:r>
                    </a:p>
                  </a:txBody>
                  <a:tcPr marL="91440" marR="91440" marT="45720" marB="45720" anchor="ctr">
                    <a:solidFill>
                      <a:srgbClr val="F7F5EF"/>
                    </a:solidFill>
                  </a:tcPr>
                </a:tc>
              </a:tr>
            </a:tbl>
          </a:graphicData>
        </a:graphic>
      </p:graphicFrame>
      <p:sp>
        <p:nvSpPr>
          <p:cNvPr id="6" name="$6.0m">
            <a:extLst xmlns:a="http://schemas.openxmlformats.org/drawingml/2006/main">
              <a:ext uri="{FF2B5EF4-FFF2-40B4-BE49-F238E27FC236}">
                <a16:creationId xmlns:a16="http://schemas.microsoft.com/office/drawing/2014/main" id="{82D73B8F-5ECD-4041-B5D4-B7639EC3D736}"/>
              </a:ext>
            </a:extLst>
          </p:cNvPr>
          <p:cNvSpPr>
            <a:spLocks xmlns:a="http://schemas.openxmlformats.org/drawingml/2006/main" noGrp="1"/>
          </p:cNvSpPr>
          <p:nvPr/>
        </p:nvSpPr>
        <p:spPr>
          <a:xfrm xmlns:a="http://schemas.openxmlformats.org/drawingml/2006/main">
            <a:off x="9582150" y="2495550"/>
            <a:ext cx="19621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205938"/>
                </a:solidFill>
                <a:latin typeface="Arial"/>
                <a:ea typeface="Arial"/>
                <a:cs typeface="Arial"/>
              </a:defRPr>
            </a:pPr>
            <a:r>
              <a:rPr sz="2775" b="1">
                <a:solidFill>
                  <a:srgbClr val="205938"/>
                </a:solidFill>
                <a:latin typeface="Arial"/>
                <a:ea typeface="Arial"/>
                <a:cs typeface="Arial"/>
              </a:rPr>
              <a:t>$6.0m</a:t>
            </a:r>
          </a:p>
        </p:txBody>
      </p:sp>
      <p:sp>
        <p:nvSpPr>
          <p:cNvPr id="7" name="Illustrative&#10;pre-money value">
            <a:extLst xmlns:a="http://schemas.openxmlformats.org/drawingml/2006/main">
              <a:ext uri="{FF2B5EF4-FFF2-40B4-BE49-F238E27FC236}">
                <a16:creationId xmlns:a16="http://schemas.microsoft.com/office/drawing/2014/main" id="{E87D5C9A-E96A-43A0-A79D-6C52D190E1C5}"/>
              </a:ext>
            </a:extLst>
          </p:cNvPr>
          <p:cNvSpPr>
            <a:spLocks xmlns:a="http://schemas.openxmlformats.org/drawingml/2006/main" noGrp="1"/>
          </p:cNvSpPr>
          <p:nvPr/>
        </p:nvSpPr>
        <p:spPr>
          <a:xfrm xmlns:a="http://schemas.openxmlformats.org/drawingml/2006/main">
            <a:off x="9582150" y="3124200"/>
            <a:ext cx="19716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4281D"/>
                </a:solidFill>
                <a:latin typeface="Arial"/>
                <a:ea typeface="Arial"/>
                <a:cs typeface="Arial"/>
              </a:defRPr>
            </a:pPr>
            <a:r>
              <a:rPr sz="1800" b="0">
                <a:solidFill>
                  <a:srgbClr val="14281D"/>
                </a:solidFill>
                <a:latin typeface="Arial"/>
                <a:ea typeface="Arial"/>
                <a:cs typeface="Arial"/>
              </a:rPr>
              <a:t>Illustrative</a:t>
            </a:r>
          </a:p>
          <a:p xmlns:a="http://schemas.openxmlformats.org/drawingml/2006/main">
            <a:pPr algn="l">
              <a:defRPr sz="1800" b="0">
                <a:solidFill>
                  <a:srgbClr val="14281D"/>
                </a:solidFill>
                <a:latin typeface="Arial"/>
                <a:ea typeface="Arial"/>
                <a:cs typeface="Arial"/>
              </a:defRPr>
            </a:pPr>
            <a:r>
              <a:rPr sz="1800" b="0">
                <a:solidFill>
                  <a:srgbClr val="14281D"/>
                </a:solidFill>
                <a:latin typeface="Arial"/>
                <a:ea typeface="Arial"/>
                <a:cs typeface="Arial"/>
              </a:rPr>
              <a:t>pre-money value</a:t>
            </a:r>
          </a:p>
        </p:txBody>
      </p:sp>
      <p:sp>
        <p:nvSpPr>
          <p:cNvPr id="8" name="$7.5m">
            <a:extLst xmlns:a="http://schemas.openxmlformats.org/drawingml/2006/main">
              <a:ext uri="{FF2B5EF4-FFF2-40B4-BE49-F238E27FC236}">
                <a16:creationId xmlns:a16="http://schemas.microsoft.com/office/drawing/2014/main" id="{F0316475-677A-445E-8D8C-1F073DD525C1}"/>
              </a:ext>
            </a:extLst>
          </p:cNvPr>
          <p:cNvSpPr>
            <a:spLocks xmlns:a="http://schemas.openxmlformats.org/drawingml/2006/main" noGrp="1"/>
          </p:cNvSpPr>
          <p:nvPr/>
        </p:nvSpPr>
        <p:spPr>
          <a:xfrm xmlns:a="http://schemas.openxmlformats.org/drawingml/2006/main">
            <a:off x="9582150" y="4238625"/>
            <a:ext cx="19621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205938"/>
                </a:solidFill>
                <a:latin typeface="Arial"/>
                <a:ea typeface="Arial"/>
                <a:cs typeface="Arial"/>
              </a:defRPr>
            </a:pPr>
            <a:r>
              <a:rPr sz="2775" b="1">
                <a:solidFill>
                  <a:srgbClr val="205938"/>
                </a:solidFill>
                <a:latin typeface="Arial"/>
                <a:ea typeface="Arial"/>
                <a:cs typeface="Arial"/>
              </a:rPr>
              <a:t>$7.5m</a:t>
            </a:r>
          </a:p>
        </p:txBody>
      </p:sp>
      <p:sp>
        <p:nvSpPr>
          <p:cNvPr id="9" name="Illustrative&#10;post-money value">
            <a:extLst xmlns:a="http://schemas.openxmlformats.org/drawingml/2006/main">
              <a:ext uri="{FF2B5EF4-FFF2-40B4-BE49-F238E27FC236}">
                <a16:creationId xmlns:a16="http://schemas.microsoft.com/office/drawing/2014/main" id="{7682B21B-9308-4423-8295-9317A461204D}"/>
              </a:ext>
            </a:extLst>
          </p:cNvPr>
          <p:cNvSpPr>
            <a:spLocks xmlns:a="http://schemas.openxmlformats.org/drawingml/2006/main" noGrp="1"/>
          </p:cNvSpPr>
          <p:nvPr/>
        </p:nvSpPr>
        <p:spPr>
          <a:xfrm xmlns:a="http://schemas.openxmlformats.org/drawingml/2006/main">
            <a:off x="9582150" y="4867275"/>
            <a:ext cx="19716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4281D"/>
                </a:solidFill>
                <a:latin typeface="Arial"/>
                <a:ea typeface="Arial"/>
                <a:cs typeface="Arial"/>
              </a:defRPr>
            </a:pPr>
            <a:r>
              <a:rPr sz="1800" b="0">
                <a:solidFill>
                  <a:srgbClr val="14281D"/>
                </a:solidFill>
                <a:latin typeface="Arial"/>
                <a:ea typeface="Arial"/>
                <a:cs typeface="Arial"/>
              </a:rPr>
              <a:t>Illustrative</a:t>
            </a:r>
          </a:p>
          <a:p xmlns:a="http://schemas.openxmlformats.org/drawingml/2006/main">
            <a:pPr algn="l">
              <a:defRPr sz="1800" b="0">
                <a:solidFill>
                  <a:srgbClr val="14281D"/>
                </a:solidFill>
                <a:latin typeface="Arial"/>
                <a:ea typeface="Arial"/>
                <a:cs typeface="Arial"/>
              </a:defRPr>
            </a:pPr>
            <a:r>
              <a:rPr sz="1800" b="0">
                <a:solidFill>
                  <a:srgbClr val="14281D"/>
                </a:solidFill>
                <a:latin typeface="Arial"/>
                <a:ea typeface="Arial"/>
                <a:cs typeface="Arial"/>
              </a:rPr>
              <a:t>post-money value</a:t>
            </a:r>
          </a:p>
        </p:txBody>
      </p:sp>
      <p:sp>
        <p:nvSpPr>
          <p:cNvPr id="10" name="Return arithmetic, not an exit forecast. Excludes ">
            <a:extLst xmlns:a="http://schemas.openxmlformats.org/drawingml/2006/main">
              <a:ext uri="{FF2B5EF4-FFF2-40B4-BE49-F238E27FC236}">
                <a16:creationId xmlns:a16="http://schemas.microsoft.com/office/drawing/2014/main" id="{FF58F028-6FC7-483D-B10D-70C968DBCE20}"/>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Return arithmetic, not an exit forecast. Excludes further dilution, option pools, preferences, taxes and fees. The $0 outcome represents a complete loss.</a:t>
            </a:r>
          </a:p>
        </p:txBody>
      </p:sp>
    </p:spTree>
    <p:extLst>
      <p:ext uri="{BB962C8B-B14F-4D97-AF65-F5344CB8AC3E}">
        <p14:creationId xmlns:p14="http://schemas.microsoft.com/office/powerpoint/2010/main" val="192793029"/>
      </p:ext>
    </p:extLst>
  </p:cSld>
</p:sld>
</file>

<file path=ppt/slides/slide20.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Milestones for the next round">
            <a:extLst xmlns:a="http://schemas.openxmlformats.org/drawingml/2006/main">
              <a:ext uri="{FF2B5EF4-FFF2-40B4-BE49-F238E27FC236}">
                <a16:creationId xmlns:a16="http://schemas.microsoft.com/office/drawing/2014/main" id="{981695BC-1A55-4A2A-9A94-C01B6ABFB6CF}"/>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Milestones for the next round</a:t>
            </a:r>
          </a:p>
        </p:txBody>
      </p:sp>
      <p:sp>
        <p:nvSpPr>
          <p:cNvPr id="2" name="The strongest investment case will rest on paid co">
            <a:extLst xmlns:a="http://schemas.openxmlformats.org/drawingml/2006/main">
              <a:ext uri="{FF2B5EF4-FFF2-40B4-BE49-F238E27FC236}">
                <a16:creationId xmlns:a16="http://schemas.microsoft.com/office/drawing/2014/main" id="{AD252446-187E-466D-BF99-479AAAEA01F3}"/>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The strongest investment case will rest on paid cohort results from a concentrated launch.</a:t>
            </a:r>
          </a:p>
        </p:txBody>
      </p:sp>
      <p:sp>
        <p:nvSpPr>
          <p:cNvPr id="3" name="YardMatch">
            <a:extLst xmlns:a="http://schemas.openxmlformats.org/drawingml/2006/main">
              <a:ext uri="{FF2B5EF4-FFF2-40B4-BE49-F238E27FC236}">
                <a16:creationId xmlns:a16="http://schemas.microsoft.com/office/drawing/2014/main" id="{28D4FEEC-A0B4-46DF-BF0E-BBB9B665BF47}"/>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20">
            <a:extLst xmlns:a="http://schemas.openxmlformats.org/drawingml/2006/main">
              <a:ext uri="{FF2B5EF4-FFF2-40B4-BE49-F238E27FC236}">
                <a16:creationId xmlns:a16="http://schemas.microsoft.com/office/drawing/2014/main" id="{07C86E55-B93B-4AEF-98F2-6C1CCF67689A}"/>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20</a:t>
            </a:r>
          </a:p>
        </p:txBody>
      </p:sp>
      <p:graphicFrame>
        <p:nvGraphicFramePr>
          <p:cNvPr id="11" name=""/>
          <p:cNvGraphicFramePr/>
          <p:nvPr/>
        </p:nvGraphicFramePr>
        <p:xfrm>
          <a:off xmlns:a="http://schemas.openxmlformats.org/drawingml/2006/main" x="609600" y="2362200"/>
          <a:ext xmlns:a="http://schemas.openxmlformats.org/drawingml/2006/main" cx="10972800" cy="3333750"/>
        </p:xfrm>
        <a:graphic xmlns:a="http://schemas.openxmlformats.org/drawingml/2006/main">
          <a:graphicData uri="http://schemas.openxmlformats.org/drawingml/2006/table">
            <a:tbl>
              <a:tblPr/>
              <a:tblGrid>
                <a:gridCol w="3476625"/>
                <a:gridCol w="7496175"/>
              </a:tblGrid>
              <a:tr h="555625">
                <a:tc>
                  <a:txBody>
                    <a:bodyPr lIns="114300" tIns="76200" rIns="114300" bIns="76200">
                      <a:noAutofit/>
                    </a:bodyPr>
                    <a:lstStyle/>
                    <a:p>
                      <a:pPr algn="l"/>
                      <a:r>
                        <a:rPr sz="1800" b="1">
                          <a:solidFill>
                            <a:srgbClr val="FFFFFF"/>
                          </a:solidFill>
                          <a:latin typeface="Arial"/>
                          <a:ea typeface="Arial"/>
                          <a:cs typeface="Arial"/>
                        </a:rPr>
                        <a:t>Test</a:t>
                      </a:r>
                    </a:p>
                  </a:txBody>
                  <a:tcPr marL="91440" marR="91440" marT="45720" marB="45720" anchor="ctr">
                    <a:solidFill>
                      <a:srgbClr val="205938"/>
                    </a:solidFill>
                  </a:tcPr>
                </a:tc>
                <a:tc>
                  <a:txBody>
                    <a:bodyPr lIns="114300" tIns="76200" rIns="114300" bIns="76200">
                      <a:noAutofit/>
                    </a:bodyPr>
                    <a:lstStyle/>
                    <a:p>
                      <a:pPr algn="r"/>
                      <a:r>
                        <a:rPr sz="1800" b="1">
                          <a:solidFill>
                            <a:srgbClr val="FFFFFF"/>
                          </a:solidFill>
                          <a:latin typeface="Arial"/>
                          <a:ea typeface="Arial"/>
                          <a:cs typeface="Arial"/>
                        </a:rPr>
                        <a:t>Proposed evidence</a:t>
                      </a:r>
                    </a:p>
                  </a:txBody>
                  <a:tcPr marL="91440" marR="91440" marT="45720" marB="45720" anchor="ctr">
                    <a:solidFill>
                      <a:srgbClr val="205938"/>
                    </a:solidFill>
                  </a:tcPr>
                </a:tc>
              </a:tr>
              <a:tr h="555625">
                <a:tc>
                  <a:txBody>
                    <a:bodyPr lIns="114300" tIns="76200" rIns="114300" bIns="76200">
                      <a:noAutofit/>
                    </a:bodyPr>
                    <a:lstStyle/>
                    <a:p>
                      <a:pPr algn="l"/>
                      <a:r>
                        <a:rPr sz="1800" b="0">
                          <a:solidFill>
                            <a:srgbClr val="14281D"/>
                          </a:solidFill>
                          <a:latin typeface="Arial"/>
                          <a:ea typeface="Arial"/>
                          <a:cs typeface="Arial"/>
                        </a:rPr>
                        <a:t>Demand and retention</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500 first-year paying households and a measured second season</a:t>
                      </a:r>
                    </a:p>
                  </a:txBody>
                  <a:tcPr marL="91440" marR="91440" marT="45720" marB="45720" anchor="ctr">
                    <a:solidFill>
                      <a:srgbClr val="FFFFFF"/>
                    </a:solidFill>
                  </a:tcPr>
                </a:tc>
              </a:tr>
              <a:tr h="555625">
                <a:tc>
                  <a:txBody>
                    <a:bodyPr lIns="114300" tIns="76200" rIns="114300" bIns="76200">
                      <a:noAutofit/>
                    </a:bodyPr>
                    <a:lstStyle/>
                    <a:p>
                      <a:pPr algn="l"/>
                      <a:r>
                        <a:rPr sz="1800" b="0">
                          <a:solidFill>
                            <a:srgbClr val="14281D"/>
                          </a:solidFill>
                          <a:latin typeface="Arial"/>
                          <a:ea typeface="Arial"/>
                          <a:cs typeface="Arial"/>
                        </a:rPr>
                        <a:t>Provider fee acceptance</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Repeat jobs continue with the $2.99 provider deduction</a:t>
                      </a:r>
                    </a:p>
                  </a:txBody>
                  <a:tcPr marL="91440" marR="91440" marT="45720" marB="45720" anchor="ctr">
                    <a:solidFill>
                      <a:srgbClr val="F7F5EF"/>
                    </a:solidFill>
                  </a:tcPr>
                </a:tc>
              </a:tr>
              <a:tr h="555625">
                <a:tc>
                  <a:txBody>
                    <a:bodyPr lIns="114300" tIns="76200" rIns="114300" bIns="76200">
                      <a:noAutofit/>
                    </a:bodyPr>
                    <a:lstStyle/>
                    <a:p>
                      <a:pPr algn="l"/>
                      <a:r>
                        <a:rPr sz="1800" b="0">
                          <a:solidFill>
                            <a:srgbClr val="14281D"/>
                          </a:solidFill>
                          <a:latin typeface="Arial"/>
                          <a:ea typeface="Arial"/>
                          <a:cs typeface="Arial"/>
                        </a:rPr>
                        <a:t>Acquisition economics</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Blended cash CAC at or below $50 in year two</a:t>
                      </a:r>
                    </a:p>
                  </a:txBody>
                  <a:tcPr marL="91440" marR="91440" marT="45720" marB="45720" anchor="ctr">
                    <a:solidFill>
                      <a:srgbClr val="FFFFFF"/>
                    </a:solidFill>
                  </a:tcPr>
                </a:tc>
              </a:tr>
              <a:tr h="555625">
                <a:tc>
                  <a:txBody>
                    <a:bodyPr lIns="114300" tIns="76200" rIns="114300" bIns="76200">
                      <a:noAutofit/>
                    </a:bodyPr>
                    <a:lstStyle/>
                    <a:p>
                      <a:pPr algn="l"/>
                      <a:r>
                        <a:rPr sz="1800" b="0">
                          <a:solidFill>
                            <a:srgbClr val="14281D"/>
                          </a:solidFill>
                          <a:latin typeface="Arial"/>
                          <a:ea typeface="Arial"/>
                          <a:cs typeface="Arial"/>
                        </a:rPr>
                        <a:t>Positive repeat contribution</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Payment mix supports at least $0.50 per paid repeat visit</a:t>
                      </a:r>
                    </a:p>
                  </a:txBody>
                  <a:tcPr marL="91440" marR="91440" marT="45720" marB="45720" anchor="ctr">
                    <a:solidFill>
                      <a:srgbClr val="F7F5EF"/>
                    </a:solidFill>
                  </a:tcPr>
                </a:tc>
              </a:tr>
              <a:tr h="555625">
                <a:tc>
                  <a:txBody>
                    <a:bodyPr lIns="114300" tIns="76200" rIns="114300" bIns="76200">
                      <a:noAutofit/>
                    </a:bodyPr>
                    <a:lstStyle/>
                    <a:p>
                      <a:pPr algn="l"/>
                      <a:r>
                        <a:rPr sz="1800" b="0">
                          <a:solidFill>
                            <a:srgbClr val="14281D"/>
                          </a:solidFill>
                          <a:latin typeface="Arial"/>
                          <a:ea typeface="Arial"/>
                          <a:cs typeface="Arial"/>
                        </a:rPr>
                        <a:t>Reliability and expansion</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Resolved service issues and economics reproduced in a second market</a:t>
                      </a:r>
                    </a:p>
                  </a:txBody>
                  <a:tcPr marL="91440" marR="91440" marT="45720" marB="45720" anchor="ctr">
                    <a:solidFill>
                      <a:srgbClr val="FFFFFF"/>
                    </a:solidFill>
                  </a:tcPr>
                </a:tc>
              </a:tr>
            </a:tbl>
          </a:graphicData>
        </a:graphic>
      </p:graphicFrame>
      <p:sp>
        <p:nvSpPr>
          <p:cNvPr id="6" name="Material risks: off-platform migration, seasonal c">
            <a:extLst xmlns:a="http://schemas.openxmlformats.org/drawingml/2006/main">
              <a:ext uri="{FF2B5EF4-FFF2-40B4-BE49-F238E27FC236}">
                <a16:creationId xmlns:a16="http://schemas.microsoft.com/office/drawing/2014/main" id="{0937CAFD-6F5D-48F8-8326-B67A676ECE61}"/>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Material risks: off-platform migration, seasonal cash needs, high-ticket payment costs and service liability. Expansion pauses when contribution or retention misses the gate.</a:t>
            </a:r>
          </a:p>
        </p:txBody>
      </p:sp>
    </p:spTree>
    <p:extLst>
      <p:ext uri="{BB962C8B-B14F-4D97-AF65-F5344CB8AC3E}">
        <p14:creationId xmlns:p14="http://schemas.microsoft.com/office/powerpoint/2010/main" val="1345127475"/>
      </p:ext>
    </p:extLst>
  </p:cSld>
</p:sld>
</file>

<file path=ppt/slides/slide21.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3" name="Model mechanics and limits">
            <a:extLst xmlns:a="http://schemas.openxmlformats.org/drawingml/2006/main">
              <a:ext uri="{FF2B5EF4-FFF2-40B4-BE49-F238E27FC236}">
                <a16:creationId xmlns:a16="http://schemas.microsoft.com/office/drawing/2014/main" id="{1166A5D3-A85A-4765-8BC1-DF1FF6B4BA07}"/>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Model mechanics and limits</a:t>
            </a:r>
          </a:p>
        </p:txBody>
      </p:sp>
      <p:sp>
        <p:nvSpPr>
          <p:cNvPr id="2" name="The companion workbook exposes the formulas and al">
            <a:extLst xmlns:a="http://schemas.openxmlformats.org/drawingml/2006/main">
              <a:ext uri="{FF2B5EF4-FFF2-40B4-BE49-F238E27FC236}">
                <a16:creationId xmlns:a16="http://schemas.microsoft.com/office/drawing/2014/main" id="{014CB05E-9C63-49CB-849D-7D4748634811}"/>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The companion workbook exposes the formulas and all editable assumptions.</a:t>
            </a:r>
          </a:p>
        </p:txBody>
      </p:sp>
      <p:sp>
        <p:nvSpPr>
          <p:cNvPr id="3" name="YardMatch">
            <a:extLst xmlns:a="http://schemas.openxmlformats.org/drawingml/2006/main">
              <a:ext uri="{FF2B5EF4-FFF2-40B4-BE49-F238E27FC236}">
                <a16:creationId xmlns:a16="http://schemas.microsoft.com/office/drawing/2014/main" id="{033750D6-C69C-4589-B828-2209E9E66D96}"/>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21">
            <a:extLst xmlns:a="http://schemas.openxmlformats.org/drawingml/2006/main">
              <a:ext uri="{FF2B5EF4-FFF2-40B4-BE49-F238E27FC236}">
                <a16:creationId xmlns:a16="http://schemas.microsoft.com/office/drawing/2014/main" id="{B1D78B45-CA1F-4BB4-9BB2-90A16BD83215}"/>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21</a:t>
            </a:r>
          </a:p>
        </p:txBody>
      </p:sp>
      <p:sp>
        <p:nvSpPr>
          <p:cNvPr id="5" name="Households and paid visits">
            <a:extLst xmlns:a="http://schemas.openxmlformats.org/drawingml/2006/main">
              <a:ext uri="{FF2B5EF4-FFF2-40B4-BE49-F238E27FC236}">
                <a16:creationId xmlns:a16="http://schemas.microsoft.com/office/drawing/2014/main" id="{537E8166-339E-4854-B573-3E544F7C8BF2}"/>
              </a:ext>
            </a:extLst>
          </p:cNvPr>
          <p:cNvSpPr>
            <a:spLocks xmlns:a="http://schemas.openxmlformats.org/drawingml/2006/main" noGrp="1"/>
          </p:cNvSpPr>
          <p:nvPr/>
        </p:nvSpPr>
        <p:spPr>
          <a:xfrm xmlns:a="http://schemas.openxmlformats.org/drawingml/2006/main">
            <a:off x="628650" y="2371725"/>
            <a:ext cx="5048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Households and paid visits</a:t>
            </a:r>
          </a:p>
        </p:txBody>
      </p:sp>
      <p:sp>
        <p:nvSpPr>
          <p:cNvPr id="6" name="Retained households plus half of new households fo">
            <a:extLst xmlns:a="http://schemas.openxmlformats.org/drawingml/2006/main">
              <a:ext uri="{FF2B5EF4-FFF2-40B4-BE49-F238E27FC236}">
                <a16:creationId xmlns:a16="http://schemas.microsoft.com/office/drawing/2014/main" id="{253DCA52-74C6-4078-898A-C21B2586E1D0}"/>
              </a:ext>
            </a:extLst>
          </p:cNvPr>
          <p:cNvSpPr>
            <a:spLocks xmlns:a="http://schemas.openxmlformats.org/drawingml/2006/main" noGrp="1"/>
          </p:cNvSpPr>
          <p:nvPr/>
        </p:nvSpPr>
        <p:spPr>
          <a:xfrm xmlns:a="http://schemas.openxmlformats.org/drawingml/2006/main">
            <a:off x="628650" y="2895600"/>
            <a:ext cx="5048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Retained households plus half of new households form the season’s service base. Visits then reflect platform capture and completion.</a:t>
            </a:r>
          </a:p>
        </p:txBody>
      </p:sp>
      <p:sp>
        <p:nvSpPr>
          <p:cNvPr id="7" name="Revenue and cost">
            <a:extLst xmlns:a="http://schemas.openxmlformats.org/drawingml/2006/main">
              <a:ext uri="{FF2B5EF4-FFF2-40B4-BE49-F238E27FC236}">
                <a16:creationId xmlns:a16="http://schemas.microsoft.com/office/drawing/2014/main" id="{C8A0E9B5-28C3-4C41-AE57-72B1CAB58ECA}"/>
              </a:ext>
            </a:extLst>
          </p:cNvPr>
          <p:cNvSpPr>
            <a:spLocks xmlns:a="http://schemas.openxmlformats.org/drawingml/2006/main" noGrp="1"/>
          </p:cNvSpPr>
          <p:nvPr/>
        </p:nvSpPr>
        <p:spPr>
          <a:xfrm xmlns:a="http://schemas.openxmlformats.org/drawingml/2006/main">
            <a:off x="6410325" y="2371725"/>
            <a:ext cx="5048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Revenue and cost</a:t>
            </a:r>
          </a:p>
        </p:txBody>
      </p:sp>
      <p:sp>
        <p:nvSpPr>
          <p:cNvPr id="8" name="$45 per new pairing after waivers, plus $2.99 per ">
            <a:extLst xmlns:a="http://schemas.openxmlformats.org/drawingml/2006/main">
              <a:ext uri="{FF2B5EF4-FFF2-40B4-BE49-F238E27FC236}">
                <a16:creationId xmlns:a16="http://schemas.microsoft.com/office/drawing/2014/main" id="{99F10BD9-C5FC-4F72-9DAF-7B6A69D80475}"/>
              </a:ext>
            </a:extLst>
          </p:cNvPr>
          <p:cNvSpPr>
            <a:spLocks xmlns:a="http://schemas.openxmlformats.org/drawingml/2006/main" noGrp="1"/>
          </p:cNvSpPr>
          <p:nvPr/>
        </p:nvSpPr>
        <p:spPr>
          <a:xfrm xmlns:a="http://schemas.openxmlformats.org/drawingml/2006/main">
            <a:off x="6410325" y="2895600"/>
            <a:ext cx="5048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$45 per new pairing after waivers, plus $2.99 per paid visit. Processing uses the whole service ticket. Crew costs stay with the provider.</a:t>
            </a:r>
          </a:p>
        </p:txBody>
      </p:sp>
      <p:sp>
        <p:nvSpPr>
          <p:cNvPr id="9" name="Profit and cash">
            <a:extLst xmlns:a="http://schemas.openxmlformats.org/drawingml/2006/main">
              <a:ext uri="{FF2B5EF4-FFF2-40B4-BE49-F238E27FC236}">
                <a16:creationId xmlns:a16="http://schemas.microsoft.com/office/drawing/2014/main" id="{46062847-DE4A-44D6-831E-9E794E2A3EA5}"/>
              </a:ext>
            </a:extLst>
          </p:cNvPr>
          <p:cNvSpPr>
            <a:spLocks xmlns:a="http://schemas.openxmlformats.org/drawingml/2006/main" noGrp="1"/>
          </p:cNvSpPr>
          <p:nvPr/>
        </p:nvSpPr>
        <p:spPr>
          <a:xfrm xmlns:a="http://schemas.openxmlformats.org/drawingml/2006/main">
            <a:off x="628650" y="4267200"/>
            <a:ext cx="5048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Profit and cash</a:t>
            </a:r>
          </a:p>
        </p:txBody>
      </p:sp>
      <p:sp>
        <p:nvSpPr>
          <p:cNvPr id="10" name="Payroll includes founder pay. Fixed costs run all ">
            <a:extLst xmlns:a="http://schemas.openxmlformats.org/drawingml/2006/main">
              <a:ext uri="{FF2B5EF4-FFF2-40B4-BE49-F238E27FC236}">
                <a16:creationId xmlns:a16="http://schemas.microsoft.com/office/drawing/2014/main" id="{B2CFC9F0-7E03-4B96-9345-4F8CAF68485D}"/>
              </a:ext>
            </a:extLst>
          </p:cNvPr>
          <p:cNvSpPr>
            <a:spLocks xmlns:a="http://schemas.openxmlformats.org/drawingml/2006/main" noGrp="1"/>
          </p:cNvSpPr>
          <p:nvPr/>
        </p:nvSpPr>
        <p:spPr>
          <a:xfrm xmlns:a="http://schemas.openxmlformats.org/drawingml/2006/main">
            <a:off x="628650" y="4791075"/>
            <a:ext cx="5048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Payroll includes founder pay. Fixed costs run all year. Cash also funds equipment and a modeled risk reserve.</a:t>
            </a:r>
          </a:p>
        </p:txBody>
      </p:sp>
      <p:sp>
        <p:nvSpPr>
          <p:cNvPr id="11" name="A cohort check">
            <a:extLst xmlns:a="http://schemas.openxmlformats.org/drawingml/2006/main">
              <a:ext uri="{FF2B5EF4-FFF2-40B4-BE49-F238E27FC236}">
                <a16:creationId xmlns:a16="http://schemas.microsoft.com/office/drawing/2014/main" id="{30396159-E14A-48A0-8DA0-C5A7CED54C79}"/>
              </a:ext>
            </a:extLst>
          </p:cNvPr>
          <p:cNvSpPr>
            <a:spLocks xmlns:a="http://schemas.openxmlformats.org/drawingml/2006/main" noGrp="1"/>
          </p:cNvSpPr>
          <p:nvPr/>
        </p:nvSpPr>
        <p:spPr>
          <a:xfrm xmlns:a="http://schemas.openxmlformats.org/drawingml/2006/main">
            <a:off x="6410325" y="4267200"/>
            <a:ext cx="5048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A cohort check</a:t>
            </a:r>
          </a:p>
        </p:txBody>
      </p:sp>
      <p:sp>
        <p:nvSpPr>
          <p:cNvPr id="12" name="Base 2031 economics imply about $89 of five-year c">
            <a:extLst xmlns:a="http://schemas.openxmlformats.org/drawingml/2006/main">
              <a:ext uri="{FF2B5EF4-FFF2-40B4-BE49-F238E27FC236}">
                <a16:creationId xmlns:a16="http://schemas.microsoft.com/office/drawing/2014/main" id="{065DA9B2-C3B3-454D-A6A5-FC7AAFBFAEC3}"/>
              </a:ext>
            </a:extLst>
          </p:cNvPr>
          <p:cNvSpPr>
            <a:spLocks xmlns:a="http://schemas.openxmlformats.org/drawingml/2006/main" noGrp="1"/>
          </p:cNvSpPr>
          <p:nvPr/>
        </p:nvSpPr>
        <p:spPr>
          <a:xfrm xmlns:a="http://schemas.openxmlformats.org/drawingml/2006/main">
            <a:off x="6410325" y="4791075"/>
            <a:ext cx="5048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Base 2031 economics imply about $89 of five-year contribution per acquired household versus $35 CAC, or 2.6x. This is an assumption test.</a:t>
            </a:r>
          </a:p>
        </p:txBody>
      </p:sp>
    </p:spTree>
    <p:extLst>
      <p:ext uri="{BB962C8B-B14F-4D97-AF65-F5344CB8AC3E}">
        <p14:creationId xmlns:p14="http://schemas.microsoft.com/office/powerpoint/2010/main" val="882391007"/>
      </p:ext>
    </p:extLst>
  </p:cSld>
</p:sld>
</file>

<file path=ppt/slides/slide22.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0" name="Sources and basis">
            <a:extLst xmlns:a="http://schemas.openxmlformats.org/drawingml/2006/main">
              <a:ext uri="{FF2B5EF4-FFF2-40B4-BE49-F238E27FC236}">
                <a16:creationId xmlns:a16="http://schemas.microsoft.com/office/drawing/2014/main" id="{4402EA65-1234-43DC-A335-683911D845BD}"/>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Sources and basis</a:t>
            </a:r>
          </a:p>
        </p:txBody>
      </p:sp>
      <p:sp>
        <p:nvSpPr>
          <p:cNvPr id="2" name="Prepared September 20, 2026. Financial projections">
            <a:extLst xmlns:a="http://schemas.openxmlformats.org/drawingml/2006/main">
              <a:ext uri="{FF2B5EF4-FFF2-40B4-BE49-F238E27FC236}">
                <a16:creationId xmlns:a16="http://schemas.microsoft.com/office/drawing/2014/main" id="{BAD88B04-81AE-4849-82E4-6B2929236814}"/>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Prepared September 20, 2026. Financial projections use explicit planning assumptions.</a:t>
            </a:r>
          </a:p>
        </p:txBody>
      </p:sp>
      <p:sp>
        <p:nvSpPr>
          <p:cNvPr id="3" name="YardMatch">
            <a:extLst xmlns:a="http://schemas.openxmlformats.org/drawingml/2006/main">
              <a:ext uri="{FF2B5EF4-FFF2-40B4-BE49-F238E27FC236}">
                <a16:creationId xmlns:a16="http://schemas.microsoft.com/office/drawing/2014/main" id="{D5EE23E9-8743-40A5-BD1A-7F8F83EE4DE1}"/>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22">
            <a:extLst xmlns:a="http://schemas.openxmlformats.org/drawingml/2006/main">
              <a:ext uri="{FF2B5EF4-FFF2-40B4-BE49-F238E27FC236}">
                <a16:creationId xmlns:a16="http://schemas.microsoft.com/office/drawing/2014/main" id="{92D0EDD6-023B-48C2-8290-E84BF909B152}"/>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22</a:t>
            </a:r>
          </a:p>
        </p:txBody>
      </p:sp>
      <p:sp>
        <p:nvSpPr>
          <p:cNvPr id="5" name="Company materials">
            <a:extLst xmlns:a="http://schemas.openxmlformats.org/drawingml/2006/main">
              <a:ext uri="{FF2B5EF4-FFF2-40B4-BE49-F238E27FC236}">
                <a16:creationId xmlns:a16="http://schemas.microsoft.com/office/drawing/2014/main" id="{314A2A66-5B8D-424B-80CD-7D85FB6978F2}"/>
              </a:ext>
            </a:extLst>
          </p:cNvPr>
          <p:cNvSpPr>
            <a:spLocks xmlns:a="http://schemas.openxmlformats.org/drawingml/2006/main" noGrp="1"/>
          </p:cNvSpPr>
          <p:nvPr/>
        </p:nvSpPr>
        <p:spPr>
          <a:xfrm xmlns:a="http://schemas.openxmlformats.org/drawingml/2006/main">
            <a:off x="628650" y="2314575"/>
            <a:ext cx="3714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205938"/>
                </a:solidFill>
                <a:latin typeface="Arial"/>
                <a:ea typeface="Arial"/>
                <a:cs typeface="Arial"/>
              </a:defRPr>
            </a:pPr>
            <a:r>
              <a:rPr sz="2025" b="1">
                <a:solidFill>
                  <a:srgbClr val="205938"/>
                </a:solidFill>
                <a:latin typeface="Arial"/>
                <a:ea typeface="Arial"/>
                <a:cs typeface="Arial"/>
              </a:rPr>
              <a:t>Company materials</a:t>
            </a:r>
          </a:p>
        </p:txBody>
      </p:sp>
      <p:sp>
        <p:nvSpPr>
          <p:cNvPr id="6" name="YardMatch partner pitch, September 2026&#10;Product po">
            <a:extLst xmlns:a="http://schemas.openxmlformats.org/drawingml/2006/main">
              <a:ext uri="{FF2B5EF4-FFF2-40B4-BE49-F238E27FC236}">
                <a16:creationId xmlns:a16="http://schemas.microsoft.com/office/drawing/2014/main" id="{6A3164DF-4E09-40A2-BE02-329C9518DB6B}"/>
              </a:ext>
            </a:extLst>
          </p:cNvPr>
          <p:cNvSpPr>
            <a:spLocks xmlns:a="http://schemas.openxmlformats.org/drawingml/2006/main" noGrp="1"/>
          </p:cNvSpPr>
          <p:nvPr/>
        </p:nvSpPr>
        <p:spPr>
          <a:xfrm xmlns:a="http://schemas.openxmlformats.org/drawingml/2006/main">
            <a:off x="628650" y="2800350"/>
            <a:ext cx="108775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4281D"/>
                </a:solidFill>
                <a:latin typeface="Arial"/>
                <a:ea typeface="Arial"/>
                <a:cs typeface="Arial"/>
              </a:defRPr>
            </a:pPr>
            <a:r>
              <a:rPr sz="1725" b="0">
                <a:solidFill>
                  <a:srgbClr val="14281D"/>
                </a:solidFill>
                <a:latin typeface="Arial"/>
                <a:ea typeface="Arial"/>
                <a:cs typeface="Arial"/>
              </a:rPr>
              <a:t>YardMatch partner pitch, September 2026</a:t>
            </a:r>
          </a:p>
          <a:p xmlns:a="http://schemas.openxmlformats.org/drawingml/2006/main">
            <a:pPr algn="l">
              <a:defRPr sz="1725" b="0">
                <a:solidFill>
                  <a:srgbClr val="14281D"/>
                </a:solidFill>
                <a:latin typeface="Arial"/>
                <a:ea typeface="Arial"/>
                <a:cs typeface="Arial"/>
              </a:defRPr>
            </a:pPr>
            <a:r>
              <a:rPr sz="1725" b="0">
                <a:solidFill>
                  <a:srgbClr val="14281D"/>
                </a:solidFill>
                <a:latin typeface="Arial"/>
                <a:ea typeface="Arial"/>
                <a:cs typeface="Arial"/>
              </a:rPr>
              <a:t>Product positioning, role concepts, $45 finder fee and welcome offer</a:t>
            </a:r>
          </a:p>
          <a:p xmlns:a="http://schemas.openxmlformats.org/drawingml/2006/main">
            <a:pPr algn="l">
              <a:defRPr sz="1725" b="0">
                <a:solidFill>
                  <a:srgbClr val="14281D"/>
                </a:solidFill>
                <a:latin typeface="Arial"/>
                <a:ea typeface="Arial"/>
                <a:cs typeface="Arial"/>
              </a:defRPr>
            </a:pPr>
            <a:r>
              <a:rPr sz="1725" b="0">
                <a:solidFill>
                  <a:srgbClr val="14281D"/>
                </a:solidFill>
                <a:latin typeface="Arial"/>
                <a:ea typeface="Arial"/>
                <a:cs typeface="Arial"/>
              </a:rPr>
              <a:t>Repository roadmap and engineering status for local product progress</a:t>
            </a:r>
          </a:p>
        </p:txBody>
      </p:sp>
      <p:sp>
        <p:nvSpPr>
          <p:cNvPr id="7" name="External sources">
            <a:extLst xmlns:a="http://schemas.openxmlformats.org/drawingml/2006/main">
              <a:ext uri="{FF2B5EF4-FFF2-40B4-BE49-F238E27FC236}">
                <a16:creationId xmlns:a16="http://schemas.microsoft.com/office/drawing/2014/main" id="{20AD6016-875E-4EEE-ACAF-6752E95AE513}"/>
              </a:ext>
            </a:extLst>
          </p:cNvPr>
          <p:cNvSpPr>
            <a:spLocks xmlns:a="http://schemas.openxmlformats.org/drawingml/2006/main" noGrp="1"/>
          </p:cNvSpPr>
          <p:nvPr/>
        </p:nvSpPr>
        <p:spPr>
          <a:xfrm xmlns:a="http://schemas.openxmlformats.org/drawingml/2006/main">
            <a:off x="628650" y="4038600"/>
            <a:ext cx="3714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205938"/>
                </a:solidFill>
                <a:latin typeface="Arial"/>
                <a:ea typeface="Arial"/>
                <a:cs typeface="Arial"/>
              </a:defRPr>
            </a:pPr>
            <a:r>
              <a:rPr sz="2025" b="1">
                <a:solidFill>
                  <a:srgbClr val="205938"/>
                </a:solidFill>
                <a:latin typeface="Arial"/>
                <a:ea typeface="Arial"/>
                <a:cs typeface="Arial"/>
              </a:rPr>
              <a:t>External sources</a:t>
            </a:r>
          </a:p>
        </p:txBody>
      </p:sp>
      <p:sp>
        <p:nvSpPr>
          <p:cNvPr id="8" name="Stripe Payments and Connect pricing; Financial Con">
            <a:extLst xmlns:a="http://schemas.openxmlformats.org/drawingml/2006/main">
              <a:ext uri="{FF2B5EF4-FFF2-40B4-BE49-F238E27FC236}">
                <a16:creationId xmlns:a16="http://schemas.microsoft.com/office/drawing/2014/main" id="{6C95DC9D-4EFC-4EE2-B116-5D620C319450}"/>
              </a:ext>
            </a:extLst>
          </p:cNvPr>
          <p:cNvSpPr>
            <a:spLocks xmlns:a="http://schemas.openxmlformats.org/drawingml/2006/main" noGrp="1"/>
          </p:cNvSpPr>
          <p:nvPr/>
        </p:nvSpPr>
        <p:spPr>
          <a:xfrm xmlns:a="http://schemas.openxmlformats.org/drawingml/2006/main">
            <a:off x="628650" y="4514850"/>
            <a:ext cx="108775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4281D"/>
                </a:solidFill>
                <a:latin typeface="Arial"/>
                <a:ea typeface="Arial"/>
                <a:cs typeface="Arial"/>
              </a:defRPr>
            </a:pPr>
            <a:r>
              <a:rPr sz="1725" b="0">
                <a:solidFill>
                  <a:srgbClr val="14281D"/>
                </a:solidFill>
                <a:latin typeface="Arial"/>
                <a:ea typeface="Arial"/>
                <a:cs typeface="Arial"/>
              </a:rPr>
              <a:t>Stripe Payments and Connect pricing; Financial Connections pricing</a:t>
            </a:r>
          </a:p>
          <a:p xmlns:a="http://schemas.openxmlformats.org/drawingml/2006/main">
            <a:pPr algn="l">
              <a:defRPr sz="1725" b="0">
                <a:solidFill>
                  <a:srgbClr val="14281D"/>
                </a:solidFill>
                <a:latin typeface="Arial"/>
                <a:ea typeface="Arial"/>
                <a:cs typeface="Arial"/>
              </a:defRPr>
            </a:pPr>
            <a:r>
              <a:rPr sz="1725" b="0">
                <a:solidFill>
                  <a:srgbClr val="14281D"/>
                </a:solidFill>
                <a:latin typeface="Arial"/>
                <a:ea typeface="Arial"/>
                <a:cs typeface="Arial"/>
              </a:rPr>
              <a:t>Zocdoc provider help: “Understanding Zocdoc pricing and billing”</a:t>
            </a:r>
          </a:p>
          <a:p xmlns:a="http://schemas.openxmlformats.org/drawingml/2006/main">
            <a:pPr algn="l">
              <a:defRPr sz="1725" b="0">
                <a:solidFill>
                  <a:srgbClr val="14281D"/>
                </a:solidFill>
                <a:latin typeface="Arial"/>
                <a:ea typeface="Arial"/>
                <a:cs typeface="Arial"/>
              </a:defRPr>
            </a:pPr>
            <a:r>
              <a:rPr sz="1725" b="0">
                <a:solidFill>
                  <a:srgbClr val="14281D"/>
                </a:solidFill>
                <a:latin typeface="Arial"/>
                <a:ea typeface="Arial"/>
                <a:cs typeface="Arial"/>
              </a:rPr>
              <a:t>US Census QuickFacts: Barnegat township, 2020-2024 estimates</a:t>
            </a:r>
          </a:p>
        </p:txBody>
      </p:sp>
      <p:sp>
        <p:nvSpPr>
          <p:cNvPr id="9" name="Full source links are in speaker notes. Growth, co">
            <a:extLst xmlns:a="http://schemas.openxmlformats.org/drawingml/2006/main">
              <a:ext uri="{FF2B5EF4-FFF2-40B4-BE49-F238E27FC236}">
                <a16:creationId xmlns:a16="http://schemas.microsoft.com/office/drawing/2014/main" id="{4949E48A-9E23-4BE6-BE3E-52138F62104C}"/>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Full source links are in speaker notes. Growth, costs, financing terms and exit values are assumptions. No market demand survey or historical financial statements were supplied.</a:t>
            </a:r>
          </a:p>
        </p:txBody>
      </p:sp>
    </p:spTree>
    <p:extLst>
      <p:ext uri="{BB962C8B-B14F-4D97-AF65-F5344CB8AC3E}">
        <p14:creationId xmlns:p14="http://schemas.microsoft.com/office/powerpoint/2010/main" val="190685111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2026-09-20T18:04:04.3780000Z</dcterms:created>
  <dcterms:modified xsi:type="dcterms:W3CDTF">2026-09-20T18:04:04.3780000Z</dcterms:modified>
</coreProperties>
</file>