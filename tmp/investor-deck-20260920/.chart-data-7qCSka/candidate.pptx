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db7b4c65dc3495f" /><Relationship Type="http://schemas.openxmlformats.org/officeDocument/2006/relationships/extended-properties" Target="/docProps/app.xml" Id="R03beec0787ae4611" /><Relationship Type="http://schemas.openxmlformats.org/officeDocument/2006/relationships/officeDocument" Target="/ppt/presentation.xml" Id="R5205be29f3b147b7" /></Relationships>
</file>

<file path=ppt/presentation.xml><?xml version="1.0" encoding="utf-8"?>
<p:presentation xmlns:p="http://schemas.openxmlformats.org/presentationml/2006/main">
  <p:sldMasterIdLst>
    <p:sldMasterId xmlns:r="http://schemas.openxmlformats.org/officeDocument/2006/relationships" id="2147483648" r:id="Rb4f17b02771c4b27"/>
  </p:sldMasterIdLst>
  <p:notesMasterIdLst>
    <p:notesMasterId xmlns:r="http://schemas.openxmlformats.org/officeDocument/2006/relationships" r:id="R45a014f7b8d44b35"/>
  </p:notesMasterIdLst>
  <p:sldIdLst>
    <p:sldId xmlns:r="http://schemas.openxmlformats.org/officeDocument/2006/relationships" id="256" r:id="Rde811882f04249c6"/>
    <p:sldId xmlns:r="http://schemas.openxmlformats.org/officeDocument/2006/relationships" id="257" r:id="R3058956e48b540d7"/>
    <p:sldId xmlns:r="http://schemas.openxmlformats.org/officeDocument/2006/relationships" id="258" r:id="Rdb0daacaed9a402a"/>
    <p:sldId xmlns:r="http://schemas.openxmlformats.org/officeDocument/2006/relationships" id="259" r:id="R15d583f92bdc42e1"/>
    <p:sldId xmlns:r="http://schemas.openxmlformats.org/officeDocument/2006/relationships" id="260" r:id="R7b154f6fdc9a4242"/>
    <p:sldId xmlns:r="http://schemas.openxmlformats.org/officeDocument/2006/relationships" id="261" r:id="R75de11780cde48f0"/>
    <p:sldId xmlns:r="http://schemas.openxmlformats.org/officeDocument/2006/relationships" id="262" r:id="R0805fc001ac24b14"/>
    <p:sldId xmlns:r="http://schemas.openxmlformats.org/officeDocument/2006/relationships" id="263" r:id="R967bf6834e394edb"/>
    <p:sldId xmlns:r="http://schemas.openxmlformats.org/officeDocument/2006/relationships" id="264" r:id="R2fe9dcf872ae46fa"/>
    <p:sldId xmlns:r="http://schemas.openxmlformats.org/officeDocument/2006/relationships" id="265" r:id="Rba32ce44e4454982"/>
    <p:sldId xmlns:r="http://schemas.openxmlformats.org/officeDocument/2006/relationships" id="266" r:id="R7f5b5aa47b174f91"/>
    <p:sldId xmlns:r="http://schemas.openxmlformats.org/officeDocument/2006/relationships" id="267" r:id="R26312f4219ff4a17"/>
    <p:sldId xmlns:r="http://schemas.openxmlformats.org/officeDocument/2006/relationships" id="268" r:id="R804e29d93cec416a"/>
    <p:sldId xmlns:r="http://schemas.openxmlformats.org/officeDocument/2006/relationships" id="269" r:id="Rde1eb4fdbe8046cb"/>
    <p:sldId xmlns:r="http://schemas.openxmlformats.org/officeDocument/2006/relationships" id="270" r:id="R6f688fed81aa46fd"/>
    <p:sldId xmlns:r="http://schemas.openxmlformats.org/officeDocument/2006/relationships" id="271" r:id="R4a95037895be48f7"/>
    <p:sldId xmlns:r="http://schemas.openxmlformats.org/officeDocument/2006/relationships" id="272" r:id="Rebdcb907f0494dba"/>
    <p:sldId xmlns:r="http://schemas.openxmlformats.org/officeDocument/2006/relationships" id="273" r:id="Ra6b214665c9f4f10"/>
    <p:sldId xmlns:r="http://schemas.openxmlformats.org/officeDocument/2006/relationships" id="274" r:id="R8068ed8d42d04964"/>
    <p:sldId xmlns:r="http://schemas.openxmlformats.org/officeDocument/2006/relationships" id="275" r:id="R003f9ac7f1794d75"/>
    <p:sldId xmlns:r="http://schemas.openxmlformats.org/officeDocument/2006/relationships" id="276" r:id="R93ffd5a1f9604eb9"/>
    <p:sldId xmlns:r="http://schemas.openxmlformats.org/officeDocument/2006/relationships" id="277" r:id="R2597a5a27a104c2f"/>
    <p:sldId xmlns:r="http://schemas.openxmlformats.org/officeDocument/2006/relationships" id="278" r:id="Rc1cfdf73a9e14923"/>
    <p:sldId xmlns:r="http://schemas.openxmlformats.org/officeDocument/2006/relationships" id="279" r:id="R1cc82ea9ee984802"/>
    <p:sldId xmlns:r="http://schemas.openxmlformats.org/officeDocument/2006/relationships" id="280" r:id="R6d612f61ff534935"/>
    <p:sldId xmlns:r="http://schemas.openxmlformats.org/officeDocument/2006/relationships" id="281" r:id="R4023c867a7784577"/>
    <p:sldId xmlns:r="http://schemas.openxmlformats.org/officeDocument/2006/relationships" id="282" r:id="R941d1c88e64249db"/>
    <p:sldId xmlns:r="http://schemas.openxmlformats.org/officeDocument/2006/relationships" id="283" r:id="R35ac1cf82f2d414e"/>
    <p:sldId xmlns:r="http://schemas.openxmlformats.org/officeDocument/2006/relationships" id="284" r:id="R49c96fa87fd347ac"/>
    <p:sldId xmlns:r="http://schemas.openxmlformats.org/officeDocument/2006/relationships" id="285" r:id="R16057bbf571749f7"/>
    <p:sldId xmlns:r="http://schemas.openxmlformats.org/officeDocument/2006/relationships" id="286" r:id="R7977cff291104156"/>
    <p:sldId xmlns:r="http://schemas.openxmlformats.org/officeDocument/2006/relationships" id="287" r:id="Rb0c1ff993f0944a6"/>
    <p:sldId xmlns:r="http://schemas.openxmlformats.org/officeDocument/2006/relationships" id="288" r:id="Rb59428e29c9b4366"/>
    <p:sldId xmlns:r="http://schemas.openxmlformats.org/officeDocument/2006/relationships" id="289" r:id="Re4527f9cf16548f3"/>
    <p:sldId xmlns:r="http://schemas.openxmlformats.org/officeDocument/2006/relationships" id="290" r:id="R99f79077c4de43f3"/>
    <p:sldId xmlns:r="http://schemas.openxmlformats.org/officeDocument/2006/relationships" id="291" r:id="Rd844ccc894244389"/>
    <p:sldId xmlns:r="http://schemas.openxmlformats.org/officeDocument/2006/relationships" id="292" r:id="R738409f53ac34483"/>
    <p:sldId xmlns:r="http://schemas.openxmlformats.org/officeDocument/2006/relationships" id="293" r:id="R0dcd3be7936a4d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1d91ec83cd4aa5" /><Relationship Type="http://schemas.openxmlformats.org/officeDocument/2006/relationships/slideMaster" Target="/ppt/slideMasters/slideMaster1.xml" Id="Rb4f17b02771c4b27" /><Relationship Type="http://schemas.openxmlformats.org/officeDocument/2006/relationships/notesMaster" Target="/ppt/notesMasters/notesMaster1.xml" Id="R45a014f7b8d44b35" /><Relationship Type="http://schemas.openxmlformats.org/officeDocument/2006/relationships/presProps" Target="/ppt/presProps.xml" Id="Re7dd2fd377b44227" /><Relationship Type="http://schemas.openxmlformats.org/officeDocument/2006/relationships/tableStyles" Target="/ppt/tableStyles.xml" Id="Re3da298c29504b75" /><Relationship Type="http://schemas.openxmlformats.org/officeDocument/2006/relationships/slide" Target="/ppt/slides/slide1.xml" Id="Rde811882f04249c6" /><Relationship Type="http://schemas.openxmlformats.org/officeDocument/2006/relationships/slide" Target="/ppt/slides/slide2.xml" Id="R3058956e48b540d7" /><Relationship Type="http://schemas.openxmlformats.org/officeDocument/2006/relationships/slide" Target="/ppt/slides/slide3.xml" Id="Rdb0daacaed9a402a" /><Relationship Type="http://schemas.openxmlformats.org/officeDocument/2006/relationships/slide" Target="/ppt/slides/slide4.xml" Id="R15d583f92bdc42e1" /><Relationship Type="http://schemas.openxmlformats.org/officeDocument/2006/relationships/slide" Target="/ppt/slides/slide5.xml" Id="R7b154f6fdc9a4242" /><Relationship Type="http://schemas.openxmlformats.org/officeDocument/2006/relationships/slide" Target="/ppt/slides/slide6.xml" Id="R75de11780cde48f0" /><Relationship Type="http://schemas.openxmlformats.org/officeDocument/2006/relationships/slide" Target="/ppt/slides/slide7.xml" Id="R0805fc001ac24b14" /><Relationship Type="http://schemas.openxmlformats.org/officeDocument/2006/relationships/slide" Target="/ppt/slides/slide8.xml" Id="R967bf6834e394edb" /><Relationship Type="http://schemas.openxmlformats.org/officeDocument/2006/relationships/slide" Target="/ppt/slides/slide9.xml" Id="R2fe9dcf872ae46fa" /><Relationship Type="http://schemas.openxmlformats.org/officeDocument/2006/relationships/slide" Target="/ppt/slides/slide10.xml" Id="Rba32ce44e4454982" /><Relationship Type="http://schemas.openxmlformats.org/officeDocument/2006/relationships/slide" Target="/ppt/slides/slide11.xml" Id="R7f5b5aa47b174f91" /><Relationship Type="http://schemas.openxmlformats.org/officeDocument/2006/relationships/slide" Target="/ppt/slides/slide12.xml" Id="R26312f4219ff4a17" /><Relationship Type="http://schemas.openxmlformats.org/officeDocument/2006/relationships/slide" Target="/ppt/slides/slide13.xml" Id="R804e29d93cec416a" /><Relationship Type="http://schemas.openxmlformats.org/officeDocument/2006/relationships/slide" Target="/ppt/slides/slide14.xml" Id="Rde1eb4fdbe8046cb" /><Relationship Type="http://schemas.openxmlformats.org/officeDocument/2006/relationships/slide" Target="/ppt/slides/slide15.xml" Id="R6f688fed81aa46fd" /><Relationship Type="http://schemas.openxmlformats.org/officeDocument/2006/relationships/slide" Target="/ppt/slides/slide16.xml" Id="R4a95037895be48f7" /><Relationship Type="http://schemas.openxmlformats.org/officeDocument/2006/relationships/slide" Target="/ppt/slides/slide17.xml" Id="Rebdcb907f0494dba" /><Relationship Type="http://schemas.openxmlformats.org/officeDocument/2006/relationships/slide" Target="/ppt/slides/slide18.xml" Id="Ra6b214665c9f4f10" /><Relationship Type="http://schemas.openxmlformats.org/officeDocument/2006/relationships/slide" Target="/ppt/slides/slide19.xml" Id="R8068ed8d42d04964" /><Relationship Type="http://schemas.openxmlformats.org/officeDocument/2006/relationships/slide" Target="/ppt/slides/slide20.xml" Id="R003f9ac7f1794d75" /><Relationship Type="http://schemas.openxmlformats.org/officeDocument/2006/relationships/slide" Target="/ppt/slides/slide21.xml" Id="R93ffd5a1f9604eb9" /><Relationship Type="http://schemas.openxmlformats.org/officeDocument/2006/relationships/slide" Target="/ppt/slides/slide22.xml" Id="R2597a5a27a104c2f" /><Relationship Type="http://schemas.openxmlformats.org/officeDocument/2006/relationships/slide" Target="/ppt/slides/slide23.xml" Id="Rc1cfdf73a9e14923" /><Relationship Type="http://schemas.openxmlformats.org/officeDocument/2006/relationships/slide" Target="/ppt/slides/slide24.xml" Id="R1cc82ea9ee984802" /><Relationship Type="http://schemas.openxmlformats.org/officeDocument/2006/relationships/slide" Target="/ppt/slides/slide25.xml" Id="R6d612f61ff534935" /><Relationship Type="http://schemas.openxmlformats.org/officeDocument/2006/relationships/slide" Target="/ppt/slides/slide26.xml" Id="R4023c867a7784577" /><Relationship Type="http://schemas.openxmlformats.org/officeDocument/2006/relationships/slide" Target="/ppt/slides/slide27.xml" Id="R941d1c88e64249db" /><Relationship Type="http://schemas.openxmlformats.org/officeDocument/2006/relationships/slide" Target="/ppt/slides/slide28.xml" Id="R35ac1cf82f2d414e" /><Relationship Type="http://schemas.openxmlformats.org/officeDocument/2006/relationships/slide" Target="/ppt/slides/slide29.xml" Id="R49c96fa87fd347ac" /><Relationship Type="http://schemas.openxmlformats.org/officeDocument/2006/relationships/slide" Target="/ppt/slides/slide30.xml" Id="R16057bbf571749f7" /><Relationship Type="http://schemas.openxmlformats.org/officeDocument/2006/relationships/slide" Target="/ppt/slides/slide31.xml" Id="R7977cff291104156" /><Relationship Type="http://schemas.openxmlformats.org/officeDocument/2006/relationships/slide" Target="/ppt/slides/slide32.xml" Id="Rb0c1ff993f0944a6" /><Relationship Type="http://schemas.openxmlformats.org/officeDocument/2006/relationships/slide" Target="/ppt/slides/slide33.xml" Id="Rb59428e29c9b4366" /><Relationship Type="http://schemas.openxmlformats.org/officeDocument/2006/relationships/slide" Target="/ppt/slides/slide34.xml" Id="Re4527f9cf16548f3" /><Relationship Type="http://schemas.openxmlformats.org/officeDocument/2006/relationships/slide" Target="/ppt/slides/slide35.xml" Id="R99f79077c4de43f3" /><Relationship Type="http://schemas.openxmlformats.org/officeDocument/2006/relationships/slide" Target="/ppt/slides/slide36.xml" Id="Rd844ccc894244389" /><Relationship Type="http://schemas.openxmlformats.org/officeDocument/2006/relationships/slide" Target="/ppt/slides/slide37.xml" Id="R738409f53ac34483" /><Relationship Type="http://schemas.openxmlformats.org/officeDocument/2006/relationships/slide" Target="/ppt/slides/slide38.xml" Id="R0dcd3be7936a4d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68deec85da4e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7449197c754420" /><Relationship Type="http://schemas.openxmlformats.org/officeDocument/2006/relationships/notesMaster" Target="/ppt/notesMasters/notesMaster1.xml" Id="Ra3265cc86be24e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32843ba8984c68" /><Relationship Type="http://schemas.openxmlformats.org/officeDocument/2006/relationships/notesMaster" Target="/ppt/notesMasters/notesMaster1.xml" Id="Rdd7362d1eb5249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08964dd83740a3" /><Relationship Type="http://schemas.openxmlformats.org/officeDocument/2006/relationships/notesMaster" Target="/ppt/notesMasters/notesMaster1.xml" Id="R09311adc9a4740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786db259f94c4a" /><Relationship Type="http://schemas.openxmlformats.org/officeDocument/2006/relationships/notesMaster" Target="/ppt/notesMasters/notesMaster1.xml" Id="R856304351df24e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f4d5a830104e83" /><Relationship Type="http://schemas.openxmlformats.org/officeDocument/2006/relationships/notesMaster" Target="/ppt/notesMasters/notesMaster1.xml" Id="Rab0b0b6ab6e84f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8b0ea30a1d4605" /><Relationship Type="http://schemas.openxmlformats.org/officeDocument/2006/relationships/notesMaster" Target="/ppt/notesMasters/notesMaster1.xml" Id="R6720201f12f644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5b339d89124999" /><Relationship Type="http://schemas.openxmlformats.org/officeDocument/2006/relationships/notesMaster" Target="/ppt/notesMasters/notesMaster1.xml" Id="R151a58ed100147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84df6a27254509" /><Relationship Type="http://schemas.openxmlformats.org/officeDocument/2006/relationships/notesMaster" Target="/ppt/notesMasters/notesMaster1.xml" Id="Rfcc3b9a646414f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4b48ec6a2d4045" /><Relationship Type="http://schemas.openxmlformats.org/officeDocument/2006/relationships/notesMaster" Target="/ppt/notesMasters/notesMaster1.xml" Id="R5c1cbef8a2b346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3db60eeda64fd7" /><Relationship Type="http://schemas.openxmlformats.org/officeDocument/2006/relationships/notesMaster" Target="/ppt/notesMasters/notesMaster1.xml" Id="Rebc9c912ff2242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018a4f60b1429a" /><Relationship Type="http://schemas.openxmlformats.org/officeDocument/2006/relationships/notesMaster" Target="/ppt/notesMasters/notesMaster1.xml" Id="R1e7705fcdb044c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66257297ea405a" /><Relationship Type="http://schemas.openxmlformats.org/officeDocument/2006/relationships/notesMaster" Target="/ppt/notesMasters/notesMaster1.xml" Id="R59751f06ba984a8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dafa0fff8a4c46" /><Relationship Type="http://schemas.openxmlformats.org/officeDocument/2006/relationships/notesMaster" Target="/ppt/notesMasters/notesMaster1.xml" Id="R4b4d680eab3046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fbd3bbd104495d" /><Relationship Type="http://schemas.openxmlformats.org/officeDocument/2006/relationships/notesMaster" Target="/ppt/notesMasters/notesMaster1.xml" Id="R3100efc32c2946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4a43473c284657" /><Relationship Type="http://schemas.openxmlformats.org/officeDocument/2006/relationships/notesMaster" Target="/ppt/notesMasters/notesMaster1.xml" Id="R497eafdd10fe4a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f9b57674de46cd" /><Relationship Type="http://schemas.openxmlformats.org/officeDocument/2006/relationships/notesMaster" Target="/ppt/notesMasters/notesMaster1.xml" Id="Rf647468c9f8b4d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8a780486f71410a" /><Relationship Type="http://schemas.openxmlformats.org/officeDocument/2006/relationships/notesMaster" Target="/ppt/notesMasters/notesMaster1.xml" Id="R6f0384ed46fd43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1542f70bbf4118" /><Relationship Type="http://schemas.openxmlformats.org/officeDocument/2006/relationships/notesMaster" Target="/ppt/notesMasters/notesMaster1.xml" Id="Ra383852cdf3341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edc41e682346b5" /><Relationship Type="http://schemas.openxmlformats.org/officeDocument/2006/relationships/notesMaster" Target="/ppt/notesMasters/notesMaster1.xml" Id="R708e1a45eccf4db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544ffca045246ef" /><Relationship Type="http://schemas.openxmlformats.org/officeDocument/2006/relationships/notesMaster" Target="/ppt/notesMasters/notesMaster1.xml" Id="R17f19512936443e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e4b33ac13614a8c" /><Relationship Type="http://schemas.openxmlformats.org/officeDocument/2006/relationships/notesMaster" Target="/ppt/notesMasters/notesMaster1.xml" Id="R5a15fbf4c6514b1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321393e5c44ba2" /><Relationship Type="http://schemas.openxmlformats.org/officeDocument/2006/relationships/notesMaster" Target="/ppt/notesMasters/notesMaster1.xml" Id="R90fe51d80cf948c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63b8f0348c421f" /><Relationship Type="http://schemas.openxmlformats.org/officeDocument/2006/relationships/notesMaster" Target="/ppt/notesMasters/notesMaster1.xml" Id="R319ee0fb2e70415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2ceb72acf8d4aef" /><Relationship Type="http://schemas.openxmlformats.org/officeDocument/2006/relationships/notesMaster" Target="/ppt/notesMasters/notesMaster1.xml" Id="R1365afd7f0304f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06f03768fc14151" /><Relationship Type="http://schemas.openxmlformats.org/officeDocument/2006/relationships/notesMaster" Target="/ppt/notesMasters/notesMaster1.xml" Id="Reb30a1c3bf204e3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df34c8b014479c" /><Relationship Type="http://schemas.openxmlformats.org/officeDocument/2006/relationships/notesMaster" Target="/ppt/notesMasters/notesMaster1.xml" Id="Rc99b556f103f427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3087ff2e7b94d56" /><Relationship Type="http://schemas.openxmlformats.org/officeDocument/2006/relationships/notesMaster" Target="/ppt/notesMasters/notesMaster1.xml" Id="R2d544bc4ceaf443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c62c2752c9e46e5" /><Relationship Type="http://schemas.openxmlformats.org/officeDocument/2006/relationships/notesMaster" Target="/ppt/notesMasters/notesMaster1.xml" Id="R53604bd1f97e4f4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d6a4cf8582a4d72" /><Relationship Type="http://schemas.openxmlformats.org/officeDocument/2006/relationships/notesMaster" Target="/ppt/notesMasters/notesMaster1.xml" Id="R610e9955672544b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2bfe2c2b02a491d" /><Relationship Type="http://schemas.openxmlformats.org/officeDocument/2006/relationships/notesMaster" Target="/ppt/notesMasters/notesMaster1.xml" Id="Rf2abdd8ad62847e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2f58b20994541c1" /><Relationship Type="http://schemas.openxmlformats.org/officeDocument/2006/relationships/notesMaster" Target="/ppt/notesMasters/notesMaster1.xml" Id="R787a222c9346485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17595b3c5184137" /><Relationship Type="http://schemas.openxmlformats.org/officeDocument/2006/relationships/notesMaster" Target="/ppt/notesMasters/notesMaster1.xml" Id="R7f55e1e0416147e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1eab88259134106" /><Relationship Type="http://schemas.openxmlformats.org/officeDocument/2006/relationships/notesMaster" Target="/ppt/notesMasters/notesMaster1.xml" Id="R88f93a18a6174f0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6efd1cc301c4ec3" /><Relationship Type="http://schemas.openxmlformats.org/officeDocument/2006/relationships/notesMaster" Target="/ppt/notesMasters/notesMaster1.xml" Id="R569e108d149241a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6c5cabcb2f6490c" /><Relationship Type="http://schemas.openxmlformats.org/officeDocument/2006/relationships/notesMaster" Target="/ppt/notesMasters/notesMaster1.xml" Id="Rd0a11709ab8f4c4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afde1bb842945b6" /><Relationship Type="http://schemas.openxmlformats.org/officeDocument/2006/relationships/notesMaster" Target="/ppt/notesMasters/notesMaster1.xml" Id="R737a21e0c4244ed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8c5a467677c4f1a" /><Relationship Type="http://schemas.openxmlformats.org/officeDocument/2006/relationships/notesMaster" Target="/ppt/notesMasters/notesMaster1.xml" Id="Rbeab5f1aea4f44b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898f1e3ee4742c4" /><Relationship Type="http://schemas.openxmlformats.org/officeDocument/2006/relationships/notesMaster" Target="/ppt/notesMasters/notesMaster1.xml" Id="R96cdef8be66840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21, 2026. Source: YardMatch-Barnegat-Partner-Pitch.pdf, September 2026, pages 1-9. Product illustrations and sample data are conceptual, not commercial traction. Source: YardMatch-Investor-Model.xlsx, assumptions and formula-driven Operating model, prepared September 21,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21,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Typical $75, large $110, very large $150. Planning tiers reflect serviceable property scope and expected relationship value. The fee is disclosed before acceptance. No later service with the same provider creates another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Payments pricing rechecked September 21, 2026, other payment sources checked September 20: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21, 2026. All 2027-2033 figures are illustrative forecasts, not actuals or promises. US dollars. No commercial actuals supplied. Standard US card assumption 2.9% + $0.30. ACH assumption 0.8% capped at $5. YardMatch platform fee is 0% for both methods. No provider labor or equipment expense is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Town forecast weights are based on full-season household exposure. Town-specific price tiers use 1.00 / 1.15 / 1.30, with lot factors 1.00 / 1.35 / 1.80. Correlated joint weights replace the former independent demographic mixes. All town price and lot assumptions are unvalidated. Income is not proof of lot size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Census ACS 2020-2024; income in 2024 dollars. Rumson median income is top-coded at $250,000+. Higher house value does not itself establish turf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21,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Revenue streams sheet. Proposed products, not shipped features or validated demand. Market reference checked September 20, 2026: https://www.getjobber.com/pricing/ lists Core at $49/month, no commitment, one user, and Connect at $139/month, no commitment, one user. These are feature/billing references, not direct product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Provider-owned crew engagement and compensation follow ROADMAP.md. Proposed optional Teams features must add value beyond essential tools already included in the core service. Worker-paid job access, wage deductions and mandatory paid credentials are excluded from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Primary source: https://www.zocdoc.com/provider-help/en/articles/8709753-how-much-does-sponsored-results-cost . Zocdoc charges sponsored fees above booking fees using bid-based advertising. YardMatch proposal differs: completed-first-job fee, no repeat-pair charge, one disclosed option within qualified backups. ROADMAP.md currently keeps sponsorship dormant and main recommendations quality-first. This is a commercial experiment, not an approved ranking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Pro-only adoption 40%, Teams adoption 15%, 12 paid months, using the average-provider totals in the town forecast. Subscription revenue is net of 2% credits/noncollection. Launch in 2028 with $120k build expense. Annual fixed costs start at $60k and grow 8%. Variable delivery, card processing and 0.7% Billing fees are included. Adoption is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Revenue is finder fees after welcome waivers plus Pro and Teams subscriptions. The selected case has no recurring marketplace fee. Processing recovery offsets expense and is excluded from net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Prior model uses 4% card and 2% ACH YardMatch fees with the new finder tiers. Middle case removes recurring fees but keeps the older $45 / $65 / $90 finder tiers. Selected case uses $75 / $110 / $150 plus Pro and Teams. Payment processing is recovered at cost in every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Base 2033. Revenue and costs use the formula-driven model. Provider count reflects 40 ending households per provider. Five paid employees cost $550k. Local launch and coverage costs total $164k. Subscription fixed expense is included below.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Financing illustration: $1.5m gross less $25k transaction expenses. Model opens with zero cash. 2027-2028 budget recalculates from the revised job mix. Remote corporate overhead starts at $42,000: insurance $12,000, legal $12,000, accounting $6,000 and software $12,000, inflated 3% annually. The previous $60,000 allowance was unsplit, so the reduction is a planning revision, not quoted rent savings.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Payments pricing rechecked September 21, 2026, other payment sources checked September 20: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21,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Payments pricing rechecked September 21, 2026, other payment sources checked September 20: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21,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7be525da1842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de71ce5da24a17" /><Relationship Type="http://schemas.openxmlformats.org/officeDocument/2006/relationships/slideLayout" Target="/ppt/slideLayouts/slideLayout1.xml" Id="Rd55a683e14f640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5a683e14f640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ee2f2fee8a4013" /><Relationship Type="http://schemas.openxmlformats.org/officeDocument/2006/relationships/image" Target="/ppt/media/image.png" Id="R9b67abfab3d44495" /><Relationship Type="http://schemas.openxmlformats.org/officeDocument/2006/relationships/notesSlide" Target="/ppt/notesSlides/notesSlide1.xml" Id="R36a802e076364c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153085fb784be0" /><Relationship Type="http://schemas.openxmlformats.org/officeDocument/2006/relationships/notesSlide" Target="/ppt/notesSlides/notesSlide2.xml" Id="Re5fee18c607c43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eed8fd6a7f4ac8" /><Relationship Type="http://schemas.openxmlformats.org/officeDocument/2006/relationships/notesSlide" Target="/ppt/notesSlides/notesSlide3.xml" Id="R482c7b5cef5f4a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73b84c0f764903" /><Relationship Type="http://schemas.openxmlformats.org/officeDocument/2006/relationships/image" Target="/ppt/media/image2.png" Id="R543abd31cccc4b02" /><Relationship Type="http://schemas.openxmlformats.org/officeDocument/2006/relationships/notesSlide" Target="/ppt/notesSlides/notesSlide4.xml" Id="Rc9b1cb88947c45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6d921831f54c0c" /><Relationship Type="http://schemas.openxmlformats.org/officeDocument/2006/relationships/image" Target="/ppt/media/image3.png" Id="R334dc49295bc44f4" /><Relationship Type="http://schemas.openxmlformats.org/officeDocument/2006/relationships/notesSlide" Target="/ppt/notesSlides/notesSlide5.xml" Id="R0472912bbada42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4f4aa6850b4199" /><Relationship Type="http://schemas.openxmlformats.org/officeDocument/2006/relationships/notesSlide" Target="/ppt/notesSlides/notesSlide6.xml" Id="R469adb20eacc4f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b59e6804254a41" /><Relationship Type="http://schemas.openxmlformats.org/officeDocument/2006/relationships/notesSlide" Target="/ppt/notesSlides/notesSlide7.xml" Id="R2fdb67cef98446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e008e6fb6d4ffb" /><Relationship Type="http://schemas.openxmlformats.org/officeDocument/2006/relationships/notesSlide" Target="/ppt/notesSlides/notesSlide8.xml" Id="R0a7d727c0e4542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97b309ca414f21" /><Relationship Type="http://schemas.openxmlformats.org/officeDocument/2006/relationships/notesSlide" Target="/ppt/notesSlides/notesSlide9.xml" Id="Rfc42992dddd143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3123e57b66243f7" /><Relationship Type="http://schemas.openxmlformats.org/officeDocument/2006/relationships/notesSlide" Target="/ppt/notesSlides/notesSlide10.xml" Id="R3a4925a673c842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363ddbd2124f23" /><Relationship Type="http://schemas.openxmlformats.org/officeDocument/2006/relationships/notesSlide" Target="/ppt/notesSlides/notesSlide11.xml" Id="R44f1fb92bbd348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4237012155d4f06" /><Relationship Type="http://schemas.openxmlformats.org/officeDocument/2006/relationships/notesSlide" Target="/ppt/notesSlides/notesSlide12.xml" Id="R154b055304fb45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07c5f55abfd4c08" /><Relationship Type="http://schemas.openxmlformats.org/officeDocument/2006/relationships/notesSlide" Target="/ppt/notesSlides/notesSlide13.xml" Id="R40e9bd8eff5c44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39831b2d4de4051" /><Relationship Type="http://schemas.openxmlformats.org/officeDocument/2006/relationships/notesSlide" Target="/ppt/notesSlides/notesSlide14.xml" Id="R87f2f088e85641d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e783e5ec3ee438a" /><Relationship Type="http://schemas.openxmlformats.org/officeDocument/2006/relationships/notesSlide" Target="/ppt/notesSlides/notesSlide15.xml" Id="R41e9e45bdf1046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92701730934256" /><Relationship Type="http://schemas.openxmlformats.org/officeDocument/2006/relationships/notesSlide" Target="/ppt/notesSlides/notesSlide16.xml" Id="Rf637f3822e2b41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ec59fdc1594725" /><Relationship Type="http://schemas.openxmlformats.org/officeDocument/2006/relationships/notesSlide" Target="/ppt/notesSlides/notesSlide17.xml" Id="Rf2ac873492a347b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745096fc56c4a50" /><Relationship Type="http://schemas.openxmlformats.org/officeDocument/2006/relationships/notesSlide" Target="/ppt/notesSlides/notesSlide18.xml" Id="Rab6423bde1d74fe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8bf2441f8ad4b42" /><Relationship Type="http://schemas.openxmlformats.org/officeDocument/2006/relationships/notesSlide" Target="/ppt/notesSlides/notesSlide19.xml" Id="R098a0da45f464af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74e40eee07b4638" /><Relationship Type="http://schemas.openxmlformats.org/officeDocument/2006/relationships/notesSlide" Target="/ppt/notesSlides/notesSlide20.xml" Id="R9336fcacd35d44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84a669f722e4da5" /><Relationship Type="http://schemas.openxmlformats.org/officeDocument/2006/relationships/notesSlide" Target="/ppt/notesSlides/notesSlide21.xml" Id="R78431ebc79384a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a90e1cc2673478f" /><Relationship Type="http://schemas.openxmlformats.org/officeDocument/2006/relationships/notesSlide" Target="/ppt/notesSlides/notesSlide22.xml" Id="R128aacb9975246b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d0cb914ad94405f" /><Relationship Type="http://schemas.openxmlformats.org/officeDocument/2006/relationships/notesSlide" Target="/ppt/notesSlides/notesSlide23.xml" Id="R58c6893ac2064c0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b2903a37ce44e69" /><Relationship Type="http://schemas.openxmlformats.org/officeDocument/2006/relationships/chart" Target="/ppt/slides/charts/chart1.xml" Id="Ra0cf0640667c4c5d" /><Relationship Type="http://schemas.openxmlformats.org/officeDocument/2006/relationships/notesSlide" Target="/ppt/notesSlides/notesSlide24.xml" Id="R3e77a4480a6f434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6c1e4d95e5b4a05" /><Relationship Type="http://schemas.openxmlformats.org/officeDocument/2006/relationships/notesSlide" Target="/ppt/notesSlides/notesSlide25.xml" Id="R97e49570de064f5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eddb675995846e1" /><Relationship Type="http://schemas.openxmlformats.org/officeDocument/2006/relationships/notesSlide" Target="/ppt/notesSlides/notesSlide26.xml" Id="R2be2ba7d385e4fa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0c4cf920a504fc3" /><Relationship Type="http://schemas.openxmlformats.org/officeDocument/2006/relationships/notesSlide" Target="/ppt/notesSlides/notesSlide27.xml" Id="R1caad6dc9d234a7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f56b687193147c4" /><Relationship Type="http://schemas.openxmlformats.org/officeDocument/2006/relationships/notesSlide" Target="/ppt/notesSlides/notesSlide28.xml" Id="Rac820df5a3fd423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b4bf49aa8c54d63" /><Relationship Type="http://schemas.openxmlformats.org/officeDocument/2006/relationships/notesSlide" Target="/ppt/notesSlides/notesSlide29.xml" Id="R9c91229ff5d3425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a5fd904afb94e35" /><Relationship Type="http://schemas.openxmlformats.org/officeDocument/2006/relationships/notesSlide" Target="/ppt/notesSlides/notesSlide30.xml" Id="Rd9da587c72cb4f8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34fe8d9de1545c3" /><Relationship Type="http://schemas.openxmlformats.org/officeDocument/2006/relationships/notesSlide" Target="/ppt/notesSlides/notesSlide31.xml" Id="R7f86404725f84f0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c26b2f6c93f4dc0" /><Relationship Type="http://schemas.openxmlformats.org/officeDocument/2006/relationships/notesSlide" Target="/ppt/notesSlides/notesSlide32.xml" Id="Reea8af68d9824d5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2f7476a4a444f06" /><Relationship Type="http://schemas.openxmlformats.org/officeDocument/2006/relationships/notesSlide" Target="/ppt/notesSlides/notesSlide33.xml" Id="R75e9cfaffa91459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998f251dab94e70" /><Relationship Type="http://schemas.openxmlformats.org/officeDocument/2006/relationships/notesSlide" Target="/ppt/notesSlides/notesSlide34.xml" Id="R003a5593a42d43c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4f7e77510c046d5" /><Relationship Type="http://schemas.openxmlformats.org/officeDocument/2006/relationships/notesSlide" Target="/ppt/notesSlides/notesSlide35.xml" Id="R7e72dfea47c8400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da53c736ae04f60" /><Relationship Type="http://schemas.openxmlformats.org/officeDocument/2006/relationships/hyperlink" Target="https://stripe.com/pricing" TargetMode="External" Id="R09a9e261c443440c" /><Relationship Type="http://schemas.openxmlformats.org/officeDocument/2006/relationships/hyperlink" Target="https://stripe.com/connect/pricing" TargetMode="External" Id="Re103b856d0904ddf" /><Relationship Type="http://schemas.openxmlformats.org/officeDocument/2006/relationships/hyperlink" Target="https://stripe.com/financial-connections" TargetMode="External" Id="R782f37cc52344b26" /><Relationship Type="http://schemas.openxmlformats.org/officeDocument/2006/relationships/hyperlink" Target="https://www.zocdoc.com/provider-help/en/articles/10859404-understanding-zocdoc-pricing-and-billing" TargetMode="External" Id="R93683ee60e6e4db6" /><Relationship Type="http://schemas.openxmlformats.org/officeDocument/2006/relationships/hyperlink" Target="https://www.zocdoc.com/about/understanding-your-bill/" TargetMode="External" Id="Rd56c348c86874828" /><Relationship Type="http://schemas.openxmlformats.org/officeDocument/2006/relationships/hyperlink" Target="https://usa.visa.com/support/small-business/regulations-fees.html" TargetMode="External" Id="R84f877cdd1024be6" /><Relationship Type="http://schemas.openxmlformats.org/officeDocument/2006/relationships/hyperlink" Target="https://www.frbservices.org/resources/fees/ach-2026" TargetMode="External" Id="Ree0639f0c06c4ac5" /><Relationship Type="http://schemas.openxmlformats.org/officeDocument/2006/relationships/hyperlink" Target="https://www.pcisecuritystandards.org/standards/pci-dss/" TargetMode="External" Id="Redbee219524e4c55" /><Relationship Type="http://schemas.openxmlformats.org/officeDocument/2006/relationships/hyperlink" Target="https://www.census.gov/quickfacts/fact/table/barnegattownshipoceancountynewjersey/PST045225" TargetMode="External" Id="Rb956e38c264b4d1c" /><Relationship Type="http://schemas.openxmlformats.org/officeDocument/2006/relationships/hyperlink" Target="https://www.getjobber.com/pricing/" TargetMode="External" Id="R3e9b0cd2120740b1" /><Relationship Type="http://schemas.openxmlformats.org/officeDocument/2006/relationships/hyperlink" Target="https://www.zocdoc.com/provider-help/en/articles/8709753-how-much-does-sponsored-results-cost" TargetMode="External" Id="Ra18aaff6e0bc45e2" /><Relationship Type="http://schemas.openxmlformats.org/officeDocument/2006/relationships/hyperlink" Target="https://stripe.com/billing/pricing" TargetMode="External" Id="R10b8672840e14540" /><Relationship Type="http://schemas.openxmlformats.org/officeDocument/2006/relationships/notesSlide" Target="/ppt/notesSlides/notesSlide36.xml" Id="Ra7edca039afb413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a0285a2e5b3484d" /><Relationship Type="http://schemas.openxmlformats.org/officeDocument/2006/relationships/hyperlink" Target="https://www.census.gov/quickfacts/fact/table/barnegattownshipoceancountynewjersey/PST045225" TargetMode="External" Id="R8f03f7ba53384eda" /><Relationship Type="http://schemas.openxmlformats.org/officeDocument/2006/relationships/hyperlink" Target="https://www.census.gov/quickfacts/fact/table/staffordtownshipoceancountynewjersey/PST045225" TargetMode="External" Id="R68770d7fb4c3419d" /><Relationship Type="http://schemas.openxmlformats.org/officeDocument/2006/relationships/hyperlink" Target="https://www.census.gov/quickfacts/fact/table/laceytownshipoceancountynewjersey/PST045225" TargetMode="External" Id="R436b98ae243041e3" /><Relationship Type="http://schemas.openxmlformats.org/officeDocument/2006/relationships/hyperlink" Target="https://www.census.gov/quickfacts/fact/table/oceantownshipoceancountynewjersey/PST045225" TargetMode="External" Id="Rb2c0e63e18aa4eb5" /><Relationship Type="http://schemas.openxmlformats.org/officeDocument/2006/relationships/hyperlink" Target="https://www.census.gov/quickfacts/fact/table/berkeleytownshipoceancountynewjersey/PST045225" TargetMode="External" Id="Rb491ec6ba2c44e35" /><Relationship Type="http://schemas.openxmlformats.org/officeDocument/2006/relationships/hyperlink" Target="https://www.census.gov/quickfacts/fact/table/tomsrivertownshipoceancountynewjersey/PST045225" TargetMode="External" Id="R8eca6bfd39454ab6" /><Relationship Type="http://schemas.openxmlformats.org/officeDocument/2006/relationships/hyperlink" Target="https://www.census.gov/quickfacts/fact/table/bricktownshipoceancountynewjersey/PST045225" TargetMode="External" Id="R1ec18de45b8d4c34" /><Relationship Type="http://schemas.openxmlformats.org/officeDocument/2006/relationships/notesSlide" Target="/ppt/notesSlides/notesSlide37.xml" Id="R3f56b0f5936b4ae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7bb2552653f4a74" /><Relationship Type="http://schemas.openxmlformats.org/officeDocument/2006/relationships/hyperlink" Target="https://www.census.gov/quickfacts/fact/table/jacksontownshipoceancountynewjersey/PST045225" TargetMode="External" Id="R98f3cf4300944c24" /><Relationship Type="http://schemas.openxmlformats.org/officeDocument/2006/relationships/hyperlink" Target="https://www.census.gov/quickfacts/fact/table/howelltownshipmonmouthcountynewjersey/PST045225" TargetMode="External" Id="R4a30af6133c147b8" /><Relationship Type="http://schemas.openxmlformats.org/officeDocument/2006/relationships/hyperlink" Target="https://www.census.gov/quickfacts/fact/table/walltownshipmonmouthcountynewjersey/PST045225" TargetMode="External" Id="Rcbf0e78264284ae0" /><Relationship Type="http://schemas.openxmlformats.org/officeDocument/2006/relationships/hyperlink" Target="https://www.census.gov/quickfacts/fact/table/middletowntownshipmonmouthcountynewjersey/PST045225" TargetMode="External" Id="R8ccfb568a56b42e1" /><Relationship Type="http://schemas.openxmlformats.org/officeDocument/2006/relationships/hyperlink" Target="https://www.census.gov/quickfacts/fact/table/holmdeltownshipmonmouthcountynewjersey/PST045225" TargetMode="External" Id="Raca1a565b8804962" /><Relationship Type="http://schemas.openxmlformats.org/officeDocument/2006/relationships/hyperlink" Target="https://www.census.gov/quickfacts/fact/table/coltsnecktownshipmonmouthcountynewjersey/PST045225" TargetMode="External" Id="R746bac9b5f9545d1" /><Relationship Type="http://schemas.openxmlformats.org/officeDocument/2006/relationships/hyperlink" Target="https://www.census.gov/quickfacts/fact/table/rumsonboroughnewjersey/PST045225" TargetMode="External" Id="R96a3f40b4f964532" /><Relationship Type="http://schemas.openxmlformats.org/officeDocument/2006/relationships/notesSlide" Target="/ppt/notesSlides/notesSlide38.xml" Id="R663e5e7f0ca942d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0.020475</c:v>
                </c:pt>
                <c:pt idx="1">
                  <c:v>0.084074</c:v>
                </c:pt>
                <c:pt idx="2">
                  <c:v>0.175645</c:v>
                </c:pt>
                <c:pt idx="3">
                  <c:v>0.286943</c:v>
                </c:pt>
                <c:pt idx="4">
                  <c:v>0.391633</c:v>
                </c:pt>
                <c:pt idx="5">
                  <c:v>0.505894</c:v>
                </c:pt>
                <c:pt idx="6">
                  <c:v>0.572569</c:v>
                </c:pt>
              </c:numCache>
            </c:numRef>
          </c:val>
        </c:ser>
        <c:ser>
          <c:idx val="1"/>
          <c:order val="1"/>
          <c:tx>
            <c:v>Pro and Teams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c:v>
                </c:pt>
                <c:pt idx="1">
                  <c:v>0.001624</c:v>
                </c:pt>
                <c:pt idx="2">
                  <c:v>0.007483</c:v>
                </c:pt>
                <c:pt idx="3">
                  <c:v>0.02312</c:v>
                </c:pt>
                <c:pt idx="4">
                  <c:v>0.050005</c:v>
                </c:pt>
                <c:pt idx="5">
                  <c:v>0.092076</c:v>
                </c:pt>
                <c:pt idx="6">
                  <c:v>0.139912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0.8"/>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0.2"/>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2EBDD0C2-3756-4413-A96F-D3E6F297433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C8F37A3B-F104-4524-952D-5ACEB3B672A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b67abfab3d44495"/>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3835599E-266E-4D4F-993E-C206C80D67A5}"/>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537C6B2F-46F5-4BA9-BE3E-9E31502B3F0D}"/>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1936FABC-3BDA-42E8-AA89-2660D81451B8}"/>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757447002"/>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D790CFD0-4346-4475-821C-4415E783C7F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96F60977-C87C-4F48-9B2F-46630DC388A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579DAEB2-3C0C-4AB6-9E6B-2B30FD121B2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2BEBF4B9-F859-437F-AE67-3B74D7B7AB8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28461B86-B0BE-4576-AB22-D94AF38DC17D}"/>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AFF92D02-1C77-4FA3-83FF-F16AB64E303C}"/>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B36AC0CD-CC75-4407-9EAE-1A4DE198D01D}"/>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7BAA098F-7F7F-4D68-B2E9-2D741F832687}"/>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D3445EF2-AE28-4214-ABE7-0E430DF73684}"/>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Finder fees pay for customer acquisition. Pro subs">
            <a:extLst xmlns:a="http://schemas.openxmlformats.org/drawingml/2006/main">
              <a:ext uri="{FF2B5EF4-FFF2-40B4-BE49-F238E27FC236}">
                <a16:creationId xmlns:a16="http://schemas.microsoft.com/office/drawing/2014/main" id="{2E19052F-9994-40EF-91E4-62124B1743F5}"/>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Finder fees pay for customer acquisition. Pro subscriptions help providers recruit and manage crews as demand grows. Payment processing passes through at cost.</a:t>
            </a:r>
          </a:p>
        </p:txBody>
      </p:sp>
      <p:sp>
        <p:nvSpPr>
          <p:cNvPr id="11" name="Investment hypothesis. The selected forecast uses ">
            <a:extLst xmlns:a="http://schemas.openxmlformats.org/drawingml/2006/main">
              <a:ext uri="{FF2B5EF4-FFF2-40B4-BE49-F238E27FC236}">
                <a16:creationId xmlns:a16="http://schemas.microsoft.com/office/drawing/2014/main" id="{5F4F4F70-BF97-4F0B-89FD-0E87C7D025B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selected forecast uses finder fees and provider subscriptions. Sponsorship remains a separate expansion case.</a:t>
            </a:r>
          </a:p>
        </p:txBody>
      </p:sp>
    </p:spTree>
    <p:extLst>
      <p:ext uri="{BB962C8B-B14F-4D97-AF65-F5344CB8AC3E}">
        <p14:creationId xmlns:p14="http://schemas.microsoft.com/office/powerpoint/2010/main" val="1148415151"/>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CEA07FA4-D71D-4840-A00C-C131A670633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040213F4-1E0A-407C-8857-32C7AEDC660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309E6EA9-70D2-4F24-B335-5AC3D51C482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0CB3874B-62BB-485C-A1AB-E7B5DC02F5F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D2E02E00-B5E2-43D4-AA02-CFF2E2858F7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202364931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AECC800B-5D8B-4FFE-BE07-DB262CB28FA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8677BCB6-BC9C-432F-BB6A-1F27D1A787D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92A92B47-5CA6-4BFF-920B-AAD4369F0B3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9A32E04F-BBDC-4759-8B92-2030E48C182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43abd31cccc4b02"/>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45B12B2C-4D4A-4C9A-AA6E-635F93868014}"/>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D63549B2-6041-465E-A94D-365853ECBEA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618746552"/>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41F7762B-65AD-4D4B-80ED-F28A6672FCA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9DBB2CD2-C989-4FA4-BFE2-E7EC77418E9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01FC8C12-4BF2-40B3-AA89-BAFE16DE837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90AC8BB3-7A21-43D9-915B-356145FF856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4dc49295bc44f4"/>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838BD46E-D867-493D-AB98-59BD367D6412}"/>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5B5B0FB1-1B39-4A33-AE47-3B9D7A5783D1}"/>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277ECCF4-8B18-4530-80F7-0C9EE1FA82DC}"/>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EFEF3511-DECA-4A42-98AD-E1121530C05C}"/>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E89E4D13-1BA1-493E-8978-55043FEF6F5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1101361330"/>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one-time fee prices the customer relationship">
            <a:extLst xmlns:a="http://schemas.openxmlformats.org/drawingml/2006/main">
              <a:ext uri="{FF2B5EF4-FFF2-40B4-BE49-F238E27FC236}">
                <a16:creationId xmlns:a16="http://schemas.microsoft.com/office/drawing/2014/main" id="{2C352B7B-4800-4534-8FD4-77158FC7D91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one-time fee prices the customer relationship</a:t>
            </a:r>
          </a:p>
        </p:txBody>
      </p:sp>
      <p:sp>
        <p:nvSpPr>
          <p:cNvPr id="2" name="Proposed acquisition fees, paid once after a new p">
            <a:extLst xmlns:a="http://schemas.openxmlformats.org/drawingml/2006/main">
              <a:ext uri="{FF2B5EF4-FFF2-40B4-BE49-F238E27FC236}">
                <a16:creationId xmlns:a16="http://schemas.microsoft.com/office/drawing/2014/main" id="{AAFDCD69-CDB3-45EF-BDB0-6D0268DC2A3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acquisition fees, paid once after a new provider completes the first customer job.</a:t>
            </a:r>
          </a:p>
        </p:txBody>
      </p:sp>
      <p:sp>
        <p:nvSpPr>
          <p:cNvPr id="3" name="YardMatch">
            <a:extLst xmlns:a="http://schemas.openxmlformats.org/drawingml/2006/main">
              <a:ext uri="{FF2B5EF4-FFF2-40B4-BE49-F238E27FC236}">
                <a16:creationId xmlns:a16="http://schemas.microsoft.com/office/drawing/2014/main" id="{99D2BC68-E204-407B-B5FA-8928451FF87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1EC1F8E2-D6D5-42ED-A03E-01072D7D717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graphicFrame>
        <p:nvGraphicFramePr>
          <p:cNvPr id="13" name=""/>
          <p:cNvGraphicFramePr/>
          <p:nvPr/>
        </p:nvGraphicFramePr>
        <p:xfrm>
          <a:off xmlns:a="http://schemas.openxmlformats.org/drawingml/2006/main" x="609600" y="2333625"/>
          <a:ext xmlns:a="http://schemas.openxmlformats.org/drawingml/2006/main" cx="10972800" cy="2324100"/>
        </p:xfrm>
        <a:graphic xmlns:a="http://schemas.openxmlformats.org/drawingml/2006/main">
          <a:graphicData uri="http://schemas.openxmlformats.org/drawingml/2006/table">
            <a:tbl>
              <a:tblPr/>
              <a:tblGrid>
                <a:gridCol w="3009900"/>
                <a:gridCol w="1990725"/>
                <a:gridCol w="2838450"/>
                <a:gridCol w="3133725"/>
              </a:tblGrid>
              <a:tr h="581025">
                <a:tc>
                  <a:txBody>
                    <a:bodyPr lIns="114300" tIns="76200" rIns="114300" bIns="76200">
                      <a:noAutofit/>
                    </a:bodyPr>
                    <a:lstStyle/>
                    <a:p>
                      <a:pPr algn="l"/>
                      <a:r>
                        <a:rPr sz="1875" b="1">
                          <a:solidFill>
                            <a:srgbClr val="FFFFFF"/>
                          </a:solidFill>
                          <a:latin typeface="Arial"/>
                          <a:ea typeface="Arial"/>
                          <a:cs typeface="Arial"/>
                        </a:rPr>
                        <a:t>Property tier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Finder fee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Example first bill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Fee as % of first bill</a:t>
                      </a:r>
                    </a:p>
                  </a:txBody>
                  <a:tcPr marL="91440" marR="91440" marT="45720" marB="45720" anchor="ctr">
                    <a:solidFill>
                      <a:srgbClr val="205938"/>
                    </a:solidFill>
                  </a:tcPr>
                </a:tc>
              </a:tr>
              <a:tr h="581025">
                <a:tc>
                  <a:txBody>
                    <a:bodyPr lIns="114300" tIns="76200" rIns="114300" bIns="76200">
                      <a:noAutofit/>
                    </a:bodyPr>
                    <a:lstStyle/>
                    <a:p>
                      <a:pPr algn="l"/>
                      <a:r>
                        <a:rPr sz="1875" b="0">
                          <a:solidFill>
                            <a:srgbClr val="14281D"/>
                          </a:solidFill>
                          <a:latin typeface="Arial"/>
                          <a:ea typeface="Arial"/>
                          <a:cs typeface="Arial"/>
                        </a:rPr>
                        <a:t>Typical</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$75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125%</a:t>
                      </a:r>
                    </a:p>
                  </a:txBody>
                  <a:tcPr marL="91440" marR="91440" marT="45720" marB="45720" anchor="ctr">
                    <a:solidFill>
                      <a:srgbClr val="FFFFFF"/>
                    </a:solidFill>
                  </a:tcPr>
                </a:tc>
              </a:tr>
              <a:tr h="581025">
                <a:tc>
                  <a:txBody>
                    <a:bodyPr lIns="114300" tIns="76200" rIns="114300" bIns="76200">
                      <a:noAutofit/>
                    </a:bodyPr>
                    <a:lstStyle/>
                    <a:p>
                      <a:pPr algn="l"/>
                      <a:r>
                        <a:rPr sz="1875" b="0">
                          <a:solidFill>
                            <a:srgbClr val="14281D"/>
                          </a:solidFill>
                          <a:latin typeface="Arial"/>
                          <a:ea typeface="Arial"/>
                          <a:cs typeface="Arial"/>
                        </a:rPr>
                        <a:t>Large</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$110</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$81</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136%</a:t>
                      </a:r>
                    </a:p>
                  </a:txBody>
                  <a:tcPr marL="91440" marR="91440" marT="45720" marB="45720" anchor="ctr">
                    <a:solidFill>
                      <a:srgbClr val="F7F5EF"/>
                    </a:solidFill>
                  </a:tcPr>
                </a:tc>
              </a:tr>
              <a:tr h="581025">
                <a:tc>
                  <a:txBody>
                    <a:bodyPr lIns="114300" tIns="76200" rIns="114300" bIns="76200">
                      <a:noAutofit/>
                    </a:bodyPr>
                    <a:lstStyle/>
                    <a:p>
                      <a:pPr algn="l"/>
                      <a:r>
                        <a:rPr sz="1875" b="0">
                          <a:solidFill>
                            <a:srgbClr val="14281D"/>
                          </a:solidFill>
                          <a:latin typeface="Arial"/>
                          <a:ea typeface="Arial"/>
                          <a:cs typeface="Arial"/>
                        </a:rPr>
                        <a:t>Very large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$150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139%</a:t>
                      </a:r>
                    </a:p>
                  </a:txBody>
                  <a:tcPr marL="91440" marR="91440" marT="45720" marB="45720" anchor="ctr">
                    <a:solidFill>
                      <a:srgbClr val="FFFFFF"/>
                    </a:solidFill>
                  </a:tcPr>
                </a:tc>
              </a:tr>
            </a:tbl>
          </a:graphicData>
        </a:graphic>
      </p:graphicFrame>
      <p:sp>
        <p:nvSpPr>
          <p:cNvPr id="6" name="No recurring YardMatch percentage">
            <a:extLst xmlns:a="http://schemas.openxmlformats.org/drawingml/2006/main">
              <a:ext uri="{FF2B5EF4-FFF2-40B4-BE49-F238E27FC236}">
                <a16:creationId xmlns:a16="http://schemas.microsoft.com/office/drawing/2014/main" id="{89E39F57-0A04-4930-8FC4-CFECE8B5A280}"/>
              </a:ext>
            </a:extLst>
          </p:cNvPr>
          <p:cNvSpPr>
            <a:spLocks xmlns:a="http://schemas.openxmlformats.org/drawingml/2006/main" noGrp="1"/>
          </p:cNvSpPr>
          <p:nvPr/>
        </p:nvSpPr>
        <p:spPr>
          <a:xfrm xmlns:a="http://schemas.openxmlformats.org/drawingml/2006/main">
            <a:off x="628650" y="48768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05938"/>
                </a:solidFill>
                <a:latin typeface="Arial"/>
                <a:ea typeface="Arial"/>
                <a:cs typeface="Arial"/>
              </a:defRPr>
            </a:pPr>
            <a:r>
              <a:rPr sz="2325" b="1">
                <a:solidFill>
                  <a:srgbClr val="205938"/>
                </a:solidFill>
                <a:latin typeface="Arial"/>
                <a:ea typeface="Arial"/>
                <a:cs typeface="Arial"/>
              </a:rPr>
              <a:t>No recurring YardMatch percentage</a:t>
            </a:r>
          </a:p>
        </p:txBody>
      </p:sp>
      <p:sp>
        <p:nvSpPr>
          <p:cNvPr id="7" name="Providers cover payment processing at cost only wh">
            <a:extLst xmlns:a="http://schemas.openxmlformats.org/drawingml/2006/main">
              <a:ext uri="{FF2B5EF4-FFF2-40B4-BE49-F238E27FC236}">
                <a16:creationId xmlns:a16="http://schemas.microsoft.com/office/drawing/2014/main" id="{2C934992-FBF7-42C9-89E4-77517DE5AFDC}"/>
              </a:ext>
            </a:extLst>
          </p:cNvPr>
          <p:cNvSpPr>
            <a:spLocks xmlns:a="http://schemas.openxmlformats.org/drawingml/2006/main" noGrp="1"/>
          </p:cNvSpPr>
          <p:nvPr/>
        </p:nvSpPr>
        <p:spPr>
          <a:xfrm xmlns:a="http://schemas.openxmlformats.org/drawingml/2006/main">
            <a:off x="628650" y="54102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Providers cover payment processing at cost only when they use in-app payments.</a:t>
            </a:r>
          </a:p>
        </p:txBody>
      </p:sp>
      <p:sp>
        <p:nvSpPr>
          <p:cNvPr id="8" name="The acquisition fee can exceed the first mowing bi">
            <a:extLst xmlns:a="http://schemas.openxmlformats.org/drawingml/2006/main">
              <a:ext uri="{FF2B5EF4-FFF2-40B4-BE49-F238E27FC236}">
                <a16:creationId xmlns:a16="http://schemas.microsoft.com/office/drawing/2014/main" id="{AB3A0CB6-4B50-4408-8286-717FF2A0E1A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acquisition fee can exceed the first mowing bill because it prices the expected customer relationship. YardMatch can collect it across the first three completed jobs to reduce the initial cash burden. Validate acceptance and property tiers in the pilot.</a:t>
            </a:r>
          </a:p>
        </p:txBody>
      </p:sp>
    </p:spTree>
    <p:extLst>
      <p:ext uri="{BB962C8B-B14F-4D97-AF65-F5344CB8AC3E}">
        <p14:creationId xmlns:p14="http://schemas.microsoft.com/office/powerpoint/2010/main" val="1068638524"/>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88DB897E-06B8-4B84-A1C3-552167DE581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1E65A7F0-2D45-46E3-A6C8-A2A03D13A61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13459D58-1CCB-4F76-A4D1-1074D6A8C34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6BA9AB1B-5DDA-4DEA-8402-6DE70998264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1C52DC20-6586-486A-9A00-FD3A67676B1F}"/>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79DF0E10-6349-4CFA-ABE1-0346A199964B}"/>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8AE04EEB-6E84-427A-8BB1-759CD8ADF8D0}"/>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FBD70353-FBB6-47B5-843B-8EBFC1FEFE4A}"/>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finder fee follows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AABDAA37-0CC8-4420-B680-2242142C046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770606503"/>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7ED36040-E501-4941-AF89-CE5C2028C5A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16E3E5F0-289E-4A76-8457-90605918345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20C6FDAB-E43A-4373-9D0F-398BC8D95CB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E4B0B472-BA29-4F0F-9C8C-B2B80F55D5F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or YardMatch service fee</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Acquisition fees plus provider software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6435DBA4-3122-4DB9-B575-D843677D47B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621503598"/>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Repeat work carries no YardMatch marketplace fee">
            <a:extLst xmlns:a="http://schemas.openxmlformats.org/drawingml/2006/main">
              <a:ext uri="{FF2B5EF4-FFF2-40B4-BE49-F238E27FC236}">
                <a16:creationId xmlns:a16="http://schemas.microsoft.com/office/drawing/2014/main" id="{157964CC-82EE-467C-B9A4-E086E634BA9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Repeat work carries no YardMatch marketplace fee</a:t>
            </a:r>
          </a:p>
        </p:txBody>
      </p:sp>
      <p:sp>
        <p:nvSpPr>
          <p:cNvPr id="2" name="The provider keeps the service price, less the act">
            <a:extLst xmlns:a="http://schemas.openxmlformats.org/drawingml/2006/main">
              <a:ext uri="{FF2B5EF4-FFF2-40B4-BE49-F238E27FC236}">
                <a16:creationId xmlns:a16="http://schemas.microsoft.com/office/drawing/2014/main" id="{819ED233-55F5-437B-8275-CF51A29C47C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provider keeps the service price, less the actual payment-processing cost when payments run through YardMatch.</a:t>
            </a:r>
          </a:p>
        </p:txBody>
      </p:sp>
      <p:sp>
        <p:nvSpPr>
          <p:cNvPr id="3" name="YardMatch">
            <a:extLst xmlns:a="http://schemas.openxmlformats.org/drawingml/2006/main">
              <a:ext uri="{FF2B5EF4-FFF2-40B4-BE49-F238E27FC236}">
                <a16:creationId xmlns:a16="http://schemas.microsoft.com/office/drawing/2014/main" id="{620463F9-C377-4841-AB13-7BFD038FAB4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21BE4F69-2EF4-4612-8A45-41ADE0FC5BE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2190750"/>
                <a:gridCol w="1809750"/>
                <a:gridCol w="2095500"/>
                <a:gridCol w="2095500"/>
              </a:tblGrid>
              <a:tr h="519113">
                <a:tc>
                  <a:txBody>
                    <a:bodyPr lIns="114300" tIns="76200" rIns="114300" bIns="76200">
                      <a:noAutofit/>
                    </a:bodyPr>
                    <a:lstStyle/>
                    <a:p>
                      <a:pPr algn="l"/>
                      <a:r>
                        <a:rPr sz="1800"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YardMatch fee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Card processing</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ACH processing</a:t>
                      </a:r>
                    </a:p>
                  </a:txBody>
                  <a:tcPr marL="91440" marR="91440" marT="45720" marB="45720" anchor="ctr">
                    <a:solidFill>
                      <a:srgbClr val="205938"/>
                    </a:solidFill>
                  </a:tcPr>
                </a:tc>
              </a:tr>
              <a:tr h="519113">
                <a:tc>
                  <a:txBody>
                    <a:bodyPr lIns="114300" tIns="76200" rIns="114300" bIns="76200">
                      <a:noAutofit/>
                    </a:bodyPr>
                    <a:lstStyle/>
                    <a:p>
                      <a:pPr algn="l"/>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$2.04</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$0.48</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$3.20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$0.80</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$2.40</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$29.30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$5.00</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$72.80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a:t>
                      </a:r>
                    </a:p>
                  </a:txBody>
                  <a:tcPr marL="91440" marR="91440" marT="45720" marB="45720" anchor="ctr">
                    <a:solidFill>
                      <a:srgbClr val="FFFFFF"/>
                    </a:solidFill>
                  </a:tcPr>
                </a:tc>
              </a:tr>
            </a:tbl>
          </a:graphicData>
        </a:graphic>
      </p:graphicFrame>
      <p:sp>
        <p:nvSpPr>
          <p:cNvPr id="6" name="($1.02)">
            <a:extLst xmlns:a="http://schemas.openxmlformats.org/drawingml/2006/main">
              <a:ext uri="{FF2B5EF4-FFF2-40B4-BE49-F238E27FC236}">
                <a16:creationId xmlns:a16="http://schemas.microsoft.com/office/drawing/2014/main" id="{E01CA248-14A9-4CA2-9FA8-E8059131C806}"/>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($1.02)</a:t>
            </a:r>
          </a:p>
        </p:txBody>
      </p:sp>
      <p:sp>
        <p:nvSpPr>
          <p:cNvPr id="7" name="YardMatch contribution per repeat job in the 2031 ">
            <a:extLst xmlns:a="http://schemas.openxmlformats.org/drawingml/2006/main">
              <a:ext uri="{FF2B5EF4-FFF2-40B4-BE49-F238E27FC236}">
                <a16:creationId xmlns:a16="http://schemas.microsoft.com/office/drawing/2014/main" id="{37D9771E-2938-460B-A2B3-38886D4DDD1F}"/>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YardMatch contribution per repeat job in the 2031 base case</a:t>
            </a:r>
          </a:p>
        </p:txBody>
      </p:sp>
      <p:sp>
        <p:nvSpPr>
          <p:cNvPr id="8" name="The negative contribution reflects payout, account">
            <a:extLst xmlns:a="http://schemas.openxmlformats.org/drawingml/2006/main">
              <a:ext uri="{FF2B5EF4-FFF2-40B4-BE49-F238E27FC236}">
                <a16:creationId xmlns:a16="http://schemas.microsoft.com/office/drawing/2014/main" id="{F475FDC4-4872-48A5-B7A2-31015C85AD8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negative contribution reflects payout, account, support, infrastructure and loss allowances that YardMatch still absorbs. Passing every payment-related vendor cost through or making payments optional would reduce this drag.</a:t>
            </a:r>
          </a:p>
        </p:txBody>
      </p:sp>
    </p:spTree>
    <p:extLst>
      <p:ext uri="{BB962C8B-B14F-4D97-AF65-F5344CB8AC3E}">
        <p14:creationId xmlns:p14="http://schemas.microsoft.com/office/powerpoint/2010/main" val="878315385"/>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0F5A1FB2-F697-43D5-A278-7CB75F534F8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6C84CA56-CFF4-4F26-AE81-5155A56B0E0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133BCF9F-46EA-4990-B157-19291A10F06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9D0D8CBA-174B-49B6-8913-73B39437C18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AF1E0D5E-868B-4AA0-9EB3-2452E2F581D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carry no new finder or YardMatch service fee for the same provider. Processing remains at cost.</a:t>
            </a:r>
          </a:p>
        </p:txBody>
      </p:sp>
    </p:spTree>
    <p:extLst>
      <p:ext uri="{BB962C8B-B14F-4D97-AF65-F5344CB8AC3E}">
        <p14:creationId xmlns:p14="http://schemas.microsoft.com/office/powerpoint/2010/main" val="2080689369"/>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9CAAE89B-6580-4E0F-BC4F-958F2517119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Named town launches, service mix and 3% annual pri">
            <a:extLst xmlns:a="http://schemas.openxmlformats.org/drawingml/2006/main">
              <a:ext uri="{FF2B5EF4-FFF2-40B4-BE49-F238E27FC236}">
                <a16:creationId xmlns:a16="http://schemas.microsoft.com/office/drawing/2014/main" id="{0127E81D-427C-4FB3-A08B-9CBF0BF9C51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Named town launches, service mix and 3% annual price escalation determine the weighted average.</a:t>
            </a:r>
          </a:p>
        </p:txBody>
      </p:sp>
      <p:sp>
        <p:nvSpPr>
          <p:cNvPr id="3" name="YardMatch">
            <a:extLst xmlns:a="http://schemas.openxmlformats.org/drawingml/2006/main">
              <a:ext uri="{FF2B5EF4-FFF2-40B4-BE49-F238E27FC236}">
                <a16:creationId xmlns:a16="http://schemas.microsoft.com/office/drawing/2014/main" id="{93133861-CAA2-454B-9D94-12131CDE306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7F08F7A2-8EEB-4FEF-BE18-58BC864A143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24E6C6B2-E2E2-4300-851E-0A7C63E20735}"/>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3A2F0362-D87F-4FA1-AB65-66B39ED73A00}"/>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F10A402B-4A4A-410E-A522-8D05ADC030C5}"/>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6DC8B79F-04B2-4E93-9B12-47A9054320CC}"/>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$82.87</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$98.01</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$117.84</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$91.82</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$112.45</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$138.69</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2AF487C4-656E-4D2D-87F2-3FA439C69CB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Town / lot weights stay correlated. Pricing assumptions are editable and need provider quotes.</a:t>
            </a:r>
          </a:p>
        </p:txBody>
      </p:sp>
    </p:spTree>
    <p:extLst>
      <p:ext uri="{BB962C8B-B14F-4D97-AF65-F5344CB8AC3E}">
        <p14:creationId xmlns:p14="http://schemas.microsoft.com/office/powerpoint/2010/main" val="1775155010"/>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rnegat demand now has a defined funnel">
            <a:extLst xmlns:a="http://schemas.openxmlformats.org/drawingml/2006/main">
              <a:ext uri="{FF2B5EF4-FFF2-40B4-BE49-F238E27FC236}">
                <a16:creationId xmlns:a16="http://schemas.microsoft.com/office/drawing/2014/main" id="{45283001-E9F1-428C-A0D3-FE058D3487D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demand now has a defined funnel</a:t>
            </a:r>
          </a:p>
        </p:txBody>
      </p:sp>
      <p:sp>
        <p:nvSpPr>
          <p:cNvPr id="2" name="Census facts anchor the denominator. Lawn eligibil">
            <a:extLst xmlns:a="http://schemas.openxmlformats.org/drawingml/2006/main">
              <a:ext uri="{FF2B5EF4-FFF2-40B4-BE49-F238E27FC236}">
                <a16:creationId xmlns:a16="http://schemas.microsoft.com/office/drawing/2014/main" id="{881608DF-12A9-4D39-92B4-24B7C7ADCCF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facts anchor the denominator. Lawn eligibility and willingness to hire are assumptions.</a:t>
            </a:r>
          </a:p>
        </p:txBody>
      </p:sp>
      <p:sp>
        <p:nvSpPr>
          <p:cNvPr id="3" name="YardMatch">
            <a:extLst xmlns:a="http://schemas.openxmlformats.org/drawingml/2006/main">
              <a:ext uri="{FF2B5EF4-FFF2-40B4-BE49-F238E27FC236}">
                <a16:creationId xmlns:a16="http://schemas.microsoft.com/office/drawing/2014/main" id="{5D7CC809-4235-4DFB-A3B4-90C4C77067E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875B9587-7E9E-42CD-B333-E6CFD7F6558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333625"/>
          <a:ext xmlns:a="http://schemas.openxmlformats.org/drawingml/2006/main" cx="10972800" cy="3152775"/>
        </p:xfrm>
        <a:graphic xmlns:a="http://schemas.openxmlformats.org/drawingml/2006/main">
          <a:graphicData uri="http://schemas.openxmlformats.org/drawingml/2006/table">
            <a:tbl>
              <a:tblPr/>
              <a:tblGrid>
                <a:gridCol w="8210550"/>
                <a:gridCol w="2762250"/>
              </a:tblGrid>
              <a:tr h="525463">
                <a:tc>
                  <a:txBody>
                    <a:bodyPr lIns="114300" tIns="76200" rIns="114300" bIns="76200">
                      <a:noAutofit/>
                    </a:bodyPr>
                    <a:lstStyle/>
                    <a:p>
                      <a:pPr algn="l"/>
                      <a:r>
                        <a:rPr sz="1875" b="1">
                          <a:solidFill>
                            <a:srgbClr val="FFFFFF"/>
                          </a:solidFill>
                          <a:latin typeface="Arial"/>
                          <a:ea typeface="Arial"/>
                          <a:cs typeface="Arial"/>
                        </a:rPr>
                        <a:t>Barnegat launch funnel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Households</a:t>
                      </a:r>
                    </a:p>
                  </a:txBody>
                  <a:tcPr marL="91440" marR="91440" marT="45720" marB="45720" anchor="ctr">
                    <a:solidFill>
                      <a:srgbClr val="205938"/>
                    </a:solidFill>
                  </a:tcPr>
                </a:tc>
              </a:tr>
              <a:tr h="525463">
                <a:tc>
                  <a:txBody>
                    <a:bodyPr lIns="114300" tIns="76200" rIns="114300" bIns="76200">
                      <a:noAutofit/>
                    </a:bodyPr>
                    <a:lstStyle/>
                    <a:p>
                      <a:pPr algn="l"/>
                      <a:r>
                        <a:rPr sz="1875" b="0">
                          <a:solidFill>
                            <a:srgbClr val="14281D"/>
                          </a:solidFill>
                          <a:latin typeface="Arial"/>
                          <a:ea typeface="Arial"/>
                          <a:cs typeface="Arial"/>
                        </a:rPr>
                        <a:t>Census occupied households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10,265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Owner-occupied estimate: 88%</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9,033</a:t>
                      </a:r>
                    </a:p>
                  </a:txBody>
                  <a:tcPr marL="91440" marR="91440" marT="45720" marB="45720" anchor="ctr">
                    <a:solidFill>
                      <a:srgbClr val="F7F5EF"/>
                    </a:solidFill>
                  </a:tcPr>
                </a:tc>
              </a:tr>
              <a:tr h="525463">
                <a:tc>
                  <a:txBody>
                    <a:bodyPr lIns="114300" tIns="76200" rIns="114300" bIns="76200">
                      <a:noAutofit/>
                    </a:bodyPr>
                    <a:lstStyle/>
                    <a:p>
                      <a:pPr algn="l"/>
                      <a:r>
                        <a:rPr sz="1875" b="0">
                          <a:solidFill>
                            <a:srgbClr val="14281D"/>
                          </a:solidFill>
                          <a:latin typeface="Arial"/>
                          <a:ea typeface="Arial"/>
                          <a:cs typeface="Arial"/>
                        </a:rPr>
                        <a:t>Assumed lawn-care eligibility: 75%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6,775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Assumed propensity to hire: 45%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3,049</a:t>
                      </a:r>
                    </a:p>
                  </a:txBody>
                  <a:tcPr marL="91440" marR="91440" marT="45720" marB="45720" anchor="ctr">
                    <a:solidFill>
                      <a:srgbClr val="F7F5EF"/>
                    </a:solidFill>
                  </a:tcPr>
                </a:tc>
              </a:tr>
              <a:tr h="525463">
                <a:tc>
                  <a:txBody>
                    <a:bodyPr lIns="114300" tIns="76200" rIns="114300" bIns="76200">
                      <a:noAutofit/>
                    </a:bodyPr>
                    <a:lstStyle/>
                    <a:p>
                      <a:pPr algn="l"/>
                      <a:r>
                        <a:rPr sz="1875" b="1">
                          <a:solidFill>
                            <a:srgbClr val="14281D"/>
                          </a:solidFill>
                          <a:latin typeface="Arial"/>
                          <a:ea typeface="Arial"/>
                          <a:cs typeface="Arial"/>
                        </a:rPr>
                        <a:t>2027 active customers after supply cap</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240</a:t>
                      </a:r>
                    </a:p>
                  </a:txBody>
                  <a:tcPr marL="91440" marR="91440" marT="45720" marB="45720" anchor="ctr">
                    <a:solidFill>
                      <a:srgbClr val="E8EDDF"/>
                    </a:solidFill>
                  </a:tcPr>
                </a:tc>
              </a:tr>
            </a:tbl>
          </a:graphicData>
        </a:graphic>
      </p:graphicFrame>
      <p:sp>
        <p:nvSpPr>
          <p:cNvPr id="6" name="Base acquisition starts at 8% of the never-acquire">
            <a:extLst xmlns:a="http://schemas.openxmlformats.org/drawingml/2006/main">
              <a:ext uri="{FF2B5EF4-FFF2-40B4-BE49-F238E27FC236}">
                <a16:creationId xmlns:a16="http://schemas.microsoft.com/office/drawing/2014/main" id="{7C2B4F9D-2F54-44E3-A415-B76BE779B5D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acquisition starts at 8% of the never-acquired outsourcing pool. Six planned providers × 40 households cap launch at 240. No provider commitments or measured hiring propensity are claimed.</a:t>
            </a:r>
          </a:p>
        </p:txBody>
      </p:sp>
    </p:spTree>
    <p:extLst>
      <p:ext uri="{BB962C8B-B14F-4D97-AF65-F5344CB8AC3E}">
        <p14:creationId xmlns:p14="http://schemas.microsoft.com/office/powerpoint/2010/main" val="1453941126"/>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 named rollout from Ocean to Monmouth County">
            <a:extLst xmlns:a="http://schemas.openxmlformats.org/drawingml/2006/main">
              <a:ext uri="{FF2B5EF4-FFF2-40B4-BE49-F238E27FC236}">
                <a16:creationId xmlns:a16="http://schemas.microsoft.com/office/drawing/2014/main" id="{BD4F3609-4F03-4553-B585-062D19A8DE5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named rollout from Ocean to Monmouth County</a:t>
            </a:r>
          </a:p>
        </p:txBody>
      </p:sp>
      <p:sp>
        <p:nvSpPr>
          <p:cNvPr id="2" name="Illustrative launch years. Each town has its own d">
            <a:extLst xmlns:a="http://schemas.openxmlformats.org/drawingml/2006/main">
              <a:ext uri="{FF2B5EF4-FFF2-40B4-BE49-F238E27FC236}">
                <a16:creationId xmlns:a16="http://schemas.microsoft.com/office/drawing/2014/main" id="{B1F7DE90-849B-40F0-BF84-AB922BB8867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launch years. Each town has its own demand pool, provider plan, acquisition cost and local budget.</a:t>
            </a:r>
          </a:p>
        </p:txBody>
      </p:sp>
      <p:sp>
        <p:nvSpPr>
          <p:cNvPr id="3" name="YardMatch">
            <a:extLst xmlns:a="http://schemas.openxmlformats.org/drawingml/2006/main">
              <a:ext uri="{FF2B5EF4-FFF2-40B4-BE49-F238E27FC236}">
                <a16:creationId xmlns:a16="http://schemas.microsoft.com/office/drawing/2014/main" id="{81B3E020-48B9-45A6-A45F-8D9A2FE519C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396577BB-865A-4223-A7B8-C13766F6F09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33625"/>
          <a:ext xmlns:a="http://schemas.openxmlformats.org/drawingml/2006/main" cx="10972800" cy="3381375"/>
        </p:xfrm>
        <a:graphic xmlns:a="http://schemas.openxmlformats.org/drawingml/2006/main">
          <a:graphicData uri="http://schemas.openxmlformats.org/drawingml/2006/table">
            <a:tbl>
              <a:tblPr/>
              <a:tblGrid>
                <a:gridCol w="1466850"/>
                <a:gridCol w="7667625"/>
                <a:gridCol w="1838325"/>
              </a:tblGrid>
              <a:tr h="422672">
                <a:tc>
                  <a:txBody>
                    <a:bodyPr lIns="114300" tIns="76200" rIns="114300" bIns="76200">
                      <a:noAutofit/>
                    </a:bodyPr>
                    <a:lstStyle/>
                    <a:p>
                      <a:pPr algn="l"/>
                      <a:r>
                        <a:rPr sz="1800" b="1">
                          <a:solidFill>
                            <a:srgbClr val="FFFFFF"/>
                          </a:solidFill>
                          <a:latin typeface="Arial"/>
                          <a:ea typeface="Arial"/>
                          <a:cs typeface="Arial"/>
                        </a:rPr>
                        <a:t>Year</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New towns</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towns</a:t>
                      </a:r>
                    </a:p>
                  </a:txBody>
                  <a:tcPr marL="91440" marR="91440" marT="45720" marB="45720" anchor="ctr">
                    <a:solidFill>
                      <a:srgbClr val="205938"/>
                    </a:solidFill>
                  </a:tcPr>
                </a:tc>
              </a:tr>
              <a:tr h="422672">
                <a:tc>
                  <a:txBody>
                    <a:bodyPr lIns="114300" tIns="76200" rIns="114300" bIns="76200">
                      <a:noAutofit/>
                    </a:bodyPr>
                    <a:lstStyle/>
                    <a:p>
                      <a:pPr algn="l"/>
                      <a:r>
                        <a:rPr sz="1800" b="0">
                          <a:solidFill>
                            <a:srgbClr val="14281D"/>
                          </a:solidFill>
                          <a:latin typeface="Arial"/>
                          <a:ea typeface="Arial"/>
                          <a:cs typeface="Arial"/>
                        </a:rPr>
                        <a:t>2027</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2028</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Stafford, Lacey, Ocean / Waretown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2029</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Berkeley, Toms River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2030</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Brick, Jackson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2031</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Howell, Wall</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2032</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Middletown, Holmdel</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Colts Neck, Rumson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bl>
          </a:graphicData>
        </a:graphic>
      </p:graphicFrame>
      <p:sp>
        <p:nvSpPr>
          <p:cNvPr id="6" name="Municipal boundaries avoid overlapping CDPs or cou">
            <a:extLst xmlns:a="http://schemas.openxmlformats.org/drawingml/2006/main">
              <a:ext uri="{FF2B5EF4-FFF2-40B4-BE49-F238E27FC236}">
                <a16:creationId xmlns:a16="http://schemas.microsoft.com/office/drawing/2014/main" id="{2863559F-CE65-4AC1-BE1F-562CCF312A3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Municipal boundaries avoid overlapping CDPs or county totals. Ocean / Waretown refers to Ocean township in Ocean County. Launches remain conditional on supply, paid retention and service reliability.</a:t>
            </a:r>
          </a:p>
        </p:txBody>
      </p:sp>
    </p:spTree>
    <p:extLst>
      <p:ext uri="{BB962C8B-B14F-4D97-AF65-F5344CB8AC3E}">
        <p14:creationId xmlns:p14="http://schemas.microsoft.com/office/powerpoint/2010/main" val="2073212296"/>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ffluent towns affect demand and job value">
            <a:extLst xmlns:a="http://schemas.openxmlformats.org/drawingml/2006/main">
              <a:ext uri="{FF2B5EF4-FFF2-40B4-BE49-F238E27FC236}">
                <a16:creationId xmlns:a16="http://schemas.microsoft.com/office/drawing/2014/main" id="{865551D9-DA12-4F41-A25F-FF9D9FFE6FE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Affluent towns affect demand and job value</a:t>
            </a:r>
          </a:p>
        </p:txBody>
      </p:sp>
      <p:sp>
        <p:nvSpPr>
          <p:cNvPr id="2" name="Income and home values are observed. Outsourcing, ">
            <a:extLst xmlns:a="http://schemas.openxmlformats.org/drawingml/2006/main">
              <a:ext uri="{FF2B5EF4-FFF2-40B4-BE49-F238E27FC236}">
                <a16:creationId xmlns:a16="http://schemas.microsoft.com/office/drawing/2014/main" id="{BD28D5FD-AF6B-4265-8F01-2286C8A6ED4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Income and home values are observed. Outsourcing, yard sizes and price tiers remain explicit hypotheses.</a:t>
            </a:r>
          </a:p>
        </p:txBody>
      </p:sp>
      <p:sp>
        <p:nvSpPr>
          <p:cNvPr id="3" name="YardMatch">
            <a:extLst xmlns:a="http://schemas.openxmlformats.org/drawingml/2006/main">
              <a:ext uri="{FF2B5EF4-FFF2-40B4-BE49-F238E27FC236}">
                <a16:creationId xmlns:a16="http://schemas.microsoft.com/office/drawing/2014/main" id="{F998B1AF-F364-4871-A21A-CFD54F6F6DE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0D6E6D74-4B16-4DA4-A510-18331094DAE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
          <p:cNvGraphicFramePr/>
          <p:nvPr/>
        </p:nvGraphicFramePr>
        <p:xfrm>
          <a:off xmlns:a="http://schemas.openxmlformats.org/drawingml/2006/main" x="609600" y="2333625"/>
          <a:ext xmlns:a="http://schemas.openxmlformats.org/drawingml/2006/main" cx="10972800" cy="3267075"/>
        </p:xfrm>
        <a:graphic xmlns:a="http://schemas.openxmlformats.org/drawingml/2006/main">
          <a:graphicData uri="http://schemas.openxmlformats.org/drawingml/2006/table">
            <a:tbl>
              <a:tblPr/>
              <a:tblGrid>
                <a:gridCol w="2571750"/>
                <a:gridCol w="2381250"/>
                <a:gridCol w="2190750"/>
                <a:gridCol w="3829050"/>
              </a:tblGrid>
              <a:tr h="466725">
                <a:tc>
                  <a:txBody>
                    <a:bodyPr lIns="114300" tIns="76200" rIns="114300" bIns="76200">
                      <a:noAutofit/>
                    </a:bodyPr>
                    <a:lstStyle/>
                    <a:p>
                      <a:pPr algn="l"/>
                      <a:r>
                        <a:rPr sz="1725" b="1">
                          <a:solidFill>
                            <a:srgbClr val="FFFFFF"/>
                          </a:solidFill>
                          <a:latin typeface="Arial"/>
                          <a:ea typeface="Arial"/>
                          <a:cs typeface="Arial"/>
                        </a:rPr>
                        <a:t>Town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Assumed hiring</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Large / very large lots</a:t>
                      </a:r>
                    </a:p>
                  </a:txBody>
                  <a:tcPr marL="91440" marR="91440" marT="45720" marB="45720" anchor="ctr">
                    <a:solidFill>
                      <a:srgbClr val="205938"/>
                    </a:solidFill>
                  </a:tcPr>
                </a:tc>
              </a:tr>
              <a:tr h="466725">
                <a:tc>
                  <a:txBody>
                    <a:bodyPr lIns="114300" tIns="76200" rIns="114300" bIns="76200">
                      <a:noAutofit/>
                    </a:bodyPr>
                    <a:lstStyle/>
                    <a:p>
                      <a:pPr algn="l"/>
                      <a:r>
                        <a:rPr sz="1725"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 / 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 / 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35% / 15%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Holmdel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Colts Neck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40% / 40%</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Rumson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20%</a:t>
                      </a:r>
                    </a:p>
                  </a:txBody>
                  <a:tcPr marL="91440" marR="91440" marT="45720" marB="45720" anchor="ctr">
                    <a:solidFill>
                      <a:srgbClr val="F7F5EF"/>
                    </a:solidFill>
                  </a:tcPr>
                </a:tc>
              </a:tr>
            </a:tbl>
          </a:graphicData>
        </a:graphic>
      </p:graphicFrame>
      <p:sp>
        <p:nvSpPr>
          <p:cNvPr id="6" name="Hiring share applies only to eligible owner househ">
            <a:extLst xmlns:a="http://schemas.openxmlformats.org/drawingml/2006/main">
              <a:ext uri="{FF2B5EF4-FFF2-40B4-BE49-F238E27FC236}">
                <a16:creationId xmlns:a16="http://schemas.microsoft.com/office/drawing/2014/main" id="{AE696396-18FE-47AD-B292-AAA303D2E84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Hiring share applies only to eligible owner households. Lot shares apply to modeled customers, not all housing. Premium towns also have higher cash CAC assumptions; no automatic retention improvement is assumed.</a:t>
            </a:r>
          </a:p>
        </p:txBody>
      </p:sp>
    </p:spTree>
    <p:extLst>
      <p:ext uri="{BB962C8B-B14F-4D97-AF65-F5344CB8AC3E}">
        <p14:creationId xmlns:p14="http://schemas.microsoft.com/office/powerpoint/2010/main" val="867547964"/>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plan is bounded by demand and supply">
            <a:extLst xmlns:a="http://schemas.openxmlformats.org/drawingml/2006/main">
              <a:ext uri="{FF2B5EF4-FFF2-40B4-BE49-F238E27FC236}">
                <a16:creationId xmlns:a16="http://schemas.microsoft.com/office/drawing/2014/main" id="{742FE1EF-90AF-4978-94BB-24034470418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plan is bounded by demand and supply</a:t>
            </a:r>
          </a:p>
        </p:txBody>
      </p:sp>
      <p:sp>
        <p:nvSpPr>
          <p:cNvPr id="2" name="The household curve is now a sum of town cohorts, ">
            <a:extLst xmlns:a="http://schemas.openxmlformats.org/drawingml/2006/main">
              <a:ext uri="{FF2B5EF4-FFF2-40B4-BE49-F238E27FC236}">
                <a16:creationId xmlns:a16="http://schemas.microsoft.com/office/drawing/2014/main" id="{7C1CD634-3BCF-41C7-BF94-C603AD8E178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household curve is now a sum of town cohorts, with launch timing and local capacity enforced.</a:t>
            </a:r>
          </a:p>
        </p:txBody>
      </p:sp>
      <p:sp>
        <p:nvSpPr>
          <p:cNvPr id="3" name="YardMatch">
            <a:extLst xmlns:a="http://schemas.openxmlformats.org/drawingml/2006/main">
              <a:ext uri="{FF2B5EF4-FFF2-40B4-BE49-F238E27FC236}">
                <a16:creationId xmlns:a16="http://schemas.microsoft.com/office/drawing/2014/main" id="{6CEC63EB-5314-4CCF-A728-C4FE1844153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0EA975E4-72D7-429C-BB8C-7513C7839A1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33625"/>
          <a:ext xmlns:a="http://schemas.openxmlformats.org/drawingml/2006/main" cx="10972800" cy="3105150"/>
        </p:xfrm>
        <a:graphic xmlns:a="http://schemas.openxmlformats.org/drawingml/2006/main">
          <a:graphicData uri="http://schemas.openxmlformats.org/drawingml/2006/table">
            <a:tbl>
              <a:tblPr/>
              <a:tblGrid>
                <a:gridCol w="4657725"/>
                <a:gridCol w="2105025"/>
                <a:gridCol w="2105025"/>
                <a:gridCol w="2105025"/>
              </a:tblGrid>
              <a:tr h="517525">
                <a:tc>
                  <a:txBody>
                    <a:bodyPr lIns="114300" tIns="76200" rIns="114300" bIns="76200">
                      <a:noAutofit/>
                    </a:bodyPr>
                    <a:lstStyle/>
                    <a:p>
                      <a:pPr algn="l"/>
                      <a:r>
                        <a:rPr sz="1800" b="1">
                          <a:solidFill>
                            <a:srgbClr val="FFFFFF"/>
                          </a:solidFill>
                          <a:latin typeface="Arial"/>
                          <a:ea typeface="Arial"/>
                          <a:cs typeface="Arial"/>
                        </a:rPr>
                        <a:t>Base regional forecast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2033</a:t>
                      </a:r>
                    </a:p>
                  </a:txBody>
                  <a:tcPr marL="91440" marR="91440" marT="45720" marB="45720" anchor="ctr">
                    <a:solidFill>
                      <a:srgbClr val="205938"/>
                    </a:solidFill>
                  </a:tcPr>
                </a:tc>
              </a:tr>
              <a:tr h="517525">
                <a:tc>
                  <a:txBody>
                    <a:bodyPr lIns="114300" tIns="76200" rIns="114300" bIns="76200">
                      <a:noAutofit/>
                    </a:bodyPr>
                    <a:lstStyle/>
                    <a:p>
                      <a:pPr algn="l"/>
                      <a:r>
                        <a:rPr sz="1800" b="0">
                          <a:solidFill>
                            <a:srgbClr val="14281D"/>
                          </a:solidFill>
                          <a:latin typeface="Arial"/>
                          <a:ea typeface="Arial"/>
                          <a:cs typeface="Arial"/>
                        </a:rPr>
                        <a:t>Launched towns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r h="517525">
                <a:tc>
                  <a:txBody>
                    <a:bodyPr lIns="114300" tIns="76200" rIns="114300" bIns="76200">
                      <a:noAutofit/>
                    </a:bodyPr>
                    <a:lstStyle/>
                    <a:p>
                      <a:pPr algn="l"/>
                      <a:r>
                        <a:rPr sz="1800" b="0">
                          <a:solidFill>
                            <a:srgbClr val="14281D"/>
                          </a:solidFill>
                          <a:latin typeface="Arial"/>
                          <a:ea typeface="Arial"/>
                          <a:cs typeface="Arial"/>
                        </a:rPr>
                        <a:t>Assumed outsourcing households</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3,049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44,015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71,683</a:t>
                      </a:r>
                    </a:p>
                  </a:txBody>
                  <a:tcPr marL="91440" marR="91440" marT="45720" marB="45720" anchor="ctr">
                    <a:solidFill>
                      <a:srgbClr val="F7F5EF"/>
                    </a:solidFill>
                  </a:tcPr>
                </a:tc>
              </a:tr>
              <a:tr h="517525">
                <a:tc>
                  <a:txBody>
                    <a:bodyPr lIns="114300" tIns="76200" rIns="114300" bIns="76200">
                      <a:noAutofit/>
                    </a:bodyPr>
                    <a:lstStyle/>
                    <a:p>
                      <a:pPr algn="l"/>
                      <a:r>
                        <a:rPr sz="1800" b="1">
                          <a:solidFill>
                            <a:srgbClr val="14281D"/>
                          </a:solidFill>
                          <a:latin typeface="Arial"/>
                          <a:ea typeface="Arial"/>
                          <a:cs typeface="Arial"/>
                        </a:rPr>
                        <a:t>Active YardMatch households</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240</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5,592</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16,570</a:t>
                      </a:r>
                    </a:p>
                  </a:txBody>
                  <a:tcPr marL="91440" marR="91440" marT="45720" marB="45720" anchor="ctr">
                    <a:solidFill>
                      <a:srgbClr val="E8EDDF"/>
                    </a:solidFill>
                  </a:tcPr>
                </a:tc>
              </a:tr>
              <a:tr h="517525">
                <a:tc>
                  <a:txBody>
                    <a:bodyPr lIns="114300" tIns="76200" rIns="114300" bIns="76200">
                      <a:noAutofit/>
                    </a:bodyPr>
                    <a:lstStyle/>
                    <a:p>
                      <a:pPr algn="l"/>
                      <a:r>
                        <a:rPr sz="1800" b="0">
                          <a:solidFill>
                            <a:srgbClr val="14281D"/>
                          </a:solidFill>
                          <a:latin typeface="Arial"/>
                          <a:ea typeface="Arial"/>
                          <a:cs typeface="Arial"/>
                        </a:rPr>
                        <a:t>Qualified household capacity</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5,920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18,600</a:t>
                      </a:r>
                    </a:p>
                  </a:txBody>
                  <a:tcPr marL="91440" marR="91440" marT="45720" marB="45720" anchor="ctr">
                    <a:solidFill>
                      <a:srgbClr val="F7F5EF"/>
                    </a:solidFill>
                  </a:tcPr>
                </a:tc>
              </a:tr>
              <a:tr h="517525">
                <a:tc>
                  <a:txBody>
                    <a:bodyPr lIns="114300" tIns="76200" rIns="114300" bIns="76200">
                      <a:noAutofit/>
                    </a:bodyPr>
                    <a:lstStyle/>
                    <a:p>
                      <a:pPr algn="l"/>
                      <a:r>
                        <a:rPr sz="1800" b="0">
                          <a:solidFill>
                            <a:srgbClr val="14281D"/>
                          </a:solidFill>
                          <a:latin typeface="Arial"/>
                          <a:ea typeface="Arial"/>
                          <a:cs typeface="Arial"/>
                        </a:rPr>
                        <a:t>Local launch + annual coverage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$109,273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$163,585</a:t>
                      </a:r>
                    </a:p>
                  </a:txBody>
                  <a:tcPr marL="91440" marR="91440" marT="45720" marB="45720" anchor="ctr">
                    <a:solidFill>
                      <a:srgbClr val="FFFFFF"/>
                    </a:solidFill>
                  </a:tcPr>
                </a:tc>
              </a:tr>
            </a:tbl>
          </a:graphicData>
        </a:graphic>
      </p:graphicFrame>
      <p:sp>
        <p:nvSpPr>
          <p:cNvPr id="6" name="215,396 Census households across 14 towns support ">
            <a:extLst xmlns:a="http://schemas.openxmlformats.org/drawingml/2006/main">
              <a:ext uri="{FF2B5EF4-FFF2-40B4-BE49-F238E27FC236}">
                <a16:creationId xmlns:a16="http://schemas.microsoft.com/office/drawing/2014/main" id="{A4878C33-CFA0-4415-B546-D342E589D93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215,396 Census households across 14 towns support an assumed 71,683-household outsourcing pool. The base captures 23% as active customers by 2033. No unnamed national expansion is included.</a:t>
            </a:r>
          </a:p>
        </p:txBody>
      </p:sp>
    </p:spTree>
    <p:extLst>
      <p:ext uri="{BB962C8B-B14F-4D97-AF65-F5344CB8AC3E}">
        <p14:creationId xmlns:p14="http://schemas.microsoft.com/office/powerpoint/2010/main" val="1917612659"/>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9EFAF0A8-2394-4285-AD2D-73C66B7BA6F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2B5A5F18-109A-4B25-8FB8-D45DAAEF08C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B7AE1BB7-4D4F-43D7-BBE9-C0192B260B0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7700E39E-D277-43BF-80E9-487F0658E4B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sp>
        <p:nvSpPr>
          <p:cNvPr id="5" name="1. Concentrated provider launch">
            <a:extLst xmlns:a="http://schemas.openxmlformats.org/drawingml/2006/main">
              <a:ext uri="{FF2B5EF4-FFF2-40B4-BE49-F238E27FC236}">
                <a16:creationId xmlns:a16="http://schemas.microsoft.com/office/drawing/2014/main" id="{20D7EAEB-B3A1-4C85-AC20-F8303D0E8EFB}"/>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5CCBD365-5322-47A2-9A5E-7C7727C211AF}"/>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D48EDB12-4B8E-44DD-81CC-B72E11E2A7BA}"/>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12E00F41-A6DE-4E7B-9181-8800E2003036}"/>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3B822C01-8B39-4F0F-A68A-918311FB7187}"/>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C000F609-FA86-44C7-A100-00AFD45E3A26}"/>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67F90D97-A231-452E-9824-33D6251D778F}"/>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ED2C5B6F-2DB8-4C40-852E-DE040E35CD9A}"/>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652494565"/>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1009D2E7-D422-4655-A2D5-F44AEC7666A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0139D4A3-7CC9-4B58-873A-BFBF85890D3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5ADC00CB-63CA-41FD-BD57-EA66289DC4D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22C88CF5-F497-4C7C-B641-531A02BCB31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sp>
        <p:nvSpPr>
          <p:cNvPr id="5" name="Product foundation">
            <a:extLst xmlns:a="http://schemas.openxmlformats.org/drawingml/2006/main">
              <a:ext uri="{FF2B5EF4-FFF2-40B4-BE49-F238E27FC236}">
                <a16:creationId xmlns:a16="http://schemas.microsoft.com/office/drawing/2014/main" id="{99703E44-168A-498B-B4FB-550FD2EF35A7}"/>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48631DA7-CD77-4678-8522-60290A4CE9E4}"/>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D6D76F5D-5539-475A-95AC-663E48BF79CD}"/>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2701C8DB-CFA0-4DE3-8082-2F347DC0F72D}"/>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B578F919-88C5-4E40-9088-6708829AAA99}"/>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34303261-71F9-4E6B-8951-81D8A9EC43AB}"/>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F69C8697-F0A9-4D5E-A1BA-84607DDC38CD}"/>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84364210-AE00-4B99-8F87-3272E649989C}"/>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462218662"/>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275456DE-A373-4278-BFC6-B61CCDC7A1D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2ADAE7FE-E6AE-48E2-8AC2-ED085897829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24D70B4B-CBFC-4917-90EE-D78298D6D74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51765599-4C0E-4B86-93F6-B7F4C938952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work with exi">
            <a:extLst xmlns:a="http://schemas.openxmlformats.org/drawingml/2006/main">
              <a:ext uri="{FF2B5EF4-FFF2-40B4-BE49-F238E27FC236}">
                <a16:creationId xmlns:a16="http://schemas.microsoft.com/office/drawing/2014/main" id="{3ACCE5FD-B99A-46B1-87F4-825D1B6B3BE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work with existing providers. The selected forecast includes Pro subscriptions and no second finder fee for the same relationship.</a:t>
            </a:r>
          </a:p>
        </p:txBody>
      </p:sp>
    </p:spTree>
    <p:extLst>
      <p:ext uri="{BB962C8B-B14F-4D97-AF65-F5344CB8AC3E}">
        <p14:creationId xmlns:p14="http://schemas.microsoft.com/office/powerpoint/2010/main" val="842021662"/>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New customers create the need for Pro">
            <a:extLst xmlns:a="http://schemas.openxmlformats.org/drawingml/2006/main">
              <a:ext uri="{FF2B5EF4-FFF2-40B4-BE49-F238E27FC236}">
                <a16:creationId xmlns:a16="http://schemas.microsoft.com/office/drawing/2014/main" id="{4FF56846-0F9B-47A7-9CF1-77E2739D9A4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New customers create the need for Pro</a:t>
            </a:r>
          </a:p>
        </p:txBody>
      </p:sp>
      <p:sp>
        <p:nvSpPr>
          <p:cNvPr id="2" name="YardMatch helps providers win demand, then Pro hel">
            <a:extLst xmlns:a="http://schemas.openxmlformats.org/drawingml/2006/main">
              <a:ext uri="{FF2B5EF4-FFF2-40B4-BE49-F238E27FC236}">
                <a16:creationId xmlns:a16="http://schemas.microsoft.com/office/drawing/2014/main" id="{023F4051-5573-4991-9178-B5EE3F55DE5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helps providers win demand, then Pro helps them hire and operate the added capacity.</a:t>
            </a:r>
          </a:p>
        </p:txBody>
      </p:sp>
      <p:sp>
        <p:nvSpPr>
          <p:cNvPr id="3" name="YardMatch">
            <a:extLst xmlns:a="http://schemas.openxmlformats.org/drawingml/2006/main">
              <a:ext uri="{FF2B5EF4-FFF2-40B4-BE49-F238E27FC236}">
                <a16:creationId xmlns:a16="http://schemas.microsoft.com/office/drawing/2014/main" id="{5E318CF6-7BEB-43D7-BE12-8911B4FB332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A7396E1E-7E1B-48A4-8530-FCD564834DA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43150"/>
          <a:ext xmlns:a="http://schemas.openxmlformats.org/drawingml/2006/main" cx="10972800" cy="3028950"/>
        </p:xfrm>
        <a:graphic xmlns:a="http://schemas.openxmlformats.org/drawingml/2006/main">
          <a:graphicData uri="http://schemas.openxmlformats.org/drawingml/2006/table">
            <a:tbl>
              <a:tblPr/>
              <a:tblGrid>
                <a:gridCol w="2895600"/>
                <a:gridCol w="2352675"/>
                <a:gridCol w="5724525"/>
              </a:tblGrid>
              <a:tr h="757238">
                <a:tc>
                  <a:txBody>
                    <a:bodyPr lIns="114300" tIns="76200" rIns="114300" bIns="76200">
                      <a:noAutofit/>
                    </a:bodyPr>
                    <a:lstStyle/>
                    <a:p>
                      <a:pPr algn="l"/>
                      <a:r>
                        <a:rPr sz="1875" b="1">
                          <a:solidFill>
                            <a:srgbClr val="FFFFFF"/>
                          </a:solidFill>
                          <a:latin typeface="Arial"/>
                          <a:ea typeface="Arial"/>
                          <a:cs typeface="Arial"/>
                        </a:rPr>
                        <a:t>Plan</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price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Reason to pay</a:t>
                      </a:r>
                    </a:p>
                  </a:txBody>
                  <a:tcPr marL="91440" marR="91440" marT="45720" marB="45720" anchor="ctr">
                    <a:solidFill>
                      <a:srgbClr val="205938"/>
                    </a:solidFill>
                  </a:tcPr>
                </a:tc>
              </a:tr>
              <a:tr h="757238">
                <a:tc>
                  <a:txBody>
                    <a:bodyPr lIns="114300" tIns="76200" rIns="114300" bIns="76200">
                      <a:noAutofit/>
                    </a:bodyPr>
                    <a:lstStyle/>
                    <a:p>
                      <a:pPr algn="l"/>
                      <a:r>
                        <a:rPr sz="1875" b="0">
                          <a:solidFill>
                            <a:srgbClr val="14281D"/>
                          </a:solidFill>
                          <a:latin typeface="Arial"/>
                          <a:ea typeface="Arial"/>
                          <a:cs typeface="Arial"/>
                        </a:rPr>
                        <a:t>Core marketplace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 subscription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Customer recommendations, bookings and essential communication</a:t>
                      </a:r>
                    </a:p>
                  </a:txBody>
                  <a:tcPr marL="91440" marR="91440" marT="45720" marB="45720" anchor="ctr">
                    <a:solidFill>
                      <a:srgbClr val="FFFFFF"/>
                    </a:solidFill>
                  </a:tcPr>
                </a:tc>
              </a:tr>
              <a:tr h="757238">
                <a:tc>
                  <a:txBody>
                    <a:bodyPr lIns="114300" tIns="76200" rIns="114300" bIns="76200">
                      <a:noAutofit/>
                    </a:bodyPr>
                    <a:lstStyle/>
                    <a:p>
                      <a:pPr algn="l"/>
                      <a:r>
                        <a:rPr sz="1875" b="0">
                          <a:solidFill>
                            <a:srgbClr val="14281D"/>
                          </a:solidFill>
                          <a:latin typeface="Arial"/>
                          <a:ea typeface="Arial"/>
                          <a:cs typeface="Arial"/>
                        </a:rPr>
                        <a:t>Pro</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$49 / month</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Local worker search, hiring pipeline, scheduling, routes and reporting</a:t>
                      </a:r>
                    </a:p>
                  </a:txBody>
                  <a:tcPr marL="91440" marR="91440" marT="45720" marB="45720" anchor="ctr">
                    <a:solidFill>
                      <a:srgbClr val="F7F5EF"/>
                    </a:solidFill>
                  </a:tcPr>
                </a:tc>
              </a:tr>
              <a:tr h="757238">
                <a:tc>
                  <a:txBody>
                    <a:bodyPr lIns="114300" tIns="76200" rIns="114300" bIns="76200">
                      <a:noAutofit/>
                    </a:bodyPr>
                    <a:lstStyle/>
                    <a:p>
                      <a:pPr algn="l"/>
                      <a:r>
                        <a:rPr sz="1875" b="0">
                          <a:solidFill>
                            <a:srgbClr val="14281D"/>
                          </a:solidFill>
                          <a:latin typeface="Arial"/>
                          <a:ea typeface="Arial"/>
                          <a:cs typeface="Arial"/>
                        </a:rPr>
                        <a:t>Teams, including Pro</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 / month</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Multiple crews, permissions, labor costing and utilization</a:t>
                      </a:r>
                    </a:p>
                  </a:txBody>
                  <a:tcPr marL="91440" marR="91440" marT="45720" marB="45720" anchor="ctr">
                    <a:solidFill>
                      <a:srgbClr val="FFFFFF"/>
                    </a:solidFill>
                  </a:tcPr>
                </a:tc>
              </a:tr>
            </a:tbl>
          </a:graphicData>
        </a:graphic>
      </p:graphicFrame>
      <p:sp>
        <p:nvSpPr>
          <p:cNvPr id="6" name="Pro and Teams are mutually exclusive. Crew members">
            <a:extLst xmlns:a="http://schemas.openxmlformats.org/drawingml/2006/main">
              <a:ext uri="{FF2B5EF4-FFF2-40B4-BE49-F238E27FC236}">
                <a16:creationId xmlns:a16="http://schemas.microsoft.com/office/drawing/2014/main" id="{6970EBEF-B5AA-4F10-921D-21B298B1498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are mutually exclusive. Crew members pay $0. The base forecast assumes 12 paid months and 55% combined adoption by 2033, with no ranking benefit for subscribers.</a:t>
            </a:r>
          </a:p>
        </p:txBody>
      </p:sp>
    </p:spTree>
    <p:extLst>
      <p:ext uri="{BB962C8B-B14F-4D97-AF65-F5344CB8AC3E}">
        <p14:creationId xmlns:p14="http://schemas.microsoft.com/office/powerpoint/2010/main" val="33754199"/>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Crew recruiting completes the provider growth loop">
            <a:extLst xmlns:a="http://schemas.openxmlformats.org/drawingml/2006/main">
              <a:ext uri="{FF2B5EF4-FFF2-40B4-BE49-F238E27FC236}">
                <a16:creationId xmlns:a16="http://schemas.microsoft.com/office/drawing/2014/main" id="{6ED39BEF-0EB9-4A4C-99F0-51E3A63B149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Crew recruiting completes the provider growth loop</a:t>
            </a:r>
          </a:p>
        </p:txBody>
      </p:sp>
      <p:sp>
        <p:nvSpPr>
          <p:cNvPr id="2" name="Landscaping businesses pay to find and manage capa">
            <a:extLst xmlns:a="http://schemas.openxmlformats.org/drawingml/2006/main">
              <a:ext uri="{FF2B5EF4-FFF2-40B4-BE49-F238E27FC236}">
                <a16:creationId xmlns:a16="http://schemas.microsoft.com/office/drawing/2014/main" id="{CBE29057-DF88-40B7-B6EC-92680A76F89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Landscaping businesses pay to find and manage capacity. Individual workers pay $0.</a:t>
            </a:r>
          </a:p>
        </p:txBody>
      </p:sp>
      <p:sp>
        <p:nvSpPr>
          <p:cNvPr id="3" name="YardMatch">
            <a:extLst xmlns:a="http://schemas.openxmlformats.org/drawingml/2006/main">
              <a:ext uri="{FF2B5EF4-FFF2-40B4-BE49-F238E27FC236}">
                <a16:creationId xmlns:a16="http://schemas.microsoft.com/office/drawing/2014/main" id="{179DA53D-C89C-41EE-B138-ACC5B914A2D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4442DF9F-F726-4527-89E2-66C53643005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sp>
        <p:nvSpPr>
          <p:cNvPr id="5" name="Value for the business owner">
            <a:extLst xmlns:a="http://schemas.openxmlformats.org/drawingml/2006/main">
              <a:ext uri="{FF2B5EF4-FFF2-40B4-BE49-F238E27FC236}">
                <a16:creationId xmlns:a16="http://schemas.microsoft.com/office/drawing/2014/main" id="{597DFD8F-97C9-43D1-B576-66F30CE02BFE}"/>
              </a:ext>
            </a:extLst>
          </p:cNvPr>
          <p:cNvSpPr>
            <a:spLocks xmlns:a="http://schemas.openxmlformats.org/drawingml/2006/main" noGrp="1"/>
          </p:cNvSpPr>
          <p:nvPr/>
        </p:nvSpPr>
        <p:spPr>
          <a:xfrm xmlns:a="http://schemas.openxmlformats.org/drawingml/2006/main">
            <a:off x="6286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Value for the business owner</a:t>
            </a:r>
          </a:p>
        </p:txBody>
      </p:sp>
      <p:sp>
        <p:nvSpPr>
          <p:cNvPr id="6" name="Post openings, review local candidates and manage ">
            <a:extLst xmlns:a="http://schemas.openxmlformats.org/drawingml/2006/main">
              <a:ext uri="{FF2B5EF4-FFF2-40B4-BE49-F238E27FC236}">
                <a16:creationId xmlns:a16="http://schemas.microsoft.com/office/drawing/2014/main" id="{C3579495-22FB-4145-BBCE-61F13C61CCDF}"/>
              </a:ext>
            </a:extLst>
          </p:cNvPr>
          <p:cNvSpPr>
            <a:spLocks xmlns:a="http://schemas.openxmlformats.org/drawingml/2006/main" noGrp="1"/>
          </p:cNvSpPr>
          <p:nvPr/>
        </p:nvSpPr>
        <p:spPr>
          <a:xfrm xmlns:a="http://schemas.openxmlformats.org/drawingml/2006/main">
            <a:off x="6286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Post openings, review local candidates and manage applicants. Convert new demand into service capacity without leaving YardMatch.</a:t>
            </a:r>
          </a:p>
        </p:txBody>
      </p:sp>
      <p:sp>
        <p:nvSpPr>
          <p:cNvPr id="7" name="Access for the crew member">
            <a:extLst xmlns:a="http://schemas.openxmlformats.org/drawingml/2006/main">
              <a:ext uri="{FF2B5EF4-FFF2-40B4-BE49-F238E27FC236}">
                <a16:creationId xmlns:a16="http://schemas.microsoft.com/office/drawing/2014/main" id="{6EB0B909-B271-4EA2-8887-D56047AAC536}"/>
              </a:ext>
            </a:extLst>
          </p:cNvPr>
          <p:cNvSpPr>
            <a:spLocks xmlns:a="http://schemas.openxmlformats.org/drawingml/2006/main" noGrp="1"/>
          </p:cNvSpPr>
          <p:nvPr/>
        </p:nvSpPr>
        <p:spPr>
          <a:xfrm xmlns:a="http://schemas.openxmlformats.org/drawingml/2006/main">
            <a:off x="64198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Access for the crew member</a:t>
            </a:r>
          </a:p>
        </p:txBody>
      </p:sp>
      <p:sp>
        <p:nvSpPr>
          <p:cNvPr id="8" name="Create a local work profile, find openings and com">
            <a:extLst xmlns:a="http://schemas.openxmlformats.org/drawingml/2006/main">
              <a:ext uri="{FF2B5EF4-FFF2-40B4-BE49-F238E27FC236}">
                <a16:creationId xmlns:a16="http://schemas.microsoft.com/office/drawing/2014/main" id="{9C840FB0-5521-4DBE-8009-02FE84B66A21}"/>
              </a:ext>
            </a:extLst>
          </p:cNvPr>
          <p:cNvSpPr>
            <a:spLocks xmlns:a="http://schemas.openxmlformats.org/drawingml/2006/main" noGrp="1"/>
          </p:cNvSpPr>
          <p:nvPr/>
        </p:nvSpPr>
        <p:spPr>
          <a:xfrm xmlns:a="http://schemas.openxmlformats.org/drawingml/2006/main">
            <a:off x="64198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Create a local work profile, find openings and communicate with providers. YardMatch does not charge workers for job access.</a:t>
            </a:r>
          </a:p>
        </p:txBody>
      </p:sp>
      <p:sp>
        <p:nvSpPr>
          <p:cNvPr id="9" name="A $99 Teams plan includes the $49 Pro features">
            <a:extLst xmlns:a="http://schemas.openxmlformats.org/drawingml/2006/main">
              <a:ext uri="{FF2B5EF4-FFF2-40B4-BE49-F238E27FC236}">
                <a16:creationId xmlns:a16="http://schemas.microsoft.com/office/drawing/2014/main" id="{12CD3DD5-5B38-46E6-9C85-EE18574014DB}"/>
              </a:ext>
            </a:extLst>
          </p:cNvPr>
          <p:cNvSpPr>
            <a:spLocks xmlns:a="http://schemas.openxmlformats.org/drawingml/2006/main" noGrp="1"/>
          </p:cNvSpPr>
          <p:nvPr/>
        </p:nvSpPr>
        <p:spPr>
          <a:xfrm xmlns:a="http://schemas.openxmlformats.org/drawingml/2006/main">
            <a:off x="628650" y="4695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A $99 Teams plan includes the $49 Pro features</a:t>
            </a:r>
          </a:p>
        </p:txBody>
      </p:sp>
      <p:sp>
        <p:nvSpPr>
          <p:cNvPr id="10" name="Pro includes recruiting alongside scheduling, esti">
            <a:extLst xmlns:a="http://schemas.openxmlformats.org/drawingml/2006/main">
              <a:ext uri="{FF2B5EF4-FFF2-40B4-BE49-F238E27FC236}">
                <a16:creationId xmlns:a16="http://schemas.microsoft.com/office/drawing/2014/main" id="{F0224F4E-A52C-4A02-BF40-694E98B2AA1F}"/>
              </a:ext>
            </a:extLst>
          </p:cNvPr>
          <p:cNvSpPr>
            <a:spLocks xmlns:a="http://schemas.openxmlformats.org/drawingml/2006/main" noGrp="1"/>
          </p:cNvSpPr>
          <p:nvPr/>
        </p:nvSpPr>
        <p:spPr>
          <a:xfrm xmlns:a="http://schemas.openxmlformats.org/drawingml/2006/main">
            <a:off x="628650" y="52387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Pro includes recruiting alongside scheduling, estimates, routes and customer records. Teams adds controls for larger multi-crew businesses.</a:t>
            </a:r>
          </a:p>
        </p:txBody>
      </p:sp>
      <p:sp>
        <p:nvSpPr>
          <p:cNvPr id="11" name="Basic coordination supports completion and retenti">
            <a:extLst xmlns:a="http://schemas.openxmlformats.org/drawingml/2006/main">
              <a:ext uri="{FF2B5EF4-FFF2-40B4-BE49-F238E27FC236}">
                <a16:creationId xmlns:a16="http://schemas.microsoft.com/office/drawing/2014/main" id="{E84B519E-2764-4798-A59B-75B4796E86F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Basic coordination supports completion and retention. Charging workers to access required job tools would add adoption friction without a clear benefit.</a:t>
            </a:r>
          </a:p>
        </p:txBody>
      </p:sp>
    </p:spTree>
    <p:extLst>
      <p:ext uri="{BB962C8B-B14F-4D97-AF65-F5344CB8AC3E}">
        <p14:creationId xmlns:p14="http://schemas.microsoft.com/office/powerpoint/2010/main" val="791607869"/>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ponsored visibility can be a controlled pilot">
            <a:extLst xmlns:a="http://schemas.openxmlformats.org/drawingml/2006/main">
              <a:ext uri="{FF2B5EF4-FFF2-40B4-BE49-F238E27FC236}">
                <a16:creationId xmlns:a16="http://schemas.microsoft.com/office/drawing/2014/main" id="{D3398D8A-46AB-4820-BF55-876553039BE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Sponsored visibility can be a controlled pilot</a:t>
            </a:r>
          </a:p>
        </p:txBody>
      </p:sp>
      <p:sp>
        <p:nvSpPr>
          <p:cNvPr id="2" name="Proposed fee: $15 extra after a new relationship c">
            <a:extLst xmlns:a="http://schemas.openxmlformats.org/drawingml/2006/main">
              <a:ext uri="{FF2B5EF4-FFF2-40B4-BE49-F238E27FC236}">
                <a16:creationId xmlns:a16="http://schemas.microsoft.com/office/drawing/2014/main" id="{6975D0D9-E175-4BAA-A479-8672567E067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fee: $15 extra after a new relationship completes a paid first job of $150 or more.</a:t>
            </a:r>
          </a:p>
        </p:txBody>
      </p:sp>
      <p:sp>
        <p:nvSpPr>
          <p:cNvPr id="3" name="YardMatch">
            <a:extLst xmlns:a="http://schemas.openxmlformats.org/drawingml/2006/main">
              <a:ext uri="{FF2B5EF4-FFF2-40B4-BE49-F238E27FC236}">
                <a16:creationId xmlns:a16="http://schemas.microsoft.com/office/drawing/2014/main" id="{C87E6F0B-3E9A-4AC9-9283-898F3741C44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E9A84A2E-8836-4C98-AE00-4F11C4B61CB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1" name=""/>
          <p:cNvGraphicFramePr/>
          <p:nvPr/>
        </p:nvGraphicFramePr>
        <p:xfrm>
          <a:off xmlns:a="http://schemas.openxmlformats.org/drawingml/2006/main" x="609600" y="2343150"/>
          <a:ext xmlns:a="http://schemas.openxmlformats.org/drawingml/2006/main" cx="10972800" cy="3057525"/>
        </p:xfrm>
        <a:graphic xmlns:a="http://schemas.openxmlformats.org/drawingml/2006/main">
          <a:graphicData uri="http://schemas.openxmlformats.org/drawingml/2006/table">
            <a:tbl>
              <a:tblPr/>
              <a:tblGrid>
                <a:gridCol w="4229100"/>
                <a:gridCol w="6743700"/>
              </a:tblGrid>
              <a:tr h="611505">
                <a:tc>
                  <a:txBody>
                    <a:bodyPr lIns="114300" tIns="76200" rIns="114300" bIns="76200">
                      <a:noAutofit/>
                    </a:bodyPr>
                    <a:lstStyle/>
                    <a:p>
                      <a:pPr algn="l"/>
                      <a:r>
                        <a:rPr sz="1800" b="1">
                          <a:solidFill>
                            <a:srgbClr val="FFFFFF"/>
                          </a:solidFill>
                          <a:latin typeface="Arial"/>
                          <a:ea typeface="Arial"/>
                          <a:cs typeface="Arial"/>
                        </a:rPr>
                        <a:t>Pilot rule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Customer and provider effect</a:t>
                      </a:r>
                    </a:p>
                  </a:txBody>
                  <a:tcPr marL="91440" marR="91440" marT="45720" marB="45720" anchor="ctr">
                    <a:solidFill>
                      <a:srgbClr val="205938"/>
                    </a:solidFill>
                  </a:tcPr>
                </a:tc>
              </a:tr>
              <a:tr h="611505">
                <a:tc>
                  <a:txBody>
                    <a:bodyPr lIns="114300" tIns="76200" rIns="114300" bIns="76200">
                      <a:noAutofit/>
                    </a:bodyPr>
                    <a:lstStyle/>
                    <a:p>
                      <a:pPr algn="l"/>
                      <a:r>
                        <a:rPr sz="1800" b="0">
                          <a:solidFill>
                            <a:srgbClr val="14281D"/>
                          </a:solidFill>
                          <a:latin typeface="Arial"/>
                          <a:ea typeface="Arial"/>
                          <a:cs typeface="Arial"/>
                        </a:rPr>
                        <a:t>One labeled sponsored option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More visibility within a small set of qualified backups</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Service fit, capacity and quality gates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cannot qualify an unsuitable provider</a:t>
                      </a:r>
                    </a:p>
                  </a:txBody>
                  <a:tcPr marL="91440" marR="91440" marT="45720" marB="45720" anchor="ctr">
                    <a:solidFill>
                      <a:srgbClr val="F7F5EF"/>
                    </a:solidFill>
                  </a:tcPr>
                </a:tc>
              </a:tr>
              <a:tr h="611505">
                <a:tc>
                  <a:txBody>
                    <a:bodyPr lIns="114300" tIns="76200" rIns="114300" bIns="76200">
                      <a:noAutofit/>
                    </a:bodyPr>
                    <a:lstStyle/>
                    <a:p>
                      <a:pPr algn="l"/>
                      <a:r>
                        <a:rPr sz="1800" b="0">
                          <a:solidFill>
                            <a:srgbClr val="14281D"/>
                          </a:solidFill>
                          <a:latin typeface="Arial"/>
                          <a:ea typeface="Arial"/>
                          <a:cs typeface="Arial"/>
                        </a:rPr>
                        <a:t>Quality-first main recommendation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Sponsorship does not buy the main recommendation</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$150 monthly provider budget cap</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 only for an attributed, completed new relationship</a:t>
                      </a:r>
                    </a:p>
                  </a:txBody>
                  <a:tcPr marL="91440" marR="91440" marT="45720" marB="45720" anchor="ctr">
                    <a:solidFill>
                      <a:srgbClr val="F7F5EF"/>
                    </a:solidFill>
                  </a:tcPr>
                </a:tc>
              </a:tr>
            </a:tbl>
          </a:graphicData>
        </a:graphic>
      </p:graphicFrame>
      <p:sp>
        <p:nvSpPr>
          <p:cNvPr id="6" name="Fee is additional to the applicable $75 / $110 / $">
            <a:extLst xmlns:a="http://schemas.openxmlformats.org/drawingml/2006/main">
              <a:ext uri="{FF2B5EF4-FFF2-40B4-BE49-F238E27FC236}">
                <a16:creationId xmlns:a16="http://schemas.microsoft.com/office/drawing/2014/main" id="{A05E4370-C4B0-4ED7-A3EA-0380E7777CC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Fee is additional to the applicable $75 / $110 / $150 finder fee. No repeat-pair fee. Existing customers and canceled jobs are excluded. Measure incremental business with a holdout before wider rollout.</a:t>
            </a:r>
          </a:p>
        </p:txBody>
      </p:sp>
    </p:spTree>
    <p:extLst>
      <p:ext uri="{BB962C8B-B14F-4D97-AF65-F5344CB8AC3E}">
        <p14:creationId xmlns:p14="http://schemas.microsoft.com/office/powerpoint/2010/main" val="1383780862"/>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 helps, but the regional footprint remains too ">
            <a:extLst xmlns:a="http://schemas.openxmlformats.org/drawingml/2006/main">
              <a:ext uri="{FF2B5EF4-FFF2-40B4-BE49-F238E27FC236}">
                <a16:creationId xmlns:a16="http://schemas.microsoft.com/office/drawing/2014/main" id="{FF7BD6C8-FA03-461A-BF69-8C419D324D5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 helps, but the regional footprint remains too small</a:t>
            </a:r>
          </a:p>
        </p:txBody>
      </p:sp>
      <p:sp>
        <p:nvSpPr>
          <p:cNvPr id="2" name="Illustrative 2033 results at the same 14-town hous">
            <a:extLst xmlns:a="http://schemas.openxmlformats.org/drawingml/2006/main">
              <a:ext uri="{FF2B5EF4-FFF2-40B4-BE49-F238E27FC236}">
                <a16:creationId xmlns:a16="http://schemas.microsoft.com/office/drawing/2014/main" id="{F8DB8AC9-7153-4582-BEC5-0C826C44820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2033 results at the same 14-town household and provider volumes.</a:t>
            </a:r>
          </a:p>
        </p:txBody>
      </p:sp>
      <p:sp>
        <p:nvSpPr>
          <p:cNvPr id="3" name="YardMatch">
            <a:extLst xmlns:a="http://schemas.openxmlformats.org/drawingml/2006/main">
              <a:ext uri="{FF2B5EF4-FFF2-40B4-BE49-F238E27FC236}">
                <a16:creationId xmlns:a16="http://schemas.microsoft.com/office/drawing/2014/main" id="{040704C4-4C1D-458A-9819-E95A16D14AC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574DA354-0D22-46AC-99DD-15E91266BA6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124200"/>
        </p:xfrm>
        <a:graphic xmlns:a="http://schemas.openxmlformats.org/drawingml/2006/main">
          <a:graphicData uri="http://schemas.openxmlformats.org/drawingml/2006/table">
            <a:tbl>
              <a:tblPr/>
              <a:tblGrid>
                <a:gridCol w="4257675"/>
                <a:gridCol w="2238375"/>
                <a:gridCol w="2238375"/>
                <a:gridCol w="2238375"/>
              </a:tblGrid>
              <a:tr h="624840">
                <a:tc>
                  <a:txBody>
                    <a:bodyPr lIns="114300" tIns="76200" rIns="114300" bIns="76200">
                      <a:noAutofit/>
                    </a:bodyPr>
                    <a:lstStyle/>
                    <a:p>
                      <a:pPr algn="l"/>
                      <a:r>
                        <a:rPr sz="1725" b="1">
                          <a:solidFill>
                            <a:srgbClr val="FFFFFF"/>
                          </a:solidFill>
                          <a:latin typeface="Arial"/>
                          <a:ea typeface="Arial"/>
                          <a:cs typeface="Arial"/>
                        </a:rPr>
                        <a:t>2033 result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Finder fees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Pro and Teams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Sponsorship</a:t>
                      </a:r>
                    </a:p>
                  </a:txBody>
                  <a:tcPr marL="91440" marR="91440" marT="45720" marB="45720" anchor="ctr">
                    <a:solidFill>
                      <a:srgbClr val="205938"/>
                    </a:solidFill>
                  </a:tcPr>
                </a:tc>
              </a:tr>
              <a:tr h="624840">
                <a:tc>
                  <a:txBody>
                    <a:bodyPr lIns="114300" tIns="76200" rIns="114300" bIns="76200">
                      <a:noAutofit/>
                    </a:bodyPr>
                    <a:lstStyle/>
                    <a:p>
                      <a:pPr algn="l"/>
                      <a:r>
                        <a:rPr sz="1725" b="0">
                          <a:solidFill>
                            <a:srgbClr val="14281D"/>
                          </a:solidFill>
                          <a:latin typeface="Arial"/>
                          <a:ea typeface="Arial"/>
                          <a:cs typeface="Arial"/>
                        </a:rPr>
                        <a:t>Subscription / sponsor net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$0.14m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$0.15m</a:t>
                      </a:r>
                    </a:p>
                  </a:txBody>
                  <a:tcPr marL="91440" marR="91440" marT="45720" marB="45720" anchor="ctr">
                    <a:solidFill>
                      <a:srgbClr val="FFFFFF"/>
                    </a:solidFill>
                  </a:tcPr>
                </a:tc>
              </a:tr>
              <a:tr h="624840">
                <a:tc>
                  <a:txBody>
                    <a:bodyPr lIns="114300" tIns="76200" rIns="114300" bIns="76200">
                      <a:noAutofit/>
                    </a:bodyPr>
                    <a:lstStyle/>
                    <a:p>
                      <a:pPr algn="l"/>
                      <a:r>
                        <a:rPr sz="1725" b="0">
                          <a:solidFill>
                            <a:srgbClr val="14281D"/>
                          </a:solidFill>
                          <a:latin typeface="Arial"/>
                          <a:ea typeface="Arial"/>
                          <a:cs typeface="Arial"/>
                        </a:rPr>
                        <a:t>Total net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$0.57m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$0.71m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$0.72m</a:t>
                      </a:r>
                    </a:p>
                  </a:txBody>
                  <a:tcPr marL="91440" marR="91440" marT="45720" marB="45720" anchor="ctr">
                    <a:solidFill>
                      <a:srgbClr val="F7F5EF"/>
                    </a:solidFill>
                  </a:tcPr>
                </a:tc>
              </a:tr>
              <a:tr h="624840">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($0.73)m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($0.70)m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($0.76)m</a:t>
                      </a:r>
                    </a:p>
                  </a:txBody>
                  <a:tcPr marL="91440" marR="91440" marT="45720" marB="45720" anchor="ctr">
                    <a:solidFill>
                      <a:srgbClr val="E8EDDF"/>
                    </a:solidFill>
                  </a:tcPr>
                </a:tc>
              </a:tr>
              <a:tr h="624840">
                <a:tc>
                  <a:txBody>
                    <a:bodyPr lIns="114300" tIns="76200" rIns="114300" bIns="76200">
                      <a:noAutofit/>
                    </a:bodyPr>
                    <a:lstStyle/>
                    <a:p>
                      <a:pPr algn="l"/>
                      <a:r>
                        <a:rPr sz="1725"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($0.75)m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($0.72)m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($0.78)m</a:t>
                      </a:r>
                    </a:p>
                  </a:txBody>
                  <a:tcPr marL="91440" marR="91440" marT="45720" marB="45720" anchor="ctr">
                    <a:solidFill>
                      <a:srgbClr val="E8EDDF"/>
                    </a:solidFill>
                  </a:tcPr>
                </a:tc>
              </a:tr>
            </a:tbl>
          </a:graphicData>
        </a:graphic>
      </p:graphicFrame>
      <p:sp>
        <p:nvSpPr>
          <p:cNvPr id="6" name="Pro and Teams add $27,280 of 2033 EBITDA after the">
            <a:extLst xmlns:a="http://schemas.openxmlformats.org/drawingml/2006/main">
              <a:ext uri="{FF2B5EF4-FFF2-40B4-BE49-F238E27FC236}">
                <a16:creationId xmlns:a16="http://schemas.microsoft.com/office/drawing/2014/main" id="{4545BCF1-2B75-45D7-A4F9-8ED6AEE5652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add $27,280 of 2033 EBITDA after their direct and fixed costs. The base still loses $699,274. National expansion or a leaner cost structure is required.</a:t>
            </a:r>
          </a:p>
        </p:txBody>
      </p:sp>
    </p:spTree>
    <p:extLst>
      <p:ext uri="{BB962C8B-B14F-4D97-AF65-F5344CB8AC3E}">
        <p14:creationId xmlns:p14="http://schemas.microsoft.com/office/powerpoint/2010/main" val="798987429"/>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selected forecast makes the assumptions visibl">
            <a:extLst xmlns:a="http://schemas.openxmlformats.org/drawingml/2006/main">
              <a:ext uri="{FF2B5EF4-FFF2-40B4-BE49-F238E27FC236}">
                <a16:creationId xmlns:a16="http://schemas.microsoft.com/office/drawing/2014/main" id="{D0AD636F-449C-4294-A79C-B62AFCEA678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selected forecast makes the assumptions visible</a:t>
            </a:r>
          </a:p>
        </p:txBody>
      </p:sp>
      <p:sp>
        <p:nvSpPr>
          <p:cNvPr id="2" name="2027-2033 calendar years. Pro and Teams are includ">
            <a:extLst xmlns:a="http://schemas.openxmlformats.org/drawingml/2006/main">
              <a:ext uri="{FF2B5EF4-FFF2-40B4-BE49-F238E27FC236}">
                <a16:creationId xmlns:a16="http://schemas.microsoft.com/office/drawing/2014/main" id="{54FB0433-30B4-4F27-81F3-FEF4756FE40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Pro and Teams are included; sponsorship remains off.</a:t>
            </a:r>
          </a:p>
        </p:txBody>
      </p:sp>
      <p:sp>
        <p:nvSpPr>
          <p:cNvPr id="3" name="YardMatch">
            <a:extLst xmlns:a="http://schemas.openxmlformats.org/drawingml/2006/main">
              <a:ext uri="{FF2B5EF4-FFF2-40B4-BE49-F238E27FC236}">
                <a16:creationId xmlns:a16="http://schemas.microsoft.com/office/drawing/2014/main" id="{25D662C4-D004-4B66-9501-A920D4ED0A3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023502CA-F141-4DA5-B493-406C8DA2C8C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117 / 3,750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240 / 6,324</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320 / 7,838</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$74 / $54</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$40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$44 / $32</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6D5B63FE-0204-43AA-9343-633A3B0ADC0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5 paid staff in the base. Downside prices are 15% higher. All cases use $75 / $110 / $150 finder fees, no recurring marketplace fee and processing at cost.</a:t>
            </a:r>
          </a:p>
        </p:txBody>
      </p:sp>
    </p:spTree>
    <p:extLst>
      <p:ext uri="{BB962C8B-B14F-4D97-AF65-F5344CB8AC3E}">
        <p14:creationId xmlns:p14="http://schemas.microsoft.com/office/powerpoint/2010/main" val="1111798142"/>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0.7m in 2033">
            <a:extLst xmlns:a="http://schemas.openxmlformats.org/drawingml/2006/main">
              <a:ext uri="{FF2B5EF4-FFF2-40B4-BE49-F238E27FC236}">
                <a16:creationId xmlns:a16="http://schemas.microsoft.com/office/drawing/2014/main" id="{4B5EE476-2136-4F3B-85B3-D3902797432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$0.7m in 2033</a:t>
            </a:r>
          </a:p>
        </p:txBody>
      </p:sp>
      <p:sp>
        <p:nvSpPr>
          <p:cNvPr id="2" name="Net YardMatch revenue, US$ millions. Acquisition a">
            <a:extLst xmlns:a="http://schemas.openxmlformats.org/drawingml/2006/main">
              <a:ext uri="{FF2B5EF4-FFF2-40B4-BE49-F238E27FC236}">
                <a16:creationId xmlns:a16="http://schemas.microsoft.com/office/drawing/2014/main" id="{6C39F2B9-1DF2-4954-ACBF-F8CB9E17117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YardMatch revenue, US$ millions. Acquisition and subscription revenue are distinct.</a:t>
            </a:r>
          </a:p>
        </p:txBody>
      </p:sp>
      <p:sp>
        <p:nvSpPr>
          <p:cNvPr id="3" name="YardMatch">
            <a:extLst xmlns:a="http://schemas.openxmlformats.org/drawingml/2006/main">
              <a:ext uri="{FF2B5EF4-FFF2-40B4-BE49-F238E27FC236}">
                <a16:creationId xmlns:a16="http://schemas.microsoft.com/office/drawing/2014/main" id="{E871514C-7CD8-4FC3-94CE-40EEB6F3FC9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16E43D9E-BF13-432D-AF41-B94FBB18CC9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a0cf0640667c4c5d"/>
          </a:graphicData>
        </a:graphic>
      </p:graphicFrame>
      <p:sp>
        <p:nvSpPr>
          <p:cNvPr id="6" name="Base 2033: 16,570 year-end paying households, 417 ">
            <a:extLst xmlns:a="http://schemas.openxmlformats.org/drawingml/2006/main">
              <a:ext uri="{FF2B5EF4-FFF2-40B4-BE49-F238E27FC236}">
                <a16:creationId xmlns:a16="http://schemas.microsoft.com/office/drawing/2014/main" id="{BFA76EEA-9C75-4AAE-A118-2E84E2CAB94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16,570 year-end paying households, 417 providers and $33.5m service GMV. YardMatch revenue excludes provider GMV and payment processing passed through at cost.</a:t>
            </a:r>
          </a:p>
        </p:txBody>
      </p:sp>
    </p:spTree>
    <p:extLst>
      <p:ext uri="{BB962C8B-B14F-4D97-AF65-F5344CB8AC3E}">
        <p14:creationId xmlns:p14="http://schemas.microsoft.com/office/powerpoint/2010/main" val="320276477"/>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approaches EBITDA break-even in 2033">
            <a:extLst xmlns:a="http://schemas.openxmlformats.org/drawingml/2006/main">
              <a:ext uri="{FF2B5EF4-FFF2-40B4-BE49-F238E27FC236}">
                <a16:creationId xmlns:a16="http://schemas.microsoft.com/office/drawing/2014/main" id="{7415DF09-6B91-413E-A3F0-5351991A118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approaches EBITDA break-even in 2033</a:t>
            </a:r>
          </a:p>
        </p:txBody>
      </p:sp>
      <p:sp>
        <p:nvSpPr>
          <p:cNvPr id="2" name="US$ millions. Acquisition fees and provider subscr">
            <a:extLst xmlns:a="http://schemas.openxmlformats.org/drawingml/2006/main">
              <a:ext uri="{FF2B5EF4-FFF2-40B4-BE49-F238E27FC236}">
                <a16:creationId xmlns:a16="http://schemas.microsoft.com/office/drawing/2014/main" id="{34BC1A37-6B07-4EFE-9583-CC1DBA2C730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Acquisition fees and provider subscriptions; Stripe retained for optional in-app payments.</a:t>
            </a:r>
          </a:p>
        </p:txBody>
      </p:sp>
      <p:sp>
        <p:nvSpPr>
          <p:cNvPr id="3" name="YardMatch">
            <a:extLst xmlns:a="http://schemas.openxmlformats.org/drawingml/2006/main">
              <a:ext uri="{FF2B5EF4-FFF2-40B4-BE49-F238E27FC236}">
                <a16:creationId xmlns:a16="http://schemas.microsoft.com/office/drawing/2014/main" id="{422ED29C-59AC-464A-ADFC-29582BC0968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036585F9-18C1-48B8-A6AC-2193465F975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$0.31</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$0.44</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$0.60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$0.71</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($0.70)</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($0.72)</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($0.83)</a:t>
                      </a:r>
                    </a:p>
                  </a:txBody>
                  <a:tcPr marL="91440" marR="91440" marT="45720" marB="45720" anchor="ctr">
                    <a:solidFill>
                      <a:srgbClr val="F7F5EF"/>
                    </a:solidFill>
                  </a:tcPr>
                </a:tc>
              </a:tr>
            </a:tbl>
          </a:graphicData>
        </a:graphic>
      </p:graphicFrame>
      <p:sp>
        <p:nvSpPr>
          <p:cNvPr id="6" name="2033 net income proxy: ($0.72)m. Free cash flow: (">
            <a:extLst xmlns:a="http://schemas.openxmlformats.org/drawingml/2006/main">
              <a:ext uri="{FF2B5EF4-FFF2-40B4-BE49-F238E27FC236}">
                <a16:creationId xmlns:a16="http://schemas.microsoft.com/office/drawing/2014/main" id="{3FDA6922-CEFA-4EEF-A22F-8E106C4B72C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($0.72)m. Free cash flow: ($0.83)m. The 14-town base remains below EBITDA break-even through 2033. Free cash flow also funds equipment and restricted risk cash.</a:t>
            </a:r>
          </a:p>
        </p:txBody>
      </p:sp>
    </p:spTree>
    <p:extLst>
      <p:ext uri="{BB962C8B-B14F-4D97-AF65-F5344CB8AC3E}">
        <p14:creationId xmlns:p14="http://schemas.microsoft.com/office/powerpoint/2010/main" val="1089833762"/>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density and provider monetizatio">
            <a:extLst xmlns:a="http://schemas.openxmlformats.org/drawingml/2006/main">
              <a:ext uri="{FF2B5EF4-FFF2-40B4-BE49-F238E27FC236}">
                <a16:creationId xmlns:a16="http://schemas.microsoft.com/office/drawing/2014/main" id="{7FEF10B2-E2F2-4F2F-B8C8-64010FCDED7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density and provider monetization</a:t>
            </a:r>
          </a:p>
        </p:txBody>
      </p:sp>
      <p:sp>
        <p:nvSpPr>
          <p:cNvPr id="2" name="All three cases use the same finder fees and subsc">
            <a:extLst xmlns:a="http://schemas.openxmlformats.org/drawingml/2006/main">
              <a:ext uri="{FF2B5EF4-FFF2-40B4-BE49-F238E27FC236}">
                <a16:creationId xmlns:a16="http://schemas.microsoft.com/office/drawing/2014/main" id="{EBE7D0AF-14C7-4533-9F2A-5898233FBB3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finder fees and subscription assumptions. Retention, acquisition and local density change the outcome.</a:t>
            </a:r>
          </a:p>
        </p:txBody>
      </p:sp>
      <p:sp>
        <p:nvSpPr>
          <p:cNvPr id="3" name="YardMatch">
            <a:extLst xmlns:a="http://schemas.openxmlformats.org/drawingml/2006/main">
              <a:ext uri="{FF2B5EF4-FFF2-40B4-BE49-F238E27FC236}">
                <a16:creationId xmlns:a16="http://schemas.microsoft.com/office/drawing/2014/main" id="{6775A929-6BA0-4D87-90E5-314BFB58621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9A9B5188-D823-4AD7-B612-C6FE246E5F1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$0.26m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$0.44m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$0.55m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($0.73)m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($0.68)m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($0.66)m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$0.41m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$0.71m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$0.89m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($0.78)m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($0.72)m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($0.75)m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First positive EBITDA: downside None by 2033, base">
            <a:extLst xmlns:a="http://schemas.openxmlformats.org/drawingml/2006/main">
              <a:ext uri="{FF2B5EF4-FFF2-40B4-BE49-F238E27FC236}">
                <a16:creationId xmlns:a16="http://schemas.microsoft.com/office/drawing/2014/main" id="{68F80123-8F44-4424-B242-51B2865A900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First positive EBITDA: downside None by 2033, base None by 2033, upside None by 2033. All cases cap staffing at five. The model assumes finder-fee acceptance and subscription adoption; validate both.</a:t>
            </a:r>
          </a:p>
        </p:txBody>
      </p:sp>
    </p:spTree>
    <p:extLst>
      <p:ext uri="{BB962C8B-B14F-4D97-AF65-F5344CB8AC3E}">
        <p14:creationId xmlns:p14="http://schemas.microsoft.com/office/powerpoint/2010/main" val="1645279843"/>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vider-friendly pricing gives up meaningful reve">
            <a:extLst xmlns:a="http://schemas.openxmlformats.org/drawingml/2006/main">
              <a:ext uri="{FF2B5EF4-FFF2-40B4-BE49-F238E27FC236}">
                <a16:creationId xmlns:a16="http://schemas.microsoft.com/office/drawing/2014/main" id="{6CA6105F-AADF-4F94-A1E7-D48439B3841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Provider-friendly pricing gives up meaningful revenue</a:t>
            </a:r>
          </a:p>
        </p:txBody>
      </p:sp>
      <p:sp>
        <p:nvSpPr>
          <p:cNvPr id="2" name="2033 base comparison. Same customers, jobs, five-p">
            <a:extLst xmlns:a="http://schemas.openxmlformats.org/drawingml/2006/main">
              <a:ext uri="{FF2B5EF4-FFF2-40B4-BE49-F238E27FC236}">
                <a16:creationId xmlns:a16="http://schemas.microsoft.com/office/drawing/2014/main" id="{4CF3B445-24C5-4BD3-92E5-CCC0748C978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2033 base comparison. Same customers, jobs, five-person team and remote cost structure.</a:t>
            </a:r>
          </a:p>
        </p:txBody>
      </p:sp>
      <p:sp>
        <p:nvSpPr>
          <p:cNvPr id="3" name="YardMatch">
            <a:extLst xmlns:a="http://schemas.openxmlformats.org/drawingml/2006/main">
              <a:ext uri="{FF2B5EF4-FFF2-40B4-BE49-F238E27FC236}">
                <a16:creationId xmlns:a16="http://schemas.microsoft.com/office/drawing/2014/main" id="{5E965428-C492-494D-94B6-C9C2AC0A313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D7614317-16FC-4049-AB72-9CA76DF5A11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graphicFrame>
        <p:nvGraphicFramePr>
          <p:cNvPr id="11" name=""/>
          <p:cNvGraphicFramePr/>
          <p:nvPr/>
        </p:nvGraphicFramePr>
        <p:xfrm>
          <a:off xmlns:a="http://schemas.openxmlformats.org/drawingml/2006/main" x="609600" y="2343150"/>
          <a:ext xmlns:a="http://schemas.openxmlformats.org/drawingml/2006/main" cx="10972800" cy="3133725"/>
        </p:xfrm>
        <a:graphic xmlns:a="http://schemas.openxmlformats.org/drawingml/2006/main">
          <a:graphicData uri="http://schemas.openxmlformats.org/drawingml/2006/table">
            <a:tbl>
              <a:tblPr/>
              <a:tblGrid>
                <a:gridCol w="3657600"/>
                <a:gridCol w="2438400"/>
                <a:gridCol w="2438400"/>
                <a:gridCol w="2438400"/>
              </a:tblGrid>
              <a:tr h="522288">
                <a:tc>
                  <a:txBody>
                    <a:bodyPr lIns="114300" tIns="76200" rIns="114300" bIns="76200">
                      <a:noAutofit/>
                    </a:bodyPr>
                    <a:lstStyle/>
                    <a:p>
                      <a:pPr algn="l"/>
                      <a:r>
                        <a:rPr sz="1575" b="1">
                          <a:solidFill>
                            <a:srgbClr val="FFFFFF"/>
                          </a:solidFill>
                          <a:latin typeface="Arial"/>
                          <a:ea typeface="Arial"/>
                          <a:cs typeface="Arial"/>
                        </a:rPr>
                        <a:t>2033 base comparison</a:t>
                      </a:r>
                    </a:p>
                  </a:txBody>
                  <a:tcPr marL="91440" marR="91440" marT="45720" marB="45720" anchor="ctr">
                    <a:solidFill>
                      <a:srgbClr val="205938"/>
                    </a:solidFill>
                  </a:tcPr>
                </a:tc>
                <a:tc>
                  <a:txBody>
                    <a:bodyPr lIns="114300" tIns="76200" rIns="114300" bIns="76200">
                      <a:noAutofit/>
                    </a:bodyPr>
                    <a:lstStyle/>
                    <a:p>
                      <a:pPr algn="r"/>
                      <a:r>
                        <a:rPr sz="1575" b="1">
                          <a:solidFill>
                            <a:srgbClr val="FFFFFF"/>
                          </a:solidFill>
                          <a:latin typeface="Arial"/>
                          <a:ea typeface="Arial"/>
                          <a:cs typeface="Arial"/>
                        </a:rPr>
                        <a:t>4% / 2% recurring</a:t>
                      </a:r>
                    </a:p>
                  </a:txBody>
                  <a:tcPr marL="91440" marR="91440" marT="45720" marB="45720" anchor="ctr">
                    <a:solidFill>
                      <a:srgbClr val="205938"/>
                    </a:solidFill>
                  </a:tcPr>
                </a:tc>
                <a:tc>
                  <a:txBody>
                    <a:bodyPr lIns="114300" tIns="76200" rIns="114300" bIns="76200">
                      <a:noAutofit/>
                    </a:bodyPr>
                    <a:lstStyle/>
                    <a:p>
                      <a:pPr algn="l"/>
                      <a:r>
                        <a:rPr sz="1575" b="1">
                          <a:solidFill>
                            <a:srgbClr val="FFFFFF"/>
                          </a:solidFill>
                          <a:latin typeface="Arial"/>
                          <a:ea typeface="Arial"/>
                          <a:cs typeface="Arial"/>
                        </a:rPr>
                        <a:t>Old finder tiers + Pro</a:t>
                      </a:r>
                    </a:p>
                  </a:txBody>
                  <a:tcPr marL="91440" marR="91440" marT="45720" marB="45720" anchor="ctr">
                    <a:solidFill>
                      <a:srgbClr val="205938"/>
                    </a:solidFill>
                  </a:tcPr>
                </a:tc>
                <a:tc>
                  <a:txBody>
                    <a:bodyPr lIns="114300" tIns="76200" rIns="114300" bIns="76200">
                      <a:noAutofit/>
                    </a:bodyPr>
                    <a:lstStyle/>
                    <a:p>
                      <a:pPr algn="l"/>
                      <a:r>
                        <a:rPr sz="1575" b="1">
                          <a:solidFill>
                            <a:srgbClr val="FFFFFF"/>
                          </a:solidFill>
                          <a:latin typeface="Arial"/>
                          <a:ea typeface="Arial"/>
                          <a:cs typeface="Arial"/>
                        </a:rPr>
                        <a:t>Selected acquisition + Pro</a:t>
                      </a:r>
                    </a:p>
                  </a:txBody>
                  <a:tcPr marL="91440" marR="91440" marT="45720" marB="45720" anchor="ctr">
                    <a:solidFill>
                      <a:srgbClr val="205938"/>
                    </a:solidFill>
                  </a:tcPr>
                </a:tc>
              </a:tr>
              <a:tr h="522288">
                <a:tc>
                  <a:txBody>
                    <a:bodyPr lIns="114300" tIns="76200" rIns="114300" bIns="76200">
                      <a:noAutofit/>
                    </a:bodyPr>
                    <a:lstStyle/>
                    <a:p>
                      <a:pPr algn="l"/>
                      <a:r>
                        <a:rPr sz="1575" b="0">
                          <a:solidFill>
                            <a:srgbClr val="14281D"/>
                          </a:solidFill>
                          <a:latin typeface="Arial"/>
                          <a:ea typeface="Arial"/>
                          <a:cs typeface="Arial"/>
                        </a:rPr>
                        <a:t>Finder fees</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$572,569</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$341,678</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$572,569</a:t>
                      </a:r>
                    </a:p>
                  </a:txBody>
                  <a:tcPr marL="91440" marR="91440" marT="45720" marB="45720" anchor="ctr">
                    <a:solidFill>
                      <a:srgbClr val="FFFFFF"/>
                    </a:solidFill>
                  </a:tcPr>
                </a:tc>
              </a:tr>
              <a:tr h="522288">
                <a:tc>
                  <a:txBody>
                    <a:bodyPr lIns="114300" tIns="76200" rIns="114300" bIns="76200">
                      <a:noAutofit/>
                    </a:bodyPr>
                    <a:lstStyle/>
                    <a:p>
                      <a:pPr algn="l"/>
                      <a:r>
                        <a:rPr sz="1575" b="0">
                          <a:solidFill>
                            <a:srgbClr val="14281D"/>
                          </a:solidFill>
                          <a:latin typeface="Arial"/>
                          <a:ea typeface="Arial"/>
                          <a:cs typeface="Arial"/>
                        </a:rPr>
                        <a:t>Recurring marketplace fees</a:t>
                      </a:r>
                    </a:p>
                  </a:txBody>
                  <a:tcPr marL="91440" marR="91440" marT="45720" marB="45720" anchor="ctr">
                    <a:solidFill>
                      <a:srgbClr val="F7F5EF"/>
                    </a:solidFill>
                  </a:tcPr>
                </a:tc>
                <a:tc>
                  <a:txBody>
                    <a:bodyPr lIns="114300" tIns="76200" rIns="114300" bIns="76200">
                      <a:noAutofit/>
                    </a:bodyPr>
                    <a:lstStyle/>
                    <a:p>
                      <a:pPr algn="r"/>
                      <a:r>
                        <a:rPr sz="1575" b="0">
                          <a:solidFill>
                            <a:srgbClr val="14281D"/>
                          </a:solidFill>
                          <a:latin typeface="Arial"/>
                          <a:ea typeface="Arial"/>
                          <a:cs typeface="Arial"/>
                        </a:rPr>
                        <a:t>$938,446</a:t>
                      </a:r>
                    </a:p>
                  </a:txBody>
                  <a:tcPr marL="91440" marR="91440" marT="45720" marB="45720" anchor="ctr">
                    <a:solidFill>
                      <a:srgbClr val="F7F5EF"/>
                    </a:solidFill>
                  </a:tcPr>
                </a:tc>
                <a:tc>
                  <a:txBody>
                    <a:bodyPr lIns="114300" tIns="76200" rIns="114300" bIns="76200">
                      <a:noAutofit/>
                    </a:bodyPr>
                    <a:lstStyle/>
                    <a:p>
                      <a:pPr algn="r"/>
                      <a:r>
                        <a:rPr sz="1575" b="0">
                          <a:solidFill>
                            <a:srgbClr val="14281D"/>
                          </a:solidFill>
                          <a:latin typeface="Arial"/>
                          <a:ea typeface="Arial"/>
                          <a:cs typeface="Arial"/>
                        </a:rPr>
                        <a:t>$0</a:t>
                      </a:r>
                    </a:p>
                  </a:txBody>
                  <a:tcPr marL="91440" marR="91440" marT="45720" marB="45720" anchor="ctr">
                    <a:solidFill>
                      <a:srgbClr val="F7F5EF"/>
                    </a:solidFill>
                  </a:tcPr>
                </a:tc>
                <a:tc>
                  <a:txBody>
                    <a:bodyPr lIns="114300" tIns="76200" rIns="114300" bIns="76200">
                      <a:noAutofit/>
                    </a:bodyPr>
                    <a:lstStyle/>
                    <a:p>
                      <a:pPr algn="r"/>
                      <a:r>
                        <a:rPr sz="1575" b="0">
                          <a:solidFill>
                            <a:srgbClr val="14281D"/>
                          </a:solidFill>
                          <a:latin typeface="Arial"/>
                          <a:ea typeface="Arial"/>
                          <a:cs typeface="Arial"/>
                        </a:rPr>
                        <a:t>$0</a:t>
                      </a:r>
                    </a:p>
                  </a:txBody>
                  <a:tcPr marL="91440" marR="91440" marT="45720" marB="45720" anchor="ctr">
                    <a:solidFill>
                      <a:srgbClr val="F7F5EF"/>
                    </a:solidFill>
                  </a:tcPr>
                </a:tc>
              </a:tr>
              <a:tr h="522288">
                <a:tc>
                  <a:txBody>
                    <a:bodyPr lIns="114300" tIns="76200" rIns="114300" bIns="76200">
                      <a:noAutofit/>
                    </a:bodyPr>
                    <a:lstStyle/>
                    <a:p>
                      <a:pPr algn="l"/>
                      <a:r>
                        <a:rPr sz="1575" b="0">
                          <a:solidFill>
                            <a:srgbClr val="14281D"/>
                          </a:solidFill>
                          <a:latin typeface="Arial"/>
                          <a:ea typeface="Arial"/>
                          <a:cs typeface="Arial"/>
                        </a:rPr>
                        <a:t>Provider products</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$139,912</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$139,912</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$139,912</a:t>
                      </a:r>
                    </a:p>
                  </a:txBody>
                  <a:tcPr marL="91440" marR="91440" marT="45720" marB="45720" anchor="ctr">
                    <a:solidFill>
                      <a:srgbClr val="FFFFFF"/>
                    </a:solidFill>
                  </a:tcPr>
                </a:tc>
              </a:tr>
              <a:tr h="522288">
                <a:tc>
                  <a:txBody>
                    <a:bodyPr lIns="114300" tIns="76200" rIns="114300" bIns="76200">
                      <a:noAutofit/>
                    </a:bodyPr>
                    <a:lstStyle/>
                    <a:p>
                      <a:pPr algn="l"/>
                      <a:r>
                        <a:rPr sz="1575" b="0">
                          <a:solidFill>
                            <a:srgbClr val="14281D"/>
                          </a:solidFill>
                          <a:latin typeface="Arial"/>
                          <a:ea typeface="Arial"/>
                          <a:cs typeface="Arial"/>
                        </a:rPr>
                        <a:t>Total revenue</a:t>
                      </a:r>
                    </a:p>
                  </a:txBody>
                  <a:tcPr marL="91440" marR="91440" marT="45720" marB="45720" anchor="ctr">
                    <a:solidFill>
                      <a:srgbClr val="F7F5EF"/>
                    </a:solidFill>
                  </a:tcPr>
                </a:tc>
                <a:tc>
                  <a:txBody>
                    <a:bodyPr lIns="114300" tIns="76200" rIns="114300" bIns="76200">
                      <a:noAutofit/>
                    </a:bodyPr>
                    <a:lstStyle/>
                    <a:p>
                      <a:pPr algn="r"/>
                      <a:r>
                        <a:rPr sz="1575" b="0">
                          <a:solidFill>
                            <a:srgbClr val="14281D"/>
                          </a:solidFill>
                          <a:latin typeface="Arial"/>
                          <a:ea typeface="Arial"/>
                          <a:cs typeface="Arial"/>
                        </a:rPr>
                        <a:t>$1.65m</a:t>
                      </a:r>
                    </a:p>
                  </a:txBody>
                  <a:tcPr marL="91440" marR="91440" marT="45720" marB="45720" anchor="ctr">
                    <a:solidFill>
                      <a:srgbClr val="F7F5EF"/>
                    </a:solidFill>
                  </a:tcPr>
                </a:tc>
                <a:tc>
                  <a:txBody>
                    <a:bodyPr lIns="114300" tIns="76200" rIns="114300" bIns="76200">
                      <a:noAutofit/>
                    </a:bodyPr>
                    <a:lstStyle/>
                    <a:p>
                      <a:pPr algn="r"/>
                      <a:r>
                        <a:rPr sz="1575" b="0">
                          <a:solidFill>
                            <a:srgbClr val="14281D"/>
                          </a:solidFill>
                          <a:latin typeface="Arial"/>
                          <a:ea typeface="Arial"/>
                          <a:cs typeface="Arial"/>
                        </a:rPr>
                        <a:t>$0.48m</a:t>
                      </a:r>
                    </a:p>
                  </a:txBody>
                  <a:tcPr marL="91440" marR="91440" marT="45720" marB="45720" anchor="ctr">
                    <a:solidFill>
                      <a:srgbClr val="F7F5EF"/>
                    </a:solidFill>
                  </a:tcPr>
                </a:tc>
                <a:tc>
                  <a:txBody>
                    <a:bodyPr lIns="114300" tIns="76200" rIns="114300" bIns="76200">
                      <a:noAutofit/>
                    </a:bodyPr>
                    <a:lstStyle/>
                    <a:p>
                      <a:pPr algn="r"/>
                      <a:r>
                        <a:rPr sz="1575" b="0">
                          <a:solidFill>
                            <a:srgbClr val="14281D"/>
                          </a:solidFill>
                          <a:latin typeface="Arial"/>
                          <a:ea typeface="Arial"/>
                          <a:cs typeface="Arial"/>
                        </a:rPr>
                        <a:t>$0.71m</a:t>
                      </a:r>
                    </a:p>
                  </a:txBody>
                  <a:tcPr marL="91440" marR="91440" marT="45720" marB="45720" anchor="ctr">
                    <a:solidFill>
                      <a:srgbClr val="F7F5EF"/>
                    </a:solidFill>
                  </a:tcPr>
                </a:tc>
              </a:tr>
              <a:tr h="522288">
                <a:tc>
                  <a:txBody>
                    <a:bodyPr lIns="114300" tIns="76200" rIns="114300" bIns="76200">
                      <a:noAutofit/>
                    </a:bodyPr>
                    <a:lstStyle/>
                    <a:p>
                      <a:pPr algn="l"/>
                      <a:r>
                        <a:rPr sz="157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75" b="1">
                          <a:solidFill>
                            <a:srgbClr val="14281D"/>
                          </a:solidFill>
                          <a:latin typeface="Arial"/>
                          <a:ea typeface="Arial"/>
                          <a:cs typeface="Arial"/>
                        </a:rPr>
                        <a:t>$241,518</a:t>
                      </a:r>
                    </a:p>
                  </a:txBody>
                  <a:tcPr marL="91440" marR="91440" marT="45720" marB="45720" anchor="ctr">
                    <a:solidFill>
                      <a:srgbClr val="E8EDDF"/>
                    </a:solidFill>
                  </a:tcPr>
                </a:tc>
                <a:tc>
                  <a:txBody>
                    <a:bodyPr lIns="114300" tIns="76200" rIns="114300" bIns="76200">
                      <a:noAutofit/>
                    </a:bodyPr>
                    <a:lstStyle/>
                    <a:p>
                      <a:pPr algn="r"/>
                      <a:r>
                        <a:rPr sz="1575" b="1">
                          <a:solidFill>
                            <a:srgbClr val="14281D"/>
                          </a:solidFill>
                          <a:latin typeface="Arial"/>
                          <a:ea typeface="Arial"/>
                          <a:cs typeface="Arial"/>
                        </a:rPr>
                        <a:t>($930,741)</a:t>
                      </a:r>
                    </a:p>
                  </a:txBody>
                  <a:tcPr marL="91440" marR="91440" marT="45720" marB="45720" anchor="ctr">
                    <a:solidFill>
                      <a:srgbClr val="E8EDDF"/>
                    </a:solidFill>
                  </a:tcPr>
                </a:tc>
                <a:tc>
                  <a:txBody>
                    <a:bodyPr lIns="114300" tIns="76200" rIns="114300" bIns="76200">
                      <a:noAutofit/>
                    </a:bodyPr>
                    <a:lstStyle/>
                    <a:p>
                      <a:pPr algn="r"/>
                      <a:r>
                        <a:rPr sz="1575" b="1">
                          <a:solidFill>
                            <a:srgbClr val="14281D"/>
                          </a:solidFill>
                          <a:latin typeface="Arial"/>
                          <a:ea typeface="Arial"/>
                          <a:cs typeface="Arial"/>
                        </a:rPr>
                        <a:t>($699,274)</a:t>
                      </a:r>
                    </a:p>
                  </a:txBody>
                  <a:tcPr marL="91440" marR="91440" marT="45720" marB="45720" anchor="ctr">
                    <a:solidFill>
                      <a:srgbClr val="E8EDDF"/>
                    </a:solidFill>
                  </a:tcPr>
                </a:tc>
              </a:tr>
            </a:tbl>
          </a:graphicData>
        </a:graphic>
      </p:graphicFrame>
      <p:sp>
        <p:nvSpPr>
          <p:cNvPr id="6" name="Removing the recurring marketplace percentage redu">
            <a:extLst xmlns:a="http://schemas.openxmlformats.org/drawingml/2006/main">
              <a:ext uri="{FF2B5EF4-FFF2-40B4-BE49-F238E27FC236}">
                <a16:creationId xmlns:a16="http://schemas.microsoft.com/office/drawing/2014/main" id="{694CC313-460C-401B-AD3B-217B4AC35A4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Removing the recurring marketplace percentage reduces 2033 revenue by $938,446. Higher finder fees and subscriptions recover part of the gap while protecting repeat-job provider margin.</a:t>
            </a:r>
          </a:p>
        </p:txBody>
      </p:sp>
    </p:spTree>
    <p:extLst>
      <p:ext uri="{BB962C8B-B14F-4D97-AF65-F5344CB8AC3E}">
        <p14:creationId xmlns:p14="http://schemas.microsoft.com/office/powerpoint/2010/main" val="1784913808"/>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2033 loss comes from a small provider base">
            <a:extLst xmlns:a="http://schemas.openxmlformats.org/drawingml/2006/main">
              <a:ext uri="{FF2B5EF4-FFF2-40B4-BE49-F238E27FC236}">
                <a16:creationId xmlns:a16="http://schemas.microsoft.com/office/drawing/2014/main" id="{F0B037DA-29F5-42A8-AD4B-9F2E4AC1DED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2033 loss comes from a small provider base</a:t>
            </a:r>
          </a:p>
        </p:txBody>
      </p:sp>
      <p:sp>
        <p:nvSpPr>
          <p:cNvPr id="2" name="The selected regional case has only enough supply ">
            <a:extLst xmlns:a="http://schemas.openxmlformats.org/drawingml/2006/main">
              <a:ext uri="{FF2B5EF4-FFF2-40B4-BE49-F238E27FC236}">
                <a16:creationId xmlns:a16="http://schemas.microsoft.com/office/drawing/2014/main" id="{25ECFD38-D107-4F0E-A6E5-12EAA39AC80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selected regional case has only enough supply for 417 providers across 14 towns.</a:t>
            </a:r>
          </a:p>
        </p:txBody>
      </p:sp>
      <p:sp>
        <p:nvSpPr>
          <p:cNvPr id="3" name="YardMatch">
            <a:extLst xmlns:a="http://schemas.openxmlformats.org/drawingml/2006/main">
              <a:ext uri="{FF2B5EF4-FFF2-40B4-BE49-F238E27FC236}">
                <a16:creationId xmlns:a16="http://schemas.microsoft.com/office/drawing/2014/main" id="{68BD7C77-DE98-41F7-837C-3446E7CE9A4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8">
            <a:extLst xmlns:a="http://schemas.openxmlformats.org/drawingml/2006/main">
              <a:ext uri="{FF2B5EF4-FFF2-40B4-BE49-F238E27FC236}">
                <a16:creationId xmlns:a16="http://schemas.microsoft.com/office/drawing/2014/main" id="{1221AFAA-8B95-40F7-A687-2643EAF0DCF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28</a:t>
            </a:r>
          </a:p>
        </p:txBody>
      </p:sp>
      <p:graphicFrame>
        <p:nvGraphicFramePr>
          <p:cNvPr id="11" name=""/>
          <p:cNvGraphicFramePr/>
          <p:nvPr/>
        </p:nvGraphicFramePr>
        <p:xfrm>
          <a:off xmlns:a="http://schemas.openxmlformats.org/drawingml/2006/main" x="609600" y="2305050"/>
          <a:ext xmlns:a="http://schemas.openxmlformats.org/drawingml/2006/main" cx="10972800" cy="3476625"/>
        </p:xfrm>
        <a:graphic xmlns:a="http://schemas.openxmlformats.org/drawingml/2006/main">
          <a:graphicData uri="http://schemas.openxmlformats.org/drawingml/2006/table">
            <a:tbl>
              <a:tblPr/>
              <a:tblGrid>
                <a:gridCol w="6572250"/>
                <a:gridCol w="4400550"/>
              </a:tblGrid>
              <a:tr h="386292">
                <a:tc>
                  <a:txBody>
                    <a:bodyPr lIns="114300" tIns="76200" rIns="114300" bIns="76200">
                      <a:noAutofit/>
                    </a:bodyPr>
                    <a:lstStyle/>
                    <a:p>
                      <a:pPr algn="l"/>
                      <a:r>
                        <a:rPr sz="1575" b="1">
                          <a:solidFill>
                            <a:srgbClr val="FFFFFF"/>
                          </a:solidFill>
                          <a:latin typeface="Arial"/>
                          <a:ea typeface="Arial"/>
                          <a:cs typeface="Arial"/>
                        </a:rPr>
                        <a:t>2033 bridge</a:t>
                      </a:r>
                    </a:p>
                  </a:txBody>
                  <a:tcPr marL="91440" marR="91440" marT="45720" marB="45720" anchor="ctr">
                    <a:solidFill>
                      <a:srgbClr val="205938"/>
                    </a:solidFill>
                  </a:tcPr>
                </a:tc>
                <a:tc>
                  <a:txBody>
                    <a:bodyPr lIns="114300" tIns="76200" rIns="114300" bIns="76200">
                      <a:noAutofit/>
                    </a:bodyPr>
                    <a:lstStyle/>
                    <a:p>
                      <a:pPr algn="l"/>
                      <a:r>
                        <a:rPr sz="1575" b="1">
                          <a:solidFill>
                            <a:srgbClr val="FFFFFF"/>
                          </a:solidFill>
                          <a:latin typeface="Arial"/>
                          <a:ea typeface="Arial"/>
                          <a:cs typeface="Arial"/>
                        </a:rPr>
                        <a:t>Amount</a:t>
                      </a:r>
                    </a:p>
                  </a:txBody>
                  <a:tcPr marL="91440" marR="91440" marT="45720" marB="45720" anchor="ctr">
                    <a:solidFill>
                      <a:srgbClr val="205938"/>
                    </a:solidFill>
                  </a:tcPr>
                </a:tc>
              </a:tr>
              <a:tr h="386292">
                <a:tc>
                  <a:txBody>
                    <a:bodyPr lIns="114300" tIns="76200" rIns="114300" bIns="76200">
                      <a:noAutofit/>
                    </a:bodyPr>
                    <a:lstStyle/>
                    <a:p>
                      <a:pPr algn="l"/>
                      <a:r>
                        <a:rPr sz="1575" b="0">
                          <a:solidFill>
                            <a:srgbClr val="14281D"/>
                          </a:solidFill>
                          <a:latin typeface="Arial"/>
                          <a:ea typeface="Arial"/>
                          <a:cs typeface="Arial"/>
                        </a:rPr>
                        <a:t>Finder-fee revenue</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$572,569</a:t>
                      </a:r>
                    </a:p>
                  </a:txBody>
                  <a:tcPr marL="91440" marR="91440" marT="45720" marB="45720" anchor="ctr">
                    <a:solidFill>
                      <a:srgbClr val="FFFFFF"/>
                    </a:solidFill>
                  </a:tcPr>
                </a:tc>
              </a:tr>
              <a:tr h="386292">
                <a:tc>
                  <a:txBody>
                    <a:bodyPr lIns="114300" tIns="76200" rIns="114300" bIns="76200">
                      <a:noAutofit/>
                    </a:bodyPr>
                    <a:lstStyle/>
                    <a:p>
                      <a:pPr algn="l"/>
                      <a:r>
                        <a:rPr sz="1575" b="0">
                          <a:solidFill>
                            <a:srgbClr val="14281D"/>
                          </a:solidFill>
                          <a:latin typeface="Arial"/>
                          <a:ea typeface="Arial"/>
                          <a:cs typeface="Arial"/>
                        </a:rPr>
                        <a:t>Pro and Teams net revenue</a:t>
                      </a:r>
                    </a:p>
                  </a:txBody>
                  <a:tcPr marL="91440" marR="91440" marT="45720" marB="45720" anchor="ctr">
                    <a:solidFill>
                      <a:srgbClr val="F7F5EF"/>
                    </a:solidFill>
                  </a:tcPr>
                </a:tc>
                <a:tc>
                  <a:txBody>
                    <a:bodyPr lIns="114300" tIns="76200" rIns="114300" bIns="76200">
                      <a:noAutofit/>
                    </a:bodyPr>
                    <a:lstStyle/>
                    <a:p>
                      <a:pPr algn="r"/>
                      <a:r>
                        <a:rPr sz="1575" b="0">
                          <a:solidFill>
                            <a:srgbClr val="14281D"/>
                          </a:solidFill>
                          <a:latin typeface="Arial"/>
                          <a:ea typeface="Arial"/>
                          <a:cs typeface="Arial"/>
                        </a:rPr>
                        <a:t>$139,912</a:t>
                      </a:r>
                    </a:p>
                  </a:txBody>
                  <a:tcPr marL="91440" marR="91440" marT="45720" marB="45720" anchor="ctr">
                    <a:solidFill>
                      <a:srgbClr val="F7F5EF"/>
                    </a:solidFill>
                  </a:tcPr>
                </a:tc>
              </a:tr>
              <a:tr h="386292">
                <a:tc>
                  <a:txBody>
                    <a:bodyPr lIns="114300" tIns="76200" rIns="114300" bIns="76200">
                      <a:noAutofit/>
                    </a:bodyPr>
                    <a:lstStyle/>
                    <a:p>
                      <a:pPr algn="l"/>
                      <a:r>
                        <a:rPr sz="1575" b="0">
                          <a:solidFill>
                            <a:srgbClr val="14281D"/>
                          </a:solidFill>
                          <a:latin typeface="Arial"/>
                          <a:ea typeface="Arial"/>
                          <a:cs typeface="Arial"/>
                        </a:rPr>
                        <a:t>Gross profit after cost of revenue</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$416,333</a:t>
                      </a:r>
                    </a:p>
                  </a:txBody>
                  <a:tcPr marL="91440" marR="91440" marT="45720" marB="45720" anchor="ctr">
                    <a:solidFill>
                      <a:srgbClr val="FFFFFF"/>
                    </a:solidFill>
                  </a:tcPr>
                </a:tc>
              </a:tr>
              <a:tr h="386292">
                <a:tc>
                  <a:txBody>
                    <a:bodyPr lIns="114300" tIns="76200" rIns="114300" bIns="76200">
                      <a:noAutofit/>
                    </a:bodyPr>
                    <a:lstStyle/>
                    <a:p>
                      <a:pPr algn="l"/>
                      <a:r>
                        <a:rPr sz="1575" b="0">
                          <a:solidFill>
                            <a:srgbClr val="14281D"/>
                          </a:solidFill>
                          <a:latin typeface="Arial"/>
                          <a:ea typeface="Arial"/>
                          <a:cs typeface="Arial"/>
                        </a:rPr>
                        <a:t>Customer + provider acquisition</a:t>
                      </a:r>
                    </a:p>
                  </a:txBody>
                  <a:tcPr marL="91440" marR="91440" marT="45720" marB="45720" anchor="ctr">
                    <a:solidFill>
                      <a:srgbClr val="F7F5EF"/>
                    </a:solidFill>
                  </a:tcPr>
                </a:tc>
                <a:tc>
                  <a:txBody>
                    <a:bodyPr lIns="114300" tIns="76200" rIns="114300" bIns="76200">
                      <a:noAutofit/>
                    </a:bodyPr>
                    <a:lstStyle/>
                    <a:p>
                      <a:pPr algn="r"/>
                      <a:r>
                        <a:rPr sz="1575" b="0">
                          <a:solidFill>
                            <a:srgbClr val="14281D"/>
                          </a:solidFill>
                          <a:latin typeface="Arial"/>
                          <a:ea typeface="Arial"/>
                          <a:cs typeface="Arial"/>
                        </a:rPr>
                        <a:t>$263,711</a:t>
                      </a:r>
                    </a:p>
                  </a:txBody>
                  <a:tcPr marL="91440" marR="91440" marT="45720" marB="45720" anchor="ctr">
                    <a:solidFill>
                      <a:srgbClr val="F7F5EF"/>
                    </a:solidFill>
                  </a:tcPr>
                </a:tc>
              </a:tr>
              <a:tr h="386292">
                <a:tc>
                  <a:txBody>
                    <a:bodyPr lIns="114300" tIns="76200" rIns="114300" bIns="76200">
                      <a:noAutofit/>
                    </a:bodyPr>
                    <a:lstStyle/>
                    <a:p>
                      <a:pPr algn="l"/>
                      <a:r>
                        <a:rPr sz="1575"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$550,000</a:t>
                      </a:r>
                    </a:p>
                  </a:txBody>
                  <a:tcPr marL="91440" marR="91440" marT="45720" marB="45720" anchor="ctr">
                    <a:solidFill>
                      <a:srgbClr val="FFFFFF"/>
                    </a:solidFill>
                  </a:tcPr>
                </a:tc>
              </a:tr>
              <a:tr h="386292">
                <a:tc>
                  <a:txBody>
                    <a:bodyPr lIns="114300" tIns="76200" rIns="114300" bIns="76200">
                      <a:noAutofit/>
                    </a:bodyPr>
                    <a:lstStyle/>
                    <a:p>
                      <a:pPr algn="l"/>
                      <a:r>
                        <a:rPr sz="1575" b="0">
                          <a:solidFill>
                            <a:srgbClr val="14281D"/>
                          </a:solidFill>
                          <a:latin typeface="Arial"/>
                          <a:ea typeface="Arial"/>
                          <a:cs typeface="Arial"/>
                        </a:rPr>
                        <a:t>Corporate + local operating costs</a:t>
                      </a:r>
                    </a:p>
                  </a:txBody>
                  <a:tcPr marL="91440" marR="91440" marT="45720" marB="45720" anchor="ctr">
                    <a:solidFill>
                      <a:srgbClr val="F7F5EF"/>
                    </a:solidFill>
                  </a:tcPr>
                </a:tc>
                <a:tc>
                  <a:txBody>
                    <a:bodyPr lIns="114300" tIns="76200" rIns="114300" bIns="76200">
                      <a:noAutofit/>
                    </a:bodyPr>
                    <a:lstStyle/>
                    <a:p>
                      <a:pPr algn="r"/>
                      <a:r>
                        <a:rPr sz="1575" b="0">
                          <a:solidFill>
                            <a:srgbClr val="14281D"/>
                          </a:solidFill>
                          <a:latin typeface="Arial"/>
                          <a:ea typeface="Arial"/>
                          <a:cs typeface="Arial"/>
                        </a:rPr>
                        <a:t>$213,735</a:t>
                      </a:r>
                    </a:p>
                  </a:txBody>
                  <a:tcPr marL="91440" marR="91440" marT="45720" marB="45720" anchor="ctr">
                    <a:solidFill>
                      <a:srgbClr val="F7F5EF"/>
                    </a:solidFill>
                  </a:tcPr>
                </a:tc>
              </a:tr>
              <a:tr h="386292">
                <a:tc>
                  <a:txBody>
                    <a:bodyPr lIns="114300" tIns="76200" rIns="114300" bIns="76200">
                      <a:noAutofit/>
                    </a:bodyPr>
                    <a:lstStyle/>
                    <a:p>
                      <a:pPr algn="l"/>
                      <a:r>
                        <a:rPr sz="1575" b="0">
                          <a:solidFill>
                            <a:srgbClr val="14281D"/>
                          </a:solidFill>
                          <a:latin typeface="Arial"/>
                          <a:ea typeface="Arial"/>
                          <a:cs typeface="Arial"/>
                        </a:rPr>
                        <a:t>Subscription operating expense</a:t>
                      </a:r>
                    </a:p>
                  </a:txBody>
                  <a:tcPr marL="91440" marR="91440" marT="45720" marB="45720" anchor="ctr">
                    <a:solidFill>
                      <a:srgbClr val="FFFFFF"/>
                    </a:solidFill>
                  </a:tcPr>
                </a:tc>
                <a:tc>
                  <a:txBody>
                    <a:bodyPr lIns="114300" tIns="76200" rIns="114300" bIns="76200">
                      <a:noAutofit/>
                    </a:bodyPr>
                    <a:lstStyle/>
                    <a:p>
                      <a:pPr algn="r"/>
                      <a:r>
                        <a:rPr sz="1575" b="0">
                          <a:solidFill>
                            <a:srgbClr val="14281D"/>
                          </a:solidFill>
                          <a:latin typeface="Arial"/>
                          <a:ea typeface="Arial"/>
                          <a:cs typeface="Arial"/>
                        </a:rPr>
                        <a:t>$88,160</a:t>
                      </a:r>
                    </a:p>
                  </a:txBody>
                  <a:tcPr marL="91440" marR="91440" marT="45720" marB="45720" anchor="ctr">
                    <a:solidFill>
                      <a:srgbClr val="FFFFFF"/>
                    </a:solidFill>
                  </a:tcPr>
                </a:tc>
              </a:tr>
              <a:tr h="386292">
                <a:tc>
                  <a:txBody>
                    <a:bodyPr lIns="114300" tIns="76200" rIns="114300" bIns="76200">
                      <a:noAutofit/>
                    </a:bodyPr>
                    <a:lstStyle/>
                    <a:p>
                      <a:pPr algn="l"/>
                      <a:r>
                        <a:rPr sz="157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75" b="1">
                          <a:solidFill>
                            <a:srgbClr val="14281D"/>
                          </a:solidFill>
                          <a:latin typeface="Arial"/>
                          <a:ea typeface="Arial"/>
                          <a:cs typeface="Arial"/>
                        </a:rPr>
                        <a:t>($699,274)</a:t>
                      </a:r>
                    </a:p>
                  </a:txBody>
                  <a:tcPr marL="91440" marR="91440" marT="45720" marB="45720" anchor="ctr">
                    <a:solidFill>
                      <a:srgbClr val="E8EDDF"/>
                    </a:solidFill>
                  </a:tcPr>
                </a:tc>
              </a:tr>
            </a:tbl>
          </a:graphicData>
        </a:graphic>
      </p:graphicFrame>
      <p:sp>
        <p:nvSpPr>
          <p:cNvPr id="6" name="Pro produces $27,280 of incremental EBITDA in 2033">
            <a:extLst xmlns:a="http://schemas.openxmlformats.org/drawingml/2006/main">
              <a:ext uri="{FF2B5EF4-FFF2-40B4-BE49-F238E27FC236}">
                <a16:creationId xmlns:a16="http://schemas.microsoft.com/office/drawing/2014/main" id="{28E155CD-813C-4A67-A834-FD96CDC9195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produces $27,280 of incremental EBITDA in 2033. The main constraint is scale: 417 providers cannot support a five-person company and local expansion costs at $49 / $99 monthly pricing.</a:t>
            </a:r>
          </a:p>
        </p:txBody>
      </p:sp>
    </p:spTree>
    <p:extLst>
      <p:ext uri="{BB962C8B-B14F-4D97-AF65-F5344CB8AC3E}">
        <p14:creationId xmlns:p14="http://schemas.microsoft.com/office/powerpoint/2010/main" val="1380828851"/>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D78736B8-EAA2-47BF-A41C-28FEA618C4F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Fully remote team. Office rent and facilities cost">
            <a:extLst xmlns:a="http://schemas.openxmlformats.org/drawingml/2006/main">
              <a:ext uri="{FF2B5EF4-FFF2-40B4-BE49-F238E27FC236}">
                <a16:creationId xmlns:a16="http://schemas.microsoft.com/office/drawing/2014/main" id="{085D5C0A-8E11-463F-B4E6-10CDF17E1ED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Fully remote team. Office rent and facilities cost $0. Legal, insurance, accounting and software remain.</a:t>
            </a:r>
          </a:p>
        </p:txBody>
      </p:sp>
      <p:sp>
        <p:nvSpPr>
          <p:cNvPr id="3" name="YardMatch">
            <a:extLst xmlns:a="http://schemas.openxmlformats.org/drawingml/2006/main">
              <a:ext uri="{FF2B5EF4-FFF2-40B4-BE49-F238E27FC236}">
                <a16:creationId xmlns:a16="http://schemas.microsoft.com/office/drawing/2014/main" id="{6F700A44-52EC-4FD8-92DC-53C7E66988D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9">
            <a:extLst xmlns:a="http://schemas.openxmlformats.org/drawingml/2006/main">
              <a:ext uri="{FF2B5EF4-FFF2-40B4-BE49-F238E27FC236}">
                <a16:creationId xmlns:a16="http://schemas.microsoft.com/office/drawing/2014/main" id="{3D63DA95-25F5-48BD-BCB1-A7E312DBA3B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29</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$706,667</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$68,383</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Corporate + local operating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$158,880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$46,744</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($93,054)</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$1,067,620</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$407,380</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ED61A0C2-6134-45B1-A606-CD3A552ED685}"/>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33B91B79-2D9E-49A3-A2F5-6442926DC2E6}"/>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4.81m">
            <a:extLst xmlns:a="http://schemas.openxmlformats.org/drawingml/2006/main">
              <a:ext uri="{FF2B5EF4-FFF2-40B4-BE49-F238E27FC236}">
                <a16:creationId xmlns:a16="http://schemas.microsoft.com/office/drawing/2014/main" id="{290C9465-11DF-44AB-A57D-C5E1DE70C255}"/>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$4.81m</a:t>
            </a:r>
          </a:p>
        </p:txBody>
      </p:sp>
      <p:sp>
        <p:nvSpPr>
          <p:cNvPr id="9" name="Peak cumulative cash deficit before financing unde">
            <a:extLst xmlns:a="http://schemas.openxmlformats.org/drawingml/2006/main">
              <a:ext uri="{FF2B5EF4-FFF2-40B4-BE49-F238E27FC236}">
                <a16:creationId xmlns:a16="http://schemas.microsoft.com/office/drawing/2014/main" id="{56E8A11D-C82F-4110-8C50-2250A864B333}"/>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0.41m 2033 fixed-cost buffer gives $5.">
            <a:extLst xmlns:a="http://schemas.openxmlformats.org/drawingml/2006/main">
              <a:ext uri="{FF2B5EF4-FFF2-40B4-BE49-F238E27FC236}">
                <a16:creationId xmlns:a16="http://schemas.microsoft.com/office/drawing/2014/main" id="{EE528128-F3B6-4C44-B6AE-43350C82CC2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$0.41m 2033 fixed-cost buffer gives $5.22m, before financing fees. The $1.5m round is an initial pilot illustration; follow-on capital would be needed.</a:t>
            </a:r>
          </a:p>
        </p:txBody>
      </p:sp>
    </p:spTree>
    <p:extLst>
      <p:ext uri="{BB962C8B-B14F-4D97-AF65-F5344CB8AC3E}">
        <p14:creationId xmlns:p14="http://schemas.microsoft.com/office/powerpoint/2010/main" val="2000022685"/>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B728D968-E59F-4FA7-9D12-4C9792C7034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B3691A20-EDB4-436C-BD65-366CEB62A5B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13C2CC2E-D2AD-4F15-BF30-96899495238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0">
            <a:extLst xmlns:a="http://schemas.openxmlformats.org/drawingml/2006/main">
              <a:ext uri="{FF2B5EF4-FFF2-40B4-BE49-F238E27FC236}">
                <a16:creationId xmlns:a16="http://schemas.microsoft.com/office/drawing/2014/main" id="{BADDAD95-8A9F-4293-BA68-B688914277D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30</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18EB1E2E-C705-4BE7-B8A2-6F323EE8C6F5}"/>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C6D37BF8-B45C-4480-B8CA-A969614BADB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882354467"/>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7CD44199-3E64-4C06-90CF-9EC8FBBC574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3BD6402F-BF10-41FC-8398-5ED895526F1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ADA0F1FE-84F6-452A-804C-BF6F1F93009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1">
            <a:extLst xmlns:a="http://schemas.openxmlformats.org/drawingml/2006/main">
              <a:ext uri="{FF2B5EF4-FFF2-40B4-BE49-F238E27FC236}">
                <a16:creationId xmlns:a16="http://schemas.microsoft.com/office/drawing/2014/main" id="{4C2A2FE2-9091-4720-9856-CF9DD4E3483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31</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($294,863)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($284,734)</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($2,408,302)</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($2,062,331)</a:t>
                      </a:r>
                    </a:p>
                  </a:txBody>
                  <a:tcPr marL="91440" marR="91440" marT="45720" marB="45720" anchor="ctr">
                    <a:solidFill>
                      <a:srgbClr val="E8EDDF"/>
                    </a:solidFill>
                  </a:tcPr>
                </a:tc>
              </a:tr>
            </a:tbl>
          </a:graphicData>
        </a:graphic>
      </p:graphicFrame>
      <p:sp>
        <p:nvSpPr>
          <p:cNvPr id="6" name="Neither build option covers annual run costs or re">
            <a:extLst xmlns:a="http://schemas.openxmlformats.org/drawingml/2006/main">
              <a:ext uri="{FF2B5EF4-FFF2-40B4-BE49-F238E27FC236}">
                <a16:creationId xmlns:a16="http://schemas.microsoft.com/office/drawing/2014/main" id="{F11FFB28-B849-47F1-B6F6-D9CD83334CA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Neither build option covers annual run costs or recovers the investment by 2033 at the modeled regional scale. Gate a build on quoted costs and payback, not a calendar date.</a:t>
            </a:r>
          </a:p>
        </p:txBody>
      </p:sp>
    </p:spTree>
    <p:extLst>
      <p:ext uri="{BB962C8B-B14F-4D97-AF65-F5344CB8AC3E}">
        <p14:creationId xmlns:p14="http://schemas.microsoft.com/office/powerpoint/2010/main" val="1456214314"/>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4F7902AB-5523-4464-9190-ADA0352FC8F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4433C6F4-D7B1-41DD-A62E-8FD7BA14444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335385BB-A813-493B-98B2-C1749B3D393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2">
            <a:extLst xmlns:a="http://schemas.openxmlformats.org/drawingml/2006/main">
              <a:ext uri="{FF2B5EF4-FFF2-40B4-BE49-F238E27FC236}">
                <a16:creationId xmlns:a16="http://schemas.microsoft.com/office/drawing/2014/main" id="{82827202-A376-431E-B4F5-B86CDD9F277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32</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8352C422-6580-4164-9F0D-397496F3A69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930440105"/>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ADC895AF-9CB0-4A85-904D-A332B15F7C9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D8A21B37-5D1D-46CA-A025-EA30781AF0A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6F6B6060-8708-4A7A-8E2B-8CF00DB9E7F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3">
            <a:extLst xmlns:a="http://schemas.openxmlformats.org/drawingml/2006/main">
              <a:ext uri="{FF2B5EF4-FFF2-40B4-BE49-F238E27FC236}">
                <a16:creationId xmlns:a16="http://schemas.microsoft.com/office/drawing/2014/main" id="{A4151552-B47D-44CF-B8EF-C8F260C63D2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33</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F2159F2F-7F95-4609-A8C7-3C7EBF8736F9}"/>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5126DE82-2B42-4F64-B95A-A959279FC55E}"/>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62C51E82-8DEB-4022-83DB-DA15374CE373}"/>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A0C1B853-E0C5-4BA3-B065-B6A5E719751C}"/>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4A67F0E0-6D02-4F06-8BD9-22719B1464D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609133963"/>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05F01BC1-2E7B-4E45-844E-1768D252438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1B09A09A-F1AA-4E14-8AA3-0ABCAA7979A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02749E0F-C1FC-4543-B2A3-DD41653E71C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4">
            <a:extLst xmlns:a="http://schemas.openxmlformats.org/drawingml/2006/main">
              <a:ext uri="{FF2B5EF4-FFF2-40B4-BE49-F238E27FC236}">
                <a16:creationId xmlns:a16="http://schemas.microsoft.com/office/drawing/2014/main" id="{4526B0FB-4A62-42D9-9820-E9344D63E8D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34</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240 launch households; measure second-season paid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Providers accept finder fees and convert to Pro</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Pilot CAC around $55; validate a path to $40 by 2033</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Track repeat-job support cost without a marketplace fee</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B318D0D7-FE57-451C-9107-C9B94C9AC96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427211540"/>
      </p:ext>
    </p:extLst>
  </p:cSld>
</p:sld>
</file>

<file path=ppt/slides/slide3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7B06EC5A-97A0-4D26-AF10-21856BAC896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C1E75AFD-1F97-493A-9A90-080DC489CA2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B1BB5DB3-7F70-49D3-994E-FE8B9ED124A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5">
            <a:extLst xmlns:a="http://schemas.openxmlformats.org/drawingml/2006/main">
              <a:ext uri="{FF2B5EF4-FFF2-40B4-BE49-F238E27FC236}">
                <a16:creationId xmlns:a16="http://schemas.microsoft.com/office/drawing/2014/main" id="{EF6449AF-BC5C-48BF-9B1E-B745692DA79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35</a:t>
            </a:r>
          </a:p>
        </p:txBody>
      </p:sp>
      <p:sp>
        <p:nvSpPr>
          <p:cNvPr id="5" name="Households and paid visits">
            <a:extLst xmlns:a="http://schemas.openxmlformats.org/drawingml/2006/main">
              <a:ext uri="{FF2B5EF4-FFF2-40B4-BE49-F238E27FC236}">
                <a16:creationId xmlns:a16="http://schemas.microsoft.com/office/drawing/2014/main" id="{37699D1F-C2A0-414E-A83B-5137655BCC46}"/>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B15E8E52-4497-49C9-BBC3-C3107A5EE088}"/>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peat-service cost">
            <a:extLst xmlns:a="http://schemas.openxmlformats.org/drawingml/2006/main">
              <a:ext uri="{FF2B5EF4-FFF2-40B4-BE49-F238E27FC236}">
                <a16:creationId xmlns:a16="http://schemas.microsoft.com/office/drawing/2014/main" id="{C45D6327-D8F8-4558-A574-4BD352351CC6}"/>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Repeat-service cost</a:t>
            </a:r>
          </a:p>
        </p:txBody>
      </p:sp>
      <p:sp>
        <p:nvSpPr>
          <p:cNvPr id="8" name="The 2031 base spends $1.02 per repeat job on model">
            <a:extLst xmlns:a="http://schemas.openxmlformats.org/drawingml/2006/main">
              <a:ext uri="{FF2B5EF4-FFF2-40B4-BE49-F238E27FC236}">
                <a16:creationId xmlns:a16="http://schemas.microsoft.com/office/drawing/2014/main" id="{815FCDAB-0250-4C88-80BB-AED2E76E02F4}"/>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spends $1.02 per repeat job on modeled variable costs after processing recovery. Finder and subscription revenue fund that service layer.</a:t>
            </a:r>
          </a:p>
        </p:txBody>
      </p:sp>
      <p:sp>
        <p:nvSpPr>
          <p:cNvPr id="9" name="Remote operations and cash">
            <a:extLst xmlns:a="http://schemas.openxmlformats.org/drawingml/2006/main">
              <a:ext uri="{FF2B5EF4-FFF2-40B4-BE49-F238E27FC236}">
                <a16:creationId xmlns:a16="http://schemas.microsoft.com/office/drawing/2014/main" id="{26961FEA-386C-41EC-8BF4-29FE9D79A47E}"/>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Remote operations and cash</a:t>
            </a:r>
          </a:p>
        </p:txBody>
      </p:sp>
      <p:sp>
        <p:nvSpPr>
          <p:cNvPr id="10" name="Five staff include the founder. Office costs are $">
            <a:extLst xmlns:a="http://schemas.openxmlformats.org/drawingml/2006/main">
              <a:ext uri="{FF2B5EF4-FFF2-40B4-BE49-F238E27FC236}">
                <a16:creationId xmlns:a16="http://schemas.microsoft.com/office/drawing/2014/main" id="{C6F99FFE-3F13-4B74-92B1-1575F704683A}"/>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Five staff include the founder. Office costs are $0. The $42,000 starting overhead budget covers insurance, legal, accounting and software. Cash also funds IT equipment and risk reserves.</a:t>
            </a:r>
          </a:p>
        </p:txBody>
      </p:sp>
      <p:sp>
        <p:nvSpPr>
          <p:cNvPr id="11" name="A cohort check">
            <a:extLst xmlns:a="http://schemas.openxmlformats.org/drawingml/2006/main">
              <a:ext uri="{FF2B5EF4-FFF2-40B4-BE49-F238E27FC236}">
                <a16:creationId xmlns:a16="http://schemas.microsoft.com/office/drawing/2014/main" id="{226702A0-E0C2-4959-85E0-C8F8D73D738D}"/>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33 of five-year contrib">
            <a:extLst xmlns:a="http://schemas.openxmlformats.org/drawingml/2006/main">
              <a:ext uri="{FF2B5EF4-FFF2-40B4-BE49-F238E27FC236}">
                <a16:creationId xmlns:a16="http://schemas.microsoft.com/office/drawing/2014/main" id="{5D774660-D2A5-4077-80E4-AC288893B974}"/>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$33 of five-year contribution versus $44 CAC, or 0.7x. This assumes retention, subscription adoption and unchanged cohort economics.</a:t>
            </a:r>
          </a:p>
        </p:txBody>
      </p:sp>
    </p:spTree>
    <p:extLst>
      <p:ext uri="{BB962C8B-B14F-4D97-AF65-F5344CB8AC3E}">
        <p14:creationId xmlns:p14="http://schemas.microsoft.com/office/powerpoint/2010/main" val="370386262"/>
      </p:ext>
    </p:extLst>
  </p:cSld>
</p:sld>
</file>

<file path=ppt/slides/slide3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ources and basis">
            <a:extLst xmlns:a="http://schemas.openxmlformats.org/drawingml/2006/main">
              <a:ext uri="{FF2B5EF4-FFF2-40B4-BE49-F238E27FC236}">
                <a16:creationId xmlns:a16="http://schemas.microsoft.com/office/drawing/2014/main" id="{C4F3FBEE-703F-4598-BF26-E387909D140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1, 2026. Financial projections">
            <a:extLst xmlns:a="http://schemas.openxmlformats.org/drawingml/2006/main">
              <a:ext uri="{FF2B5EF4-FFF2-40B4-BE49-F238E27FC236}">
                <a16:creationId xmlns:a16="http://schemas.microsoft.com/office/drawing/2014/main" id="{629E7BAA-8770-4257-8CBE-C0E068C64D0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21,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947E8219-3991-4744-9066-B8C36763B79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6">
            <a:extLst xmlns:a="http://schemas.openxmlformats.org/drawingml/2006/main">
              <a:ext uri="{FF2B5EF4-FFF2-40B4-BE49-F238E27FC236}">
                <a16:creationId xmlns:a16="http://schemas.microsoft.com/office/drawing/2014/main" id="{BD487444-DD2C-44E7-827D-4FA69F3B79F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36</a:t>
            </a:r>
          </a:p>
        </p:txBody>
      </p:sp>
      <p:sp>
        <p:nvSpPr>
          <p:cNvPr id="5" name="Company materials">
            <a:extLst xmlns:a="http://schemas.openxmlformats.org/drawingml/2006/main">
              <a:ext uri="{FF2B5EF4-FFF2-40B4-BE49-F238E27FC236}">
                <a16:creationId xmlns:a16="http://schemas.microsoft.com/office/drawing/2014/main" id="{3A65C615-AF4C-41AB-8885-EB64F54B9D87}"/>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B0BD809E-0930-46BB-AD6E-74DC9C37DD2D}"/>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49B3612A-4DC4-4C4C-931C-EA8D8F050E3A}"/>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84DD4147-1788-40F2-88DD-D8748AA1A295}"/>
              </a:ext>
            </a:extLst>
          </p:cNvPr>
          <p:cNvSpPr>
            <a:spLocks xmlns:a="http://schemas.openxmlformats.org/drawingml/2006/main" noGrp="1"/>
          </p:cNvSpPr>
          <p:nvPr/>
        </p:nvSpPr>
        <p:spPr>
          <a:xfrm xmlns:a="http://schemas.openxmlformats.org/drawingml/2006/main">
            <a:off x="62865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9a9e261c443440c"/>
              </a:rPr>
              <a:t>Stripe Payments pricing</a:t>
            </a:r>
          </a:p>
        </p:txBody>
      </p:sp>
      <p:sp>
        <p:nvSpPr>
          <p:cNvPr id="9" name="Stripe Connect pricing">
            <a:extLst xmlns:a="http://schemas.openxmlformats.org/drawingml/2006/main">
              <a:ext uri="{FF2B5EF4-FFF2-40B4-BE49-F238E27FC236}">
                <a16:creationId xmlns:a16="http://schemas.microsoft.com/office/drawing/2014/main" id="{72746C90-594D-4FFC-9F98-AA424C310EAA}"/>
              </a:ext>
            </a:extLst>
          </p:cNvPr>
          <p:cNvSpPr>
            <a:spLocks xmlns:a="http://schemas.openxmlformats.org/drawingml/2006/main" noGrp="1"/>
          </p:cNvSpPr>
          <p:nvPr/>
        </p:nvSpPr>
        <p:spPr>
          <a:xfrm xmlns:a="http://schemas.openxmlformats.org/drawingml/2006/main">
            <a:off x="62865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e103b856d0904ddf"/>
              </a:rPr>
              <a:t>Stripe Connect pricing</a:t>
            </a:r>
          </a:p>
        </p:txBody>
      </p:sp>
      <p:sp>
        <p:nvSpPr>
          <p:cNvPr id="10" name="Stripe Financial Connections">
            <a:extLst xmlns:a="http://schemas.openxmlformats.org/drawingml/2006/main">
              <a:ext uri="{FF2B5EF4-FFF2-40B4-BE49-F238E27FC236}">
                <a16:creationId xmlns:a16="http://schemas.microsoft.com/office/drawing/2014/main" id="{178D938B-2466-4844-BA83-AB44B236C61A}"/>
              </a:ext>
            </a:extLst>
          </p:cNvPr>
          <p:cNvSpPr>
            <a:spLocks xmlns:a="http://schemas.openxmlformats.org/drawingml/2006/main" noGrp="1"/>
          </p:cNvSpPr>
          <p:nvPr/>
        </p:nvSpPr>
        <p:spPr>
          <a:xfrm xmlns:a="http://schemas.openxmlformats.org/drawingml/2006/main">
            <a:off x="62865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782f37cc52344b26"/>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E53C680C-7C4E-4123-8CE9-BA75AB8320CC}"/>
              </a:ext>
            </a:extLst>
          </p:cNvPr>
          <p:cNvSpPr>
            <a:spLocks xmlns:a="http://schemas.openxmlformats.org/drawingml/2006/main" noGrp="1"/>
          </p:cNvSpPr>
          <p:nvPr/>
        </p:nvSpPr>
        <p:spPr>
          <a:xfrm xmlns:a="http://schemas.openxmlformats.org/drawingml/2006/main">
            <a:off x="62865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3683ee60e6e4db6"/>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2E5410A7-C517-4F3B-9CFB-529744C1C1A4}"/>
              </a:ext>
            </a:extLst>
          </p:cNvPr>
          <p:cNvSpPr>
            <a:spLocks xmlns:a="http://schemas.openxmlformats.org/drawingml/2006/main" noGrp="1"/>
          </p:cNvSpPr>
          <p:nvPr/>
        </p:nvSpPr>
        <p:spPr>
          <a:xfrm xmlns:a="http://schemas.openxmlformats.org/drawingml/2006/main">
            <a:off x="62865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d56c348c86874828"/>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967C6EBB-8BDF-4CBE-A11D-780C7F7B74B5}"/>
              </a:ext>
            </a:extLst>
          </p:cNvPr>
          <p:cNvSpPr>
            <a:spLocks xmlns:a="http://schemas.openxmlformats.org/drawingml/2006/main" noGrp="1"/>
          </p:cNvSpPr>
          <p:nvPr/>
        </p:nvSpPr>
        <p:spPr>
          <a:xfrm xmlns:a="http://schemas.openxmlformats.org/drawingml/2006/main">
            <a:off x="62865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84f877cdd1024be6"/>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9EAC6A61-2EF8-4D89-8979-C10D78D686C3}"/>
              </a:ext>
            </a:extLst>
          </p:cNvPr>
          <p:cNvSpPr>
            <a:spLocks xmlns:a="http://schemas.openxmlformats.org/drawingml/2006/main" noGrp="1"/>
          </p:cNvSpPr>
          <p:nvPr/>
        </p:nvSpPr>
        <p:spPr>
          <a:xfrm xmlns:a="http://schemas.openxmlformats.org/drawingml/2006/main">
            <a:off x="640080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ee0639f0c06c4ac5"/>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A086F7B4-328B-4BB5-826B-4A1F9CF04B9C}"/>
              </a:ext>
            </a:extLst>
          </p:cNvPr>
          <p:cNvSpPr>
            <a:spLocks xmlns:a="http://schemas.openxmlformats.org/drawingml/2006/main" noGrp="1"/>
          </p:cNvSpPr>
          <p:nvPr/>
        </p:nvSpPr>
        <p:spPr>
          <a:xfrm xmlns:a="http://schemas.openxmlformats.org/drawingml/2006/main">
            <a:off x="640080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edbee219524e4c55"/>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DC088B55-B87F-45A5-B77B-EE7191F38024}"/>
              </a:ext>
            </a:extLst>
          </p:cNvPr>
          <p:cNvSpPr>
            <a:spLocks xmlns:a="http://schemas.openxmlformats.org/drawingml/2006/main" noGrp="1"/>
          </p:cNvSpPr>
          <p:nvPr/>
        </p:nvSpPr>
        <p:spPr>
          <a:xfrm xmlns:a="http://schemas.openxmlformats.org/drawingml/2006/main">
            <a:off x="640080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b956e38c264b4d1c"/>
              </a:rPr>
              <a:t>Census QuickFacts: Barnegat</a:t>
            </a:r>
          </a:p>
        </p:txBody>
      </p:sp>
      <p:sp>
        <p:nvSpPr>
          <p:cNvPr id="17" name="Jobber: software pricing">
            <a:extLst xmlns:a="http://schemas.openxmlformats.org/drawingml/2006/main">
              <a:ext uri="{FF2B5EF4-FFF2-40B4-BE49-F238E27FC236}">
                <a16:creationId xmlns:a16="http://schemas.microsoft.com/office/drawing/2014/main" id="{31313ADD-D04B-4D51-B0E3-21C339421561}"/>
              </a:ext>
            </a:extLst>
          </p:cNvPr>
          <p:cNvSpPr>
            <a:spLocks xmlns:a="http://schemas.openxmlformats.org/drawingml/2006/main" noGrp="1"/>
          </p:cNvSpPr>
          <p:nvPr/>
        </p:nvSpPr>
        <p:spPr>
          <a:xfrm xmlns:a="http://schemas.openxmlformats.org/drawingml/2006/main">
            <a:off x="640080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3e9b0cd2120740b1"/>
              </a:rPr>
              <a:t>Jobber: software pricing</a:t>
            </a:r>
          </a:p>
        </p:txBody>
      </p:sp>
      <p:sp>
        <p:nvSpPr>
          <p:cNvPr id="18" name="Zocdoc: Sponsored Results cost">
            <a:extLst xmlns:a="http://schemas.openxmlformats.org/drawingml/2006/main">
              <a:ext uri="{FF2B5EF4-FFF2-40B4-BE49-F238E27FC236}">
                <a16:creationId xmlns:a16="http://schemas.microsoft.com/office/drawing/2014/main" id="{32D9B495-0038-4695-AC93-E31AF695F1D9}"/>
              </a:ext>
            </a:extLst>
          </p:cNvPr>
          <p:cNvSpPr>
            <a:spLocks xmlns:a="http://schemas.openxmlformats.org/drawingml/2006/main" noGrp="1"/>
          </p:cNvSpPr>
          <p:nvPr/>
        </p:nvSpPr>
        <p:spPr>
          <a:xfrm xmlns:a="http://schemas.openxmlformats.org/drawingml/2006/main">
            <a:off x="640080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a18aaff6e0bc45e2"/>
              </a:rPr>
              <a:t>Zocdoc: Sponsored Results cost</a:t>
            </a:r>
          </a:p>
        </p:txBody>
      </p:sp>
      <p:sp>
        <p:nvSpPr>
          <p:cNvPr id="19" name="Stripe Billing pricing">
            <a:extLst xmlns:a="http://schemas.openxmlformats.org/drawingml/2006/main">
              <a:ext uri="{FF2B5EF4-FFF2-40B4-BE49-F238E27FC236}">
                <a16:creationId xmlns:a16="http://schemas.microsoft.com/office/drawing/2014/main" id="{0FEB1475-8AD0-4047-84C1-89705AC09245}"/>
              </a:ext>
            </a:extLst>
          </p:cNvPr>
          <p:cNvSpPr>
            <a:spLocks xmlns:a="http://schemas.openxmlformats.org/drawingml/2006/main" noGrp="1"/>
          </p:cNvSpPr>
          <p:nvPr/>
        </p:nvSpPr>
        <p:spPr>
          <a:xfrm xmlns:a="http://schemas.openxmlformats.org/drawingml/2006/main">
            <a:off x="640080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10b8672840e14540"/>
              </a:rPr>
              <a:t>Stripe Billing pricing</a:t>
            </a:r>
          </a:p>
        </p:txBody>
      </p:sp>
      <p:sp>
        <p:nvSpPr>
          <p:cNvPr id="20" name="External references are linked. Full citations are">
            <a:extLst xmlns:a="http://schemas.openxmlformats.org/drawingml/2006/main">
              <a:ext uri="{FF2B5EF4-FFF2-40B4-BE49-F238E27FC236}">
                <a16:creationId xmlns:a16="http://schemas.microsoft.com/office/drawing/2014/main" id="{20889BFC-36E8-4043-81B6-2B1E6BF1B0A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627718107"/>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B5AA1BE8-1CF0-4064-B585-45BDF81C937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1–7. All links open the ">
            <a:extLst xmlns:a="http://schemas.openxmlformats.org/drawingml/2006/main">
              <a:ext uri="{FF2B5EF4-FFF2-40B4-BE49-F238E27FC236}">
                <a16:creationId xmlns:a16="http://schemas.microsoft.com/office/drawing/2014/main" id="{19697FAC-2CC5-4063-819F-93603482209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1–7. All links open the underlying municipal table.</a:t>
            </a:r>
          </a:p>
        </p:txBody>
      </p:sp>
      <p:sp>
        <p:nvSpPr>
          <p:cNvPr id="3" name="YardMatch">
            <a:extLst xmlns:a="http://schemas.openxmlformats.org/drawingml/2006/main">
              <a:ext uri="{FF2B5EF4-FFF2-40B4-BE49-F238E27FC236}">
                <a16:creationId xmlns:a16="http://schemas.microsoft.com/office/drawing/2014/main" id="{8DD5EF83-5C11-4488-8DD5-76D47E0C97F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7">
            <a:extLst xmlns:a="http://schemas.openxmlformats.org/drawingml/2006/main">
              <a:ext uri="{FF2B5EF4-FFF2-40B4-BE49-F238E27FC236}">
                <a16:creationId xmlns:a16="http://schemas.microsoft.com/office/drawing/2014/main" id="{7EC001F9-CA79-47AB-9B9F-03829C1758F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37</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f03f7ba53384eda"/>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68770d7fb4c3419d"/>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12,007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90.3%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436b98ae243041e3"/>
                        </a:rPr>
                        <a:t>Lacey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11,338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$102,624</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b2c0e63e18aa4eb5"/>
                        </a:rPr>
                        <a:t>Ocean / Waretown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3,908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$100,524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b491ec6ba2c44e35"/>
                        </a:rPr>
                        <a:t>Berkeley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21,950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$66,008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eca6bfd39454ab6"/>
                        </a:rPr>
                        <a:t>Toms River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38,047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82.1%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$99,547</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1ec18de45b8d4c34"/>
                        </a:rPr>
                        <a:t>Brick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30,289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82.2%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$106,130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D542D3F5-A77C-43F2-9EB9-A6DA6D2A89A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1746773053"/>
      </p:ext>
    </p:extLst>
  </p:cSld>
</p:sld>
</file>

<file path=ppt/slides/slide3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C295E8CF-74BF-4ED6-AA41-42862831BA3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8–14. All links open the">
            <a:extLst xmlns:a="http://schemas.openxmlformats.org/drawingml/2006/main">
              <a:ext uri="{FF2B5EF4-FFF2-40B4-BE49-F238E27FC236}">
                <a16:creationId xmlns:a16="http://schemas.microsoft.com/office/drawing/2014/main" id="{2535BB7F-094C-4203-B9A1-75A49799342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8–14. All links open the underlying municipal table.</a:t>
            </a:r>
          </a:p>
        </p:txBody>
      </p:sp>
      <p:sp>
        <p:nvSpPr>
          <p:cNvPr id="3" name="YardMatch">
            <a:extLst xmlns:a="http://schemas.openxmlformats.org/drawingml/2006/main">
              <a:ext uri="{FF2B5EF4-FFF2-40B4-BE49-F238E27FC236}">
                <a16:creationId xmlns:a16="http://schemas.microsoft.com/office/drawing/2014/main" id="{4FF07410-42DC-44AF-BFC7-BEA3666DBAD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8">
            <a:extLst xmlns:a="http://schemas.openxmlformats.org/drawingml/2006/main">
              <a:ext uri="{FF2B5EF4-FFF2-40B4-BE49-F238E27FC236}">
                <a16:creationId xmlns:a16="http://schemas.microsoft.com/office/drawing/2014/main" id="{2FECEC98-F8BB-48D0-BC66-B4A71BE0A89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38</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98f3cf4300944c24"/>
                        </a:rPr>
                        <a:t>Jackson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20,633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87.0%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$115,511</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4a30af6133c147b8"/>
                        </a:rPr>
                        <a:t>Howell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19,134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$134,854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cbf0e78264284ae0"/>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10,124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83.4%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ccfb568a56b42e1"/>
                        </a:rPr>
                        <a:t>Middletown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25,211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85.7%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$141,810</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aca1a565b8804962"/>
                        </a:rPr>
                        <a:t>Holmdel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6,429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91.6%</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746bac9b5f9545d1"/>
                        </a:rPr>
                        <a:t>Colts Neck</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3,610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94.3%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96a3f40b4f964532"/>
                        </a:rPr>
                        <a:t>Rumson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2,451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36571280-8ABC-4D44-9187-DAEE3658BAC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17415894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2026-09-22T03:34:02.3990000Z</dcterms:created>
  <dcterms:modified xsi:type="dcterms:W3CDTF">2026-09-22T03:34:02.3990000Z</dcterms:modified>
</coreProperties>
</file>