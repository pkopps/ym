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1.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6abc5168b9e4070" /><Relationship Type="http://schemas.openxmlformats.org/officeDocument/2006/relationships/extended-properties" Target="/docProps/app.xml" Id="Rfba9c6a09a4f4895" /><Relationship Type="http://schemas.openxmlformats.org/officeDocument/2006/relationships/officeDocument" Target="/ppt/presentation.xml" Id="R34fa333548a14690" /></Relationships>
</file>

<file path=ppt/presentation.xml><?xml version="1.0" encoding="utf-8"?>
<p:presentation xmlns:p="http://schemas.openxmlformats.org/presentationml/2006/main">
  <p:sldMasterIdLst>
    <p:sldMasterId xmlns:r="http://schemas.openxmlformats.org/officeDocument/2006/relationships" id="2147483648" r:id="R0b96555b099d458d"/>
  </p:sldMasterIdLst>
  <p:notesMasterIdLst>
    <p:notesMasterId xmlns:r="http://schemas.openxmlformats.org/officeDocument/2006/relationships" r:id="R2b37660e2726407f"/>
  </p:notesMasterIdLst>
  <p:sldIdLst>
    <p:sldId xmlns:r="http://schemas.openxmlformats.org/officeDocument/2006/relationships" id="256" r:id="Rffd4c784c1ff4564"/>
    <p:sldId xmlns:r="http://schemas.openxmlformats.org/officeDocument/2006/relationships" id="257" r:id="R1f871a53e8fb43db"/>
    <p:sldId xmlns:r="http://schemas.openxmlformats.org/officeDocument/2006/relationships" id="258" r:id="Rcdb2ce4ef9ad411e"/>
    <p:sldId xmlns:r="http://schemas.openxmlformats.org/officeDocument/2006/relationships" id="259" r:id="R4a53a7b3d5a74d7d"/>
    <p:sldId xmlns:r="http://schemas.openxmlformats.org/officeDocument/2006/relationships" id="260" r:id="Rff77162d7686499b"/>
    <p:sldId xmlns:r="http://schemas.openxmlformats.org/officeDocument/2006/relationships" id="261" r:id="R53d40cfb7dc94f2c"/>
    <p:sldId xmlns:r="http://schemas.openxmlformats.org/officeDocument/2006/relationships" id="262" r:id="Rb63bdc5113864d51"/>
    <p:sldId xmlns:r="http://schemas.openxmlformats.org/officeDocument/2006/relationships" id="263" r:id="R080f3cd5323347c3"/>
    <p:sldId xmlns:r="http://schemas.openxmlformats.org/officeDocument/2006/relationships" id="264" r:id="R3fa4e4a4ad5a49ba"/>
    <p:sldId xmlns:r="http://schemas.openxmlformats.org/officeDocument/2006/relationships" id="265" r:id="R1b664a2dfb104801"/>
    <p:sldId xmlns:r="http://schemas.openxmlformats.org/officeDocument/2006/relationships" id="266" r:id="Ref9fcc71f8974a93"/>
    <p:sldId xmlns:r="http://schemas.openxmlformats.org/officeDocument/2006/relationships" id="267" r:id="R61e39edb38ce4e02"/>
    <p:sldId xmlns:r="http://schemas.openxmlformats.org/officeDocument/2006/relationships" id="268" r:id="R6194c86c2c6542fe"/>
    <p:sldId xmlns:r="http://schemas.openxmlformats.org/officeDocument/2006/relationships" id="269" r:id="Rce45ca08c6d441ad"/>
    <p:sldId xmlns:r="http://schemas.openxmlformats.org/officeDocument/2006/relationships" id="270" r:id="Re5ad0f2d92d54895"/>
    <p:sldId xmlns:r="http://schemas.openxmlformats.org/officeDocument/2006/relationships" id="271" r:id="R26bb37d995db44a6"/>
    <p:sldId xmlns:r="http://schemas.openxmlformats.org/officeDocument/2006/relationships" id="272" r:id="R0bff4f0003054d50"/>
    <p:sldId xmlns:r="http://schemas.openxmlformats.org/officeDocument/2006/relationships" id="273" r:id="R4deb2af134b34a53"/>
    <p:sldId xmlns:r="http://schemas.openxmlformats.org/officeDocument/2006/relationships" id="274" r:id="R9d3f81874b954b5e"/>
    <p:sldId xmlns:r="http://schemas.openxmlformats.org/officeDocument/2006/relationships" id="275" r:id="Ra2321802160449ed"/>
    <p:sldId xmlns:r="http://schemas.openxmlformats.org/officeDocument/2006/relationships" id="276" r:id="R1b8a34d2389d40c4"/>
    <p:sldId xmlns:r="http://schemas.openxmlformats.org/officeDocument/2006/relationships" id="277" r:id="R36644dcfb66a4ef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4c3ba4a6e684f1e" /><Relationship Type="http://schemas.openxmlformats.org/officeDocument/2006/relationships/slideMaster" Target="/ppt/slideMasters/slideMaster1.xml" Id="R0b96555b099d458d" /><Relationship Type="http://schemas.openxmlformats.org/officeDocument/2006/relationships/notesMaster" Target="/ppt/notesMasters/notesMaster1.xml" Id="R2b37660e2726407f" /><Relationship Type="http://schemas.openxmlformats.org/officeDocument/2006/relationships/presProps" Target="/ppt/presProps.xml" Id="R0cb37b8058de460e" /><Relationship Type="http://schemas.openxmlformats.org/officeDocument/2006/relationships/tableStyles" Target="/ppt/tableStyles.xml" Id="Rbd36e32e1ba444d2" /><Relationship Type="http://schemas.openxmlformats.org/officeDocument/2006/relationships/slide" Target="/ppt/slides/slide1.xml" Id="Rffd4c784c1ff4564" /><Relationship Type="http://schemas.openxmlformats.org/officeDocument/2006/relationships/slide" Target="/ppt/slides/slide2.xml" Id="R1f871a53e8fb43db" /><Relationship Type="http://schemas.openxmlformats.org/officeDocument/2006/relationships/slide" Target="/ppt/slides/slide3.xml" Id="Rcdb2ce4ef9ad411e" /><Relationship Type="http://schemas.openxmlformats.org/officeDocument/2006/relationships/slide" Target="/ppt/slides/slide4.xml" Id="R4a53a7b3d5a74d7d" /><Relationship Type="http://schemas.openxmlformats.org/officeDocument/2006/relationships/slide" Target="/ppt/slides/slide5.xml" Id="Rff77162d7686499b" /><Relationship Type="http://schemas.openxmlformats.org/officeDocument/2006/relationships/slide" Target="/ppt/slides/slide6.xml" Id="R53d40cfb7dc94f2c" /><Relationship Type="http://schemas.openxmlformats.org/officeDocument/2006/relationships/slide" Target="/ppt/slides/slide7.xml" Id="Rb63bdc5113864d51" /><Relationship Type="http://schemas.openxmlformats.org/officeDocument/2006/relationships/slide" Target="/ppt/slides/slide8.xml" Id="R080f3cd5323347c3" /><Relationship Type="http://schemas.openxmlformats.org/officeDocument/2006/relationships/slide" Target="/ppt/slides/slide9.xml" Id="R3fa4e4a4ad5a49ba" /><Relationship Type="http://schemas.openxmlformats.org/officeDocument/2006/relationships/slide" Target="/ppt/slides/slide10.xml" Id="R1b664a2dfb104801" /><Relationship Type="http://schemas.openxmlformats.org/officeDocument/2006/relationships/slide" Target="/ppt/slides/slide11.xml" Id="Ref9fcc71f8974a93" /><Relationship Type="http://schemas.openxmlformats.org/officeDocument/2006/relationships/slide" Target="/ppt/slides/slide12.xml" Id="R61e39edb38ce4e02" /><Relationship Type="http://schemas.openxmlformats.org/officeDocument/2006/relationships/slide" Target="/ppt/slides/slide13.xml" Id="R6194c86c2c6542fe" /><Relationship Type="http://schemas.openxmlformats.org/officeDocument/2006/relationships/slide" Target="/ppt/slides/slide14.xml" Id="Rce45ca08c6d441ad" /><Relationship Type="http://schemas.openxmlformats.org/officeDocument/2006/relationships/slide" Target="/ppt/slides/slide15.xml" Id="Re5ad0f2d92d54895" /><Relationship Type="http://schemas.openxmlformats.org/officeDocument/2006/relationships/slide" Target="/ppt/slides/slide16.xml" Id="R26bb37d995db44a6" /><Relationship Type="http://schemas.openxmlformats.org/officeDocument/2006/relationships/slide" Target="/ppt/slides/slide17.xml" Id="R0bff4f0003054d50" /><Relationship Type="http://schemas.openxmlformats.org/officeDocument/2006/relationships/slide" Target="/ppt/slides/slide18.xml" Id="R4deb2af134b34a53" /><Relationship Type="http://schemas.openxmlformats.org/officeDocument/2006/relationships/slide" Target="/ppt/slides/slide19.xml" Id="R9d3f81874b954b5e" /><Relationship Type="http://schemas.openxmlformats.org/officeDocument/2006/relationships/slide" Target="/ppt/slides/slide20.xml" Id="Ra2321802160449ed" /><Relationship Type="http://schemas.openxmlformats.org/officeDocument/2006/relationships/slide" Target="/ppt/slides/slide21.xml" Id="R1b8a34d2389d40c4" /><Relationship Type="http://schemas.openxmlformats.org/officeDocument/2006/relationships/slide" Target="/ppt/slides/slide22.xml" Id="R36644dcfb66a4ef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6769f3f798946e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d55840488184cea" /><Relationship Type="http://schemas.openxmlformats.org/officeDocument/2006/relationships/notesMaster" Target="/ppt/notesMasters/notesMaster1.xml" Id="R1c29adfdfd044d93" /></Relationships>
</file>

<file path=ppt/notesSlides/_rels/notesSlide2.xml.rels>&#65279;<?xml version="1.0" encoding="utf-8"?><Relationships xmlns="http://schemas.openxmlformats.org/package/2006/relationships"><Relationship Type="http://schemas.openxmlformats.org/officeDocument/2006/relationships/slide" Target="/ppt/slides/slide2.xml" Id="R3e50cfdb72f3402d" /><Relationship Type="http://schemas.openxmlformats.org/officeDocument/2006/relationships/notesMaster" Target="/ppt/notesMasters/notesMaster1.xml" Id="Raa329e443221499d" /></Relationships>
</file>

<file path=ppt/notesSlides/_rels/notesSlide3.xml.rels>&#65279;<?xml version="1.0" encoding="utf-8"?><Relationships xmlns="http://schemas.openxmlformats.org/package/2006/relationships"><Relationship Type="http://schemas.openxmlformats.org/officeDocument/2006/relationships/slide" Target="/ppt/slides/slide3.xml" Id="R8c213f251d984554" /><Relationship Type="http://schemas.openxmlformats.org/officeDocument/2006/relationships/notesMaster" Target="/ppt/notesMasters/notesMaster1.xml" Id="Rd8f50a1ef2034ba3" /></Relationships>
</file>

<file path=ppt/notesSlides/_rels/notesSlide4.xml.rels>&#65279;<?xml version="1.0" encoding="utf-8"?><Relationships xmlns="http://schemas.openxmlformats.org/package/2006/relationships"><Relationship Type="http://schemas.openxmlformats.org/officeDocument/2006/relationships/slide" Target="/ppt/slides/slide4.xml" Id="Rdc908c3900d54c81" /><Relationship Type="http://schemas.openxmlformats.org/officeDocument/2006/relationships/notesMaster" Target="/ppt/notesMasters/notesMaster1.xml" Id="R207b609b71344a91" /></Relationships>
</file>

<file path=ppt/notesSlides/_rels/notesSlide5.xml.rels>&#65279;<?xml version="1.0" encoding="utf-8"?><Relationships xmlns="http://schemas.openxmlformats.org/package/2006/relationships"><Relationship Type="http://schemas.openxmlformats.org/officeDocument/2006/relationships/slide" Target="/ppt/slides/slide5.xml" Id="R88c4a541308d4958" /><Relationship Type="http://schemas.openxmlformats.org/officeDocument/2006/relationships/notesMaster" Target="/ppt/notesMasters/notesMaster1.xml" Id="Rf15b184f9c904eb0" /></Relationships>
</file>

<file path=ppt/notesSlides/_rels/notesSlide6.xml.rels>&#65279;<?xml version="1.0" encoding="utf-8"?><Relationships xmlns="http://schemas.openxmlformats.org/package/2006/relationships"><Relationship Type="http://schemas.openxmlformats.org/officeDocument/2006/relationships/slide" Target="/ppt/slides/slide6.xml" Id="R1b6a8a991cf041f3" /><Relationship Type="http://schemas.openxmlformats.org/officeDocument/2006/relationships/notesMaster" Target="/ppt/notesMasters/notesMaster1.xml" Id="R25d36df6c62e4e00" /></Relationships>
</file>

<file path=ppt/notesSlides/_rels/notesSlide7.xml.rels>&#65279;<?xml version="1.0" encoding="utf-8"?><Relationships xmlns="http://schemas.openxmlformats.org/package/2006/relationships"><Relationship Type="http://schemas.openxmlformats.org/officeDocument/2006/relationships/slide" Target="/ppt/slides/slide7.xml" Id="Rb92e1e62504244c5" /><Relationship Type="http://schemas.openxmlformats.org/officeDocument/2006/relationships/notesMaster" Target="/ppt/notesMasters/notesMaster1.xml" Id="R4f99048137984dc1" /></Relationships>
</file>

<file path=ppt/notesSlides/_rels/notesSlide8.xml.rels>&#65279;<?xml version="1.0" encoding="utf-8"?><Relationships xmlns="http://schemas.openxmlformats.org/package/2006/relationships"><Relationship Type="http://schemas.openxmlformats.org/officeDocument/2006/relationships/slide" Target="/ppt/slides/slide8.xml" Id="R8424b6189d5b40fc" /><Relationship Type="http://schemas.openxmlformats.org/officeDocument/2006/relationships/notesMaster" Target="/ppt/notesMasters/notesMaster1.xml" Id="R319e4f1f26de4db9" /></Relationships>
</file>

<file path=ppt/notesSlides/_rels/notesSlide9.xml.rels>&#65279;<?xml version="1.0" encoding="utf-8"?><Relationships xmlns="http://schemas.openxmlformats.org/package/2006/relationships"><Relationship Type="http://schemas.openxmlformats.org/officeDocument/2006/relationships/slide" Target="/ppt/slides/slide9.xml" Id="R47ee58122b3a4fac" /><Relationship Type="http://schemas.openxmlformats.org/officeDocument/2006/relationships/notesMaster" Target="/ppt/notesMasters/notesMaster1.xml" Id="R1ad0727130a14d8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412d1933e0241c4" /><Relationship Type="http://schemas.openxmlformats.org/officeDocument/2006/relationships/notesMaster" Target="/ppt/notesMasters/notesMaster1.xml" Id="Rf96f5d265f674c6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fb38ce66438491d" /><Relationship Type="http://schemas.openxmlformats.org/officeDocument/2006/relationships/notesMaster" Target="/ppt/notesMasters/notesMaster1.xml" Id="R40bdff66642c4d8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9770b6c259f4566" /><Relationship Type="http://schemas.openxmlformats.org/officeDocument/2006/relationships/notesMaster" Target="/ppt/notesMasters/notesMaster1.xml" Id="Rfb564f02f56d4ac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c63f85191334423" /><Relationship Type="http://schemas.openxmlformats.org/officeDocument/2006/relationships/notesMaster" Target="/ppt/notesMasters/notesMaster1.xml" Id="R6147c5c842604ec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075e547d79a4bbb" /><Relationship Type="http://schemas.openxmlformats.org/officeDocument/2006/relationships/notesMaster" Target="/ppt/notesMasters/notesMaster1.xml" Id="R43eda016f5404eb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3e53741fd0c4ba5" /><Relationship Type="http://schemas.openxmlformats.org/officeDocument/2006/relationships/notesMaster" Target="/ppt/notesMasters/notesMaster1.xml" Id="R9a9623d1e2de469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330e2bb44484a24" /><Relationship Type="http://schemas.openxmlformats.org/officeDocument/2006/relationships/notesMaster" Target="/ppt/notesMasters/notesMaster1.xml" Id="R1f96507d2ca2488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d651249b8824c21" /><Relationship Type="http://schemas.openxmlformats.org/officeDocument/2006/relationships/notesMaster" Target="/ppt/notesMasters/notesMaster1.xml" Id="Rfddc3d1da46d4ac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1ec86040022496f" /><Relationship Type="http://schemas.openxmlformats.org/officeDocument/2006/relationships/notesMaster" Target="/ppt/notesMasters/notesMaster1.xml" Id="R2c117159d8a44f5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fe6c35f89d84ea3" /><Relationship Type="http://schemas.openxmlformats.org/officeDocument/2006/relationships/notesMaster" Target="/ppt/notesMasters/notesMaster1.xml" Id="Re71cb119955f48c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b80b8c234a34adc" /><Relationship Type="http://schemas.openxmlformats.org/officeDocument/2006/relationships/notesMaster" Target="/ppt/notesMasters/notesMaster1.xml" Id="Rceffeb3c373045b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9d8eff9bd114814" /><Relationship Type="http://schemas.openxmlformats.org/officeDocument/2006/relationships/notesMaster" Target="/ppt/notesMasters/notesMaster1.xml" Id="R3903fdb4b0d74e7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724aeba37984b65" /><Relationship Type="http://schemas.openxmlformats.org/officeDocument/2006/relationships/notesMaster" Target="/ppt/notesMasters/notesMaster1.xml" Id="R62585a30794441c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Investor discussion draft. September 20, 2026. Source: YardMatch-Barnegat-Partner-Pitch.pdf, September 2026, pages 1-9. Product illustrations and sample data are conceptual, not commercial traction. Source: YardMatch-Investor-Model.xlsx, assumptions and formula-driven Operating model, prepared September 20, 2026. All 2027-2033 figures are illustrative forecasts, not actuals or promises. US dollars. No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 YardMatch-Investor-Model.xlsx, assumptions and formula-driven Operating model, prepared September 20, 2026. All 2027-2033 figures are illustrative forecasts, not actuals or promises. US dollars. No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Customer and provider problems are product hypotheses, not survey findings.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Map is conceptual. No measured route savings or density effect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Patrick instructions September 20, 2026: provider pays $2.99 per completed service. Source: YardMatch-Investor-Model.xlsx, assumptions and formula-driven Operating model, prepared September 20, 2026. All 2027-2033 figures are illustrative forecasts, not actuals or promises. US dollars. No commercial actuals supplied. $45 once per new relationship. One welcome finder-fee waiver per new provider.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checked September 20, 2026: https://www.zocdoc.com/provider-help/en/articles/10859404-understanding-zocdoc-pricing-and-billing . Discovery versus reputation bookings, one-time new patient/provider connection fee. Not every new-doctor booking is chargeable. YardMatch behavior is a planning hypothesis. Source: YardMatch-Barnegat-Partner-Pitch.pdf, September 2026, pages 1-9. Product illustrations and sample data are conceptual, not commercial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September 20, 2026: https://stripe.com/pricing ; https://stripe.com/connect/pricing ; https://support.stripe.com/questions/monetizing-payments-with-stripe-connect ; https://stripe.com/financial-connections . US domestic card and platform-controlled Connect assumptions. Exact commercial account terms require confirmation. Source: YardMatch-Investor-Model.xlsx, assumptions and formula-driven Operating model, prepared September 20, 2026. All 2027-2033 figures are illustrative forecasts, not actuals or promises. US dollars. No commercial actuals supplied. Unit economics uses 2031 Base volumes to allocate account and payout-count costs. Repeat payout base excludes the finder fee.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 Census Bureau QuickFacts, Barnegat township, Ocean County, New Jersey, 2020-2024 estimates. https://www.census.gov/quickfacts/fact/table/barnegattownshipoceancountynewjersey/SBO010223 . 10,265 households and 88.0% owner occupancy. Households with lawn-care demand are a subset, not measured here. Source: YardMatch-Investor-Model.xlsx, assumptions and formula-driven Operating model, prepared September 20, 2026. All 2027-2033 figures are illustrative forecasts, not actuals or promises. US dollars. No commercial actuals supplied. Approximate owner households = 10,265 * 88% = 9,033.2. 500 / 9,033.2 = 5.5%. This is an upper-envelope denominator, not a lawn-care TAM.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 YardMatch-Investor-Model.xlsx, assumptions and formula-driven Operating model, prepared September 20, 2026. All 2027-2033 figures are illustrative forecasts, not actuals or promises. US dollars. No commercial actuals supplied. These are proposed experiments and decision gates, not completed milestones.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Sources: repository README.md, ROADMAP.md and docs/agent-status/engineer.md, reviewed September 20, 2026. Local engineering checkpoint evidence is not independent production verification. No founder biography or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These effects are hypotheses, not measured network effects or proven competitive advantages.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New households enter halfway through the season. Annual household retention applies before the next service season. Cases share one formula-driven build.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Revenue is finder fees after welcome waivers plus completed paid jobs * $2.99. Charts are editable snapshots of the Base model, not a live workbook 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EBITDA excludes depreciation, interest and taxes. EBIT includes equipment depreciation. Net income proxy uses an illustrative 25% tax on positive EBIT with no NOL benefit. Free cash flow includes equipment capex and a 1% annual-GMV restricted risk cash assumption.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No probability weights are assigned. Upside is a target case, not a forecast with validated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Financing illustration: $1.5m gross less $25k transaction expenses. Model opens with zero cash. 2027-2028 projected FCF burn $1.053m and ending cash $421,907. Annual model does not establish exact monthly runway.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Patrick instruction: 70% to Patrick, 30% to other initial owners, then dilute per round. Assumes new share issuance, no secondary sales or convertible instruments.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Equity proceeds arithmetic only. No exit multiple or transaction probability assumed. Initial price implies $6m pre-money and $7.5m post-money. These valuations are not supported by comparable transactions or an agreed term sheet. Equity value assumes distributable proceeds with no senior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Proposed validation gates, not achieved results. Figures chosen as operating test thresholds rather than claimed industry benchmarks.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Cohort calculation is undiscounted, five-year contribution using 2031 base economics. No customer lifetime value has been observed.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Sources checked September 20, 2026: https://stripe.com/pricing ; https://stripe.com/connect/pricing ; https://support.stripe.com/questions/monetizing-payments-with-stripe-connect ; https://stripe.com/financial-connections . US domestic card and platform-controlled Connect assumptions. Exact commercial account terms require confirmation. Source checked September 20, 2026: https://www.zocdoc.com/provider-help/en/articles/10859404-understanding-zocdoc-pricing-and-billing . Discovery versus reputation bookings, one-time new patient/provider connection fee. Not every new-doctor booking is chargeable. YardMatch behavior is a planning hypothesis. Source: US Census Bureau QuickFacts, Barnegat township, Ocean County, New Jersey, 2020-2024 estimates. https://www.census.gov/quickfacts/fact/table/barnegattownshipoceancountynewjersey/SBO010223 . 10,265 households and 88.0% owner occupancy. Households with lawn-care demand are a subset, not measured here. Source: YardMatch-Investor-Model.xlsx, assumptions and formula-driven Operating model, prepared September 20, 2026. All 2027-2033 figures are illustrative forecasts, not actuals or promises. US dollars. No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e85afc54f9a438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ecd9a0b50c7490f" /><Relationship Type="http://schemas.openxmlformats.org/officeDocument/2006/relationships/slideLayout" Target="/ppt/slideLayouts/slideLayout1.xml" Id="Rb627520bfde643e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627520bfde643e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0cc7e1203f04599" /><Relationship Type="http://schemas.openxmlformats.org/officeDocument/2006/relationships/image" Target="/ppt/media/image.png" Id="R84ed43c58def4d1f" /><Relationship Type="http://schemas.openxmlformats.org/officeDocument/2006/relationships/notesSlide" Target="/ppt/notesSlides/notesSlide1.xml" Id="Re22e2984e3e24eb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cabd7a2d9574eaa" /><Relationship Type="http://schemas.openxmlformats.org/officeDocument/2006/relationships/notesSlide" Target="/ppt/notesSlides/notesSlide2.xml" Id="Rad756f738dee497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24875dd8dc943eb" /><Relationship Type="http://schemas.openxmlformats.org/officeDocument/2006/relationships/notesSlide" Target="/ppt/notesSlides/notesSlide3.xml" Id="R803b8309eb5a45b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221ff8447434df6" /><Relationship Type="http://schemas.openxmlformats.org/officeDocument/2006/relationships/image" Target="/ppt/media/image2.png" Id="Rce62be894c10467b" /><Relationship Type="http://schemas.openxmlformats.org/officeDocument/2006/relationships/notesSlide" Target="/ppt/notesSlides/notesSlide4.xml" Id="Rb1c0c889c3334da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f0b7ccc2c5b47c2" /><Relationship Type="http://schemas.openxmlformats.org/officeDocument/2006/relationships/image" Target="/ppt/media/image3.png" Id="Rbfff4bb887da46d1" /><Relationship Type="http://schemas.openxmlformats.org/officeDocument/2006/relationships/notesSlide" Target="/ppt/notesSlides/notesSlide5.xml" Id="Rd2c4735713c648e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223f2ae02b344a3" /><Relationship Type="http://schemas.openxmlformats.org/officeDocument/2006/relationships/notesSlide" Target="/ppt/notesSlides/notesSlide6.xml" Id="R131e0e05d48944c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9225b428d9f4a0d" /><Relationship Type="http://schemas.openxmlformats.org/officeDocument/2006/relationships/notesSlide" Target="/ppt/notesSlides/notesSlide7.xml" Id="R3389d676768f4fb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7c8a06718894cc2" /><Relationship Type="http://schemas.openxmlformats.org/officeDocument/2006/relationships/notesSlide" Target="/ppt/notesSlides/notesSlide8.xml" Id="R07e54d113479421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a4d3739f93c41d9" /><Relationship Type="http://schemas.openxmlformats.org/officeDocument/2006/relationships/notesSlide" Target="/ppt/notesSlides/notesSlide9.xml" Id="R9667062bf9c64ea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b048bee8fb14ae6" /><Relationship Type="http://schemas.openxmlformats.org/officeDocument/2006/relationships/notesSlide" Target="/ppt/notesSlides/notesSlide10.xml" Id="R7821c6f444394e6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47cff67a3164300" /><Relationship Type="http://schemas.openxmlformats.org/officeDocument/2006/relationships/notesSlide" Target="/ppt/notesSlides/notesSlide11.xml" Id="R0dc6426aa9e243b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33e49ef31ac4ae6" /><Relationship Type="http://schemas.openxmlformats.org/officeDocument/2006/relationships/notesSlide" Target="/ppt/notesSlides/notesSlide12.xml" Id="Rbb6f964923ba46d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46e1f9bc5fc4fc3" /><Relationship Type="http://schemas.openxmlformats.org/officeDocument/2006/relationships/notesSlide" Target="/ppt/notesSlides/notesSlide13.xml" Id="Re0544ae1643a4ed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1ffabf1d5034054" /><Relationship Type="http://schemas.openxmlformats.org/officeDocument/2006/relationships/chart" Target="/ppt/slides/charts/chart1.xml" Id="R2e22a63fc3004e18" /><Relationship Type="http://schemas.openxmlformats.org/officeDocument/2006/relationships/notesSlide" Target="/ppt/notesSlides/notesSlide14.xml" Id="Rb1a46f7d5f9a45f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02bd8af4d454f7d" /><Relationship Type="http://schemas.openxmlformats.org/officeDocument/2006/relationships/notesSlide" Target="/ppt/notesSlides/notesSlide15.xml" Id="R6587fc25b69640c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7f60af56f844f26" /><Relationship Type="http://schemas.openxmlformats.org/officeDocument/2006/relationships/notesSlide" Target="/ppt/notesSlides/notesSlide16.xml" Id="Ra538f48a107a457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03ef2009b2f43e4" /><Relationship Type="http://schemas.openxmlformats.org/officeDocument/2006/relationships/notesSlide" Target="/ppt/notesSlides/notesSlide17.xml" Id="R7593d756de314da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9695b699a744ea9" /><Relationship Type="http://schemas.openxmlformats.org/officeDocument/2006/relationships/notesSlide" Target="/ppt/notesSlides/notesSlide18.xml" Id="Ra047b250abb2450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91ccdf570754fcc" /><Relationship Type="http://schemas.openxmlformats.org/officeDocument/2006/relationships/notesSlide" Target="/ppt/notesSlides/notesSlide19.xml" Id="Rab8471f7a0bc401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16864ff14dae48b9" /><Relationship Type="http://schemas.openxmlformats.org/officeDocument/2006/relationships/notesSlide" Target="/ppt/notesSlides/notesSlide20.xml" Id="R5b67b3d346f24e4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ca28a8d814349df" /><Relationship Type="http://schemas.openxmlformats.org/officeDocument/2006/relationships/notesSlide" Target="/ppt/notesSlides/notesSlide21.xml" Id="R7f5cf1dee4f44bb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ab9207dcef74778" /><Relationship Type="http://schemas.openxmlformats.org/officeDocument/2006/relationships/notesSlide" Target="/ppt/notesSlides/notesSlide22.xml" Id="R86becc97d2f743b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Finder fees after waivers</c:v>
          </c:tx>
          <c:spPr>
            <a:solidFill xmlns:a="http://schemas.openxmlformats.org/drawingml/2006/main">
              <a:srgbClr val="8EAA79"/>
            </a:solidFill>
          </c:spPr>
          <c:cat>
            <c:numRef>
              <c:f>'Chart Data'!$A$2:$A$8</c:f>
              <c:numCache>
                <c:formatCode>General</c:formatCode>
                <c:ptCount val="7"/>
                <c:pt idx="0">
                  <c:v>2027</c:v>
                </c:pt>
                <c:pt idx="1">
                  <c:v>2028</c:v>
                </c:pt>
                <c:pt idx="2">
                  <c:v>2029</c:v>
                </c:pt>
                <c:pt idx="3">
                  <c:v>2030</c:v>
                </c:pt>
                <c:pt idx="4">
                  <c:v>2031</c:v>
                </c:pt>
                <c:pt idx="5">
                  <c:v>2032</c:v>
                </c:pt>
                <c:pt idx="6">
                  <c:v>2033</c:v>
                </c:pt>
              </c:numCache>
            </c:numRef>
          </c:cat>
          <c:val>
            <c:numRef>
              <c:f>'Chart Data'!$B$2:$B$8</c:f>
              <c:numCache>
                <c:formatCode>$0.0</c:formatCode>
                <c:ptCount val="7"/>
                <c:pt idx="0">
                  <c:v>0.0216</c:v>
                </c:pt>
                <c:pt idx="1">
                  <c:v>0.110025</c:v>
                </c:pt>
                <c:pt idx="2">
                  <c:v>0.395199</c:v>
                </c:pt>
                <c:pt idx="3">
                  <c:v>1.097737</c:v>
                </c:pt>
                <c:pt idx="4">
                  <c:v>2.41504</c:v>
                </c:pt>
                <c:pt idx="5">
                  <c:v>4.392119</c:v>
                </c:pt>
                <c:pt idx="6">
                  <c:v>7.029277</c:v>
                </c:pt>
              </c:numCache>
            </c:numRef>
          </c:val>
        </c:ser>
        <c:ser>
          <c:idx val="1"/>
          <c:order val="1"/>
          <c:tx>
            <c:v>Service fees</c:v>
          </c:tx>
          <c:spPr>
            <a:solidFill xmlns:a="http://schemas.openxmlformats.org/drawingml/2006/main">
              <a:srgbClr val="205938"/>
            </a:solidFill>
          </c:spPr>
          <c:cat>
            <c:numRef>
              <c:f>'Chart Data'!$C$2:$C$8</c:f>
              <c:numCache>
                <c:formatCode>General</c:formatCode>
                <c:ptCount val="7"/>
                <c:pt idx="0">
                  <c:v>2027</c:v>
                </c:pt>
                <c:pt idx="1">
                  <c:v>2028</c:v>
                </c:pt>
                <c:pt idx="2">
                  <c:v>2029</c:v>
                </c:pt>
                <c:pt idx="3">
                  <c:v>2030</c:v>
                </c:pt>
                <c:pt idx="4">
                  <c:v>2031</c:v>
                </c:pt>
                <c:pt idx="5">
                  <c:v>2032</c:v>
                </c:pt>
                <c:pt idx="6">
                  <c:v>2033</c:v>
                </c:pt>
              </c:numCache>
            </c:numRef>
          </c:cat>
          <c:val>
            <c:numRef>
              <c:f>'Chart Data'!$D$2:$D$8</c:f>
              <c:numCache>
                <c:formatCode>$0.0</c:formatCode>
                <c:ptCount val="7"/>
                <c:pt idx="0">
                  <c:v>0.012782</c:v>
                </c:pt>
                <c:pt idx="1">
                  <c:v>0.081806</c:v>
                </c:pt>
                <c:pt idx="2">
                  <c:v>0.339369</c:v>
                </c:pt>
                <c:pt idx="3">
                  <c:v>1.083283</c:v>
                </c:pt>
                <c:pt idx="4">
                  <c:v>2.783964</c:v>
                </c:pt>
                <c:pt idx="5">
                  <c:v>5.908459</c:v>
                </c:pt>
                <c:pt idx="6">
                  <c:v>10.862247</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85"/>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8EDDF"/>
            </a:solidFill>
          </a:ln>
        </c:spPr>
        <c:txPr>
          <a:bodyPr xmlns:a="http://schemas.openxmlformats.org/drawingml/2006/main" anchorCtr="1"/>
          <a:lstStyle xmlns:a="http://schemas.openxmlformats.org/drawingml/2006/main"/>
          <a:p xmlns:a="http://schemas.openxmlformats.org/drawingml/2006/main">
            <a:pPr>
              <a:defRPr sz="1350">
                <a:solidFill>
                  <a:srgbClr val="14281D"/>
                </a:solidFill>
                <a:latin typeface="Arial"/>
                <a:ea typeface="Arial"/>
                <a:cs typeface="Arial"/>
              </a:defRPr>
            </a:pPr>
          </a:p>
        </c:txPr>
        <c:crossAx val="48672768"/>
      </c:catAx>
      <c:valAx>
        <c:axId val="48672768"/>
        <c:scaling>
          <c:orientation val="minMax"/>
          <c:max val="20"/>
          <c:min val="0"/>
        </c:scaling>
        <c:delete val="0"/>
        <c:axPos val="l"/>
        <c:majorGridlines>
          <c:spPr>
            <a:ln xmlns:a="http://schemas.openxmlformats.org/drawingml/2006/main" w="9525">
              <a:solidFill>
                <a:srgbClr val="D9DFD5"/>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756A"/>
                </a:solidFill>
                <a:latin typeface="Arial"/>
                <a:ea typeface="Arial"/>
                <a:cs typeface="Arial"/>
              </a:defRPr>
            </a:pPr>
          </a:p>
        </c:txPr>
        <c:crossAx val="48650112"/>
        <c:crossBetween val="between"/>
        <c:majorUnit val="5"/>
      </c:valAx>
      <c:spPr>
        <a:solidFill xmlns:a="http://schemas.openxmlformats.org/drawingml/2006/main">
          <a:srgbClr val="F7F5E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14281D"/>
              </a:solidFill>
              <a:latin typeface="Arial"/>
              <a:ea typeface="Arial"/>
              <a:cs typeface="Arial"/>
            </a:defRPr>
          </a:pPr>
        </a:p>
      </c:txPr>
    </c:legend>
    <c:plotVisOnly val="1"/>
  </c:chart>
  <c:spPr>
    <a:solidFill xmlns:a="http://schemas.openxmlformats.org/drawingml/2006/main">
      <a:srgbClr val="F7F5E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YardMatch">
            <a:extLst xmlns:a="http://schemas.openxmlformats.org/drawingml/2006/main">
              <a:ext uri="{FF2B5EF4-FFF2-40B4-BE49-F238E27FC236}">
                <a16:creationId xmlns:a16="http://schemas.microsoft.com/office/drawing/2014/main" id="{44CB0F66-E3D4-4E6C-9E37-31202481A403}"/>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2" name="01">
            <a:extLst xmlns:a="http://schemas.openxmlformats.org/drawingml/2006/main">
              <a:ext uri="{FF2B5EF4-FFF2-40B4-BE49-F238E27FC236}">
                <a16:creationId xmlns:a16="http://schemas.microsoft.com/office/drawing/2014/main" id="{3DD0B99C-A033-4ABD-8A5F-727DFA206227}"/>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84ed43c58def4d1f"/>
          <a:stretch xmlns:a="http://schemas.openxmlformats.org/drawingml/2006/main"/>
        </p:blipFill>
        <p:spPr>
          <a:xfrm xmlns:a="http://schemas.openxmlformats.org/drawingml/2006/main">
            <a:off x="552450" y="461963"/>
            <a:ext cx="4714875" cy="1571625"/>
          </a:xfrm>
          <a:prstGeom xmlns:a="http://schemas.openxmlformats.org/drawingml/2006/main" prst="rect">
            <a:avLst/>
          </a:prstGeom>
        </p:spPr>
      </p:pic>
      <p:sp>
        <p:nvSpPr>
          <p:cNvPr id="4" name="Investing in recurring&#10;local property care">
            <a:extLst xmlns:a="http://schemas.openxmlformats.org/drawingml/2006/main">
              <a:ext uri="{FF2B5EF4-FFF2-40B4-BE49-F238E27FC236}">
                <a16:creationId xmlns:a16="http://schemas.microsoft.com/office/drawing/2014/main" id="{3B46467C-FAF6-49F3-815E-FF3E6DF8371A}"/>
              </a:ext>
            </a:extLst>
          </p:cNvPr>
          <p:cNvSpPr>
            <a:spLocks xmlns:a="http://schemas.openxmlformats.org/drawingml/2006/main" noGrp="1"/>
          </p:cNvSpPr>
          <p:nvPr/>
        </p:nvSpPr>
        <p:spPr>
          <a:xfrm xmlns:a="http://schemas.openxmlformats.org/drawingml/2006/main">
            <a:off x="609600" y="2466975"/>
            <a:ext cx="10572750"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0">
                <a:solidFill>
                  <a:srgbClr val="205938"/>
                </a:solidFill>
                <a:latin typeface="Georgia"/>
                <a:ea typeface="Georgia"/>
                <a:cs typeface="Georgia"/>
              </a:defRPr>
            </a:pPr>
            <a:r>
              <a:rPr sz="5100" b="0">
                <a:solidFill>
                  <a:srgbClr val="205938"/>
                </a:solidFill>
                <a:latin typeface="Georgia"/>
                <a:ea typeface="Georgia"/>
                <a:cs typeface="Georgia"/>
              </a:rPr>
              <a:t>Investing in recurring</a:t>
            </a:r>
          </a:p>
          <a:p xmlns:a="http://schemas.openxmlformats.org/drawingml/2006/main">
            <a:pPr algn="l">
              <a:defRPr sz="5100" b="0">
                <a:solidFill>
                  <a:srgbClr val="205938"/>
                </a:solidFill>
                <a:latin typeface="Georgia"/>
                <a:ea typeface="Georgia"/>
                <a:cs typeface="Georgia"/>
              </a:defRPr>
            </a:pPr>
            <a:r>
              <a:rPr sz="5100" b="0">
                <a:solidFill>
                  <a:srgbClr val="205938"/>
                </a:solidFill>
                <a:latin typeface="Georgia"/>
                <a:ea typeface="Georgia"/>
                <a:cs typeface="Georgia"/>
              </a:rPr>
              <a:t>local property care</a:t>
            </a:r>
          </a:p>
        </p:txBody>
      </p:sp>
      <p:sp>
        <p:nvSpPr>
          <p:cNvPr id="5" name="A managed marketplace for homeowners and local ser">
            <a:extLst xmlns:a="http://schemas.openxmlformats.org/drawingml/2006/main">
              <a:ext uri="{FF2B5EF4-FFF2-40B4-BE49-F238E27FC236}">
                <a16:creationId xmlns:a16="http://schemas.microsoft.com/office/drawing/2014/main" id="{6423EA47-F3A6-4EA0-8786-A6EE2AEAABCD}"/>
              </a:ext>
            </a:extLst>
          </p:cNvPr>
          <p:cNvSpPr>
            <a:spLocks xmlns:a="http://schemas.openxmlformats.org/drawingml/2006/main" noGrp="1"/>
          </p:cNvSpPr>
          <p:nvPr/>
        </p:nvSpPr>
        <p:spPr>
          <a:xfrm xmlns:a="http://schemas.openxmlformats.org/drawingml/2006/main">
            <a:off x="647700" y="4552950"/>
            <a:ext cx="9715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4281D"/>
                </a:solidFill>
                <a:latin typeface="Arial"/>
                <a:ea typeface="Arial"/>
                <a:cs typeface="Arial"/>
              </a:defRPr>
            </a:pPr>
            <a:r>
              <a:rPr sz="2100" b="0">
                <a:solidFill>
                  <a:srgbClr val="14281D"/>
                </a:solidFill>
                <a:latin typeface="Arial"/>
                <a:ea typeface="Arial"/>
                <a:cs typeface="Arial"/>
              </a:rPr>
              <a:t>A managed marketplace for homeowners and local service businesses</a:t>
            </a:r>
          </a:p>
        </p:txBody>
      </p:sp>
      <p:sp>
        <p:nvSpPr>
          <p:cNvPr id="6" name="Investor discussion draft&#10;September 2026">
            <a:extLst xmlns:a="http://schemas.openxmlformats.org/drawingml/2006/main">
              <a:ext uri="{FF2B5EF4-FFF2-40B4-BE49-F238E27FC236}">
                <a16:creationId xmlns:a16="http://schemas.microsoft.com/office/drawing/2014/main" id="{20208556-C31A-4E94-8262-EA950CEF8FF9}"/>
              </a:ext>
            </a:extLst>
          </p:cNvPr>
          <p:cNvSpPr>
            <a:spLocks xmlns:a="http://schemas.openxmlformats.org/drawingml/2006/main" noGrp="1"/>
          </p:cNvSpPr>
          <p:nvPr/>
        </p:nvSpPr>
        <p:spPr>
          <a:xfrm xmlns:a="http://schemas.openxmlformats.org/drawingml/2006/main">
            <a:off x="647700" y="5505450"/>
            <a:ext cx="7429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66756A"/>
                </a:solidFill>
                <a:latin typeface="Arial"/>
                <a:ea typeface="Arial"/>
                <a:cs typeface="Arial"/>
              </a:defRPr>
            </a:pPr>
            <a:r>
              <a:rPr sz="1500" b="0">
                <a:solidFill>
                  <a:srgbClr val="66756A"/>
                </a:solidFill>
                <a:latin typeface="Arial"/>
                <a:ea typeface="Arial"/>
                <a:cs typeface="Arial"/>
              </a:rPr>
              <a:t>Investor discussion draft</a:t>
            </a:r>
          </a:p>
          <a:p xmlns:a="http://schemas.openxmlformats.org/drawingml/2006/main">
            <a:pPr algn="l">
              <a:defRPr sz="1500" b="0">
                <a:solidFill>
                  <a:srgbClr val="66756A"/>
                </a:solidFill>
                <a:latin typeface="Arial"/>
                <a:ea typeface="Arial"/>
                <a:cs typeface="Arial"/>
              </a:defRPr>
            </a:pPr>
            <a:r>
              <a:rPr sz="1500" b="0">
                <a:solidFill>
                  <a:srgbClr val="66756A"/>
                </a:solidFill>
                <a:latin typeface="Arial"/>
                <a:ea typeface="Arial"/>
                <a:cs typeface="Arial"/>
              </a:rPr>
              <a:t>September 2026</a:t>
            </a:r>
          </a:p>
        </p:txBody>
      </p:sp>
    </p:spTree>
    <p:extLst>
      <p:ext uri="{BB962C8B-B14F-4D97-AF65-F5344CB8AC3E}">
        <p14:creationId xmlns:p14="http://schemas.microsoft.com/office/powerpoint/2010/main" val="2080134920"/>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The investment thesis">
            <a:extLst xmlns:a="http://schemas.openxmlformats.org/drawingml/2006/main">
              <a:ext uri="{FF2B5EF4-FFF2-40B4-BE49-F238E27FC236}">
                <a16:creationId xmlns:a16="http://schemas.microsoft.com/office/drawing/2014/main" id="{765E8E30-73CC-43C4-9219-F30A85EA7054}"/>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investment thesis</a:t>
            </a:r>
          </a:p>
        </p:txBody>
      </p:sp>
      <p:sp>
        <p:nvSpPr>
          <p:cNvPr id="2" name="Own a share of the company that helps local servic">
            <a:extLst xmlns:a="http://schemas.openxmlformats.org/drawingml/2006/main">
              <a:ext uri="{FF2B5EF4-FFF2-40B4-BE49-F238E27FC236}">
                <a16:creationId xmlns:a16="http://schemas.microsoft.com/office/drawing/2014/main" id="{D6A00BD7-C349-4932-8FE8-78832896DFA5}"/>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Own a share of the company that helps local service relationships form and continue.</a:t>
            </a:r>
          </a:p>
        </p:txBody>
      </p:sp>
      <p:sp>
        <p:nvSpPr>
          <p:cNvPr id="3" name="YardMatch">
            <a:extLst xmlns:a="http://schemas.openxmlformats.org/drawingml/2006/main">
              <a:ext uri="{FF2B5EF4-FFF2-40B4-BE49-F238E27FC236}">
                <a16:creationId xmlns:a16="http://schemas.microsoft.com/office/drawing/2014/main" id="{531835AA-163B-481D-B54A-99D014CAC302}"/>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2">
            <a:extLst xmlns:a="http://schemas.openxmlformats.org/drawingml/2006/main">
              <a:ext uri="{FF2B5EF4-FFF2-40B4-BE49-F238E27FC236}">
                <a16:creationId xmlns:a16="http://schemas.microsoft.com/office/drawing/2014/main" id="{5786B5CC-5248-418D-98A6-4C69788CDD15}"/>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02</a:t>
            </a:r>
          </a:p>
        </p:txBody>
      </p:sp>
      <p:sp>
        <p:nvSpPr>
          <p:cNvPr id="5" name="A useful first transaction">
            <a:extLst xmlns:a="http://schemas.openxmlformats.org/drawingml/2006/main">
              <a:ext uri="{FF2B5EF4-FFF2-40B4-BE49-F238E27FC236}">
                <a16:creationId xmlns:a16="http://schemas.microsoft.com/office/drawing/2014/main" id="{65DB5819-A560-4C2D-92E2-8C4052F717B1}"/>
              </a:ext>
            </a:extLst>
          </p:cNvPr>
          <p:cNvSpPr>
            <a:spLocks xmlns:a="http://schemas.openxmlformats.org/drawingml/2006/main" noGrp="1"/>
          </p:cNvSpPr>
          <p:nvPr/>
        </p:nvSpPr>
        <p:spPr>
          <a:xfrm xmlns:a="http://schemas.openxmlformats.org/drawingml/2006/main">
            <a:off x="628650" y="2495550"/>
            <a:ext cx="4972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 useful first transaction</a:t>
            </a:r>
          </a:p>
        </p:txBody>
      </p:sp>
      <p:sp>
        <p:nvSpPr>
          <p:cNvPr id="6" name="A qualified recommendation helps a homeowner book ">
            <a:extLst xmlns:a="http://schemas.openxmlformats.org/drawingml/2006/main">
              <a:ext uri="{FF2B5EF4-FFF2-40B4-BE49-F238E27FC236}">
                <a16:creationId xmlns:a16="http://schemas.microsoft.com/office/drawing/2014/main" id="{AA7CF568-27A9-46A1-BF5E-AB9559EE3758}"/>
              </a:ext>
            </a:extLst>
          </p:cNvPr>
          <p:cNvSpPr>
            <a:spLocks xmlns:a="http://schemas.openxmlformats.org/drawingml/2006/main" noGrp="1"/>
          </p:cNvSpPr>
          <p:nvPr/>
        </p:nvSpPr>
        <p:spPr>
          <a:xfrm xmlns:a="http://schemas.openxmlformats.org/drawingml/2006/main">
            <a:off x="628650" y="3019425"/>
            <a:ext cx="49720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A qualified recommendation helps a homeowner book and gives a provider a new customer.</a:t>
            </a:r>
          </a:p>
        </p:txBody>
      </p:sp>
      <p:sp>
        <p:nvSpPr>
          <p:cNvPr id="7" name="An ongoing reason to return">
            <a:extLst xmlns:a="http://schemas.openxmlformats.org/drawingml/2006/main">
              <a:ext uri="{FF2B5EF4-FFF2-40B4-BE49-F238E27FC236}">
                <a16:creationId xmlns:a16="http://schemas.microsoft.com/office/drawing/2014/main" id="{1F6831D2-40AC-4C4F-A4FD-8270CABBA9B5}"/>
              </a:ext>
            </a:extLst>
          </p:cNvPr>
          <p:cNvSpPr>
            <a:spLocks xmlns:a="http://schemas.openxmlformats.org/drawingml/2006/main" noGrp="1"/>
          </p:cNvSpPr>
          <p:nvPr/>
        </p:nvSpPr>
        <p:spPr>
          <a:xfrm xmlns:a="http://schemas.openxmlformats.org/drawingml/2006/main">
            <a:off x="6381750" y="249555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An ongoing reason to return</a:t>
            </a:r>
          </a:p>
        </p:txBody>
      </p:sp>
      <p:sp>
        <p:nvSpPr>
          <p:cNvPr id="8" name="Schedules, service history, arrival updates and is">
            <a:extLst xmlns:a="http://schemas.openxmlformats.org/drawingml/2006/main">
              <a:ext uri="{FF2B5EF4-FFF2-40B4-BE49-F238E27FC236}">
                <a16:creationId xmlns:a16="http://schemas.microsoft.com/office/drawing/2014/main" id="{9983B01A-F484-4F8D-B7B7-9F5FB8C3FF6D}"/>
              </a:ext>
            </a:extLst>
          </p:cNvPr>
          <p:cNvSpPr>
            <a:spLocks xmlns:a="http://schemas.openxmlformats.org/drawingml/2006/main" noGrp="1"/>
          </p:cNvSpPr>
          <p:nvPr/>
        </p:nvSpPr>
        <p:spPr>
          <a:xfrm xmlns:a="http://schemas.openxmlformats.org/drawingml/2006/main">
            <a:off x="6381750" y="3019425"/>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Schedules, service history, arrival updates and issue resolution keep later visits connected.</a:t>
            </a:r>
          </a:p>
        </p:txBody>
      </p:sp>
      <p:sp>
        <p:nvSpPr>
          <p:cNvPr id="9" name="The opportunity depends on profitable repeat use">
            <a:extLst xmlns:a="http://schemas.openxmlformats.org/drawingml/2006/main">
              <a:ext uri="{FF2B5EF4-FFF2-40B4-BE49-F238E27FC236}">
                <a16:creationId xmlns:a16="http://schemas.microsoft.com/office/drawing/2014/main" id="{9328DDDF-D542-470C-A40C-9864CB1D43BC}"/>
              </a:ext>
            </a:extLst>
          </p:cNvPr>
          <p:cNvSpPr>
            <a:spLocks xmlns:a="http://schemas.openxmlformats.org/drawingml/2006/main" noGrp="1"/>
          </p:cNvSpPr>
          <p:nvPr/>
        </p:nvSpPr>
        <p:spPr>
          <a:xfrm xmlns:a="http://schemas.openxmlformats.org/drawingml/2006/main">
            <a:off x="628650" y="4581525"/>
            <a:ext cx="10715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05938"/>
                </a:solidFill>
                <a:latin typeface="Arial"/>
                <a:ea typeface="Arial"/>
                <a:cs typeface="Arial"/>
              </a:defRPr>
            </a:pPr>
            <a:r>
              <a:rPr sz="2475" b="1">
                <a:solidFill>
                  <a:srgbClr val="205938"/>
                </a:solidFill>
                <a:latin typeface="Arial"/>
                <a:ea typeface="Arial"/>
                <a:cs typeface="Arial"/>
              </a:rPr>
              <a:t>The opportunity depends on profitable repeat use</a:t>
            </a:r>
          </a:p>
        </p:txBody>
      </p:sp>
      <p:sp>
        <p:nvSpPr>
          <p:cNvPr id="10" name="Local density can lower acquisition and operating ">
            <a:extLst xmlns:a="http://schemas.openxmlformats.org/drawingml/2006/main">
              <a:ext uri="{FF2B5EF4-FFF2-40B4-BE49-F238E27FC236}">
                <a16:creationId xmlns:a16="http://schemas.microsoft.com/office/drawing/2014/main" id="{E4D54F32-AA7F-4498-B2E4-ED788331CE98}"/>
              </a:ext>
            </a:extLst>
          </p:cNvPr>
          <p:cNvSpPr>
            <a:spLocks xmlns:a="http://schemas.openxmlformats.org/drawingml/2006/main" noGrp="1"/>
          </p:cNvSpPr>
          <p:nvPr/>
        </p:nvSpPr>
        <p:spPr>
          <a:xfrm xmlns:a="http://schemas.openxmlformats.org/drawingml/2006/main">
            <a:off x="628650" y="5181600"/>
            <a:ext cx="10477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4281D"/>
                </a:solidFill>
                <a:latin typeface="Arial"/>
                <a:ea typeface="Arial"/>
                <a:cs typeface="Arial"/>
              </a:defRPr>
            </a:pPr>
            <a:r>
              <a:rPr sz="1950" b="0">
                <a:solidFill>
                  <a:srgbClr val="14281D"/>
                </a:solidFill>
                <a:latin typeface="Arial"/>
                <a:ea typeface="Arial"/>
                <a:cs typeface="Arial"/>
              </a:rPr>
              <a:t>Local density can lower acquisition and operating costs. Each expansion must demonstrate those savings before it earns more capital.</a:t>
            </a:r>
          </a:p>
        </p:txBody>
      </p:sp>
      <p:sp>
        <p:nvSpPr>
          <p:cNvPr id="11" name="Investment hypothesis. The model does not assume s">
            <a:extLst xmlns:a="http://schemas.openxmlformats.org/drawingml/2006/main">
              <a:ext uri="{FF2B5EF4-FFF2-40B4-BE49-F238E27FC236}">
                <a16:creationId xmlns:a16="http://schemas.microsoft.com/office/drawing/2014/main" id="{B4F117A5-710C-48B8-8A0F-3D0D26B76A33}"/>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Investment hypothesis. The model does not assume subscriptions, advertising or repeated finder fees from the same relationship.</a:t>
            </a:r>
          </a:p>
        </p:txBody>
      </p:sp>
    </p:spTree>
    <p:extLst>
      <p:ext uri="{BB962C8B-B14F-4D97-AF65-F5344CB8AC3E}">
        <p14:creationId xmlns:p14="http://schemas.microsoft.com/office/powerpoint/2010/main" val="2119906398"/>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Booking is only the start of the work">
            <a:extLst xmlns:a="http://schemas.openxmlformats.org/drawingml/2006/main">
              <a:ext uri="{FF2B5EF4-FFF2-40B4-BE49-F238E27FC236}">
                <a16:creationId xmlns:a16="http://schemas.microsoft.com/office/drawing/2014/main" id="{24A2B92A-6310-4E46-8F51-DB46D33101AD}"/>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Booking is only the start of the work</a:t>
            </a:r>
          </a:p>
        </p:txBody>
      </p:sp>
      <p:sp>
        <p:nvSpPr>
          <p:cNvPr id="2" name="YardMatch connects the customer request to the pro">
            <a:extLst xmlns:a="http://schemas.openxmlformats.org/drawingml/2006/main">
              <a:ext uri="{FF2B5EF4-FFF2-40B4-BE49-F238E27FC236}">
                <a16:creationId xmlns:a16="http://schemas.microsoft.com/office/drawing/2014/main" id="{B65600E0-42EF-47B6-81D6-F8F63A21EA06}"/>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YardMatch connects the customer request to the provider’s schedule and the crew’s actual visit.</a:t>
            </a:r>
          </a:p>
        </p:txBody>
      </p:sp>
      <p:sp>
        <p:nvSpPr>
          <p:cNvPr id="3" name="YardMatch">
            <a:extLst xmlns:a="http://schemas.openxmlformats.org/drawingml/2006/main">
              <a:ext uri="{FF2B5EF4-FFF2-40B4-BE49-F238E27FC236}">
                <a16:creationId xmlns:a16="http://schemas.microsoft.com/office/drawing/2014/main" id="{33186A41-C9CB-418B-9C51-FA88E243DEA9}"/>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3">
            <a:extLst xmlns:a="http://schemas.openxmlformats.org/drawingml/2006/main">
              <a:ext uri="{FF2B5EF4-FFF2-40B4-BE49-F238E27FC236}">
                <a16:creationId xmlns:a16="http://schemas.microsoft.com/office/drawing/2014/main" id="{2CFD98CF-9067-4FF6-8542-7E4175F66B99}"/>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03</a:t>
            </a:r>
          </a:p>
        </p:txBody>
      </p:sp>
      <p:graphicFrame>
        <p:nvGraphicFramePr>
          <p:cNvPr id="11" name=""/>
          <p:cNvGraphicFramePr/>
          <p:nvPr/>
        </p:nvGraphicFramePr>
        <p:xfrm>
          <a:off xmlns:a="http://schemas.openxmlformats.org/drawingml/2006/main" x="609600" y="2352675"/>
          <a:ext xmlns:a="http://schemas.openxmlformats.org/drawingml/2006/main" cx="10972800" cy="3209925"/>
        </p:xfrm>
        <a:graphic xmlns:a="http://schemas.openxmlformats.org/drawingml/2006/main">
          <a:graphicData uri="http://schemas.openxmlformats.org/drawingml/2006/table">
            <a:tbl>
              <a:tblPr/>
              <a:tblGrid>
                <a:gridCol w="3333750"/>
                <a:gridCol w="3429000"/>
                <a:gridCol w="4210050"/>
              </a:tblGrid>
              <a:tr h="802481">
                <a:tc>
                  <a:txBody>
                    <a:bodyPr lIns="114300" tIns="76200" rIns="114300" bIns="76200">
                      <a:noAutofit/>
                    </a:bodyPr>
                    <a:lstStyle/>
                    <a:p>
                      <a:pPr algn="l"/>
                      <a:r>
                        <a:rPr sz="1875" b="1">
                          <a:solidFill>
                            <a:srgbClr val="FFFFFF"/>
                          </a:solidFill>
                          <a:latin typeface="Arial"/>
                          <a:ea typeface="Arial"/>
                          <a:cs typeface="Arial"/>
                        </a:rPr>
                        <a:t>Customer need</a:t>
                      </a:r>
                    </a:p>
                  </a:txBody>
                  <a:tcPr marL="91440" marR="91440" marT="45720" marB="45720" anchor="ctr">
                    <a:solidFill>
                      <a:srgbClr val="205938"/>
                    </a:solidFill>
                  </a:tcPr>
                </a:tc>
                <a:tc>
                  <a:txBody>
                    <a:bodyPr lIns="114300" tIns="76200" rIns="114300" bIns="76200">
                      <a:noAutofit/>
                    </a:bodyPr>
                    <a:lstStyle/>
                    <a:p>
                      <a:pPr algn="r"/>
                      <a:r>
                        <a:rPr sz="1875" b="1">
                          <a:solidFill>
                            <a:srgbClr val="FFFFFF"/>
                          </a:solidFill>
                          <a:latin typeface="Arial"/>
                          <a:ea typeface="Arial"/>
                          <a:cs typeface="Arial"/>
                        </a:rPr>
                        <a:t>Provider need</a:t>
                      </a:r>
                    </a:p>
                  </a:txBody>
                  <a:tcPr marL="91440" marR="91440" marT="45720" marB="45720" anchor="ctr">
                    <a:solidFill>
                      <a:srgbClr val="205938"/>
                    </a:solidFill>
                  </a:tcPr>
                </a:tc>
                <a:tc>
                  <a:txBody>
                    <a:bodyPr lIns="114300" tIns="76200" rIns="114300" bIns="76200">
                      <a:noAutofit/>
                    </a:bodyPr>
                    <a:lstStyle/>
                    <a:p>
                      <a:pPr algn="r"/>
                      <a:r>
                        <a:rPr sz="1875" b="1">
                          <a:solidFill>
                            <a:srgbClr val="FFFFFF"/>
                          </a:solidFill>
                          <a:latin typeface="Arial"/>
                          <a:ea typeface="Arial"/>
                          <a:cs typeface="Arial"/>
                        </a:rPr>
                        <a:t>YardMatch response</a:t>
                      </a:r>
                    </a:p>
                  </a:txBody>
                  <a:tcPr marL="91440" marR="91440" marT="45720" marB="45720" anchor="ctr">
                    <a:solidFill>
                      <a:srgbClr val="205938"/>
                    </a:solidFill>
                  </a:tcPr>
                </a:tc>
              </a:tr>
              <a:tr h="802481">
                <a:tc>
                  <a:txBody>
                    <a:bodyPr lIns="114300" tIns="76200" rIns="114300" bIns="76200">
                      <a:noAutofit/>
                    </a:bodyPr>
                    <a:lstStyle/>
                    <a:p>
                      <a:pPr algn="l"/>
                      <a:r>
                        <a:rPr sz="1875" b="0">
                          <a:solidFill>
                            <a:srgbClr val="14281D"/>
                          </a:solidFill>
                          <a:latin typeface="Arial"/>
                          <a:ea typeface="Arial"/>
                          <a:cs typeface="Arial"/>
                        </a:rPr>
                        <a:t>A suitable, available business</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New work that fits the route</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One recommendation and a few qualified backups</a:t>
                      </a:r>
                    </a:p>
                  </a:txBody>
                  <a:tcPr marL="91440" marR="91440" marT="45720" marB="45720" anchor="ctr">
                    <a:solidFill>
                      <a:srgbClr val="FFFFFF"/>
                    </a:solidFill>
                  </a:tcPr>
                </a:tc>
              </a:tr>
              <a:tr h="802481">
                <a:tc>
                  <a:txBody>
                    <a:bodyPr lIns="114300" tIns="76200" rIns="114300" bIns="76200">
                      <a:noAutofit/>
                    </a:bodyPr>
                    <a:lstStyle/>
                    <a:p>
                      <a:pPr algn="l"/>
                      <a:r>
                        <a:rPr sz="1875" b="0">
                          <a:solidFill>
                            <a:srgbClr val="14281D"/>
                          </a:solidFill>
                          <a:latin typeface="Arial"/>
                          <a:ea typeface="Arial"/>
                          <a:cs typeface="Arial"/>
                        </a:rPr>
                        <a:t>Confidence about arrival</a:t>
                      </a:r>
                    </a:p>
                  </a:txBody>
                  <a:tcPr marL="91440" marR="91440" marT="45720" marB="45720" anchor="ctr">
                    <a:solidFill>
                      <a:srgbClr val="F7F5EF"/>
                    </a:solidFill>
                  </a:tcPr>
                </a:tc>
                <a:tc>
                  <a:txBody>
                    <a:bodyPr lIns="114300" tIns="76200" rIns="114300" bIns="76200">
                      <a:noAutofit/>
                    </a:bodyPr>
                    <a:lstStyle/>
                    <a:p>
                      <a:pPr algn="r"/>
                      <a:r>
                        <a:rPr sz="1875" b="0">
                          <a:solidFill>
                            <a:srgbClr val="14281D"/>
                          </a:solidFill>
                          <a:latin typeface="Arial"/>
                          <a:ea typeface="Arial"/>
                          <a:cs typeface="Arial"/>
                        </a:rPr>
                        <a:t>A schedule crews can execute</a:t>
                      </a:r>
                    </a:p>
                  </a:txBody>
                  <a:tcPr marL="91440" marR="91440" marT="45720" marB="45720" anchor="ctr">
                    <a:solidFill>
                      <a:srgbClr val="F7F5EF"/>
                    </a:solidFill>
                  </a:tcPr>
                </a:tc>
                <a:tc>
                  <a:txBody>
                    <a:bodyPr lIns="114300" tIns="76200" rIns="114300" bIns="76200">
                      <a:noAutofit/>
                    </a:bodyPr>
                    <a:lstStyle/>
                    <a:p>
                      <a:pPr algn="r"/>
                      <a:r>
                        <a:rPr sz="1875" b="0">
                          <a:solidFill>
                            <a:srgbClr val="14281D"/>
                          </a:solidFill>
                          <a:latin typeface="Arial"/>
                          <a:ea typeface="Arial"/>
                          <a:cs typeface="Arial"/>
                        </a:rPr>
                        <a:t>Shared job details and arrival updates</a:t>
                      </a:r>
                    </a:p>
                  </a:txBody>
                  <a:tcPr marL="91440" marR="91440" marT="45720" marB="45720" anchor="ctr">
                    <a:solidFill>
                      <a:srgbClr val="F7F5EF"/>
                    </a:solidFill>
                  </a:tcPr>
                </a:tc>
              </a:tr>
              <a:tr h="802481">
                <a:tc>
                  <a:txBody>
                    <a:bodyPr lIns="114300" tIns="76200" rIns="114300" bIns="76200">
                      <a:noAutofit/>
                    </a:bodyPr>
                    <a:lstStyle/>
                    <a:p>
                      <a:pPr algn="l"/>
                      <a:r>
                        <a:rPr sz="1875" b="0">
                          <a:solidFill>
                            <a:srgbClr val="14281D"/>
                          </a:solidFill>
                          <a:latin typeface="Arial"/>
                          <a:ea typeface="Arial"/>
                          <a:cs typeface="Arial"/>
                        </a:rPr>
                        <a:t>A dependable next visit</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Repeat business without another finder fee</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Rebooking, service records and follow-up</a:t>
                      </a:r>
                    </a:p>
                  </a:txBody>
                  <a:tcPr marL="91440" marR="91440" marT="45720" marB="45720" anchor="ctr">
                    <a:solidFill>
                      <a:srgbClr val="FFFFFF"/>
                    </a:solidFill>
                  </a:tcPr>
                </a:tc>
              </a:tr>
            </a:tbl>
          </a:graphicData>
        </a:graphic>
      </p:graphicFrame>
      <p:sp>
        <p:nvSpPr>
          <p:cNvPr id="6" name="Local referrals can supply trust. Direct texting a">
            <a:extLst xmlns:a="http://schemas.openxmlformats.org/drawingml/2006/main">
              <a:ext uri="{FF2B5EF4-FFF2-40B4-BE49-F238E27FC236}">
                <a16:creationId xmlns:a16="http://schemas.microsoft.com/office/drawing/2014/main" id="{440C91E3-6790-4DB4-9F74-C1CBD06C5DEB}"/>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Local referrals can supply trust. Direct texting and field-service tools can coordinate work. YardMatch aims to connect discovery with the ongoing job.</a:t>
            </a:r>
          </a:p>
        </p:txBody>
      </p:sp>
    </p:spTree>
    <p:extLst>
      <p:ext uri="{BB962C8B-B14F-4D97-AF65-F5344CB8AC3E}">
        <p14:creationId xmlns:p14="http://schemas.microsoft.com/office/powerpoint/2010/main" val="2077661691"/>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One service experience across three roles">
            <a:extLst xmlns:a="http://schemas.openxmlformats.org/drawingml/2006/main">
              <a:ext uri="{FF2B5EF4-FFF2-40B4-BE49-F238E27FC236}">
                <a16:creationId xmlns:a16="http://schemas.microsoft.com/office/drawing/2014/main" id="{C131C537-42BC-4915-9040-AC5171B20ACA}"/>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One service experience across three roles</a:t>
            </a:r>
          </a:p>
        </p:txBody>
      </p:sp>
      <p:sp>
        <p:nvSpPr>
          <p:cNvPr id="2" name="Customer, provider and crew share the job while ea">
            <a:extLst xmlns:a="http://schemas.openxmlformats.org/drawingml/2006/main">
              <a:ext uri="{FF2B5EF4-FFF2-40B4-BE49-F238E27FC236}">
                <a16:creationId xmlns:a16="http://schemas.microsoft.com/office/drawing/2014/main" id="{D123D6F1-8CD8-4C58-B5B7-78073F97BCD6}"/>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Customer, provider and crew share the job while each sees the information needed for their role.</a:t>
            </a:r>
          </a:p>
        </p:txBody>
      </p:sp>
      <p:sp>
        <p:nvSpPr>
          <p:cNvPr id="3" name="YardMatch">
            <a:extLst xmlns:a="http://schemas.openxmlformats.org/drawingml/2006/main">
              <a:ext uri="{FF2B5EF4-FFF2-40B4-BE49-F238E27FC236}">
                <a16:creationId xmlns:a16="http://schemas.microsoft.com/office/drawing/2014/main" id="{5EC68059-1607-412F-B382-018E15D3474B}"/>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4">
            <a:extLst xmlns:a="http://schemas.openxmlformats.org/drawingml/2006/main">
              <a:ext uri="{FF2B5EF4-FFF2-40B4-BE49-F238E27FC236}">
                <a16:creationId xmlns:a16="http://schemas.microsoft.com/office/drawing/2014/main" id="{AC6D35BF-D637-4357-9573-568AE357E699}"/>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04</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ce62be894c10467b"/>
          <a:stretch xmlns:a="http://schemas.openxmlformats.org/drawingml/2006/main"/>
        </p:blipFill>
        <p:spPr>
          <a:xfrm xmlns:a="http://schemas.openxmlformats.org/drawingml/2006/main">
            <a:off x="5110163" y="2276475"/>
            <a:ext cx="5286375" cy="3524250"/>
          </a:xfrm>
          <a:prstGeom xmlns:a="http://schemas.openxmlformats.org/drawingml/2006/main" prst="rect">
            <a:avLst/>
          </a:prstGeom>
        </p:spPr>
      </p:pic>
      <p:sp>
        <p:nvSpPr>
          <p:cNvPr id="6" name="Customer&#10;Book and follow the visit&#10;&#10;Provider&#10;Sched">
            <a:extLst xmlns:a="http://schemas.openxmlformats.org/drawingml/2006/main">
              <a:ext uri="{FF2B5EF4-FFF2-40B4-BE49-F238E27FC236}">
                <a16:creationId xmlns:a16="http://schemas.microsoft.com/office/drawing/2014/main" id="{2EF10207-01EC-4899-AE47-214EF6CCCE32}"/>
              </a:ext>
            </a:extLst>
          </p:cNvPr>
          <p:cNvSpPr>
            <a:spLocks xmlns:a="http://schemas.openxmlformats.org/drawingml/2006/main" noGrp="1"/>
          </p:cNvSpPr>
          <p:nvPr/>
        </p:nvSpPr>
        <p:spPr>
          <a:xfrm xmlns:a="http://schemas.openxmlformats.org/drawingml/2006/main">
            <a:off x="628650" y="2428875"/>
            <a:ext cx="3190875"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Customer</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Book and follow the visit</a:t>
            </a:r>
          </a:p>
          <a:p xmlns:a="http://schemas.openxmlformats.org/drawingml/2006/main">
            <a:r>
              <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Provider</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Schedule and assign work</a:t>
            </a:r>
          </a:p>
          <a:p xmlns:a="http://schemas.openxmlformats.org/drawingml/2006/main">
            <a:r>
              <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Crew</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Know the place and task</a:t>
            </a:r>
          </a:p>
        </p:txBody>
      </p:sp>
      <p:sp>
        <p:nvSpPr>
          <p:cNvPr id="7" name="Illustrative screens and sample data from the part">
            <a:extLst xmlns:a="http://schemas.openxmlformats.org/drawingml/2006/main">
              <a:ext uri="{FF2B5EF4-FFF2-40B4-BE49-F238E27FC236}">
                <a16:creationId xmlns:a16="http://schemas.microsoft.com/office/drawing/2014/main" id="{776B36DE-BF86-4015-AD6C-1A65DC694E07}"/>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Illustrative screens and sample data from the partner pitch. They do not show live customers or app-store availability.</a:t>
            </a:r>
          </a:p>
        </p:txBody>
      </p:sp>
    </p:spTree>
    <p:extLst>
      <p:ext uri="{BB962C8B-B14F-4D97-AF65-F5344CB8AC3E}">
        <p14:creationId xmlns:p14="http://schemas.microsoft.com/office/powerpoint/2010/main" val="2089394161"/>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Local density benefits both sides">
            <a:extLst xmlns:a="http://schemas.openxmlformats.org/drawingml/2006/main">
              <a:ext uri="{FF2B5EF4-FFF2-40B4-BE49-F238E27FC236}">
                <a16:creationId xmlns:a16="http://schemas.microsoft.com/office/drawing/2014/main" id="{06DF5AD0-3766-44F9-B30A-3E2BAA91AFE7}"/>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Local density benefits both sides</a:t>
            </a:r>
          </a:p>
        </p:txBody>
      </p:sp>
      <p:sp>
        <p:nvSpPr>
          <p:cNvPr id="2" name="Nearby bookings can fit existing routes and make a">
            <a:extLst xmlns:a="http://schemas.openxmlformats.org/drawingml/2006/main">
              <a:ext uri="{FF2B5EF4-FFF2-40B4-BE49-F238E27FC236}">
                <a16:creationId xmlns:a16="http://schemas.microsoft.com/office/drawing/2014/main" id="{3B3FD3AB-E727-41D4-821F-3A91B55D4052}"/>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Nearby bookings can fit existing routes and make a provider’s customer base more valuable.</a:t>
            </a:r>
          </a:p>
        </p:txBody>
      </p:sp>
      <p:sp>
        <p:nvSpPr>
          <p:cNvPr id="3" name="YardMatch">
            <a:extLst xmlns:a="http://schemas.openxmlformats.org/drawingml/2006/main">
              <a:ext uri="{FF2B5EF4-FFF2-40B4-BE49-F238E27FC236}">
                <a16:creationId xmlns:a16="http://schemas.microsoft.com/office/drawing/2014/main" id="{F84F99F7-9FE4-4983-8E00-0B65B59B9978}"/>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5">
            <a:extLst xmlns:a="http://schemas.openxmlformats.org/drawingml/2006/main">
              <a:ext uri="{FF2B5EF4-FFF2-40B4-BE49-F238E27FC236}">
                <a16:creationId xmlns:a16="http://schemas.microsoft.com/office/drawing/2014/main" id="{C8850DC5-CB88-4702-AE11-87303B7CACFD}"/>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05</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fff4bb887da46d1"/>
          <a:stretch xmlns:a="http://schemas.openxmlformats.org/drawingml/2006/main"/>
        </p:blipFill>
        <p:spPr>
          <a:xfrm xmlns:a="http://schemas.openxmlformats.org/drawingml/2006/main">
            <a:off x="1458823" y="2381250"/>
            <a:ext cx="5635804" cy="3171825"/>
          </a:xfrm>
          <a:prstGeom xmlns:a="http://schemas.openxmlformats.org/drawingml/2006/main" prst="rect">
            <a:avLst/>
          </a:prstGeom>
        </p:spPr>
      </p:pic>
      <p:sp>
        <p:nvSpPr>
          <p:cNvPr id="6" name="Provider control">
            <a:extLst xmlns:a="http://schemas.openxmlformats.org/drawingml/2006/main">
              <a:ext uri="{FF2B5EF4-FFF2-40B4-BE49-F238E27FC236}">
                <a16:creationId xmlns:a16="http://schemas.microsoft.com/office/drawing/2014/main" id="{312ACAAE-1626-4B16-86A3-6C3581D5EDAF}"/>
              </a:ext>
            </a:extLst>
          </p:cNvPr>
          <p:cNvSpPr>
            <a:spLocks xmlns:a="http://schemas.openxmlformats.org/drawingml/2006/main" noGrp="1"/>
          </p:cNvSpPr>
          <p:nvPr/>
        </p:nvSpPr>
        <p:spPr>
          <a:xfrm xmlns:a="http://schemas.openxmlformats.org/drawingml/2006/main">
            <a:off x="8401050" y="239077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05938"/>
                </a:solidFill>
                <a:latin typeface="Arial"/>
                <a:ea typeface="Arial"/>
                <a:cs typeface="Arial"/>
              </a:defRPr>
            </a:pPr>
            <a:r>
              <a:rPr sz="2175" b="1">
                <a:solidFill>
                  <a:srgbClr val="205938"/>
                </a:solidFill>
                <a:latin typeface="Arial"/>
                <a:ea typeface="Arial"/>
                <a:cs typeface="Arial"/>
              </a:rPr>
              <a:t>Provider control</a:t>
            </a:r>
          </a:p>
        </p:txBody>
      </p:sp>
      <p:sp>
        <p:nvSpPr>
          <p:cNvPr id="7" name="The business chooses its service area, capacity an">
            <a:extLst xmlns:a="http://schemas.openxmlformats.org/drawingml/2006/main">
              <a:ext uri="{FF2B5EF4-FFF2-40B4-BE49-F238E27FC236}">
                <a16:creationId xmlns:a16="http://schemas.microsoft.com/office/drawing/2014/main" id="{49F65BEE-EBC9-460F-8C37-DC567088D1F3}"/>
              </a:ext>
            </a:extLst>
          </p:cNvPr>
          <p:cNvSpPr>
            <a:spLocks xmlns:a="http://schemas.openxmlformats.org/drawingml/2006/main" noGrp="1"/>
          </p:cNvSpPr>
          <p:nvPr/>
        </p:nvSpPr>
        <p:spPr>
          <a:xfrm xmlns:a="http://schemas.openxmlformats.org/drawingml/2006/main">
            <a:off x="8401050" y="2905125"/>
            <a:ext cx="3095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The business chooses its service area, capacity and crew assignments.</a:t>
            </a:r>
          </a:p>
        </p:txBody>
      </p:sp>
      <p:sp>
        <p:nvSpPr>
          <p:cNvPr id="8" name="Customer trust">
            <a:extLst xmlns:a="http://schemas.openxmlformats.org/drawingml/2006/main">
              <a:ext uri="{FF2B5EF4-FFF2-40B4-BE49-F238E27FC236}">
                <a16:creationId xmlns:a16="http://schemas.microsoft.com/office/drawing/2014/main" id="{D9959B0F-0467-4AA9-BAF5-1AD6D0588FDF}"/>
              </a:ext>
            </a:extLst>
          </p:cNvPr>
          <p:cNvSpPr>
            <a:spLocks xmlns:a="http://schemas.openxmlformats.org/drawingml/2006/main" noGrp="1"/>
          </p:cNvSpPr>
          <p:nvPr/>
        </p:nvSpPr>
        <p:spPr>
          <a:xfrm xmlns:a="http://schemas.openxmlformats.org/drawingml/2006/main">
            <a:off x="8401050" y="418147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05938"/>
                </a:solidFill>
                <a:latin typeface="Arial"/>
                <a:ea typeface="Arial"/>
                <a:cs typeface="Arial"/>
              </a:defRPr>
            </a:pPr>
            <a:r>
              <a:rPr sz="2175" b="1">
                <a:solidFill>
                  <a:srgbClr val="205938"/>
                </a:solidFill>
                <a:latin typeface="Arial"/>
                <a:ea typeface="Arial"/>
                <a:cs typeface="Arial"/>
              </a:rPr>
              <a:t>Customer trust</a:t>
            </a:r>
          </a:p>
        </p:txBody>
      </p:sp>
      <p:sp>
        <p:nvSpPr>
          <p:cNvPr id="9" name="Recommendations favor service fit and reliability.">
            <a:extLst xmlns:a="http://schemas.openxmlformats.org/drawingml/2006/main">
              <a:ext uri="{FF2B5EF4-FFF2-40B4-BE49-F238E27FC236}">
                <a16:creationId xmlns:a16="http://schemas.microsoft.com/office/drawing/2014/main" id="{BFE41D61-D368-4DC9-BD63-A0BD91B5E1D8}"/>
              </a:ext>
            </a:extLst>
          </p:cNvPr>
          <p:cNvSpPr>
            <a:spLocks xmlns:a="http://schemas.openxmlformats.org/drawingml/2006/main" noGrp="1"/>
          </p:cNvSpPr>
          <p:nvPr/>
        </p:nvSpPr>
        <p:spPr>
          <a:xfrm xmlns:a="http://schemas.openxmlformats.org/drawingml/2006/main">
            <a:off x="8401050" y="4695825"/>
            <a:ext cx="30956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Recommendations favor service fit and reliability. Paid placement does not set the order.</a:t>
            </a:r>
          </a:p>
        </p:txBody>
      </p:sp>
      <p:sp>
        <p:nvSpPr>
          <p:cNvPr id="10" name="Route savings and retention effects remain to be m">
            <a:extLst xmlns:a="http://schemas.openxmlformats.org/drawingml/2006/main">
              <a:ext uri="{FF2B5EF4-FFF2-40B4-BE49-F238E27FC236}">
                <a16:creationId xmlns:a16="http://schemas.microsoft.com/office/drawing/2014/main" id="{1E207990-9630-42A8-9513-13C4874FE75F}"/>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Route savings and retention effects remain to be measured. Providers handle equipment, insurance, supervision and crew pay.</a:t>
            </a:r>
          </a:p>
        </p:txBody>
      </p:sp>
    </p:spTree>
    <p:extLst>
      <p:ext uri="{BB962C8B-B14F-4D97-AF65-F5344CB8AC3E}">
        <p14:creationId xmlns:p14="http://schemas.microsoft.com/office/powerpoint/2010/main" val="431755581"/>
      </p:ext>
    </p:extLst>
  </p:cSld>
</p:sld>
</file>

<file path=ppt/slides/slide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A finder fee plus $2.99 for every paid service">
            <a:extLst xmlns:a="http://schemas.openxmlformats.org/drawingml/2006/main">
              <a:ext uri="{FF2B5EF4-FFF2-40B4-BE49-F238E27FC236}">
                <a16:creationId xmlns:a16="http://schemas.microsoft.com/office/drawing/2014/main" id="{F72FE63D-6197-4941-BEC1-A4DC826FF9C6}"/>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A finder fee plus $2.99 for every paid service</a:t>
            </a:r>
          </a:p>
        </p:txBody>
      </p:sp>
      <p:sp>
        <p:nvSpPr>
          <p:cNvPr id="2" name="Providers pay both fees. YardMatch covers modeled ">
            <a:extLst xmlns:a="http://schemas.openxmlformats.org/drawingml/2006/main">
              <a:ext uri="{FF2B5EF4-FFF2-40B4-BE49-F238E27FC236}">
                <a16:creationId xmlns:a16="http://schemas.microsoft.com/office/drawing/2014/main" id="{C5F59AED-90EC-47D7-973C-0DA6C1F60DD1}"/>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Providers pay both fees. YardMatch covers modeled processing costs.</a:t>
            </a:r>
          </a:p>
        </p:txBody>
      </p:sp>
      <p:sp>
        <p:nvSpPr>
          <p:cNvPr id="3" name="YardMatch">
            <a:extLst xmlns:a="http://schemas.openxmlformats.org/drawingml/2006/main">
              <a:ext uri="{FF2B5EF4-FFF2-40B4-BE49-F238E27FC236}">
                <a16:creationId xmlns:a16="http://schemas.microsoft.com/office/drawing/2014/main" id="{EC1A9C79-345E-4F73-98E6-55895E2715D0}"/>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6">
            <a:extLst xmlns:a="http://schemas.openxmlformats.org/drawingml/2006/main">
              <a:ext uri="{FF2B5EF4-FFF2-40B4-BE49-F238E27FC236}">
                <a16:creationId xmlns:a16="http://schemas.microsoft.com/office/drawing/2014/main" id="{66C48ED2-0E79-4FCE-AE1F-ACB0403B3843}"/>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06</a:t>
            </a:r>
          </a:p>
        </p:txBody>
      </p:sp>
      <p:sp>
        <p:nvSpPr>
          <p:cNvPr id="5" name="$45">
            <a:extLst xmlns:a="http://schemas.openxmlformats.org/drawingml/2006/main">
              <a:ext uri="{FF2B5EF4-FFF2-40B4-BE49-F238E27FC236}">
                <a16:creationId xmlns:a16="http://schemas.microsoft.com/office/drawing/2014/main" id="{CE0CFC98-6EFC-4FFB-89EB-232F9F80EE38}"/>
              </a:ext>
            </a:extLst>
          </p:cNvPr>
          <p:cNvSpPr>
            <a:spLocks xmlns:a="http://schemas.openxmlformats.org/drawingml/2006/main" noGrp="1"/>
          </p:cNvSpPr>
          <p:nvPr/>
        </p:nvSpPr>
        <p:spPr>
          <a:xfrm xmlns:a="http://schemas.openxmlformats.org/drawingml/2006/main">
            <a:off x="647700" y="2324100"/>
            <a:ext cx="4381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850" b="1">
                <a:solidFill>
                  <a:srgbClr val="205938"/>
                </a:solidFill>
                <a:latin typeface="Arial"/>
                <a:ea typeface="Arial"/>
                <a:cs typeface="Arial"/>
              </a:defRPr>
            </a:pPr>
            <a:r>
              <a:rPr sz="5850" b="1">
                <a:solidFill>
                  <a:srgbClr val="205938"/>
                </a:solidFill>
                <a:latin typeface="Arial"/>
                <a:ea typeface="Arial"/>
                <a:cs typeface="Arial"/>
              </a:rPr>
              <a:t>$45</a:t>
            </a:r>
          </a:p>
        </p:txBody>
      </p:sp>
      <p:sp>
        <p:nvSpPr>
          <p:cNvPr id="6" name="Once per new customer/provider pairing,&#10;after the ">
            <a:extLst xmlns:a="http://schemas.openxmlformats.org/drawingml/2006/main">
              <a:ext uri="{FF2B5EF4-FFF2-40B4-BE49-F238E27FC236}">
                <a16:creationId xmlns:a16="http://schemas.microsoft.com/office/drawing/2014/main" id="{1530248A-7138-4E52-A193-5553172EE06B}"/>
              </a:ext>
            </a:extLst>
          </p:cNvPr>
          <p:cNvSpPr>
            <a:spLocks xmlns:a="http://schemas.openxmlformats.org/drawingml/2006/main" noGrp="1"/>
          </p:cNvSpPr>
          <p:nvPr/>
        </p:nvSpPr>
        <p:spPr>
          <a:xfrm xmlns:a="http://schemas.openxmlformats.org/drawingml/2006/main">
            <a:off x="647700" y="3295650"/>
            <a:ext cx="48291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Once per new customer/provider pairing,</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after the first paid completed job</a:t>
            </a:r>
          </a:p>
        </p:txBody>
      </p:sp>
      <p:sp>
        <p:nvSpPr>
          <p:cNvPr id="7" name="$2.99">
            <a:extLst xmlns:a="http://schemas.openxmlformats.org/drawingml/2006/main">
              <a:ext uri="{FF2B5EF4-FFF2-40B4-BE49-F238E27FC236}">
                <a16:creationId xmlns:a16="http://schemas.microsoft.com/office/drawing/2014/main" id="{258ACD89-5B44-480A-A599-11ACB3972B76}"/>
              </a:ext>
            </a:extLst>
          </p:cNvPr>
          <p:cNvSpPr>
            <a:spLocks xmlns:a="http://schemas.openxmlformats.org/drawingml/2006/main" noGrp="1"/>
          </p:cNvSpPr>
          <p:nvPr/>
        </p:nvSpPr>
        <p:spPr>
          <a:xfrm xmlns:a="http://schemas.openxmlformats.org/drawingml/2006/main">
            <a:off x="6391275" y="2324100"/>
            <a:ext cx="44291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850" b="1">
                <a:solidFill>
                  <a:srgbClr val="205938"/>
                </a:solidFill>
                <a:latin typeface="Arial"/>
                <a:ea typeface="Arial"/>
                <a:cs typeface="Arial"/>
              </a:defRPr>
            </a:pPr>
            <a:r>
              <a:rPr sz="5850" b="1">
                <a:solidFill>
                  <a:srgbClr val="205938"/>
                </a:solidFill>
                <a:latin typeface="Arial"/>
                <a:ea typeface="Arial"/>
                <a:cs typeface="Arial"/>
              </a:rPr>
              <a:t>$2.99</a:t>
            </a:r>
          </a:p>
        </p:txBody>
      </p:sp>
      <p:sp>
        <p:nvSpPr>
          <p:cNvPr id="8" name="On every paid completed service,&#10;including repeat ">
            <a:extLst xmlns:a="http://schemas.openxmlformats.org/drawingml/2006/main">
              <a:ext uri="{FF2B5EF4-FFF2-40B4-BE49-F238E27FC236}">
                <a16:creationId xmlns:a16="http://schemas.microsoft.com/office/drawing/2014/main" id="{F50310FC-6618-43E5-861A-43CB3CA3F259}"/>
              </a:ext>
            </a:extLst>
          </p:cNvPr>
          <p:cNvSpPr>
            <a:spLocks xmlns:a="http://schemas.openxmlformats.org/drawingml/2006/main" noGrp="1"/>
          </p:cNvSpPr>
          <p:nvPr/>
        </p:nvSpPr>
        <p:spPr>
          <a:xfrm xmlns:a="http://schemas.openxmlformats.org/drawingml/2006/main">
            <a:off x="6391275" y="3295650"/>
            <a:ext cx="48291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On every paid completed service,</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including repeat visits</a:t>
            </a:r>
          </a:p>
        </p:txBody>
      </p:sp>
      <p:graphicFrame>
        <p:nvGraphicFramePr>
          <p:cNvPr id="19" name=""/>
          <p:cNvGraphicFramePr/>
          <p:nvPr/>
        </p:nvGraphicFramePr>
        <p:xfrm>
          <a:off xmlns:a="http://schemas.openxmlformats.org/drawingml/2006/main" x="609600" y="4533900"/>
          <a:ext xmlns:a="http://schemas.openxmlformats.org/drawingml/2006/main" cx="10972800" cy="1057275"/>
        </p:xfrm>
        <a:graphic xmlns:a="http://schemas.openxmlformats.org/drawingml/2006/main">
          <a:graphicData uri="http://schemas.openxmlformats.org/drawingml/2006/table">
            <a:tbl>
              <a:tblPr/>
              <a:tblGrid>
                <a:gridCol w="6191250"/>
                <a:gridCol w="2390775"/>
                <a:gridCol w="2390775"/>
              </a:tblGrid>
              <a:tr h="528638">
                <a:tc>
                  <a:txBody>
                    <a:bodyPr lIns="114300" tIns="76200" rIns="114300" bIns="76200">
                      <a:noAutofit/>
                    </a:bodyPr>
                    <a:lstStyle/>
                    <a:p>
                      <a:pPr algn="l"/>
                      <a:r>
                        <a:rPr sz="1725" b="1">
                          <a:solidFill>
                            <a:srgbClr val="FFFFFF"/>
                          </a:solidFill>
                          <a:latin typeface="Arial"/>
                          <a:ea typeface="Arial"/>
                          <a:cs typeface="Arial"/>
                        </a:rPr>
                        <a:t>A $60 service</a:t>
                      </a:r>
                    </a:p>
                  </a:txBody>
                  <a:tcPr marL="91440" marR="91440" marT="45720" marB="45720" anchor="ctr">
                    <a:solidFill>
                      <a:srgbClr val="205938"/>
                    </a:solidFill>
                  </a:tcPr>
                </a:tc>
                <a:tc>
                  <a:txBody>
                    <a:bodyPr lIns="114300" tIns="76200" rIns="114300" bIns="76200">
                      <a:noAutofit/>
                    </a:bodyPr>
                    <a:lstStyle/>
                    <a:p>
                      <a:pPr algn="r"/>
                      <a:r>
                        <a:rPr sz="1725" b="1">
                          <a:solidFill>
                            <a:srgbClr val="FFFFFF"/>
                          </a:solidFill>
                          <a:latin typeface="Arial"/>
                          <a:ea typeface="Arial"/>
                          <a:cs typeface="Arial"/>
                        </a:rPr>
                        <a:t>First paid visit</a:t>
                      </a:r>
                    </a:p>
                  </a:txBody>
                  <a:tcPr marL="91440" marR="91440" marT="45720" marB="45720" anchor="ctr">
                    <a:solidFill>
                      <a:srgbClr val="205938"/>
                    </a:solidFill>
                  </a:tcPr>
                </a:tc>
                <a:tc>
                  <a:txBody>
                    <a:bodyPr lIns="114300" tIns="76200" rIns="114300" bIns="76200">
                      <a:noAutofit/>
                    </a:bodyPr>
                    <a:lstStyle/>
                    <a:p>
                      <a:pPr algn="r"/>
                      <a:r>
                        <a:rPr sz="1725" b="1">
                          <a:solidFill>
                            <a:srgbClr val="FFFFFF"/>
                          </a:solidFill>
                          <a:latin typeface="Arial"/>
                          <a:ea typeface="Arial"/>
                          <a:cs typeface="Arial"/>
                        </a:rPr>
                        <a:t>Later paid visit</a:t>
                      </a:r>
                    </a:p>
                  </a:txBody>
                  <a:tcPr marL="91440" marR="91440" marT="45720" marB="45720" anchor="ctr">
                    <a:solidFill>
                      <a:srgbClr val="205938"/>
                    </a:solidFill>
                  </a:tcPr>
                </a:tc>
              </a:tr>
              <a:tr h="528638">
                <a:tc>
                  <a:txBody>
                    <a:bodyPr lIns="114300" tIns="76200" rIns="114300" bIns="76200">
                      <a:noAutofit/>
                    </a:bodyPr>
                    <a:lstStyle/>
                    <a:p>
                      <a:pPr algn="l"/>
                      <a:r>
                        <a:rPr sz="1725" b="1">
                          <a:solidFill>
                            <a:srgbClr val="14281D"/>
                          </a:solidFill>
                          <a:latin typeface="Arial"/>
                          <a:ea typeface="Arial"/>
                          <a:cs typeface="Arial"/>
                        </a:rPr>
                        <a:t>Provider proceeds before business costs</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$12.01</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$57.01</a:t>
                      </a:r>
                    </a:p>
                  </a:txBody>
                  <a:tcPr marL="91440" marR="91440" marT="45720" marB="45720" anchor="ctr">
                    <a:solidFill>
                      <a:srgbClr val="E8EDDF"/>
                    </a:solidFill>
                  </a:tcPr>
                </a:tc>
              </a:tr>
            </a:tbl>
          </a:graphicData>
        </a:graphic>
      </p:graphicFrame>
      <p:sp>
        <p:nvSpPr>
          <p:cNvPr id="10" name="Welcome offer waives the first $45 finder fee for ">
            <a:extLst xmlns:a="http://schemas.openxmlformats.org/drawingml/2006/main">
              <a:ext uri="{FF2B5EF4-FFF2-40B4-BE49-F238E27FC236}">
                <a16:creationId xmlns:a16="http://schemas.microsoft.com/office/drawing/2014/main" id="{52CD0A32-B2EF-4AB7-9CA8-9844324BC593}"/>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Welcome offer waives the first $45 finder fee for a new provider. It does not waive the $2.99 service fee. No customer surcharge modeled.</a:t>
            </a:r>
          </a:p>
        </p:txBody>
      </p:sp>
    </p:spTree>
    <p:extLst>
      <p:ext uri="{BB962C8B-B14F-4D97-AF65-F5344CB8AC3E}">
        <p14:creationId xmlns:p14="http://schemas.microsoft.com/office/powerpoint/2010/main" val="897937056"/>
      </p:ext>
    </p:extLst>
  </p:cSld>
</p:sld>
</file>

<file path=ppt/slides/slide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Zocdoc monetizes a different relationship pattern">
            <a:extLst xmlns:a="http://schemas.openxmlformats.org/drawingml/2006/main">
              <a:ext uri="{FF2B5EF4-FFF2-40B4-BE49-F238E27FC236}">
                <a16:creationId xmlns:a16="http://schemas.microsoft.com/office/drawing/2014/main" id="{A161D58B-B0B5-459D-90F9-A0ABC9AD7C34}"/>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Zocdoc monetizes a different relationship pattern</a:t>
            </a:r>
          </a:p>
        </p:txBody>
      </p:sp>
      <p:sp>
        <p:nvSpPr>
          <p:cNvPr id="2" name="A new service category does not automatically crea">
            <a:extLst xmlns:a="http://schemas.openxmlformats.org/drawingml/2006/main">
              <a:ext uri="{FF2B5EF4-FFF2-40B4-BE49-F238E27FC236}">
                <a16:creationId xmlns:a16="http://schemas.microsoft.com/office/drawing/2014/main" id="{6074F657-CCB1-4DB0-8BB4-73CFAF748AC1}"/>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 new service category does not automatically create a new YardMatch finder fee.</a:t>
            </a:r>
          </a:p>
        </p:txBody>
      </p:sp>
      <p:sp>
        <p:nvSpPr>
          <p:cNvPr id="3" name="YardMatch">
            <a:extLst xmlns:a="http://schemas.openxmlformats.org/drawingml/2006/main">
              <a:ext uri="{FF2B5EF4-FFF2-40B4-BE49-F238E27FC236}">
                <a16:creationId xmlns:a16="http://schemas.microsoft.com/office/drawing/2014/main" id="{F203C554-79C3-47F3-9CD3-421ED3D099A8}"/>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7">
            <a:extLst xmlns:a="http://schemas.openxmlformats.org/drawingml/2006/main">
              <a:ext uri="{FF2B5EF4-FFF2-40B4-BE49-F238E27FC236}">
                <a16:creationId xmlns:a16="http://schemas.microsoft.com/office/drawing/2014/main" id="{9159F68E-6A7F-464A-A37B-6916A58F34D6}"/>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07</a:t>
            </a:r>
          </a:p>
        </p:txBody>
      </p:sp>
      <p:graphicFrame>
        <p:nvGraphicFramePr>
          <p:cNvPr id="11" name=""/>
          <p:cNvGraphicFramePr/>
          <p:nvPr/>
        </p:nvGraphicFramePr>
        <p:xfrm>
          <a:off xmlns:a="http://schemas.openxmlformats.org/drawingml/2006/main" x="609600" y="2343150"/>
          <a:ext xmlns:a="http://schemas.openxmlformats.org/drawingml/2006/main" cx="10972800" cy="3190875"/>
        </p:xfrm>
        <a:graphic xmlns:a="http://schemas.openxmlformats.org/drawingml/2006/main">
          <a:graphicData uri="http://schemas.openxmlformats.org/drawingml/2006/table">
            <a:tbl>
              <a:tblPr/>
              <a:tblGrid>
                <a:gridCol w="2238375"/>
                <a:gridCol w="4114800"/>
                <a:gridCol w="4619625"/>
              </a:tblGrid>
              <a:tr h="638175">
                <a:tc>
                  <a:txBody>
                    <a:bodyPr lIns="114300" tIns="76200" rIns="114300" bIns="76200">
                      <a:noAutofit/>
                    </a:bodyPr>
                    <a:lstStyle/>
                    <a:p>
                      <a:r>
                        <a:rPr sz="1725" b="1">
                          <a:solidFill>
                            <a:srgbClr val="FFFFFF"/>
                          </a:solidFill>
                          <a:latin typeface="Arial"/>
                          <a:ea typeface="Arial"/>
                          <a:cs typeface="Arial"/>
                        </a:rPr>
                        <a:t/>
                      </a:r>
                    </a:p>
                  </a:txBody>
                  <a:tcPr marL="91440" marR="91440" marT="45720" marB="45720" anchor="ctr">
                    <a:solidFill>
                      <a:srgbClr val="205938"/>
                    </a:solidFill>
                  </a:tcPr>
                </a:tc>
                <a:tc>
                  <a:txBody>
                    <a:bodyPr lIns="114300" tIns="76200" rIns="114300" bIns="76200">
                      <a:noAutofit/>
                    </a:bodyPr>
                    <a:lstStyle/>
                    <a:p>
                      <a:pPr algn="r"/>
                      <a:r>
                        <a:rPr sz="1725" b="1">
                          <a:solidFill>
                            <a:srgbClr val="FFFFFF"/>
                          </a:solidFill>
                          <a:latin typeface="Arial"/>
                          <a:ea typeface="Arial"/>
                          <a:cs typeface="Arial"/>
                        </a:rPr>
                        <a:t>Zocdoc</a:t>
                      </a:r>
                    </a:p>
                  </a:txBody>
                  <a:tcPr marL="91440" marR="91440" marT="45720" marB="45720" anchor="ctr">
                    <a:solidFill>
                      <a:srgbClr val="205938"/>
                    </a:solidFill>
                  </a:tcPr>
                </a:tc>
                <a:tc>
                  <a:txBody>
                    <a:bodyPr lIns="114300" tIns="76200" rIns="114300" bIns="76200">
                      <a:noAutofit/>
                    </a:bodyPr>
                    <a:lstStyle/>
                    <a:p>
                      <a:pPr algn="r"/>
                      <a:r>
                        <a:rPr sz="1725" b="1">
                          <a:solidFill>
                            <a:srgbClr val="FFFFFF"/>
                          </a:solidFill>
                          <a:latin typeface="Arial"/>
                          <a:ea typeface="Arial"/>
                          <a:cs typeface="Arial"/>
                        </a:rPr>
                        <a:t>YardMatch</a:t>
                      </a:r>
                    </a:p>
                  </a:txBody>
                  <a:tcPr marL="91440" marR="91440" marT="45720" marB="45720" anchor="ctr">
                    <a:solidFill>
                      <a:srgbClr val="205938"/>
                    </a:solidFill>
                  </a:tcPr>
                </a:tc>
              </a:tr>
              <a:tr h="638175">
                <a:tc>
                  <a:txBody>
                    <a:bodyPr lIns="114300" tIns="76200" rIns="114300" bIns="76200">
                      <a:noAutofit/>
                    </a:bodyPr>
                    <a:lstStyle/>
                    <a:p>
                      <a:pPr algn="l"/>
                      <a:r>
                        <a:rPr sz="1725" b="0">
                          <a:solidFill>
                            <a:srgbClr val="14281D"/>
                          </a:solidFill>
                          <a:latin typeface="Arial"/>
                          <a:ea typeface="Arial"/>
                          <a:cs typeface="Arial"/>
                        </a:rPr>
                        <a:t>Fee event</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New patient/provider discovery booking</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First paid job in a new customer/provider pair</a:t>
                      </a:r>
                    </a:p>
                  </a:txBody>
                  <a:tcPr marL="91440" marR="91440" marT="45720" marB="45720" anchor="ctr">
                    <a:solidFill>
                      <a:srgbClr val="FFFFFF"/>
                    </a:solidFill>
                  </a:tcPr>
                </a:tc>
              </a:tr>
              <a:tr h="638175">
                <a:tc>
                  <a:txBody>
                    <a:bodyPr lIns="114300" tIns="76200" rIns="114300" bIns="76200">
                      <a:noAutofit/>
                    </a:bodyPr>
                    <a:lstStyle/>
                    <a:p>
                      <a:pPr algn="l"/>
                      <a:r>
                        <a:rPr sz="1725" b="0">
                          <a:solidFill>
                            <a:srgbClr val="14281D"/>
                          </a:solidFill>
                          <a:latin typeface="Arial"/>
                          <a:ea typeface="Arial"/>
                          <a:cs typeface="Arial"/>
                        </a:rPr>
                        <a:t>Return to the same provider</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No new discovery fee</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No new finder fee. $2.99 service fee applies.</a:t>
                      </a:r>
                    </a:p>
                  </a:txBody>
                  <a:tcPr marL="91440" marR="91440" marT="45720" marB="45720" anchor="ctr">
                    <a:solidFill>
                      <a:srgbClr val="F7F5EF"/>
                    </a:solidFill>
                  </a:tcPr>
                </a:tc>
              </a:tr>
              <a:tr h="638175">
                <a:tc>
                  <a:txBody>
                    <a:bodyPr lIns="114300" tIns="76200" rIns="114300" bIns="76200">
                      <a:noAutofit/>
                    </a:bodyPr>
                    <a:lstStyle/>
                    <a:p>
                      <a:pPr algn="l"/>
                      <a:r>
                        <a:rPr sz="1725" b="0">
                          <a:solidFill>
                            <a:srgbClr val="14281D"/>
                          </a:solidFill>
                          <a:latin typeface="Arial"/>
                          <a:ea typeface="Arial"/>
                          <a:cs typeface="Arial"/>
                        </a:rPr>
                        <a:t>New category</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May introduce a different doctor</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May use the same landscaping company</a:t>
                      </a:r>
                    </a:p>
                  </a:txBody>
                  <a:tcPr marL="91440" marR="91440" marT="45720" marB="45720" anchor="ctr">
                    <a:solidFill>
                      <a:srgbClr val="FFFFFF"/>
                    </a:solidFill>
                  </a:tcPr>
                </a:tc>
              </a:tr>
              <a:tr h="638175">
                <a:tc>
                  <a:txBody>
                    <a:bodyPr lIns="114300" tIns="76200" rIns="114300" bIns="76200">
                      <a:noAutofit/>
                    </a:bodyPr>
                    <a:lstStyle/>
                    <a:p>
                      <a:pPr algn="l"/>
                      <a:r>
                        <a:rPr sz="1725" b="0">
                          <a:solidFill>
                            <a:srgbClr val="14281D"/>
                          </a:solidFill>
                          <a:latin typeface="Arial"/>
                          <a:ea typeface="Arial"/>
                          <a:cs typeface="Arial"/>
                        </a:rPr>
                        <a:t>Core revenue opportunity</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More qualifying new provider connections</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More profitable paid visits over time</a:t>
                      </a:r>
                    </a:p>
                  </a:txBody>
                  <a:tcPr marL="91440" marR="91440" marT="45720" marB="45720" anchor="ctr">
                    <a:solidFill>
                      <a:srgbClr val="F7F5EF"/>
                    </a:solidFill>
                  </a:tcPr>
                </a:tc>
              </a:tr>
            </a:tbl>
          </a:graphicData>
        </a:graphic>
      </p:graphicFrame>
      <p:sp>
        <p:nvSpPr>
          <p:cNvPr id="6" name="Zocdoc also exempts reputation and certain partner">
            <a:extLst xmlns:a="http://schemas.openxmlformats.org/drawingml/2006/main">
              <a:ext uri="{FF2B5EF4-FFF2-40B4-BE49-F238E27FC236}">
                <a16:creationId xmlns:a16="http://schemas.microsoft.com/office/drawing/2014/main" id="{7F2C53F2-EA86-4185-8B2D-F716FAA2A2E6}"/>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Zocdoc also exempts reputation and certain partner bookings. Fewer providers per YardMatch household is a hypothesis. Cross-category finder-fee revenue is zero in this forecast.</a:t>
            </a:r>
          </a:p>
        </p:txBody>
      </p:sp>
    </p:spTree>
    <p:extLst>
      <p:ext uri="{BB962C8B-B14F-4D97-AF65-F5344CB8AC3E}">
        <p14:creationId xmlns:p14="http://schemas.microsoft.com/office/powerpoint/2010/main" val="371040628"/>
      </p:ext>
    </p:extLst>
  </p:cSld>
</p:sld>
</file>

<file path=ppt/slides/slide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0" name="At $60, repeat card payments leave about $0.20">
            <a:extLst xmlns:a="http://schemas.openxmlformats.org/drawingml/2006/main">
              <a:ext uri="{FF2B5EF4-FFF2-40B4-BE49-F238E27FC236}">
                <a16:creationId xmlns:a16="http://schemas.microsoft.com/office/drawing/2014/main" id="{4A0768CF-5ED4-4A23-A1A0-62775F0C96A5}"/>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At $60, repeat card payments leave about $0.20</a:t>
            </a:r>
          </a:p>
        </p:txBody>
      </p:sp>
      <p:sp>
        <p:nvSpPr>
          <p:cNvPr id="2" name="Illustrative contribution after payment costs and ">
            <a:extLst xmlns:a="http://schemas.openxmlformats.org/drawingml/2006/main">
              <a:ext uri="{FF2B5EF4-FFF2-40B4-BE49-F238E27FC236}">
                <a16:creationId xmlns:a16="http://schemas.microsoft.com/office/drawing/2014/main" id="{B445A383-D110-457E-92E7-5821FDF781FA}"/>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Illustrative contribution after payment costs and variable operating costs, before acquisition and fixed overhead.</a:t>
            </a:r>
          </a:p>
        </p:txBody>
      </p:sp>
      <p:sp>
        <p:nvSpPr>
          <p:cNvPr id="3" name="YardMatch">
            <a:extLst xmlns:a="http://schemas.openxmlformats.org/drawingml/2006/main">
              <a:ext uri="{FF2B5EF4-FFF2-40B4-BE49-F238E27FC236}">
                <a16:creationId xmlns:a16="http://schemas.microsoft.com/office/drawing/2014/main" id="{C2C24CE2-BEE9-4D27-9E0F-F491C7788E6F}"/>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8">
            <a:extLst xmlns:a="http://schemas.openxmlformats.org/drawingml/2006/main">
              <a:ext uri="{FF2B5EF4-FFF2-40B4-BE49-F238E27FC236}">
                <a16:creationId xmlns:a16="http://schemas.microsoft.com/office/drawing/2014/main" id="{AD1559CD-573C-4413-A828-B99F2D8C2DB9}"/>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08</a:t>
            </a:r>
          </a:p>
        </p:txBody>
      </p:sp>
      <p:graphicFrame>
        <p:nvGraphicFramePr>
          <p:cNvPr id="14" name=""/>
          <p:cNvGraphicFramePr/>
          <p:nvPr/>
        </p:nvGraphicFramePr>
        <p:xfrm>
          <a:off xmlns:a="http://schemas.openxmlformats.org/drawingml/2006/main" x="609600" y="2409825"/>
          <a:ext xmlns:a="http://schemas.openxmlformats.org/drawingml/2006/main" cx="7810500" cy="2781300"/>
        </p:xfrm>
        <a:graphic xmlns:a="http://schemas.openxmlformats.org/drawingml/2006/main">
          <a:graphicData uri="http://schemas.openxmlformats.org/drawingml/2006/table">
            <a:tbl>
              <a:tblPr/>
              <a:tblGrid>
                <a:gridCol w="4953000"/>
                <a:gridCol w="1428750"/>
                <a:gridCol w="1428750"/>
              </a:tblGrid>
              <a:tr h="556260">
                <a:tc>
                  <a:txBody>
                    <a:bodyPr lIns="114300" tIns="76200" rIns="114300" bIns="76200">
                      <a:noAutofit/>
                    </a:bodyPr>
                    <a:lstStyle/>
                    <a:p>
                      <a:pPr algn="l"/>
                      <a:r>
                        <a:rPr sz="1725" b="1">
                          <a:solidFill>
                            <a:srgbClr val="FFFFFF"/>
                          </a:solidFill>
                          <a:latin typeface="Arial"/>
                          <a:ea typeface="Arial"/>
                          <a:cs typeface="Arial"/>
                        </a:rPr>
                        <a:t>Per paid repeat service</a:t>
                      </a:r>
                    </a:p>
                  </a:txBody>
                  <a:tcPr marL="91440" marR="91440" marT="45720" marB="45720" anchor="ctr">
                    <a:solidFill>
                      <a:srgbClr val="205938"/>
                    </a:solidFill>
                  </a:tcPr>
                </a:tc>
                <a:tc>
                  <a:txBody>
                    <a:bodyPr lIns="114300" tIns="76200" rIns="114300" bIns="76200">
                      <a:noAutofit/>
                    </a:bodyPr>
                    <a:lstStyle/>
                    <a:p>
                      <a:pPr algn="r"/>
                      <a:r>
                        <a:rPr sz="1725" b="1">
                          <a:solidFill>
                            <a:srgbClr val="FFFFFF"/>
                          </a:solidFill>
                          <a:latin typeface="Arial"/>
                          <a:ea typeface="Arial"/>
                          <a:cs typeface="Arial"/>
                        </a:rPr>
                        <a:t>Card</a:t>
                      </a:r>
                    </a:p>
                  </a:txBody>
                  <a:tcPr marL="91440" marR="91440" marT="45720" marB="45720" anchor="ctr">
                    <a:solidFill>
                      <a:srgbClr val="205938"/>
                    </a:solidFill>
                  </a:tcPr>
                </a:tc>
                <a:tc>
                  <a:txBody>
                    <a:bodyPr lIns="114300" tIns="76200" rIns="114300" bIns="76200">
                      <a:noAutofit/>
                    </a:bodyPr>
                    <a:lstStyle/>
                    <a:p>
                      <a:pPr algn="r"/>
                      <a:r>
                        <a:rPr sz="1725" b="1">
                          <a:solidFill>
                            <a:srgbClr val="FFFFFF"/>
                          </a:solidFill>
                          <a:latin typeface="Arial"/>
                          <a:ea typeface="Arial"/>
                          <a:cs typeface="Arial"/>
                        </a:rPr>
                        <a:t>Bank debit (ACH)</a:t>
                      </a:r>
                    </a:p>
                  </a:txBody>
                  <a:tcPr marL="91440" marR="91440" marT="45720" marB="45720" anchor="ctr">
                    <a:solidFill>
                      <a:srgbClr val="205938"/>
                    </a:solidFill>
                  </a:tcPr>
                </a:tc>
              </a:tr>
              <a:tr h="556260">
                <a:tc>
                  <a:txBody>
                    <a:bodyPr lIns="114300" tIns="76200" rIns="114300" bIns="76200">
                      <a:noAutofit/>
                    </a:bodyPr>
                    <a:lstStyle/>
                    <a:p>
                      <a:pPr algn="l"/>
                      <a:r>
                        <a:rPr sz="1725" b="0">
                          <a:solidFill>
                            <a:srgbClr val="14281D"/>
                          </a:solidFill>
                          <a:latin typeface="Arial"/>
                          <a:ea typeface="Arial"/>
                          <a:cs typeface="Arial"/>
                        </a:rPr>
                        <a:t>Provider service fee</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$2.99</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$2.99</a:t>
                      </a:r>
                    </a:p>
                  </a:txBody>
                  <a:tcPr marL="91440" marR="91440" marT="45720" marB="45720" anchor="ctr">
                    <a:solidFill>
                      <a:srgbClr val="FFFFFF"/>
                    </a:solidFill>
                  </a:tcPr>
                </a:tc>
              </a:tr>
              <a:tr h="556260">
                <a:tc>
                  <a:txBody>
                    <a:bodyPr lIns="114300" tIns="76200" rIns="114300" bIns="76200">
                      <a:noAutofit/>
                    </a:bodyPr>
                    <a:lstStyle/>
                    <a:p>
                      <a:pPr algn="l"/>
                      <a:r>
                        <a:rPr sz="1725" b="0">
                          <a:solidFill>
                            <a:srgbClr val="14281D"/>
                          </a:solidFill>
                          <a:latin typeface="Arial"/>
                          <a:ea typeface="Arial"/>
                          <a:cs typeface="Arial"/>
                        </a:rPr>
                        <a:t>Payment processing</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($2.04)</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($0.48)</a:t>
                      </a:r>
                    </a:p>
                  </a:txBody>
                  <a:tcPr marL="91440" marR="91440" marT="45720" marB="45720" anchor="ctr">
                    <a:solidFill>
                      <a:srgbClr val="F7F5EF"/>
                    </a:solidFill>
                  </a:tcPr>
                </a:tc>
              </a:tr>
              <a:tr h="556260">
                <a:tc>
                  <a:txBody>
                    <a:bodyPr lIns="114300" tIns="76200" rIns="114300" bIns="76200">
                      <a:noAutofit/>
                    </a:bodyPr>
                    <a:lstStyle/>
                    <a:p>
                      <a:pPr algn="l"/>
                      <a:r>
                        <a:rPr sz="1725" b="0">
                          <a:solidFill>
                            <a:srgbClr val="14281D"/>
                          </a:solidFill>
                          <a:latin typeface="Arial"/>
                          <a:ea typeface="Arial"/>
                          <a:cs typeface="Arial"/>
                        </a:rPr>
                        <a:t>Payouts, account costs and variable operations</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($0.75)</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($0.75)</a:t>
                      </a:r>
                    </a:p>
                  </a:txBody>
                  <a:tcPr marL="91440" marR="91440" marT="45720" marB="45720" anchor="ctr">
                    <a:solidFill>
                      <a:srgbClr val="FFFFFF"/>
                    </a:solidFill>
                  </a:tcPr>
                </a:tc>
              </a:tr>
              <a:tr h="556260">
                <a:tc>
                  <a:txBody>
                    <a:bodyPr lIns="114300" tIns="76200" rIns="114300" bIns="76200">
                      <a:noAutofit/>
                    </a:bodyPr>
                    <a:lstStyle/>
                    <a:p>
                      <a:pPr algn="l"/>
                      <a:r>
                        <a:rPr sz="1725" b="1">
                          <a:solidFill>
                            <a:srgbClr val="14281D"/>
                          </a:solidFill>
                          <a:latin typeface="Arial"/>
                          <a:ea typeface="Arial"/>
                          <a:cs typeface="Arial"/>
                        </a:rPr>
                        <a:t>Contribution before fixed overhead</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$0.20</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$1.76</a:t>
                      </a:r>
                    </a:p>
                  </a:txBody>
                  <a:tcPr marL="91440" marR="91440" marT="45720" marB="45720" anchor="ctr">
                    <a:solidFill>
                      <a:srgbClr val="E8EDDF"/>
                    </a:solidFill>
                  </a:tcPr>
                </a:tc>
              </a:tr>
            </a:tbl>
          </a:graphicData>
        </a:graphic>
      </p:graphicFrame>
      <p:sp>
        <p:nvSpPr>
          <p:cNvPr id="6" name="About $66">
            <a:extLst xmlns:a="http://schemas.openxmlformats.org/drawingml/2006/main">
              <a:ext uri="{FF2B5EF4-FFF2-40B4-BE49-F238E27FC236}">
                <a16:creationId xmlns:a16="http://schemas.microsoft.com/office/drawing/2014/main" id="{D1E1C791-A931-493F-B0D3-F4460AC18A89}"/>
              </a:ext>
            </a:extLst>
          </p:cNvPr>
          <p:cNvSpPr>
            <a:spLocks xmlns:a="http://schemas.openxmlformats.org/drawingml/2006/main" noGrp="1"/>
          </p:cNvSpPr>
          <p:nvPr/>
        </p:nvSpPr>
        <p:spPr>
          <a:xfrm xmlns:a="http://schemas.openxmlformats.org/drawingml/2006/main">
            <a:off x="8810625" y="2543175"/>
            <a:ext cx="2781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205938"/>
                </a:solidFill>
                <a:latin typeface="Arial"/>
                <a:ea typeface="Arial"/>
                <a:cs typeface="Arial"/>
              </a:defRPr>
            </a:pPr>
            <a:r>
              <a:rPr sz="3000" b="1">
                <a:solidFill>
                  <a:srgbClr val="205938"/>
                </a:solidFill>
                <a:latin typeface="Arial"/>
                <a:ea typeface="Arial"/>
                <a:cs typeface="Arial"/>
              </a:rPr>
              <a:t>About $66</a:t>
            </a:r>
          </a:p>
        </p:txBody>
      </p:sp>
      <p:sp>
        <p:nvSpPr>
          <p:cNvPr id="7" name="Card-ticket ceiling for a positive repeat contribu">
            <a:extLst xmlns:a="http://schemas.openxmlformats.org/drawingml/2006/main">
              <a:ext uri="{FF2B5EF4-FFF2-40B4-BE49-F238E27FC236}">
                <a16:creationId xmlns:a16="http://schemas.microsoft.com/office/drawing/2014/main" id="{B45B39EB-5B51-48CD-932E-80972FAC59C2}"/>
              </a:ext>
            </a:extLst>
          </p:cNvPr>
          <p:cNvSpPr>
            <a:spLocks xmlns:a="http://schemas.openxmlformats.org/drawingml/2006/main" noGrp="1"/>
          </p:cNvSpPr>
          <p:nvPr/>
        </p:nvSpPr>
        <p:spPr>
          <a:xfrm xmlns:a="http://schemas.openxmlformats.org/drawingml/2006/main">
            <a:off x="8810625" y="3324225"/>
            <a:ext cx="27432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Card-ticket ceiling for a positive repeat contribution under these assumptions.</a:t>
            </a:r>
          </a:p>
        </p:txBody>
      </p:sp>
      <p:sp>
        <p:nvSpPr>
          <p:cNvPr id="8" name="Larger jobs need separate pricing economics">
            <a:extLst xmlns:a="http://schemas.openxmlformats.org/drawingml/2006/main">
              <a:ext uri="{FF2B5EF4-FFF2-40B4-BE49-F238E27FC236}">
                <a16:creationId xmlns:a16="http://schemas.microsoft.com/office/drawing/2014/main" id="{1B53A7B4-3D65-4742-8A0A-47D6F83865AA}"/>
              </a:ext>
            </a:extLst>
          </p:cNvPr>
          <p:cNvSpPr>
            <a:spLocks xmlns:a="http://schemas.openxmlformats.org/drawingml/2006/main" noGrp="1"/>
          </p:cNvSpPr>
          <p:nvPr/>
        </p:nvSpPr>
        <p:spPr>
          <a:xfrm xmlns:a="http://schemas.openxmlformats.org/drawingml/2006/main">
            <a:off x="628650" y="5410200"/>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A24D3E"/>
                </a:solidFill>
                <a:latin typeface="Arial"/>
                <a:ea typeface="Arial"/>
                <a:cs typeface="Arial"/>
              </a:defRPr>
            </a:pPr>
            <a:r>
              <a:rPr sz="2100" b="1">
                <a:solidFill>
                  <a:srgbClr val="A24D3E"/>
                </a:solidFill>
                <a:latin typeface="Arial"/>
                <a:ea typeface="Arial"/>
                <a:cs typeface="Arial"/>
              </a:rPr>
              <a:t>Larger jobs need separate pricing economics</a:t>
            </a:r>
          </a:p>
        </p:txBody>
      </p:sp>
      <p:sp>
        <p:nvSpPr>
          <p:cNvPr id="9" name="A $100 card-paid repeat job loses about $1.14 befo">
            <a:extLst xmlns:a="http://schemas.openxmlformats.org/drawingml/2006/main">
              <a:ext uri="{FF2B5EF4-FFF2-40B4-BE49-F238E27FC236}">
                <a16:creationId xmlns:a16="http://schemas.microsoft.com/office/drawing/2014/main" id="{F4A9A9D5-F67F-49A7-82B3-64B09BF051F5}"/>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A $100 card-paid repeat job loses about $1.14 before fixed costs. ACH excludes a $1.50 initial bank-link allowance. Rates and operating costs are assumptions or published standard prices.</a:t>
            </a:r>
          </a:p>
        </p:txBody>
      </p:sp>
    </p:spTree>
    <p:extLst>
      <p:ext uri="{BB962C8B-B14F-4D97-AF65-F5344CB8AC3E}">
        <p14:creationId xmlns:p14="http://schemas.microsoft.com/office/powerpoint/2010/main" val="656709385"/>
      </p:ext>
    </p:extLst>
  </p:cSld>
</p:sld>
</file>

<file path=ppt/slides/slide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Barnegat is a starting market">
            <a:extLst xmlns:a="http://schemas.openxmlformats.org/drawingml/2006/main">
              <a:ext uri="{FF2B5EF4-FFF2-40B4-BE49-F238E27FC236}">
                <a16:creationId xmlns:a16="http://schemas.microsoft.com/office/drawing/2014/main" id="{B47E6B3A-8B7F-45C3-97CD-DE672EDE684B}"/>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Barnegat is a starting market</a:t>
            </a:r>
          </a:p>
        </p:txBody>
      </p:sp>
      <p:sp>
        <p:nvSpPr>
          <p:cNvPr id="2" name="The investment case requires expansion into many l">
            <a:extLst xmlns:a="http://schemas.openxmlformats.org/drawingml/2006/main">
              <a:ext uri="{FF2B5EF4-FFF2-40B4-BE49-F238E27FC236}">
                <a16:creationId xmlns:a16="http://schemas.microsoft.com/office/drawing/2014/main" id="{CC9E591D-7076-4E59-8CAC-6670F140FC78}"/>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investment case requires expansion into many local markets after the first market works.</a:t>
            </a:r>
          </a:p>
        </p:txBody>
      </p:sp>
      <p:sp>
        <p:nvSpPr>
          <p:cNvPr id="3" name="YardMatch">
            <a:extLst xmlns:a="http://schemas.openxmlformats.org/drawingml/2006/main">
              <a:ext uri="{FF2B5EF4-FFF2-40B4-BE49-F238E27FC236}">
                <a16:creationId xmlns:a16="http://schemas.microsoft.com/office/drawing/2014/main" id="{23CC2A7D-8E6D-4486-A9C6-56E06FF58F04}"/>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9">
            <a:extLst xmlns:a="http://schemas.openxmlformats.org/drawingml/2006/main">
              <a:ext uri="{FF2B5EF4-FFF2-40B4-BE49-F238E27FC236}">
                <a16:creationId xmlns:a16="http://schemas.microsoft.com/office/drawing/2014/main" id="{413CC5C8-7166-4211-AEEF-6FA026DA4623}"/>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09</a:t>
            </a:r>
          </a:p>
        </p:txBody>
      </p:sp>
      <p:sp>
        <p:nvSpPr>
          <p:cNvPr id="5" name="10,265">
            <a:extLst xmlns:a="http://schemas.openxmlformats.org/drawingml/2006/main">
              <a:ext uri="{FF2B5EF4-FFF2-40B4-BE49-F238E27FC236}">
                <a16:creationId xmlns:a16="http://schemas.microsoft.com/office/drawing/2014/main" id="{ABEA705E-E6FE-4FA1-A6CE-63D3F031185D}"/>
              </a:ext>
            </a:extLst>
          </p:cNvPr>
          <p:cNvSpPr>
            <a:spLocks xmlns:a="http://schemas.openxmlformats.org/drawingml/2006/main" noGrp="1"/>
          </p:cNvSpPr>
          <p:nvPr/>
        </p:nvSpPr>
        <p:spPr>
          <a:xfrm xmlns:a="http://schemas.openxmlformats.org/drawingml/2006/main">
            <a:off x="628650" y="2400300"/>
            <a:ext cx="4667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205938"/>
                </a:solidFill>
                <a:latin typeface="Arial"/>
                <a:ea typeface="Arial"/>
                <a:cs typeface="Arial"/>
              </a:defRPr>
            </a:pPr>
            <a:r>
              <a:rPr sz="4800" b="1">
                <a:solidFill>
                  <a:srgbClr val="205938"/>
                </a:solidFill>
                <a:latin typeface="Arial"/>
                <a:ea typeface="Arial"/>
                <a:cs typeface="Arial"/>
              </a:rPr>
              <a:t>10,265</a:t>
            </a:r>
          </a:p>
        </p:txBody>
      </p:sp>
      <p:sp>
        <p:nvSpPr>
          <p:cNvPr id="6" name="Barnegat households">
            <a:extLst xmlns:a="http://schemas.openxmlformats.org/drawingml/2006/main">
              <a:ext uri="{FF2B5EF4-FFF2-40B4-BE49-F238E27FC236}">
                <a16:creationId xmlns:a16="http://schemas.microsoft.com/office/drawing/2014/main" id="{E8C69F51-13AD-4972-AFAE-CDAF0550E6E0}"/>
              </a:ext>
            </a:extLst>
          </p:cNvPr>
          <p:cNvSpPr>
            <a:spLocks xmlns:a="http://schemas.openxmlformats.org/drawingml/2006/main" noGrp="1"/>
          </p:cNvSpPr>
          <p:nvPr/>
        </p:nvSpPr>
        <p:spPr>
          <a:xfrm xmlns:a="http://schemas.openxmlformats.org/drawingml/2006/main">
            <a:off x="647700" y="3305175"/>
            <a:ext cx="4762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4281D"/>
                </a:solidFill>
                <a:latin typeface="Arial"/>
                <a:ea typeface="Arial"/>
                <a:cs typeface="Arial"/>
              </a:defRPr>
            </a:pPr>
            <a:r>
              <a:rPr sz="2175" b="0">
                <a:solidFill>
                  <a:srgbClr val="14281D"/>
                </a:solidFill>
                <a:latin typeface="Arial"/>
                <a:ea typeface="Arial"/>
                <a:cs typeface="Arial"/>
              </a:rPr>
              <a:t>Barnegat households</a:t>
            </a:r>
          </a:p>
        </p:txBody>
      </p:sp>
      <p:sp>
        <p:nvSpPr>
          <p:cNvPr id="7" name="88%">
            <a:extLst xmlns:a="http://schemas.openxmlformats.org/drawingml/2006/main">
              <a:ext uri="{FF2B5EF4-FFF2-40B4-BE49-F238E27FC236}">
                <a16:creationId xmlns:a16="http://schemas.microsoft.com/office/drawing/2014/main" id="{0F9B1DEB-9715-4CE7-975A-CE6601C1910D}"/>
              </a:ext>
            </a:extLst>
          </p:cNvPr>
          <p:cNvSpPr>
            <a:spLocks xmlns:a="http://schemas.openxmlformats.org/drawingml/2006/main" noGrp="1"/>
          </p:cNvSpPr>
          <p:nvPr/>
        </p:nvSpPr>
        <p:spPr>
          <a:xfrm xmlns:a="http://schemas.openxmlformats.org/drawingml/2006/main">
            <a:off x="6429375" y="2400300"/>
            <a:ext cx="4381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205938"/>
                </a:solidFill>
                <a:latin typeface="Arial"/>
                <a:ea typeface="Arial"/>
                <a:cs typeface="Arial"/>
              </a:defRPr>
            </a:pPr>
            <a:r>
              <a:rPr sz="4800" b="1">
                <a:solidFill>
                  <a:srgbClr val="205938"/>
                </a:solidFill>
                <a:latin typeface="Arial"/>
                <a:ea typeface="Arial"/>
                <a:cs typeface="Arial"/>
              </a:rPr>
              <a:t>88%</a:t>
            </a:r>
          </a:p>
        </p:txBody>
      </p:sp>
      <p:sp>
        <p:nvSpPr>
          <p:cNvPr id="8" name="Homes occupied by their owners">
            <a:extLst xmlns:a="http://schemas.openxmlformats.org/drawingml/2006/main">
              <a:ext uri="{FF2B5EF4-FFF2-40B4-BE49-F238E27FC236}">
                <a16:creationId xmlns:a16="http://schemas.microsoft.com/office/drawing/2014/main" id="{384E4D89-EE52-43F0-AB4B-B51A30F86049}"/>
              </a:ext>
            </a:extLst>
          </p:cNvPr>
          <p:cNvSpPr>
            <a:spLocks xmlns:a="http://schemas.openxmlformats.org/drawingml/2006/main" noGrp="1"/>
          </p:cNvSpPr>
          <p:nvPr/>
        </p:nvSpPr>
        <p:spPr>
          <a:xfrm xmlns:a="http://schemas.openxmlformats.org/drawingml/2006/main">
            <a:off x="6448425" y="3305175"/>
            <a:ext cx="4857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4281D"/>
                </a:solidFill>
                <a:latin typeface="Arial"/>
                <a:ea typeface="Arial"/>
                <a:cs typeface="Arial"/>
              </a:defRPr>
            </a:pPr>
            <a:r>
              <a:rPr sz="2175" b="0">
                <a:solidFill>
                  <a:srgbClr val="14281D"/>
                </a:solidFill>
                <a:latin typeface="Arial"/>
                <a:ea typeface="Arial"/>
                <a:cs typeface="Arial"/>
              </a:rPr>
              <a:t>Homes occupied by their owners</a:t>
            </a:r>
          </a:p>
        </p:txBody>
      </p:sp>
      <p:sp>
        <p:nvSpPr>
          <p:cNvPr id="9" name="500 paying households in the first forecast year">
            <a:extLst xmlns:a="http://schemas.openxmlformats.org/drawingml/2006/main">
              <a:ext uri="{FF2B5EF4-FFF2-40B4-BE49-F238E27FC236}">
                <a16:creationId xmlns:a16="http://schemas.microsoft.com/office/drawing/2014/main" id="{C3770D03-7F20-4B28-A1C8-7AC027DB1E93}"/>
              </a:ext>
            </a:extLst>
          </p:cNvPr>
          <p:cNvSpPr>
            <a:spLocks xmlns:a="http://schemas.openxmlformats.org/drawingml/2006/main" noGrp="1"/>
          </p:cNvSpPr>
          <p:nvPr/>
        </p:nvSpPr>
        <p:spPr>
          <a:xfrm xmlns:a="http://schemas.openxmlformats.org/drawingml/2006/main">
            <a:off x="628650" y="4381500"/>
            <a:ext cx="108394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4281D"/>
                </a:solidFill>
                <a:latin typeface="Arial"/>
                <a:ea typeface="Arial"/>
                <a:cs typeface="Arial"/>
              </a:defRPr>
            </a:pPr>
            <a:r>
              <a:rPr sz="2550" b="1">
                <a:solidFill>
                  <a:srgbClr val="14281D"/>
                </a:solidFill>
                <a:latin typeface="Arial"/>
                <a:ea typeface="Arial"/>
                <a:cs typeface="Arial"/>
              </a:rPr>
              <a:t>500 paying households in the first forecast year</a:t>
            </a:r>
          </a:p>
        </p:txBody>
      </p:sp>
      <p:sp>
        <p:nvSpPr>
          <p:cNvPr id="10" name="About 5.5% of the roughly 9,033 owner households. ">
            <a:extLst xmlns:a="http://schemas.openxmlformats.org/drawingml/2006/main">
              <a:ext uri="{FF2B5EF4-FFF2-40B4-BE49-F238E27FC236}">
                <a16:creationId xmlns:a16="http://schemas.microsoft.com/office/drawing/2014/main" id="{21D63C36-E4F3-45EB-A184-8563FF68DA50}"/>
              </a:ext>
            </a:extLst>
          </p:cNvPr>
          <p:cNvSpPr>
            <a:spLocks xmlns:a="http://schemas.openxmlformats.org/drawingml/2006/main" noGrp="1"/>
          </p:cNvSpPr>
          <p:nvPr/>
        </p:nvSpPr>
        <p:spPr>
          <a:xfrm xmlns:a="http://schemas.openxmlformats.org/drawingml/2006/main">
            <a:off x="647700" y="5057775"/>
            <a:ext cx="10620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About 5.5% of the roughly 9,033 owner households. Actual eligible lawns and willingness to pay remain unmeasured.</a:t>
            </a:r>
          </a:p>
        </p:txBody>
      </p:sp>
      <p:sp>
        <p:nvSpPr>
          <p:cNvPr id="11" name="Census 2020-2024 estimates. Launch target is illus">
            <a:extLst xmlns:a="http://schemas.openxmlformats.org/drawingml/2006/main">
              <a:ext uri="{FF2B5EF4-FFF2-40B4-BE49-F238E27FC236}">
                <a16:creationId xmlns:a16="http://schemas.microsoft.com/office/drawing/2014/main" id="{786CF58F-50E2-4088-9C0E-B800CB3A6E46}"/>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Census 2020-2024 estimates. Launch target is illustrative. Later-year household totals require regional and multi-market expansion.</a:t>
            </a:r>
          </a:p>
        </p:txBody>
      </p:sp>
    </p:spTree>
    <p:extLst>
      <p:ext uri="{BB962C8B-B14F-4D97-AF65-F5344CB8AC3E}">
        <p14:creationId xmlns:p14="http://schemas.microsoft.com/office/powerpoint/2010/main" val="1311959037"/>
      </p:ext>
    </p:extLst>
  </p:cSld>
</p:sld>
</file>

<file path=ppt/slides/slide1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Expansion follows verified local economics">
            <a:extLst xmlns:a="http://schemas.openxmlformats.org/drawingml/2006/main">
              <a:ext uri="{FF2B5EF4-FFF2-40B4-BE49-F238E27FC236}">
                <a16:creationId xmlns:a16="http://schemas.microsoft.com/office/drawing/2014/main" id="{3B27B1FF-3853-4F8A-929C-B35FFA2934A7}"/>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Expansion follows verified local economics</a:t>
            </a:r>
          </a:p>
        </p:txBody>
      </p:sp>
      <p:sp>
        <p:nvSpPr>
          <p:cNvPr id="2" name="A proposed sequence for acquiring supply and deman">
            <a:extLst xmlns:a="http://schemas.openxmlformats.org/drawingml/2006/main">
              <a:ext uri="{FF2B5EF4-FFF2-40B4-BE49-F238E27FC236}">
                <a16:creationId xmlns:a16="http://schemas.microsoft.com/office/drawing/2014/main" id="{187D53BB-2809-41F0-9030-2D9B86992B4B}"/>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 proposed sequence for acquiring supply and demand without sacrificing service reliability.</a:t>
            </a:r>
          </a:p>
        </p:txBody>
      </p:sp>
      <p:sp>
        <p:nvSpPr>
          <p:cNvPr id="3" name="YardMatch">
            <a:extLst xmlns:a="http://schemas.openxmlformats.org/drawingml/2006/main">
              <a:ext uri="{FF2B5EF4-FFF2-40B4-BE49-F238E27FC236}">
                <a16:creationId xmlns:a16="http://schemas.microsoft.com/office/drawing/2014/main" id="{6148CB2B-E68C-42A8-84F8-5209EA851AD0}"/>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0">
            <a:extLst xmlns:a="http://schemas.openxmlformats.org/drawingml/2006/main">
              <a:ext uri="{FF2B5EF4-FFF2-40B4-BE49-F238E27FC236}">
                <a16:creationId xmlns:a16="http://schemas.microsoft.com/office/drawing/2014/main" id="{7056C511-E999-43A2-8B4D-DF1D8F869FFC}"/>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10</a:t>
            </a:r>
          </a:p>
        </p:txBody>
      </p:sp>
      <p:sp>
        <p:nvSpPr>
          <p:cNvPr id="5" name="1. Concentrated provider launch">
            <a:extLst xmlns:a="http://schemas.openxmlformats.org/drawingml/2006/main">
              <a:ext uri="{FF2B5EF4-FFF2-40B4-BE49-F238E27FC236}">
                <a16:creationId xmlns:a16="http://schemas.microsoft.com/office/drawing/2014/main" id="{73D71DC3-2726-4765-ACAE-F40F97DC874E}"/>
              </a:ext>
            </a:extLst>
          </p:cNvPr>
          <p:cNvSpPr>
            <a:spLocks xmlns:a="http://schemas.openxmlformats.org/drawingml/2006/main" noGrp="1"/>
          </p:cNvSpPr>
          <p:nvPr/>
        </p:nvSpPr>
        <p:spPr>
          <a:xfrm xmlns:a="http://schemas.openxmlformats.org/drawingml/2006/main">
            <a:off x="628650" y="2400300"/>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1. Concentrated provider launch</a:t>
            </a:r>
          </a:p>
        </p:txBody>
      </p:sp>
      <p:sp>
        <p:nvSpPr>
          <p:cNvPr id="6" name="Recruit qualified businesses around neighboring ro">
            <a:extLst xmlns:a="http://schemas.openxmlformats.org/drawingml/2006/main">
              <a:ext uri="{FF2B5EF4-FFF2-40B4-BE49-F238E27FC236}">
                <a16:creationId xmlns:a16="http://schemas.microsoft.com/office/drawing/2014/main" id="{ECB8B0E9-4472-4597-9778-2D71FACB7310}"/>
              </a:ext>
            </a:extLst>
          </p:cNvPr>
          <p:cNvSpPr>
            <a:spLocks xmlns:a="http://schemas.openxmlformats.org/drawingml/2006/main" noGrp="1"/>
          </p:cNvSpPr>
          <p:nvPr/>
        </p:nvSpPr>
        <p:spPr>
          <a:xfrm xmlns:a="http://schemas.openxmlformats.org/drawingml/2006/main">
            <a:off x="628650" y="2924175"/>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Recruit qualified businesses around neighboring routes. Use the first-client finder-fee waiver.</a:t>
            </a:r>
          </a:p>
        </p:txBody>
      </p:sp>
      <p:sp>
        <p:nvSpPr>
          <p:cNvPr id="7" name="2. Measured household acquisition">
            <a:extLst xmlns:a="http://schemas.openxmlformats.org/drawingml/2006/main">
              <a:ext uri="{FF2B5EF4-FFF2-40B4-BE49-F238E27FC236}">
                <a16:creationId xmlns:a16="http://schemas.microsoft.com/office/drawing/2014/main" id="{94D2AEA8-3DC2-4C8D-A974-7177E19B47E7}"/>
              </a:ext>
            </a:extLst>
          </p:cNvPr>
          <p:cNvSpPr>
            <a:spLocks xmlns:a="http://schemas.openxmlformats.org/drawingml/2006/main" noGrp="1"/>
          </p:cNvSpPr>
          <p:nvPr/>
        </p:nvSpPr>
        <p:spPr>
          <a:xfrm xmlns:a="http://schemas.openxmlformats.org/drawingml/2006/main">
            <a:off x="6400800" y="2400300"/>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2. Measured household acquisition</a:t>
            </a:r>
          </a:p>
        </p:txBody>
      </p:sp>
      <p:sp>
        <p:nvSpPr>
          <p:cNvPr id="8" name="Test local search, neighborhood referrals and prov">
            <a:extLst xmlns:a="http://schemas.openxmlformats.org/drawingml/2006/main">
              <a:ext uri="{FF2B5EF4-FFF2-40B4-BE49-F238E27FC236}">
                <a16:creationId xmlns:a16="http://schemas.microsoft.com/office/drawing/2014/main" id="{067AB28D-65A9-459B-9354-E4485F967DBB}"/>
              </a:ext>
            </a:extLst>
          </p:cNvPr>
          <p:cNvSpPr>
            <a:spLocks xmlns:a="http://schemas.openxmlformats.org/drawingml/2006/main" noGrp="1"/>
          </p:cNvSpPr>
          <p:nvPr/>
        </p:nvSpPr>
        <p:spPr>
          <a:xfrm xmlns:a="http://schemas.openxmlformats.org/drawingml/2006/main">
            <a:off x="6400800" y="2924175"/>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Test local search, neighborhood referrals and provider referrals. Count paying customers, not leads.</a:t>
            </a:r>
          </a:p>
        </p:txBody>
      </p:sp>
      <p:sp>
        <p:nvSpPr>
          <p:cNvPr id="9" name="3. A complete service season">
            <a:extLst xmlns:a="http://schemas.openxmlformats.org/drawingml/2006/main">
              <a:ext uri="{FF2B5EF4-FFF2-40B4-BE49-F238E27FC236}">
                <a16:creationId xmlns:a16="http://schemas.microsoft.com/office/drawing/2014/main" id="{2160EF23-88F1-476B-B82A-C306F27D3D79}"/>
              </a:ext>
            </a:extLst>
          </p:cNvPr>
          <p:cNvSpPr>
            <a:spLocks xmlns:a="http://schemas.openxmlformats.org/drawingml/2006/main" noGrp="1"/>
          </p:cNvSpPr>
          <p:nvPr/>
        </p:nvSpPr>
        <p:spPr>
          <a:xfrm xmlns:a="http://schemas.openxmlformats.org/drawingml/2006/main">
            <a:off x="628650" y="4257675"/>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3. A complete service season</a:t>
            </a:r>
          </a:p>
        </p:txBody>
      </p:sp>
      <p:sp>
        <p:nvSpPr>
          <p:cNvPr id="10" name="Measure paid repeat visits, fee acceptance, servic">
            <a:extLst xmlns:a="http://schemas.openxmlformats.org/drawingml/2006/main">
              <a:ext uri="{FF2B5EF4-FFF2-40B4-BE49-F238E27FC236}">
                <a16:creationId xmlns:a16="http://schemas.microsoft.com/office/drawing/2014/main" id="{0A2F05DA-E9A6-49C0-8DAD-823755DDF28B}"/>
              </a:ext>
            </a:extLst>
          </p:cNvPr>
          <p:cNvSpPr>
            <a:spLocks xmlns:a="http://schemas.openxmlformats.org/drawingml/2006/main" noGrp="1"/>
          </p:cNvSpPr>
          <p:nvPr/>
        </p:nvSpPr>
        <p:spPr>
          <a:xfrm xmlns:a="http://schemas.openxmlformats.org/drawingml/2006/main">
            <a:off x="628650" y="4781550"/>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Measure paid repeat visits, fee acceptance, service quality and cost per completed job.</a:t>
            </a:r>
          </a:p>
        </p:txBody>
      </p:sp>
      <p:sp>
        <p:nvSpPr>
          <p:cNvPr id="11" name="4. A second local market">
            <a:extLst xmlns:a="http://schemas.openxmlformats.org/drawingml/2006/main">
              <a:ext uri="{FF2B5EF4-FFF2-40B4-BE49-F238E27FC236}">
                <a16:creationId xmlns:a16="http://schemas.microsoft.com/office/drawing/2014/main" id="{F82B74DD-9220-4251-BAF0-059F33A211DB}"/>
              </a:ext>
            </a:extLst>
          </p:cNvPr>
          <p:cNvSpPr>
            <a:spLocks xmlns:a="http://schemas.openxmlformats.org/drawingml/2006/main" noGrp="1"/>
          </p:cNvSpPr>
          <p:nvPr/>
        </p:nvSpPr>
        <p:spPr>
          <a:xfrm xmlns:a="http://schemas.openxmlformats.org/drawingml/2006/main">
            <a:off x="6400800" y="4257675"/>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4. A second local market</a:t>
            </a:r>
          </a:p>
        </p:txBody>
      </p:sp>
      <p:sp>
        <p:nvSpPr>
          <p:cNvPr id="12" name="Expand only after retention and acquisition econom">
            <a:extLst xmlns:a="http://schemas.openxmlformats.org/drawingml/2006/main">
              <a:ext uri="{FF2B5EF4-FFF2-40B4-BE49-F238E27FC236}">
                <a16:creationId xmlns:a16="http://schemas.microsoft.com/office/drawing/2014/main" id="{D557C49F-4E2D-4EB5-B745-AFA0F8D353C9}"/>
              </a:ext>
            </a:extLst>
          </p:cNvPr>
          <p:cNvSpPr>
            <a:spLocks xmlns:a="http://schemas.openxmlformats.org/drawingml/2006/main" noGrp="1"/>
          </p:cNvSpPr>
          <p:nvPr/>
        </p:nvSpPr>
        <p:spPr>
          <a:xfrm xmlns:a="http://schemas.openxmlformats.org/drawingml/2006/main">
            <a:off x="6400800" y="4781550"/>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Expand only after retention and acquisition economics repeat across providers and neighborhoods.</a:t>
            </a:r>
          </a:p>
        </p:txBody>
      </p:sp>
    </p:spTree>
    <p:extLst>
      <p:ext uri="{BB962C8B-B14F-4D97-AF65-F5344CB8AC3E}">
        <p14:creationId xmlns:p14="http://schemas.microsoft.com/office/powerpoint/2010/main" val="1489380194"/>
      </p:ext>
    </p:extLst>
  </p:cSld>
</p:sld>
</file>

<file path=ppt/slides/slide1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Product progress and commercial evidence">
            <a:extLst xmlns:a="http://schemas.openxmlformats.org/drawingml/2006/main">
              <a:ext uri="{FF2B5EF4-FFF2-40B4-BE49-F238E27FC236}">
                <a16:creationId xmlns:a16="http://schemas.microsoft.com/office/drawing/2014/main" id="{ECC5997D-E570-46A4-A467-810E5E762EF3}"/>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Product progress and commercial evidence</a:t>
            </a:r>
          </a:p>
        </p:txBody>
      </p:sp>
      <p:sp>
        <p:nvSpPr>
          <p:cNvPr id="2" name="An early company with working product workflows an">
            <a:extLst xmlns:a="http://schemas.openxmlformats.org/drawingml/2006/main">
              <a:ext uri="{FF2B5EF4-FFF2-40B4-BE49-F238E27FC236}">
                <a16:creationId xmlns:a16="http://schemas.microsoft.com/office/drawing/2014/main" id="{E8701672-C0F1-4DBC-B2CC-9A8AF9DC3608}"/>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An early company with working product workflows and commercial assumptions still to validate.</a:t>
            </a:r>
          </a:p>
        </p:txBody>
      </p:sp>
      <p:sp>
        <p:nvSpPr>
          <p:cNvPr id="3" name="YardMatch">
            <a:extLst xmlns:a="http://schemas.openxmlformats.org/drawingml/2006/main">
              <a:ext uri="{FF2B5EF4-FFF2-40B4-BE49-F238E27FC236}">
                <a16:creationId xmlns:a16="http://schemas.microsoft.com/office/drawing/2014/main" id="{D6616BCA-72DA-4621-87BC-A7FD2E58B2E0}"/>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1">
            <a:extLst xmlns:a="http://schemas.openxmlformats.org/drawingml/2006/main">
              <a:ext uri="{FF2B5EF4-FFF2-40B4-BE49-F238E27FC236}">
                <a16:creationId xmlns:a16="http://schemas.microsoft.com/office/drawing/2014/main" id="{3F2428D8-9EAE-4DF2-8725-5E0D69433693}"/>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11</a:t>
            </a:r>
          </a:p>
        </p:txBody>
      </p:sp>
      <p:sp>
        <p:nvSpPr>
          <p:cNvPr id="5" name="Product foundation">
            <a:extLst xmlns:a="http://schemas.openxmlformats.org/drawingml/2006/main">
              <a:ext uri="{FF2B5EF4-FFF2-40B4-BE49-F238E27FC236}">
                <a16:creationId xmlns:a16="http://schemas.microsoft.com/office/drawing/2014/main" id="{3DC9EE3E-4F79-498D-BBC8-BF7ABC7880C7}"/>
              </a:ext>
            </a:extLst>
          </p:cNvPr>
          <p:cNvSpPr>
            <a:spLocks xmlns:a="http://schemas.openxmlformats.org/drawingml/2006/main" noGrp="1"/>
          </p:cNvSpPr>
          <p:nvPr/>
        </p:nvSpPr>
        <p:spPr>
          <a:xfrm xmlns:a="http://schemas.openxmlformats.org/drawingml/2006/main">
            <a:off x="628650" y="2400300"/>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Product foundation</a:t>
            </a:r>
          </a:p>
        </p:txBody>
      </p:sp>
      <p:sp>
        <p:nvSpPr>
          <p:cNvPr id="6" name="Customer booking and rebooking, provider calendars">
            <a:extLst xmlns:a="http://schemas.openxmlformats.org/drawingml/2006/main">
              <a:ext uri="{FF2B5EF4-FFF2-40B4-BE49-F238E27FC236}">
                <a16:creationId xmlns:a16="http://schemas.microsoft.com/office/drawing/2014/main" id="{E26403CA-E0A8-4682-A189-B5D172E1074A}"/>
              </a:ext>
            </a:extLst>
          </p:cNvPr>
          <p:cNvSpPr>
            <a:spLocks xmlns:a="http://schemas.openxmlformats.org/drawingml/2006/main" noGrp="1"/>
          </p:cNvSpPr>
          <p:nvPr/>
        </p:nvSpPr>
        <p:spPr>
          <a:xfrm xmlns:a="http://schemas.openxmlformats.org/drawingml/2006/main">
            <a:off x="628650" y="2924175"/>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Customer booking and rebooking, provider calendars and client maps, crew assignments, payments and ops workflows.</a:t>
            </a:r>
          </a:p>
        </p:txBody>
      </p:sp>
      <p:sp>
        <p:nvSpPr>
          <p:cNvPr id="7" name="Launch work remaining">
            <a:extLst xmlns:a="http://schemas.openxmlformats.org/drawingml/2006/main">
              <a:ext uri="{FF2B5EF4-FFF2-40B4-BE49-F238E27FC236}">
                <a16:creationId xmlns:a16="http://schemas.microsoft.com/office/drawing/2014/main" id="{4F82CE35-A28C-43F7-A895-FCFC49AF4336}"/>
              </a:ext>
            </a:extLst>
          </p:cNvPr>
          <p:cNvSpPr>
            <a:spLocks xmlns:a="http://schemas.openxmlformats.org/drawingml/2006/main" noGrp="1"/>
          </p:cNvSpPr>
          <p:nvPr/>
        </p:nvSpPr>
        <p:spPr>
          <a:xfrm xmlns:a="http://schemas.openxmlformats.org/drawingml/2006/main">
            <a:off x="6400800" y="2400300"/>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Launch work remaining</a:t>
            </a:r>
          </a:p>
        </p:txBody>
      </p:sp>
      <p:sp>
        <p:nvSpPr>
          <p:cNvPr id="8" name="Live payment acceptance, provider onboarding, prod">
            <a:extLst xmlns:a="http://schemas.openxmlformats.org/drawingml/2006/main">
              <a:ext uri="{FF2B5EF4-FFF2-40B4-BE49-F238E27FC236}">
                <a16:creationId xmlns:a16="http://schemas.microsoft.com/office/drawing/2014/main" id="{8FEE10E2-A22F-42C9-9F7A-2C60A986F1C8}"/>
              </a:ext>
            </a:extLst>
          </p:cNvPr>
          <p:cNvSpPr>
            <a:spLocks xmlns:a="http://schemas.openxmlformats.org/drawingml/2006/main" noGrp="1"/>
          </p:cNvSpPr>
          <p:nvPr/>
        </p:nvSpPr>
        <p:spPr>
          <a:xfrm xmlns:a="http://schemas.openxmlformats.org/drawingml/2006/main">
            <a:off x="6400800" y="2924175"/>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Live payment acceptance, provider onboarding, production readiness and store distribution need independent verification.</a:t>
            </a:r>
          </a:p>
        </p:txBody>
      </p:sp>
      <p:sp>
        <p:nvSpPr>
          <p:cNvPr id="9" name="Founder and operating team">
            <a:extLst xmlns:a="http://schemas.openxmlformats.org/drawingml/2006/main">
              <a:ext uri="{FF2B5EF4-FFF2-40B4-BE49-F238E27FC236}">
                <a16:creationId xmlns:a16="http://schemas.microsoft.com/office/drawing/2014/main" id="{FE260384-6D68-436F-9736-F95AF7EEF2F1}"/>
              </a:ext>
            </a:extLst>
          </p:cNvPr>
          <p:cNvSpPr>
            <a:spLocks xmlns:a="http://schemas.openxmlformats.org/drawingml/2006/main" noGrp="1"/>
          </p:cNvSpPr>
          <p:nvPr/>
        </p:nvSpPr>
        <p:spPr>
          <a:xfrm xmlns:a="http://schemas.openxmlformats.org/drawingml/2006/main">
            <a:off x="628650" y="4371975"/>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Founder and operating team</a:t>
            </a:r>
          </a:p>
        </p:txBody>
      </p:sp>
      <p:sp>
        <p:nvSpPr>
          <p:cNvPr id="10" name="Patrick leads the company. The model budgets paid ">
            <a:extLst xmlns:a="http://schemas.openxmlformats.org/drawingml/2006/main">
              <a:ext uri="{FF2B5EF4-FFF2-40B4-BE49-F238E27FC236}">
                <a16:creationId xmlns:a16="http://schemas.microsoft.com/office/drawing/2014/main" id="{A3819465-978D-48A1-A4B2-F553C5EC468E}"/>
              </a:ext>
            </a:extLst>
          </p:cNvPr>
          <p:cNvSpPr>
            <a:spLocks xmlns:a="http://schemas.openxmlformats.org/drawingml/2006/main" noGrp="1"/>
          </p:cNvSpPr>
          <p:nvPr/>
        </p:nvSpPr>
        <p:spPr>
          <a:xfrm xmlns:a="http://schemas.openxmlformats.org/drawingml/2006/main">
            <a:off x="628650" y="4895850"/>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Patrick leads the company. The model budgets paid staff, including founder compensation. Other owner roles remain to be defined.</a:t>
            </a:r>
          </a:p>
        </p:txBody>
      </p:sp>
      <p:sp>
        <p:nvSpPr>
          <p:cNvPr id="11" name="Commercial evidence required">
            <a:extLst xmlns:a="http://schemas.openxmlformats.org/drawingml/2006/main">
              <a:ext uri="{FF2B5EF4-FFF2-40B4-BE49-F238E27FC236}">
                <a16:creationId xmlns:a16="http://schemas.microsoft.com/office/drawing/2014/main" id="{64D3E66C-3455-4A8D-AF56-7C62887B75E6}"/>
              </a:ext>
            </a:extLst>
          </p:cNvPr>
          <p:cNvSpPr>
            <a:spLocks xmlns:a="http://schemas.openxmlformats.org/drawingml/2006/main" noGrp="1"/>
          </p:cNvSpPr>
          <p:nvPr/>
        </p:nvSpPr>
        <p:spPr>
          <a:xfrm xmlns:a="http://schemas.openxmlformats.org/drawingml/2006/main">
            <a:off x="6400800" y="4371975"/>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Commercial evidence required</a:t>
            </a:r>
          </a:p>
        </p:txBody>
      </p:sp>
      <p:sp>
        <p:nvSpPr>
          <p:cNvPr id="12" name="No verified revenue, paying customer base, signed ">
            <a:extLst xmlns:a="http://schemas.openxmlformats.org/drawingml/2006/main">
              <a:ext uri="{FF2B5EF4-FFF2-40B4-BE49-F238E27FC236}">
                <a16:creationId xmlns:a16="http://schemas.microsoft.com/office/drawing/2014/main" id="{E96B650B-282E-4058-BBD4-0876C79E68B9}"/>
              </a:ext>
            </a:extLst>
          </p:cNvPr>
          <p:cNvSpPr>
            <a:spLocks xmlns:a="http://schemas.openxmlformats.org/drawingml/2006/main" noGrp="1"/>
          </p:cNvSpPr>
          <p:nvPr/>
        </p:nvSpPr>
        <p:spPr>
          <a:xfrm xmlns:a="http://schemas.openxmlformats.org/drawingml/2006/main">
            <a:off x="6400800" y="4895850"/>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No verified revenue, paying customer base, signed provider count or measured retention is claimed in this deck.</a:t>
            </a:r>
          </a:p>
        </p:txBody>
      </p:sp>
    </p:spTree>
    <p:extLst>
      <p:ext uri="{BB962C8B-B14F-4D97-AF65-F5344CB8AC3E}">
        <p14:creationId xmlns:p14="http://schemas.microsoft.com/office/powerpoint/2010/main" val="1763121662"/>
      </p:ext>
    </p:extLst>
  </p:cSld>
</p:sld>
</file>

<file path=ppt/slides/slide1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What can increase the value of the company">
            <a:extLst xmlns:a="http://schemas.openxmlformats.org/drawingml/2006/main">
              <a:ext uri="{FF2B5EF4-FFF2-40B4-BE49-F238E27FC236}">
                <a16:creationId xmlns:a16="http://schemas.microsoft.com/office/drawing/2014/main" id="{3DC370D0-6E0C-43F9-B2D4-3ADF9F869A6E}"/>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What can increase the value of the company</a:t>
            </a:r>
          </a:p>
        </p:txBody>
      </p:sp>
      <p:sp>
        <p:nvSpPr>
          <p:cNvPr id="2" name="More paying households matter when the relationshi">
            <a:extLst xmlns:a="http://schemas.openxmlformats.org/drawingml/2006/main">
              <a:ext uri="{FF2B5EF4-FFF2-40B4-BE49-F238E27FC236}">
                <a16:creationId xmlns:a16="http://schemas.microsoft.com/office/drawing/2014/main" id="{4C892385-28B4-4A61-8A0B-90C0C1E46F56}"/>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More paying households matter when the relationships remain profitable and stay on the platform.</a:t>
            </a:r>
          </a:p>
        </p:txBody>
      </p:sp>
      <p:sp>
        <p:nvSpPr>
          <p:cNvPr id="3" name="YardMatch">
            <a:extLst xmlns:a="http://schemas.openxmlformats.org/drawingml/2006/main">
              <a:ext uri="{FF2B5EF4-FFF2-40B4-BE49-F238E27FC236}">
                <a16:creationId xmlns:a16="http://schemas.microsoft.com/office/drawing/2014/main" id="{12CF5B50-7074-4F6E-9278-01DE4D519149}"/>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2">
            <a:extLst xmlns:a="http://schemas.openxmlformats.org/drawingml/2006/main">
              <a:ext uri="{FF2B5EF4-FFF2-40B4-BE49-F238E27FC236}">
                <a16:creationId xmlns:a16="http://schemas.microsoft.com/office/drawing/2014/main" id="{FA159884-8EB9-4E0C-939F-A027D36732B1}"/>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12</a:t>
            </a:r>
          </a:p>
        </p:txBody>
      </p:sp>
      <p:graphicFrame>
        <p:nvGraphicFramePr>
          <p:cNvPr id="11" name=""/>
          <p:cNvGraphicFramePr/>
          <p:nvPr/>
        </p:nvGraphicFramePr>
        <p:xfrm>
          <a:off xmlns:a="http://schemas.openxmlformats.org/drawingml/2006/main" x="609600" y="2400300"/>
          <a:ext xmlns:a="http://schemas.openxmlformats.org/drawingml/2006/main" cx="10972800" cy="3133725"/>
        </p:xfrm>
        <a:graphic xmlns:a="http://schemas.openxmlformats.org/drawingml/2006/main">
          <a:graphicData uri="http://schemas.openxmlformats.org/drawingml/2006/table">
            <a:tbl>
              <a:tblPr/>
              <a:tblGrid>
                <a:gridCol w="3400425"/>
                <a:gridCol w="7572375"/>
              </a:tblGrid>
              <a:tr h="626745">
                <a:tc>
                  <a:txBody>
                    <a:bodyPr lIns="114300" tIns="76200" rIns="114300" bIns="76200">
                      <a:noAutofit/>
                    </a:bodyPr>
                    <a:lstStyle/>
                    <a:p>
                      <a:pPr algn="l"/>
                      <a:r>
                        <a:rPr sz="1875" b="1">
                          <a:solidFill>
                            <a:srgbClr val="FFFFFF"/>
                          </a:solidFill>
                          <a:latin typeface="Arial"/>
                          <a:ea typeface="Arial"/>
                          <a:cs typeface="Arial"/>
                        </a:rPr>
                        <a:t>Value driver</a:t>
                      </a:r>
                    </a:p>
                  </a:txBody>
                  <a:tcPr marL="91440" marR="91440" marT="45720" marB="45720" anchor="ctr">
                    <a:solidFill>
                      <a:srgbClr val="205938"/>
                    </a:solidFill>
                  </a:tcPr>
                </a:tc>
                <a:tc>
                  <a:txBody>
                    <a:bodyPr lIns="114300" tIns="76200" rIns="114300" bIns="76200">
                      <a:noAutofit/>
                    </a:bodyPr>
                    <a:lstStyle/>
                    <a:p>
                      <a:pPr algn="r"/>
                      <a:r>
                        <a:rPr sz="1875" b="1">
                          <a:solidFill>
                            <a:srgbClr val="FFFFFF"/>
                          </a:solidFill>
                          <a:latin typeface="Arial"/>
                          <a:ea typeface="Arial"/>
                          <a:cs typeface="Arial"/>
                        </a:rPr>
                        <a:t>Evidence an investor can evaluate</a:t>
                      </a:r>
                    </a:p>
                  </a:txBody>
                  <a:tcPr marL="91440" marR="91440" marT="45720" marB="45720" anchor="ctr">
                    <a:solidFill>
                      <a:srgbClr val="205938"/>
                    </a:solidFill>
                  </a:tcPr>
                </a:tc>
              </a:tr>
              <a:tr h="626745">
                <a:tc>
                  <a:txBody>
                    <a:bodyPr lIns="114300" tIns="76200" rIns="114300" bIns="76200">
                      <a:noAutofit/>
                    </a:bodyPr>
                    <a:lstStyle/>
                    <a:p>
                      <a:pPr algn="l"/>
                      <a:r>
                        <a:rPr sz="1875" b="0">
                          <a:solidFill>
                            <a:srgbClr val="14281D"/>
                          </a:solidFill>
                          <a:latin typeface="Arial"/>
                          <a:ea typeface="Arial"/>
                          <a:cs typeface="Arial"/>
                        </a:rPr>
                        <a:t>Household retention</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The next season’s paid bookings, not just app activity</a:t>
                      </a:r>
                    </a:p>
                  </a:txBody>
                  <a:tcPr marL="91440" marR="91440" marT="45720" marB="45720" anchor="ctr">
                    <a:solidFill>
                      <a:srgbClr val="FFFFFF"/>
                    </a:solidFill>
                  </a:tcPr>
                </a:tc>
              </a:tr>
              <a:tr h="626745">
                <a:tc>
                  <a:txBody>
                    <a:bodyPr lIns="114300" tIns="76200" rIns="114300" bIns="76200">
                      <a:noAutofit/>
                    </a:bodyPr>
                    <a:lstStyle/>
                    <a:p>
                      <a:pPr algn="l"/>
                      <a:r>
                        <a:rPr sz="1875" b="0">
                          <a:solidFill>
                            <a:srgbClr val="14281D"/>
                          </a:solidFill>
                          <a:latin typeface="Arial"/>
                          <a:ea typeface="Arial"/>
                          <a:cs typeface="Arial"/>
                        </a:rPr>
                        <a:t>Provider density</a:t>
                      </a:r>
                    </a:p>
                  </a:txBody>
                  <a:tcPr marL="91440" marR="91440" marT="45720" marB="45720" anchor="ctr">
                    <a:solidFill>
                      <a:srgbClr val="F7F5EF"/>
                    </a:solidFill>
                  </a:tcPr>
                </a:tc>
                <a:tc>
                  <a:txBody>
                    <a:bodyPr lIns="114300" tIns="76200" rIns="114300" bIns="76200">
                      <a:noAutofit/>
                    </a:bodyPr>
                    <a:lstStyle/>
                    <a:p>
                      <a:pPr algn="r"/>
                      <a:r>
                        <a:rPr sz="1875" b="0">
                          <a:solidFill>
                            <a:srgbClr val="14281D"/>
                          </a:solidFill>
                          <a:latin typeface="Arial"/>
                          <a:ea typeface="Arial"/>
                          <a:cs typeface="Arial"/>
                        </a:rPr>
                        <a:t>More completed jobs per service area and less unfilled demand</a:t>
                      </a:r>
                    </a:p>
                  </a:txBody>
                  <a:tcPr marL="91440" marR="91440" marT="45720" marB="45720" anchor="ctr">
                    <a:solidFill>
                      <a:srgbClr val="F7F5EF"/>
                    </a:solidFill>
                  </a:tcPr>
                </a:tc>
              </a:tr>
              <a:tr h="626745">
                <a:tc>
                  <a:txBody>
                    <a:bodyPr lIns="114300" tIns="76200" rIns="114300" bIns="76200">
                      <a:noAutofit/>
                    </a:bodyPr>
                    <a:lstStyle/>
                    <a:p>
                      <a:pPr algn="l"/>
                      <a:r>
                        <a:rPr sz="1875" b="0">
                          <a:solidFill>
                            <a:srgbClr val="14281D"/>
                          </a:solidFill>
                          <a:latin typeface="Arial"/>
                          <a:ea typeface="Arial"/>
                          <a:cs typeface="Arial"/>
                        </a:rPr>
                        <a:t>Acquisition efficiency</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Contribution earned relative to cost per first paying household</a:t>
                      </a:r>
                    </a:p>
                  </a:txBody>
                  <a:tcPr marL="91440" marR="91440" marT="45720" marB="45720" anchor="ctr">
                    <a:solidFill>
                      <a:srgbClr val="FFFFFF"/>
                    </a:solidFill>
                  </a:tcPr>
                </a:tc>
              </a:tr>
              <a:tr h="626745">
                <a:tc>
                  <a:txBody>
                    <a:bodyPr lIns="114300" tIns="76200" rIns="114300" bIns="76200">
                      <a:noAutofit/>
                    </a:bodyPr>
                    <a:lstStyle/>
                    <a:p>
                      <a:pPr algn="l"/>
                      <a:r>
                        <a:rPr sz="1875" b="0">
                          <a:solidFill>
                            <a:srgbClr val="14281D"/>
                          </a:solidFill>
                          <a:latin typeface="Arial"/>
                          <a:ea typeface="Arial"/>
                          <a:cs typeface="Arial"/>
                        </a:rPr>
                        <a:t>Operational reliability</a:t>
                      </a:r>
                    </a:p>
                  </a:txBody>
                  <a:tcPr marL="91440" marR="91440" marT="45720" marB="45720" anchor="ctr">
                    <a:solidFill>
                      <a:srgbClr val="F7F5EF"/>
                    </a:solidFill>
                  </a:tcPr>
                </a:tc>
                <a:tc>
                  <a:txBody>
                    <a:bodyPr lIns="114300" tIns="76200" rIns="114300" bIns="76200">
                      <a:noAutofit/>
                    </a:bodyPr>
                    <a:lstStyle/>
                    <a:p>
                      <a:pPr algn="r"/>
                      <a:r>
                        <a:rPr sz="1875" b="0">
                          <a:solidFill>
                            <a:srgbClr val="14281D"/>
                          </a:solidFill>
                          <a:latin typeface="Arial"/>
                          <a:ea typeface="Arial"/>
                          <a:cs typeface="Arial"/>
                        </a:rPr>
                        <a:t>On-time visits, fewer service issues and resolved payment failures</a:t>
                      </a:r>
                    </a:p>
                  </a:txBody>
                  <a:tcPr marL="91440" marR="91440" marT="45720" marB="45720" anchor="ctr">
                    <a:solidFill>
                      <a:srgbClr val="F7F5EF"/>
                    </a:solidFill>
                  </a:tcPr>
                </a:tc>
              </a:tr>
            </a:tbl>
          </a:graphicData>
        </a:graphic>
      </p:graphicFrame>
      <p:sp>
        <p:nvSpPr>
          <p:cNvPr id="6" name="The model assigns no revenue to subscriptions, pro">
            <a:extLst xmlns:a="http://schemas.openxmlformats.org/drawingml/2006/main">
              <a:ext uri="{FF2B5EF4-FFF2-40B4-BE49-F238E27FC236}">
                <a16:creationId xmlns:a16="http://schemas.microsoft.com/office/drawing/2014/main" id="{5DCF2293-87BC-4D76-A0CE-F3777BC24B0D}"/>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The model assigns no revenue to subscriptions, provider recruiting fees, advertising or specialist cross-sell. These remain optional future tests.</a:t>
            </a:r>
          </a:p>
        </p:txBody>
      </p:sp>
    </p:spTree>
    <p:extLst>
      <p:ext uri="{BB962C8B-B14F-4D97-AF65-F5344CB8AC3E}">
        <p14:creationId xmlns:p14="http://schemas.microsoft.com/office/powerpoint/2010/main" val="1311050751"/>
      </p:ext>
    </p:extLst>
  </p:cSld>
</p:sld>
</file>

<file path=ppt/slides/slide1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The forecast makes the assumptions visible">
            <a:extLst xmlns:a="http://schemas.openxmlformats.org/drawingml/2006/main">
              <a:ext uri="{FF2B5EF4-FFF2-40B4-BE49-F238E27FC236}">
                <a16:creationId xmlns:a16="http://schemas.microsoft.com/office/drawing/2014/main" id="{807FB8C7-46F0-4011-AB73-19BC3E71100A}"/>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forecast makes the assumptions visible</a:t>
            </a:r>
          </a:p>
        </p:txBody>
      </p:sp>
      <p:sp>
        <p:nvSpPr>
          <p:cNvPr id="2" name="2027-2033 calendar years. No historical operating ">
            <a:extLst xmlns:a="http://schemas.openxmlformats.org/drawingml/2006/main">
              <a:ext uri="{FF2B5EF4-FFF2-40B4-BE49-F238E27FC236}">
                <a16:creationId xmlns:a16="http://schemas.microsoft.com/office/drawing/2014/main" id="{6388C184-593F-4B69-A0CF-4796C57B2E8D}"/>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2027-2033 calendar years. No historical operating results are implied.</a:t>
            </a:r>
          </a:p>
        </p:txBody>
      </p:sp>
      <p:sp>
        <p:nvSpPr>
          <p:cNvPr id="3" name="YardMatch">
            <a:extLst xmlns:a="http://schemas.openxmlformats.org/drawingml/2006/main">
              <a:ext uri="{FF2B5EF4-FFF2-40B4-BE49-F238E27FC236}">
                <a16:creationId xmlns:a16="http://schemas.microsoft.com/office/drawing/2014/main" id="{026C8F2D-F977-4DC2-A6A6-4F365C2EBBD4}"/>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3">
            <a:extLst xmlns:a="http://schemas.openxmlformats.org/drawingml/2006/main">
              <a:ext uri="{FF2B5EF4-FFF2-40B4-BE49-F238E27FC236}">
                <a16:creationId xmlns:a16="http://schemas.microsoft.com/office/drawing/2014/main" id="{FD5C7DE5-3C5C-47C1-89A6-A990547D5953}"/>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13</a:t>
            </a:r>
          </a:p>
        </p:txBody>
      </p:sp>
      <p:graphicFrame>
        <p:nvGraphicFramePr>
          <p:cNvPr id="11" name=""/>
          <p:cNvGraphicFramePr/>
          <p:nvPr/>
        </p:nvGraphicFramePr>
        <p:xfrm>
          <a:off xmlns:a="http://schemas.openxmlformats.org/drawingml/2006/main" x="609600" y="2352675"/>
          <a:ext xmlns:a="http://schemas.openxmlformats.org/drawingml/2006/main" cx="10972800" cy="3381375"/>
        </p:xfrm>
        <a:graphic xmlns:a="http://schemas.openxmlformats.org/drawingml/2006/main">
          <a:graphicData uri="http://schemas.openxmlformats.org/drawingml/2006/table">
            <a:tbl>
              <a:tblPr/>
              <a:tblGrid>
                <a:gridCol w="4857750"/>
                <a:gridCol w="2038350"/>
                <a:gridCol w="2038350"/>
                <a:gridCol w="2038350"/>
              </a:tblGrid>
              <a:tr h="483054">
                <a:tc>
                  <a:txBody>
                    <a:bodyPr lIns="114300" tIns="76200" rIns="114300" bIns="76200">
                      <a:noAutofit/>
                    </a:bodyPr>
                    <a:lstStyle/>
                    <a:p>
                      <a:pPr algn="l"/>
                      <a:r>
                        <a:rPr sz="1650" b="1">
                          <a:solidFill>
                            <a:srgbClr val="FFFFFF"/>
                          </a:solidFill>
                          <a:latin typeface="Arial"/>
                          <a:ea typeface="Arial"/>
                          <a:cs typeface="Arial"/>
                        </a:rPr>
                        <a:t>Driver</a:t>
                      </a:r>
                    </a:p>
                  </a:txBody>
                  <a:tcPr marL="91440" marR="91440" marT="45720" marB="45720" anchor="ctr">
                    <a:solidFill>
                      <a:srgbClr val="205938"/>
                    </a:solidFill>
                  </a:tcPr>
                </a:tc>
                <a:tc>
                  <a:txBody>
                    <a:bodyPr lIns="114300" tIns="76200" rIns="114300" bIns="76200">
                      <a:noAutofit/>
                    </a:bodyPr>
                    <a:lstStyle/>
                    <a:p>
                      <a:pPr algn="r"/>
                      <a:r>
                        <a:rPr sz="1650" b="1">
                          <a:solidFill>
                            <a:srgbClr val="FFFFFF"/>
                          </a:solidFill>
                          <a:latin typeface="Arial"/>
                          <a:ea typeface="Arial"/>
                          <a:cs typeface="Arial"/>
                        </a:rPr>
                        <a:t>Downside</a:t>
                      </a:r>
                    </a:p>
                  </a:txBody>
                  <a:tcPr marL="91440" marR="91440" marT="45720" marB="45720" anchor="ctr">
                    <a:solidFill>
                      <a:srgbClr val="205938"/>
                    </a:solidFill>
                  </a:tcPr>
                </a:tc>
                <a:tc>
                  <a:txBody>
                    <a:bodyPr lIns="114300" tIns="76200" rIns="114300" bIns="76200">
                      <a:noAutofit/>
                    </a:bodyPr>
                    <a:lstStyle/>
                    <a:p>
                      <a:pPr algn="r"/>
                      <a:r>
                        <a:rPr sz="1650" b="1">
                          <a:solidFill>
                            <a:srgbClr val="FFFFFF"/>
                          </a:solidFill>
                          <a:latin typeface="Arial"/>
                          <a:ea typeface="Arial"/>
                          <a:cs typeface="Arial"/>
                        </a:rPr>
                        <a:t>Base</a:t>
                      </a:r>
                    </a:p>
                  </a:txBody>
                  <a:tcPr marL="91440" marR="91440" marT="45720" marB="45720" anchor="ctr">
                    <a:solidFill>
                      <a:srgbClr val="205938"/>
                    </a:solidFill>
                  </a:tcPr>
                </a:tc>
                <a:tc>
                  <a:txBody>
                    <a:bodyPr lIns="114300" tIns="76200" rIns="114300" bIns="76200">
                      <a:noAutofit/>
                    </a:bodyPr>
                    <a:lstStyle/>
                    <a:p>
                      <a:pPr algn="r"/>
                      <a:r>
                        <a:rPr sz="1650" b="1">
                          <a:solidFill>
                            <a:srgbClr val="FFFFFF"/>
                          </a:solidFill>
                          <a:latin typeface="Arial"/>
                          <a:ea typeface="Arial"/>
                          <a:cs typeface="Arial"/>
                        </a:rPr>
                        <a:t>Upside</a:t>
                      </a:r>
                    </a:p>
                  </a:txBody>
                  <a:tcPr marL="91440" marR="91440" marT="45720" marB="45720" anchor="ctr">
                    <a:solidFill>
                      <a:srgbClr val="205938"/>
                    </a:solidFill>
                  </a:tcPr>
                </a:tc>
              </a:tr>
              <a:tr h="483054">
                <a:tc>
                  <a:txBody>
                    <a:bodyPr lIns="114300" tIns="76200" rIns="114300" bIns="76200">
                      <a:noAutofit/>
                    </a:bodyPr>
                    <a:lstStyle/>
                    <a:p>
                      <a:pPr algn="l"/>
                      <a:r>
                        <a:rPr sz="1650" b="0">
                          <a:solidFill>
                            <a:srgbClr val="14281D"/>
                          </a:solidFill>
                          <a:latin typeface="Arial"/>
                          <a:ea typeface="Arial"/>
                          <a:cs typeface="Arial"/>
                        </a:rPr>
                        <a:t>New paying households, 2027 / 2033</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300 / 40,000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500 / 160,000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500 / 280,000</a:t>
                      </a:r>
                    </a:p>
                  </a:txBody>
                  <a:tcPr marL="91440" marR="91440" marT="45720" marB="45720" anchor="ctr">
                    <a:solidFill>
                      <a:srgbClr val="FFFFFF"/>
                    </a:solidFill>
                  </a:tcPr>
                </a:tc>
              </a:tr>
              <a:tr h="483054">
                <a:tc>
                  <a:txBody>
                    <a:bodyPr lIns="114300" tIns="76200" rIns="114300" bIns="76200">
                      <a:noAutofit/>
                    </a:bodyPr>
                    <a:lstStyle/>
                    <a:p>
                      <a:pPr algn="l"/>
                      <a:r>
                        <a:rPr sz="1650" b="0">
                          <a:solidFill>
                            <a:srgbClr val="14281D"/>
                          </a:solidFill>
                          <a:latin typeface="Arial"/>
                          <a:ea typeface="Arial"/>
                          <a:cs typeface="Arial"/>
                        </a:rPr>
                        <a:t>Annual retention by 2033</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65%</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80%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85%</a:t>
                      </a:r>
                    </a:p>
                  </a:txBody>
                  <a:tcPr marL="91440" marR="91440" marT="45720" marB="45720" anchor="ctr">
                    <a:solidFill>
                      <a:srgbClr val="F7F5EF"/>
                    </a:solidFill>
                  </a:tcPr>
                </a:tc>
              </a:tr>
              <a:tr h="483054">
                <a:tc>
                  <a:txBody>
                    <a:bodyPr lIns="114300" tIns="76200" rIns="114300" bIns="76200">
                      <a:noAutofit/>
                    </a:bodyPr>
                    <a:lstStyle/>
                    <a:p>
                      <a:pPr algn="l"/>
                      <a:r>
                        <a:rPr sz="1650" b="0">
                          <a:solidFill>
                            <a:srgbClr val="14281D"/>
                          </a:solidFill>
                          <a:latin typeface="Arial"/>
                          <a:ea typeface="Arial"/>
                          <a:cs typeface="Arial"/>
                        </a:rPr>
                        <a:t>Scheduled visits per full season</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16</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24</a:t>
                      </a:r>
                    </a:p>
                  </a:txBody>
                  <a:tcPr marL="91440" marR="91440" marT="45720" marB="45720" anchor="ctr">
                    <a:solidFill>
                      <a:srgbClr val="FFFFFF"/>
                    </a:solidFill>
                  </a:tcPr>
                </a:tc>
              </a:tr>
              <a:tr h="483054">
                <a:tc>
                  <a:txBody>
                    <a:bodyPr lIns="114300" tIns="76200" rIns="114300" bIns="76200">
                      <a:noAutofit/>
                    </a:bodyPr>
                    <a:lstStyle/>
                    <a:p>
                      <a:pPr algn="l"/>
                      <a:r>
                        <a:rPr sz="1650" b="0">
                          <a:solidFill>
                            <a:srgbClr val="14281D"/>
                          </a:solidFill>
                          <a:latin typeface="Arial"/>
                          <a:ea typeface="Arial"/>
                          <a:cs typeface="Arial"/>
                        </a:rPr>
                        <a:t>Visits kept on platform</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80%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90%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95%</a:t>
                      </a:r>
                    </a:p>
                  </a:txBody>
                  <a:tcPr marL="91440" marR="91440" marT="45720" marB="45720" anchor="ctr">
                    <a:solidFill>
                      <a:srgbClr val="F7F5EF"/>
                    </a:solidFill>
                  </a:tcPr>
                </a:tc>
              </a:tr>
              <a:tr h="483054">
                <a:tc>
                  <a:txBody>
                    <a:bodyPr lIns="114300" tIns="76200" rIns="114300" bIns="76200">
                      <a:noAutofit/>
                    </a:bodyPr>
                    <a:lstStyle/>
                    <a:p>
                      <a:pPr algn="l"/>
                      <a:r>
                        <a:rPr sz="1650" b="0">
                          <a:solidFill>
                            <a:srgbClr val="14281D"/>
                          </a:solidFill>
                          <a:latin typeface="Arial"/>
                          <a:ea typeface="Arial"/>
                          <a:cs typeface="Arial"/>
                        </a:rPr>
                        <a:t>ACH share, 2027 / 2033</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0% / 20%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10% / 60%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20% / 75%</a:t>
                      </a:r>
                    </a:p>
                  </a:txBody>
                  <a:tcPr marL="91440" marR="91440" marT="45720" marB="45720" anchor="ctr">
                    <a:solidFill>
                      <a:srgbClr val="FFFFFF"/>
                    </a:solidFill>
                  </a:tcPr>
                </a:tc>
              </a:tr>
              <a:tr h="483054">
                <a:tc>
                  <a:txBody>
                    <a:bodyPr lIns="114300" tIns="76200" rIns="114300" bIns="76200">
                      <a:noAutofit/>
                    </a:bodyPr>
                    <a:lstStyle/>
                    <a:p>
                      <a:pPr algn="l"/>
                      <a:r>
                        <a:rPr sz="1650" b="0">
                          <a:solidFill>
                            <a:srgbClr val="14281D"/>
                          </a:solidFill>
                          <a:latin typeface="Arial"/>
                          <a:ea typeface="Arial"/>
                          <a:cs typeface="Arial"/>
                        </a:rPr>
                        <a:t>Cash CAC, 2027 / 2033</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$75 / $50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$55 / $28</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$45 / $22</a:t>
                      </a:r>
                    </a:p>
                  </a:txBody>
                  <a:tcPr marL="91440" marR="91440" marT="45720" marB="45720" anchor="ctr">
                    <a:solidFill>
                      <a:srgbClr val="F7F5EF"/>
                    </a:solidFill>
                  </a:tcPr>
                </a:tc>
              </a:tr>
            </a:tbl>
          </a:graphicData>
        </a:graphic>
      </p:graphicFrame>
      <p:sp>
        <p:nvSpPr>
          <p:cNvPr id="6" name="Base: $60 service ticket, 95% completion/collectio">
            <a:extLst xmlns:a="http://schemas.openxmlformats.org/drawingml/2006/main">
              <a:ext uri="{FF2B5EF4-FFF2-40B4-BE49-F238E27FC236}">
                <a16:creationId xmlns:a16="http://schemas.microsoft.com/office/drawing/2014/main" id="{D48106B5-D88D-4C66-8B78-236956E0A2FC}"/>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Base: $60 service ticket, 95% completion/collection, eight payout-active months, 3 to 36 paid employees. All cases retain $45 plus $2.99 pricing.</a:t>
            </a:r>
          </a:p>
        </p:txBody>
      </p:sp>
    </p:spTree>
    <p:extLst>
      <p:ext uri="{BB962C8B-B14F-4D97-AF65-F5344CB8AC3E}">
        <p14:creationId xmlns:p14="http://schemas.microsoft.com/office/powerpoint/2010/main" val="1190010307"/>
      </p:ext>
    </p:extLst>
  </p:cSld>
</p:sld>
</file>

<file path=ppt/slides/slide1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Base revenue reaches $17.9m in 2033">
            <a:extLst xmlns:a="http://schemas.openxmlformats.org/drawingml/2006/main">
              <a:ext uri="{FF2B5EF4-FFF2-40B4-BE49-F238E27FC236}">
                <a16:creationId xmlns:a16="http://schemas.microsoft.com/office/drawing/2014/main" id="{0C2D1608-59A5-40E0-A121-32C13FD8DC92}"/>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Base revenue reaches $17.9m in 2033</a:t>
            </a:r>
          </a:p>
        </p:txBody>
      </p:sp>
      <p:sp>
        <p:nvSpPr>
          <p:cNvPr id="2" name="Net marketplace revenue, US$ millions. Finder fees">
            <a:extLst xmlns:a="http://schemas.openxmlformats.org/drawingml/2006/main">
              <a:ext uri="{FF2B5EF4-FFF2-40B4-BE49-F238E27FC236}">
                <a16:creationId xmlns:a16="http://schemas.microsoft.com/office/drawing/2014/main" id="{0BA3E4A9-2BA9-421B-8176-B675F5B0FD1C}"/>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Net marketplace revenue, US$ millions. Finder fees and recurring fees are distinct revenue streams.</a:t>
            </a:r>
          </a:p>
        </p:txBody>
      </p:sp>
      <p:sp>
        <p:nvSpPr>
          <p:cNvPr id="3" name="YardMatch">
            <a:extLst xmlns:a="http://schemas.openxmlformats.org/drawingml/2006/main">
              <a:ext uri="{FF2B5EF4-FFF2-40B4-BE49-F238E27FC236}">
                <a16:creationId xmlns:a16="http://schemas.microsoft.com/office/drawing/2014/main" id="{822D0FE6-43E5-4A6C-BF24-C870583AA144}"/>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4">
            <a:extLst xmlns:a="http://schemas.openxmlformats.org/drawingml/2006/main">
              <a:ext uri="{FF2B5EF4-FFF2-40B4-BE49-F238E27FC236}">
                <a16:creationId xmlns:a16="http://schemas.microsoft.com/office/drawing/2014/main" id="{9E34FD6C-9A28-421A-A6F2-AB13559DD023}"/>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14</a:t>
            </a:r>
          </a:p>
        </p:txBody>
      </p:sp>
      <p:graphicFrame>
        <p:nvGraphicFramePr>
          <p:cNvPr id="11" name="Chart"/>
          <p:cNvGraphicFramePr/>
          <p:nvPr/>
        </p:nvGraphicFramePr>
        <p:xfrm>
          <a:off xmlns:a="http://schemas.openxmlformats.org/drawingml/2006/main" x="590550" y="2286000"/>
          <a:ext xmlns:a="http://schemas.openxmlformats.org/drawingml/2006/main" cx="11010900" cy="3362325"/>
        </p:xfrm>
        <a:graphic xmlns:a="http://schemas.openxmlformats.org/drawingml/2006/main">
          <a:graphicData uri="http://schemas.openxmlformats.org/drawingml/2006/chart">
            <c:chart xmlns:r="http://schemas.openxmlformats.org/officeDocument/2006/relationships" xmlns:c="http://schemas.openxmlformats.org/drawingml/2006/chart" r:id="R2e22a63fc3004e18"/>
          </a:graphicData>
        </a:graphic>
      </p:graphicFrame>
      <p:sp>
        <p:nvSpPr>
          <p:cNvPr id="6" name="Base 2033: 292,448 year-end paying households, 3.6">
            <a:extLst xmlns:a="http://schemas.openxmlformats.org/drawingml/2006/main">
              <a:ext uri="{FF2B5EF4-FFF2-40B4-BE49-F238E27FC236}">
                <a16:creationId xmlns:a16="http://schemas.microsoft.com/office/drawing/2014/main" id="{A5EEA56B-F4FF-49B6-BCDF-6CDA7013C278}"/>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Base 2033: 292,448 year-end paying households, 3.63m paid visits and $218.0m GMV. The $218.0m is service volume, not YardMatch revenue.</a:t>
            </a:r>
          </a:p>
        </p:txBody>
      </p:sp>
    </p:spTree>
    <p:extLst>
      <p:ext uri="{BB962C8B-B14F-4D97-AF65-F5344CB8AC3E}">
        <p14:creationId xmlns:p14="http://schemas.microsoft.com/office/powerpoint/2010/main" val="280639024"/>
      </p:ext>
    </p:extLst>
  </p:cSld>
</p:sld>
</file>

<file path=ppt/slides/slide1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Base operating profitability arrives in 2033">
            <a:extLst xmlns:a="http://schemas.openxmlformats.org/drawingml/2006/main">
              <a:ext uri="{FF2B5EF4-FFF2-40B4-BE49-F238E27FC236}">
                <a16:creationId xmlns:a16="http://schemas.microsoft.com/office/drawing/2014/main" id="{59808B6C-6782-4D68-8DB2-9236022CC6DE}"/>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Base operating profitability arrives in 2033</a:t>
            </a:r>
          </a:p>
        </p:txBody>
      </p:sp>
      <p:sp>
        <p:nvSpPr>
          <p:cNvPr id="2" name="US$ millions. The company funds several loss-makin">
            <a:extLst xmlns:a="http://schemas.openxmlformats.org/drawingml/2006/main">
              <a:ext uri="{FF2B5EF4-FFF2-40B4-BE49-F238E27FC236}">
                <a16:creationId xmlns:a16="http://schemas.microsoft.com/office/drawing/2014/main" id="{E92D55E7-CDD4-48B2-9474-B0CCB4009190}"/>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US$ millions. The company funds several loss-making years before reaching this scale.</a:t>
            </a:r>
          </a:p>
        </p:txBody>
      </p:sp>
      <p:sp>
        <p:nvSpPr>
          <p:cNvPr id="3" name="YardMatch">
            <a:extLst xmlns:a="http://schemas.openxmlformats.org/drawingml/2006/main">
              <a:ext uri="{FF2B5EF4-FFF2-40B4-BE49-F238E27FC236}">
                <a16:creationId xmlns:a16="http://schemas.microsoft.com/office/drawing/2014/main" id="{A56ADCCF-4A29-4A89-8B73-CA7B195F130A}"/>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5">
            <a:extLst xmlns:a="http://schemas.openxmlformats.org/drawingml/2006/main">
              <a:ext uri="{FF2B5EF4-FFF2-40B4-BE49-F238E27FC236}">
                <a16:creationId xmlns:a16="http://schemas.microsoft.com/office/drawing/2014/main" id="{B8174DB7-79CC-4591-BF4F-D4A451C75766}"/>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15</a:t>
            </a:r>
          </a:p>
        </p:txBody>
      </p:sp>
      <p:graphicFrame>
        <p:nvGraphicFramePr>
          <p:cNvPr id="11" name=""/>
          <p:cNvGraphicFramePr/>
          <p:nvPr/>
        </p:nvGraphicFramePr>
        <p:xfrm>
          <a:off xmlns:a="http://schemas.openxmlformats.org/drawingml/2006/main" x="609600" y="2343150"/>
          <a:ext xmlns:a="http://schemas.openxmlformats.org/drawingml/2006/main" cx="10972800" cy="3228975"/>
        </p:xfrm>
        <a:graphic xmlns:a="http://schemas.openxmlformats.org/drawingml/2006/main">
          <a:graphicData uri="http://schemas.openxmlformats.org/drawingml/2006/table">
            <a:tbl>
              <a:tblPr/>
              <a:tblGrid>
                <a:gridCol w="2571750"/>
                <a:gridCol w="1200150"/>
                <a:gridCol w="1200150"/>
                <a:gridCol w="1200150"/>
                <a:gridCol w="1200150"/>
                <a:gridCol w="1200150"/>
                <a:gridCol w="1200150"/>
                <a:gridCol w="1200150"/>
              </a:tblGrid>
              <a:tr h="461282">
                <a:tc>
                  <a:txBody>
                    <a:bodyPr lIns="114300" tIns="76200" rIns="114300" bIns="76200">
                      <a:noAutofit/>
                    </a:bodyPr>
                    <a:lstStyle/>
                    <a:p>
                      <a:pPr algn="l"/>
                      <a:r>
                        <a:rPr sz="1500" b="1">
                          <a:solidFill>
                            <a:srgbClr val="FFFFFF"/>
                          </a:solidFill>
                          <a:latin typeface="Arial"/>
                          <a:ea typeface="Arial"/>
                          <a:cs typeface="Arial"/>
                        </a:rPr>
                        <a:t>Base forecast</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2027</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2028</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2029</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2030</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2031</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2032</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2033</a:t>
                      </a:r>
                    </a:p>
                  </a:txBody>
                  <a:tcPr marL="91440" marR="91440" marT="45720" marB="45720" anchor="ctr">
                    <a:solidFill>
                      <a:srgbClr val="205938"/>
                    </a:solidFill>
                  </a:tcPr>
                </a:tc>
              </a:tr>
              <a:tr h="461282">
                <a:tc>
                  <a:txBody>
                    <a:bodyPr lIns="114300" tIns="76200" rIns="114300" bIns="76200">
                      <a:noAutofit/>
                    </a:bodyPr>
                    <a:lstStyle/>
                    <a:p>
                      <a:pPr algn="l"/>
                      <a:r>
                        <a:rPr sz="1500" b="0">
                          <a:solidFill>
                            <a:srgbClr val="14281D"/>
                          </a:solidFill>
                          <a:latin typeface="Arial"/>
                          <a:ea typeface="Arial"/>
                          <a:cs typeface="Arial"/>
                        </a:rPr>
                        <a:t>Revenue</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$0.03</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$0.19</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$0.73</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$2.18</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$5.20</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$10.30</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$17.89</a:t>
                      </a:r>
                    </a:p>
                  </a:txBody>
                  <a:tcPr marL="91440" marR="91440" marT="45720" marB="45720" anchor="ctr">
                    <a:solidFill>
                      <a:srgbClr val="FFFFFF"/>
                    </a:solidFill>
                  </a:tcPr>
                </a:tc>
              </a:tr>
              <a:tr h="461282">
                <a:tc>
                  <a:txBody>
                    <a:bodyPr lIns="114300" tIns="76200" rIns="114300" bIns="76200">
                      <a:noAutofit/>
                    </a:bodyPr>
                    <a:lstStyle/>
                    <a:p>
                      <a:pPr algn="l"/>
                      <a:r>
                        <a:rPr sz="1500" b="0">
                          <a:solidFill>
                            <a:srgbClr val="14281D"/>
                          </a:solidFill>
                          <a:latin typeface="Arial"/>
                          <a:ea typeface="Arial"/>
                          <a:cs typeface="Arial"/>
                        </a:rPr>
                        <a:t>Gross profit</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$0.02</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$0.12</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$0.47</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$1.38</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$3.29</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$6.41</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$11.02</a:t>
                      </a:r>
                    </a:p>
                  </a:txBody>
                  <a:tcPr marL="91440" marR="91440" marT="45720" marB="45720" anchor="ctr">
                    <a:solidFill>
                      <a:srgbClr val="F7F5EF"/>
                    </a:solidFill>
                  </a:tcPr>
                </a:tc>
              </a:tr>
              <a:tr h="461282">
                <a:tc>
                  <a:txBody>
                    <a:bodyPr lIns="114300" tIns="76200" rIns="114300" bIns="76200">
                      <a:noAutofit/>
                    </a:bodyPr>
                    <a:lstStyle/>
                    <a:p>
                      <a:pPr algn="l"/>
                      <a:r>
                        <a:rPr sz="1500" b="1">
                          <a:solidFill>
                            <a:srgbClr val="14281D"/>
                          </a:solidFill>
                          <a:latin typeface="Arial"/>
                          <a:ea typeface="Arial"/>
                          <a:cs typeface="Arial"/>
                        </a:rPr>
                        <a:t>EBITDA</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($0.37)</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($0.63)</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($0.99)</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($1.29)</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($1.30)</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($0.62)</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$0.78</a:t>
                      </a:r>
                    </a:p>
                  </a:txBody>
                  <a:tcPr marL="91440" marR="91440" marT="45720" marB="45720" anchor="ctr">
                    <a:solidFill>
                      <a:srgbClr val="E8EDDF"/>
                    </a:solidFill>
                  </a:tcPr>
                </a:tc>
              </a:tr>
              <a:tr h="461282">
                <a:tc>
                  <a:txBody>
                    <a:bodyPr lIns="114300" tIns="76200" rIns="114300" bIns="76200">
                      <a:noAutofit/>
                    </a:bodyPr>
                    <a:lstStyle/>
                    <a:p>
                      <a:pPr algn="l"/>
                      <a:r>
                        <a:rPr sz="1500" b="0">
                          <a:solidFill>
                            <a:srgbClr val="14281D"/>
                          </a:solidFill>
                          <a:latin typeface="Arial"/>
                          <a:ea typeface="Arial"/>
                          <a:cs typeface="Arial"/>
                        </a:rPr>
                        <a:t>Operating profit</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($0.37)</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($0.64)</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($1.02)</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($1.33)</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($1.36)</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($0.72)</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$0.64</a:t>
                      </a:r>
                    </a:p>
                  </a:txBody>
                  <a:tcPr marL="91440" marR="91440" marT="45720" marB="45720" anchor="ctr">
                    <a:solidFill>
                      <a:srgbClr val="F7F5EF"/>
                    </a:solidFill>
                  </a:tcPr>
                </a:tc>
              </a:tr>
              <a:tr h="461282">
                <a:tc>
                  <a:txBody>
                    <a:bodyPr lIns="114300" tIns="76200" rIns="114300" bIns="76200">
                      <a:noAutofit/>
                    </a:bodyPr>
                    <a:lstStyle/>
                    <a:p>
                      <a:pPr algn="l"/>
                      <a:r>
                        <a:rPr sz="1500" b="1">
                          <a:solidFill>
                            <a:srgbClr val="14281D"/>
                          </a:solidFill>
                          <a:latin typeface="Arial"/>
                          <a:ea typeface="Arial"/>
                          <a:cs typeface="Arial"/>
                        </a:rPr>
                        <a:t>Net income proxy</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($0.37)</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($0.64)</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($1.02)</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($1.33)</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($1.36)</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($0.72)</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$0.48</a:t>
                      </a:r>
                    </a:p>
                  </a:txBody>
                  <a:tcPr marL="91440" marR="91440" marT="45720" marB="45720" anchor="ctr">
                    <a:solidFill>
                      <a:srgbClr val="E8EDDF"/>
                    </a:solidFill>
                  </a:tcPr>
                </a:tc>
              </a:tr>
              <a:tr h="461282">
                <a:tc>
                  <a:txBody>
                    <a:bodyPr lIns="114300" tIns="76200" rIns="114300" bIns="76200">
                      <a:noAutofit/>
                    </a:bodyPr>
                    <a:lstStyle/>
                    <a:p>
                      <a:pPr algn="l"/>
                      <a:r>
                        <a:rPr sz="1500" b="0">
                          <a:solidFill>
                            <a:srgbClr val="14281D"/>
                          </a:solidFill>
                          <a:latin typeface="Arial"/>
                          <a:ea typeface="Arial"/>
                          <a:cs typeface="Arial"/>
                        </a:rPr>
                        <a:t>Free cash flow</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($0.38)</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($0.67)</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($1.09)</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($1.50)</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($1.73)</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($1.38)</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($0.56)</a:t>
                      </a:r>
                    </a:p>
                  </a:txBody>
                  <a:tcPr marL="91440" marR="91440" marT="45720" marB="45720" anchor="ctr">
                    <a:solidFill>
                      <a:srgbClr val="F7F5EF"/>
                    </a:solidFill>
                  </a:tcPr>
                </a:tc>
              </a:tr>
            </a:tbl>
          </a:graphicData>
        </a:graphic>
      </p:graphicFrame>
      <p:sp>
        <p:nvSpPr>
          <p:cNvPr id="6" name="2033 net income is $0.48m, while free cash flow is">
            <a:extLst xmlns:a="http://schemas.openxmlformats.org/drawingml/2006/main">
              <a:ext uri="{FF2B5EF4-FFF2-40B4-BE49-F238E27FC236}">
                <a16:creationId xmlns:a16="http://schemas.microsoft.com/office/drawing/2014/main" id="{531DFC3F-8AE8-4AF2-A166-76577350699F}"/>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2033 net income is $0.48m, while free cash flow is ($0.56m) because growth requires more risk cash and equipment. Profit and cash generation differ.</a:t>
            </a:r>
          </a:p>
        </p:txBody>
      </p:sp>
    </p:spTree>
    <p:extLst>
      <p:ext uri="{BB962C8B-B14F-4D97-AF65-F5344CB8AC3E}">
        <p14:creationId xmlns:p14="http://schemas.microsoft.com/office/powerpoint/2010/main" val="1841129846"/>
      </p:ext>
    </p:extLst>
  </p:cSld>
</p:sld>
</file>

<file path=ppt/slides/slide1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Returns depend on execution, not volume alone">
            <a:extLst xmlns:a="http://schemas.openxmlformats.org/drawingml/2006/main">
              <a:ext uri="{FF2B5EF4-FFF2-40B4-BE49-F238E27FC236}">
                <a16:creationId xmlns:a16="http://schemas.microsoft.com/office/drawing/2014/main" id="{557E1385-ED2F-4F4A-9204-20EB7D343B26}"/>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Returns depend on execution, not volume alone</a:t>
            </a:r>
          </a:p>
        </p:txBody>
      </p:sp>
      <p:sp>
        <p:nvSpPr>
          <p:cNvPr id="2" name="All three cases use the same provider pricing. Ret">
            <a:extLst xmlns:a="http://schemas.openxmlformats.org/drawingml/2006/main">
              <a:ext uri="{FF2B5EF4-FFF2-40B4-BE49-F238E27FC236}">
                <a16:creationId xmlns:a16="http://schemas.microsoft.com/office/drawing/2014/main" id="{7F24AB6A-459E-4C53-9940-5C5F48E0C1E4}"/>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All three cases use the same provider pricing. Retention, acquisition and payment mix change the outcome.</a:t>
            </a:r>
          </a:p>
        </p:txBody>
      </p:sp>
      <p:sp>
        <p:nvSpPr>
          <p:cNvPr id="3" name="YardMatch">
            <a:extLst xmlns:a="http://schemas.openxmlformats.org/drawingml/2006/main">
              <a:ext uri="{FF2B5EF4-FFF2-40B4-BE49-F238E27FC236}">
                <a16:creationId xmlns:a16="http://schemas.microsoft.com/office/drawing/2014/main" id="{E0A25B52-5E38-4A31-881F-DDA0B964423C}"/>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6">
            <a:extLst xmlns:a="http://schemas.openxmlformats.org/drawingml/2006/main">
              <a:ext uri="{FF2B5EF4-FFF2-40B4-BE49-F238E27FC236}">
                <a16:creationId xmlns:a16="http://schemas.microsoft.com/office/drawing/2014/main" id="{50B7577A-CBC2-47F6-844C-7088BF613D16}"/>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16</a:t>
            </a:r>
          </a:p>
        </p:txBody>
      </p:sp>
      <p:graphicFrame>
        <p:nvGraphicFramePr>
          <p:cNvPr id="11" name=""/>
          <p:cNvGraphicFramePr/>
          <p:nvPr/>
        </p:nvGraphicFramePr>
        <p:xfrm>
          <a:off xmlns:a="http://schemas.openxmlformats.org/drawingml/2006/main" x="609600" y="2371725"/>
          <a:ext xmlns:a="http://schemas.openxmlformats.org/drawingml/2006/main" cx="10972800" cy="3057525"/>
        </p:xfrm>
        <a:graphic xmlns:a="http://schemas.openxmlformats.org/drawingml/2006/main">
          <a:graphicData uri="http://schemas.openxmlformats.org/drawingml/2006/table">
            <a:tbl>
              <a:tblPr/>
              <a:tblGrid>
                <a:gridCol w="4600575"/>
                <a:gridCol w="2124075"/>
                <a:gridCol w="2124075"/>
                <a:gridCol w="2124075"/>
              </a:tblGrid>
              <a:tr h="509588">
                <a:tc>
                  <a:txBody>
                    <a:bodyPr lIns="114300" tIns="76200" rIns="114300" bIns="76200">
                      <a:noAutofit/>
                    </a:bodyPr>
                    <a:lstStyle/>
                    <a:p>
                      <a:pPr algn="l"/>
                      <a:r>
                        <a:rPr sz="1800" b="1">
                          <a:solidFill>
                            <a:srgbClr val="FFFFFF"/>
                          </a:solidFill>
                          <a:latin typeface="Arial"/>
                          <a:ea typeface="Arial"/>
                          <a:cs typeface="Arial"/>
                        </a:rPr>
                        <a:t>Result</a:t>
                      </a:r>
                    </a:p>
                  </a:txBody>
                  <a:tcPr marL="91440" marR="91440" marT="45720" marB="45720" anchor="ctr">
                    <a:solidFill>
                      <a:srgbClr val="205938"/>
                    </a:solidFill>
                  </a:tcPr>
                </a:tc>
                <a:tc>
                  <a:txBody>
                    <a:bodyPr lIns="114300" tIns="76200" rIns="114300" bIns="76200">
                      <a:noAutofit/>
                    </a:bodyPr>
                    <a:lstStyle/>
                    <a:p>
                      <a:pPr algn="r"/>
                      <a:r>
                        <a:rPr sz="1800" b="1">
                          <a:solidFill>
                            <a:srgbClr val="FFFFFF"/>
                          </a:solidFill>
                          <a:latin typeface="Arial"/>
                          <a:ea typeface="Arial"/>
                          <a:cs typeface="Arial"/>
                        </a:rPr>
                        <a:t>Downside</a:t>
                      </a:r>
                    </a:p>
                  </a:txBody>
                  <a:tcPr marL="91440" marR="91440" marT="45720" marB="45720" anchor="ctr">
                    <a:solidFill>
                      <a:srgbClr val="205938"/>
                    </a:solidFill>
                  </a:tcPr>
                </a:tc>
                <a:tc>
                  <a:txBody>
                    <a:bodyPr lIns="114300" tIns="76200" rIns="114300" bIns="76200">
                      <a:noAutofit/>
                    </a:bodyPr>
                    <a:lstStyle/>
                    <a:p>
                      <a:pPr algn="r"/>
                      <a:r>
                        <a:rPr sz="1800" b="1">
                          <a:solidFill>
                            <a:srgbClr val="FFFFFF"/>
                          </a:solidFill>
                          <a:latin typeface="Arial"/>
                          <a:ea typeface="Arial"/>
                          <a:cs typeface="Arial"/>
                        </a:rPr>
                        <a:t>Base</a:t>
                      </a:r>
                    </a:p>
                  </a:txBody>
                  <a:tcPr marL="91440" marR="91440" marT="45720" marB="45720" anchor="ctr">
                    <a:solidFill>
                      <a:srgbClr val="205938"/>
                    </a:solidFill>
                  </a:tcPr>
                </a:tc>
                <a:tc>
                  <a:txBody>
                    <a:bodyPr lIns="114300" tIns="76200" rIns="114300" bIns="76200">
                      <a:noAutofit/>
                    </a:bodyPr>
                    <a:lstStyle/>
                    <a:p>
                      <a:pPr algn="r"/>
                      <a:r>
                        <a:rPr sz="1800" b="1">
                          <a:solidFill>
                            <a:srgbClr val="FFFFFF"/>
                          </a:solidFill>
                          <a:latin typeface="Arial"/>
                          <a:ea typeface="Arial"/>
                          <a:cs typeface="Arial"/>
                        </a:rPr>
                        <a:t>Upside</a:t>
                      </a:r>
                    </a:p>
                  </a:txBody>
                  <a:tcPr marL="91440" marR="91440" marT="45720" marB="45720" anchor="ctr">
                    <a:solidFill>
                      <a:srgbClr val="205938"/>
                    </a:solidFill>
                  </a:tcPr>
                </a:tc>
              </a:tr>
              <a:tr h="509588">
                <a:tc>
                  <a:txBody>
                    <a:bodyPr lIns="114300" tIns="76200" rIns="114300" bIns="76200">
                      <a:noAutofit/>
                    </a:bodyPr>
                    <a:lstStyle/>
                    <a:p>
                      <a:pPr algn="l"/>
                      <a:r>
                        <a:rPr sz="1800" b="0">
                          <a:solidFill>
                            <a:srgbClr val="14281D"/>
                          </a:solidFill>
                          <a:latin typeface="Arial"/>
                          <a:ea typeface="Arial"/>
                          <a:cs typeface="Arial"/>
                        </a:rPr>
                        <a:t>2031 revenue</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$1.16m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$5.20m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$9.21m</a:t>
                      </a:r>
                    </a:p>
                  </a:txBody>
                  <a:tcPr marL="91440" marR="91440" marT="45720" marB="45720" anchor="ctr">
                    <a:solidFill>
                      <a:srgbClr val="FFFFFF"/>
                    </a:solidFill>
                  </a:tcPr>
                </a:tc>
              </a:tr>
              <a:tr h="509588">
                <a:tc>
                  <a:txBody>
                    <a:bodyPr lIns="114300" tIns="76200" rIns="114300" bIns="76200">
                      <a:noAutofit/>
                    </a:bodyPr>
                    <a:lstStyle/>
                    <a:p>
                      <a:pPr algn="l"/>
                      <a:r>
                        <a:rPr sz="1800" b="0">
                          <a:solidFill>
                            <a:srgbClr val="14281D"/>
                          </a:solidFill>
                          <a:latin typeface="Arial"/>
                          <a:ea typeface="Arial"/>
                          <a:cs typeface="Arial"/>
                        </a:rPr>
                        <a:t>2031 EBITDA</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($1.61)m</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($1.30)m</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$0.37m</a:t>
                      </a:r>
                    </a:p>
                  </a:txBody>
                  <a:tcPr marL="91440" marR="91440" marT="45720" marB="45720" anchor="ctr">
                    <a:solidFill>
                      <a:srgbClr val="F7F5EF"/>
                    </a:solidFill>
                  </a:tcPr>
                </a:tc>
              </a:tr>
              <a:tr h="509588">
                <a:tc>
                  <a:txBody>
                    <a:bodyPr lIns="114300" tIns="76200" rIns="114300" bIns="76200">
                      <a:noAutofit/>
                    </a:bodyPr>
                    <a:lstStyle/>
                    <a:p>
                      <a:pPr algn="l"/>
                      <a:r>
                        <a:rPr sz="1800" b="0">
                          <a:solidFill>
                            <a:srgbClr val="14281D"/>
                          </a:solidFill>
                          <a:latin typeface="Arial"/>
                          <a:ea typeface="Arial"/>
                          <a:cs typeface="Arial"/>
                        </a:rPr>
                        <a:t>2033 revenue</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$3.33m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$17.89m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$37.09m</a:t>
                      </a:r>
                    </a:p>
                  </a:txBody>
                  <a:tcPr marL="91440" marR="91440" marT="45720" marB="45720" anchor="ctr">
                    <a:solidFill>
                      <a:srgbClr val="FFFFFF"/>
                    </a:solidFill>
                  </a:tcPr>
                </a:tc>
              </a:tr>
              <a:tr h="509588">
                <a:tc>
                  <a:txBody>
                    <a:bodyPr lIns="114300" tIns="76200" rIns="114300" bIns="76200">
                      <a:noAutofit/>
                    </a:bodyPr>
                    <a:lstStyle/>
                    <a:p>
                      <a:pPr algn="l"/>
                      <a:r>
                        <a:rPr sz="1800" b="1">
                          <a:solidFill>
                            <a:srgbClr val="14281D"/>
                          </a:solidFill>
                          <a:latin typeface="Arial"/>
                          <a:ea typeface="Arial"/>
                          <a:cs typeface="Arial"/>
                        </a:rPr>
                        <a:t>2033 net income proxy</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($2.83)m</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$0.48m</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$6.46m</a:t>
                      </a:r>
                    </a:p>
                  </a:txBody>
                  <a:tcPr marL="91440" marR="91440" marT="45720" marB="45720" anchor="ctr">
                    <a:solidFill>
                      <a:srgbClr val="E8EDDF"/>
                    </a:solidFill>
                  </a:tcPr>
                </a:tc>
              </a:tr>
              <a:tr h="509588">
                <a:tc>
                  <a:txBody>
                    <a:bodyPr lIns="114300" tIns="76200" rIns="114300" bIns="76200">
                      <a:noAutofit/>
                    </a:bodyPr>
                    <a:lstStyle/>
                    <a:p>
                      <a:pPr algn="l"/>
                      <a:r>
                        <a:rPr sz="1800" b="0">
                          <a:solidFill>
                            <a:srgbClr val="14281D"/>
                          </a:solidFill>
                          <a:latin typeface="Arial"/>
                          <a:ea typeface="Arial"/>
                          <a:cs typeface="Arial"/>
                        </a:rPr>
                        <a:t>First positive EBITDA year</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None through 2033</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2033</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2031</a:t>
                      </a:r>
                    </a:p>
                  </a:txBody>
                  <a:tcPr marL="91440" marR="91440" marT="45720" marB="45720" anchor="ctr">
                    <a:solidFill>
                      <a:srgbClr val="FFFFFF"/>
                    </a:solidFill>
                  </a:tcPr>
                </a:tc>
              </a:tr>
            </a:tbl>
          </a:graphicData>
        </a:graphic>
      </p:graphicFrame>
      <p:sp>
        <p:nvSpPr>
          <p:cNvPr id="6" name="In the downside case, larger service tickets and l">
            <a:extLst xmlns:a="http://schemas.openxmlformats.org/drawingml/2006/main">
              <a:ext uri="{FF2B5EF4-FFF2-40B4-BE49-F238E27FC236}">
                <a16:creationId xmlns:a16="http://schemas.microsoft.com/office/drawing/2014/main" id="{EC03353A-048D-45DB-841F-966709EB99A9}"/>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In the downside case, larger service tickets and low ACH use make repeat contribution negative through 2032. More such transactions deepen the loss.</a:t>
            </a:r>
          </a:p>
        </p:txBody>
      </p:sp>
    </p:spTree>
    <p:extLst>
      <p:ext uri="{BB962C8B-B14F-4D97-AF65-F5344CB8AC3E}">
        <p14:creationId xmlns:p14="http://schemas.microsoft.com/office/powerpoint/2010/main" val="1468893371"/>
      </p:ext>
    </p:extLst>
  </p:cSld>
</p:sld>
</file>

<file path=ppt/slides/slide1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An illustrative $1.5m first round funds validation">
            <a:extLst xmlns:a="http://schemas.openxmlformats.org/drawingml/2006/main">
              <a:ext uri="{FF2B5EF4-FFF2-40B4-BE49-F238E27FC236}">
                <a16:creationId xmlns:a16="http://schemas.microsoft.com/office/drawing/2014/main" id="{88176C93-6C49-444C-A9B1-9C904517C9EB}"/>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An illustrative $1.5m first round funds validation</a:t>
            </a:r>
          </a:p>
        </p:txBody>
      </p:sp>
      <p:sp>
        <p:nvSpPr>
          <p:cNvPr id="2" name="The two-year base budget tests commercial adoption">
            <a:extLst xmlns:a="http://schemas.openxmlformats.org/drawingml/2006/main">
              <a:ext uri="{FF2B5EF4-FFF2-40B4-BE49-F238E27FC236}">
                <a16:creationId xmlns:a16="http://schemas.microsoft.com/office/drawing/2014/main" id="{180A7C38-96B6-4962-9951-102F39A480F5}"/>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two-year base budget tests commercial adoption and leaves a reserve for the next financing decision.</a:t>
            </a:r>
          </a:p>
        </p:txBody>
      </p:sp>
      <p:sp>
        <p:nvSpPr>
          <p:cNvPr id="3" name="YardMatch">
            <a:extLst xmlns:a="http://schemas.openxmlformats.org/drawingml/2006/main">
              <a:ext uri="{FF2B5EF4-FFF2-40B4-BE49-F238E27FC236}">
                <a16:creationId xmlns:a16="http://schemas.microsoft.com/office/drawing/2014/main" id="{AE5492C2-EF6A-49AD-A99E-8046FF1AF412}"/>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7">
            <a:extLst xmlns:a="http://schemas.openxmlformats.org/drawingml/2006/main">
              <a:ext uri="{FF2B5EF4-FFF2-40B4-BE49-F238E27FC236}">
                <a16:creationId xmlns:a16="http://schemas.microsoft.com/office/drawing/2014/main" id="{E7024E02-C815-403A-92D6-04AE791E34DE}"/>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17</a:t>
            </a:r>
          </a:p>
        </p:txBody>
      </p:sp>
      <p:graphicFrame>
        <p:nvGraphicFramePr>
          <p:cNvPr id="15" name=""/>
          <p:cNvGraphicFramePr/>
          <p:nvPr/>
        </p:nvGraphicFramePr>
        <p:xfrm>
          <a:off xmlns:a="http://schemas.openxmlformats.org/drawingml/2006/main" x="609600" y="2314575"/>
          <a:ext xmlns:a="http://schemas.openxmlformats.org/drawingml/2006/main" cx="6858000" cy="3371850"/>
        </p:xfrm>
        <a:graphic xmlns:a="http://schemas.openxmlformats.org/drawingml/2006/main">
          <a:graphicData uri="http://schemas.openxmlformats.org/drawingml/2006/table">
            <a:tbl>
              <a:tblPr/>
              <a:tblGrid>
                <a:gridCol w="4857750"/>
                <a:gridCol w="2000250"/>
              </a:tblGrid>
              <a:tr h="374650">
                <a:tc>
                  <a:txBody>
                    <a:bodyPr lIns="114300" tIns="76200" rIns="114300" bIns="76200">
                      <a:noAutofit/>
                    </a:bodyPr>
                    <a:lstStyle/>
                    <a:p>
                      <a:pPr algn="l"/>
                      <a:r>
                        <a:rPr sz="1650" b="1">
                          <a:solidFill>
                            <a:srgbClr val="FFFFFF"/>
                          </a:solidFill>
                          <a:latin typeface="Arial"/>
                          <a:ea typeface="Arial"/>
                          <a:cs typeface="Arial"/>
                        </a:rPr>
                        <a:t>2027-2028 base cash plan</a:t>
                      </a:r>
                    </a:p>
                  </a:txBody>
                  <a:tcPr marL="91440" marR="91440" marT="45720" marB="45720" anchor="ctr">
                    <a:solidFill>
                      <a:srgbClr val="205938"/>
                    </a:solidFill>
                  </a:tcPr>
                </a:tc>
                <a:tc>
                  <a:txBody>
                    <a:bodyPr lIns="114300" tIns="76200" rIns="114300" bIns="76200">
                      <a:noAutofit/>
                    </a:bodyPr>
                    <a:lstStyle/>
                    <a:p>
                      <a:pPr algn="r"/>
                      <a:r>
                        <a:rPr sz="1650" b="1">
                          <a:solidFill>
                            <a:srgbClr val="FFFFFF"/>
                          </a:solidFill>
                          <a:latin typeface="Arial"/>
                          <a:ea typeface="Arial"/>
                          <a:cs typeface="Arial"/>
                        </a:rPr>
                        <a:t>Amount</a:t>
                      </a:r>
                    </a:p>
                  </a:txBody>
                  <a:tcPr marL="91440" marR="91440" marT="45720" marB="45720" anchor="ctr">
                    <a:solidFill>
                      <a:srgbClr val="205938"/>
                    </a:solidFill>
                  </a:tcPr>
                </a:tc>
              </a:tr>
              <a:tr h="374650">
                <a:tc>
                  <a:txBody>
                    <a:bodyPr lIns="114300" tIns="76200" rIns="114300" bIns="76200">
                      <a:noAutofit/>
                    </a:bodyPr>
                    <a:lstStyle/>
                    <a:p>
                      <a:pPr algn="l"/>
                      <a:r>
                        <a:rPr sz="1650" b="0">
                          <a:solidFill>
                            <a:srgbClr val="14281D"/>
                          </a:solidFill>
                          <a:latin typeface="Arial"/>
                          <a:ea typeface="Arial"/>
                          <a:cs typeface="Arial"/>
                        </a:rPr>
                        <a:t>Payroll</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$825,000</a:t>
                      </a:r>
                    </a:p>
                  </a:txBody>
                  <a:tcPr marL="91440" marR="91440" marT="45720" marB="45720" anchor="ctr">
                    <a:solidFill>
                      <a:srgbClr val="FFFFFF"/>
                    </a:solidFill>
                  </a:tcPr>
                </a:tc>
              </a:tr>
              <a:tr h="374650">
                <a:tc>
                  <a:txBody>
                    <a:bodyPr lIns="114300" tIns="76200" rIns="114300" bIns="76200">
                      <a:noAutofit/>
                    </a:bodyPr>
                    <a:lstStyle/>
                    <a:p>
                      <a:pPr algn="l"/>
                      <a:r>
                        <a:rPr sz="1650" b="0">
                          <a:solidFill>
                            <a:srgbClr val="14281D"/>
                          </a:solidFill>
                          <a:latin typeface="Arial"/>
                          <a:ea typeface="Arial"/>
                          <a:cs typeface="Arial"/>
                        </a:rPr>
                        <a:t>Customer acquisition and provider onboarding</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$158,125</a:t>
                      </a:r>
                    </a:p>
                  </a:txBody>
                  <a:tcPr marL="91440" marR="91440" marT="45720" marB="45720" anchor="ctr">
                    <a:solidFill>
                      <a:srgbClr val="F7F5EF"/>
                    </a:solidFill>
                  </a:tcPr>
                </a:tc>
              </a:tr>
              <a:tr h="374650">
                <a:tc>
                  <a:txBody>
                    <a:bodyPr lIns="114300" tIns="76200" rIns="114300" bIns="76200">
                      <a:noAutofit/>
                    </a:bodyPr>
                    <a:lstStyle/>
                    <a:p>
                      <a:pPr algn="l"/>
                      <a:r>
                        <a:rPr sz="1650" b="0">
                          <a:solidFill>
                            <a:srgbClr val="14281D"/>
                          </a:solidFill>
                          <a:latin typeface="Arial"/>
                          <a:ea typeface="Arial"/>
                          <a:cs typeface="Arial"/>
                        </a:rPr>
                        <a:t>Fixed overhead</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$160,000</a:t>
                      </a:r>
                    </a:p>
                  </a:txBody>
                  <a:tcPr marL="91440" marR="91440" marT="45720" marB="45720" anchor="ctr">
                    <a:solidFill>
                      <a:srgbClr val="FFFFFF"/>
                    </a:solidFill>
                  </a:tcPr>
                </a:tc>
              </a:tr>
              <a:tr h="374650">
                <a:tc>
                  <a:txBody>
                    <a:bodyPr lIns="114300" tIns="76200" rIns="114300" bIns="76200">
                      <a:noAutofit/>
                    </a:bodyPr>
                    <a:lstStyle/>
                    <a:p>
                      <a:pPr algn="l"/>
                      <a:r>
                        <a:rPr sz="1650" b="0">
                          <a:solidFill>
                            <a:srgbClr val="14281D"/>
                          </a:solidFill>
                          <a:latin typeface="Arial"/>
                          <a:ea typeface="Arial"/>
                          <a:cs typeface="Arial"/>
                        </a:rPr>
                        <a:t>Capex and restricted risk cash</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$56,416</a:t>
                      </a:r>
                    </a:p>
                  </a:txBody>
                  <a:tcPr marL="91440" marR="91440" marT="45720" marB="45720" anchor="ctr">
                    <a:solidFill>
                      <a:srgbClr val="F7F5EF"/>
                    </a:solidFill>
                  </a:tcPr>
                </a:tc>
              </a:tr>
              <a:tr h="374650">
                <a:tc>
                  <a:txBody>
                    <a:bodyPr lIns="114300" tIns="76200" rIns="114300" bIns="76200">
                      <a:noAutofit/>
                    </a:bodyPr>
                    <a:lstStyle/>
                    <a:p>
                      <a:pPr algn="l"/>
                      <a:r>
                        <a:rPr sz="1650" b="0">
                          <a:solidFill>
                            <a:srgbClr val="14281D"/>
                          </a:solidFill>
                          <a:latin typeface="Arial"/>
                          <a:ea typeface="Arial"/>
                          <a:cs typeface="Arial"/>
                        </a:rPr>
                        <a:t>Less gross profit generated</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($146,448)</a:t>
                      </a:r>
                    </a:p>
                  </a:txBody>
                  <a:tcPr marL="91440" marR="91440" marT="45720" marB="45720" anchor="ctr">
                    <a:solidFill>
                      <a:srgbClr val="FFFFFF"/>
                    </a:solidFill>
                  </a:tcPr>
                </a:tc>
              </a:tr>
              <a:tr h="374650">
                <a:tc>
                  <a:txBody>
                    <a:bodyPr lIns="114300" tIns="76200" rIns="114300" bIns="76200">
                      <a:noAutofit/>
                    </a:bodyPr>
                    <a:lstStyle/>
                    <a:p>
                      <a:pPr algn="l"/>
                      <a:r>
                        <a:rPr sz="1650" b="1">
                          <a:solidFill>
                            <a:srgbClr val="14281D"/>
                          </a:solidFill>
                          <a:latin typeface="Arial"/>
                          <a:ea typeface="Arial"/>
                          <a:cs typeface="Arial"/>
                        </a:rPr>
                        <a:t>Net cash used</a:t>
                      </a:r>
                    </a:p>
                  </a:txBody>
                  <a:tcPr marL="91440" marR="91440" marT="45720" marB="45720" anchor="ctr">
                    <a:solidFill>
                      <a:srgbClr val="E8EDDF"/>
                    </a:solidFill>
                  </a:tcPr>
                </a:tc>
                <a:tc>
                  <a:txBody>
                    <a:bodyPr lIns="114300" tIns="76200" rIns="114300" bIns="76200">
                      <a:noAutofit/>
                    </a:bodyPr>
                    <a:lstStyle/>
                    <a:p>
                      <a:pPr algn="r"/>
                      <a:r>
                        <a:rPr sz="1650" b="1">
                          <a:solidFill>
                            <a:srgbClr val="14281D"/>
                          </a:solidFill>
                          <a:latin typeface="Arial"/>
                          <a:ea typeface="Arial"/>
                          <a:cs typeface="Arial"/>
                        </a:rPr>
                        <a:t>$1,053,093</a:t>
                      </a:r>
                    </a:p>
                  </a:txBody>
                  <a:tcPr marL="91440" marR="91440" marT="45720" marB="45720" anchor="ctr">
                    <a:solidFill>
                      <a:srgbClr val="E8EDDF"/>
                    </a:solidFill>
                  </a:tcPr>
                </a:tc>
              </a:tr>
              <a:tr h="374650">
                <a:tc>
                  <a:txBody>
                    <a:bodyPr lIns="114300" tIns="76200" rIns="114300" bIns="76200">
                      <a:noAutofit/>
                    </a:bodyPr>
                    <a:lstStyle/>
                    <a:p>
                      <a:pPr algn="l"/>
                      <a:r>
                        <a:rPr sz="1650" b="0">
                          <a:solidFill>
                            <a:srgbClr val="14281D"/>
                          </a:solidFill>
                          <a:latin typeface="Arial"/>
                          <a:ea typeface="Arial"/>
                          <a:cs typeface="Arial"/>
                        </a:rPr>
                        <a:t>Financing costs</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$25,000</a:t>
                      </a:r>
                    </a:p>
                  </a:txBody>
                  <a:tcPr marL="91440" marR="91440" marT="45720" marB="45720" anchor="ctr">
                    <a:solidFill>
                      <a:srgbClr val="FFFFFF"/>
                    </a:solidFill>
                  </a:tcPr>
                </a:tc>
              </a:tr>
              <a:tr h="374650">
                <a:tc>
                  <a:txBody>
                    <a:bodyPr lIns="114300" tIns="76200" rIns="114300" bIns="76200">
                      <a:noAutofit/>
                    </a:bodyPr>
                    <a:lstStyle/>
                    <a:p>
                      <a:pPr algn="l"/>
                      <a:r>
                        <a:rPr sz="1650" b="1">
                          <a:solidFill>
                            <a:srgbClr val="14281D"/>
                          </a:solidFill>
                          <a:latin typeface="Arial"/>
                          <a:ea typeface="Arial"/>
                          <a:cs typeface="Arial"/>
                        </a:rPr>
                        <a:t>Remaining cash from $1.5m</a:t>
                      </a:r>
                    </a:p>
                  </a:txBody>
                  <a:tcPr marL="91440" marR="91440" marT="45720" marB="45720" anchor="ctr">
                    <a:solidFill>
                      <a:srgbClr val="E8EDDF"/>
                    </a:solidFill>
                  </a:tcPr>
                </a:tc>
                <a:tc>
                  <a:txBody>
                    <a:bodyPr lIns="114300" tIns="76200" rIns="114300" bIns="76200">
                      <a:noAutofit/>
                    </a:bodyPr>
                    <a:lstStyle/>
                    <a:p>
                      <a:pPr algn="r"/>
                      <a:r>
                        <a:rPr sz="1650" b="1">
                          <a:solidFill>
                            <a:srgbClr val="14281D"/>
                          </a:solidFill>
                          <a:latin typeface="Arial"/>
                          <a:ea typeface="Arial"/>
                          <a:cs typeface="Arial"/>
                        </a:rPr>
                        <a:t>$421,907</a:t>
                      </a:r>
                    </a:p>
                  </a:txBody>
                  <a:tcPr marL="91440" marR="91440" marT="45720" marB="45720" anchor="ctr">
                    <a:solidFill>
                      <a:srgbClr val="E8EDDF"/>
                    </a:solidFill>
                  </a:tcPr>
                </a:tc>
              </a:tr>
            </a:tbl>
          </a:graphicData>
        </a:graphic>
      </p:graphicFrame>
      <p:sp>
        <p:nvSpPr>
          <p:cNvPr id="6" name="A first round">
            <a:extLst xmlns:a="http://schemas.openxmlformats.org/drawingml/2006/main">
              <a:ext uri="{FF2B5EF4-FFF2-40B4-BE49-F238E27FC236}">
                <a16:creationId xmlns:a16="http://schemas.microsoft.com/office/drawing/2014/main" id="{0D16FEE9-EA7D-4BB9-AA61-680F623F8905}"/>
              </a:ext>
            </a:extLst>
          </p:cNvPr>
          <p:cNvSpPr>
            <a:spLocks xmlns:a="http://schemas.openxmlformats.org/drawingml/2006/main" noGrp="1"/>
          </p:cNvSpPr>
          <p:nvPr/>
        </p:nvSpPr>
        <p:spPr>
          <a:xfrm xmlns:a="http://schemas.openxmlformats.org/drawingml/2006/main">
            <a:off x="7962900" y="2419350"/>
            <a:ext cx="35052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05938"/>
                </a:solidFill>
                <a:latin typeface="Arial"/>
                <a:ea typeface="Arial"/>
                <a:cs typeface="Arial"/>
              </a:defRPr>
            </a:pPr>
            <a:r>
              <a:rPr sz="2550" b="1">
                <a:solidFill>
                  <a:srgbClr val="205938"/>
                </a:solidFill>
                <a:latin typeface="Arial"/>
                <a:ea typeface="Arial"/>
                <a:cs typeface="Arial"/>
              </a:rPr>
              <a:t>A first round</a:t>
            </a:r>
          </a:p>
        </p:txBody>
      </p:sp>
      <p:sp>
        <p:nvSpPr>
          <p:cNvPr id="7" name="The base case needs further funding from 2029.">
            <a:extLst xmlns:a="http://schemas.openxmlformats.org/drawingml/2006/main">
              <a:ext uri="{FF2B5EF4-FFF2-40B4-BE49-F238E27FC236}">
                <a16:creationId xmlns:a16="http://schemas.microsoft.com/office/drawing/2014/main" id="{C531E240-8185-4536-821E-2BE8CA14BFA1}"/>
              </a:ext>
            </a:extLst>
          </p:cNvPr>
          <p:cNvSpPr>
            <a:spLocks xmlns:a="http://schemas.openxmlformats.org/drawingml/2006/main" noGrp="1"/>
          </p:cNvSpPr>
          <p:nvPr/>
        </p:nvSpPr>
        <p:spPr>
          <a:xfrm xmlns:a="http://schemas.openxmlformats.org/drawingml/2006/main">
            <a:off x="7962900" y="3095625"/>
            <a:ext cx="346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The base case needs further funding from 2029.</a:t>
            </a:r>
          </a:p>
        </p:txBody>
      </p:sp>
      <p:sp>
        <p:nvSpPr>
          <p:cNvPr id="8" name="$7.30m">
            <a:extLst xmlns:a="http://schemas.openxmlformats.org/drawingml/2006/main">
              <a:ext uri="{FF2B5EF4-FFF2-40B4-BE49-F238E27FC236}">
                <a16:creationId xmlns:a16="http://schemas.microsoft.com/office/drawing/2014/main" id="{3211CCAA-9DC0-4969-878B-B5B96A4328A9}"/>
              </a:ext>
            </a:extLst>
          </p:cNvPr>
          <p:cNvSpPr>
            <a:spLocks xmlns:a="http://schemas.openxmlformats.org/drawingml/2006/main" noGrp="1"/>
          </p:cNvSpPr>
          <p:nvPr/>
        </p:nvSpPr>
        <p:spPr>
          <a:xfrm xmlns:a="http://schemas.openxmlformats.org/drawingml/2006/main">
            <a:off x="7962900" y="4410075"/>
            <a:ext cx="34671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205938"/>
                </a:solidFill>
                <a:latin typeface="Arial"/>
                <a:ea typeface="Arial"/>
                <a:cs typeface="Arial"/>
              </a:defRPr>
            </a:pPr>
            <a:r>
              <a:rPr sz="3375" b="1">
                <a:solidFill>
                  <a:srgbClr val="205938"/>
                </a:solidFill>
                <a:latin typeface="Arial"/>
                <a:ea typeface="Arial"/>
                <a:cs typeface="Arial"/>
              </a:rPr>
              <a:t>$7.30m</a:t>
            </a:r>
          </a:p>
        </p:txBody>
      </p:sp>
      <p:sp>
        <p:nvSpPr>
          <p:cNvPr id="9" name="Cumulative base cash deficit through 2033, before ">
            <a:extLst xmlns:a="http://schemas.openxmlformats.org/drawingml/2006/main">
              <a:ext uri="{FF2B5EF4-FFF2-40B4-BE49-F238E27FC236}">
                <a16:creationId xmlns:a16="http://schemas.microsoft.com/office/drawing/2014/main" id="{538B8F14-A0FE-47DC-8794-5B6AB7F38973}"/>
              </a:ext>
            </a:extLst>
          </p:cNvPr>
          <p:cNvSpPr>
            <a:spLocks xmlns:a="http://schemas.openxmlformats.org/drawingml/2006/main" noGrp="1"/>
          </p:cNvSpPr>
          <p:nvPr/>
        </p:nvSpPr>
        <p:spPr>
          <a:xfrm xmlns:a="http://schemas.openxmlformats.org/drawingml/2006/main">
            <a:off x="7962900" y="5076825"/>
            <a:ext cx="3467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Cumulative base cash deficit through 2033, before a liquidity buffer.</a:t>
            </a:r>
          </a:p>
        </p:txBody>
      </p:sp>
      <p:sp>
        <p:nvSpPr>
          <p:cNvPr id="10" name="A six-month 2033 fixed-cost buffer adds $2.74m, fo">
            <a:extLst xmlns:a="http://schemas.openxmlformats.org/drawingml/2006/main">
              <a:ext uri="{FF2B5EF4-FFF2-40B4-BE49-F238E27FC236}">
                <a16:creationId xmlns:a16="http://schemas.microsoft.com/office/drawing/2014/main" id="{D9E9E001-BBAF-4D59-88D2-0D3299D92774}"/>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A six-month 2033 fixed-cost buffer adds $2.74m, for $10.04m in the model. Financing amounts and valuation are illustrative, not agreed terms.</a:t>
            </a:r>
          </a:p>
        </p:txBody>
      </p:sp>
    </p:spTree>
    <p:extLst>
      <p:ext uri="{BB962C8B-B14F-4D97-AF65-F5344CB8AC3E}">
        <p14:creationId xmlns:p14="http://schemas.microsoft.com/office/powerpoint/2010/main" val="620780613"/>
      </p:ext>
    </p:extLst>
  </p:cSld>
</p:sld>
</file>

<file path=ppt/slides/slide1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70% founder ownership before new investment">
            <a:extLst xmlns:a="http://schemas.openxmlformats.org/drawingml/2006/main">
              <a:ext uri="{FF2B5EF4-FFF2-40B4-BE49-F238E27FC236}">
                <a16:creationId xmlns:a16="http://schemas.microsoft.com/office/drawing/2014/main" id="{BFBECC89-6892-4B1C-A476-98B70B502D74}"/>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70% founder ownership before new investment</a:t>
            </a:r>
          </a:p>
        </p:txBody>
      </p:sp>
      <p:sp>
        <p:nvSpPr>
          <p:cNvPr id="2" name="Every new equity round dilutes existing owners pro">
            <a:extLst xmlns:a="http://schemas.openxmlformats.org/drawingml/2006/main">
              <a:ext uri="{FF2B5EF4-FFF2-40B4-BE49-F238E27FC236}">
                <a16:creationId xmlns:a16="http://schemas.microsoft.com/office/drawing/2014/main" id="{DE8D0081-2BAD-4A70-8893-5DD12B45BD4C}"/>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Every new equity round dilutes existing owners proportionately in this illustration.</a:t>
            </a:r>
          </a:p>
        </p:txBody>
      </p:sp>
      <p:sp>
        <p:nvSpPr>
          <p:cNvPr id="3" name="YardMatch">
            <a:extLst xmlns:a="http://schemas.openxmlformats.org/drawingml/2006/main">
              <a:ext uri="{FF2B5EF4-FFF2-40B4-BE49-F238E27FC236}">
                <a16:creationId xmlns:a16="http://schemas.microsoft.com/office/drawing/2014/main" id="{826B97AA-D058-43F1-897F-312B4DD915DC}"/>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8">
            <a:extLst xmlns:a="http://schemas.openxmlformats.org/drawingml/2006/main">
              <a:ext uri="{FF2B5EF4-FFF2-40B4-BE49-F238E27FC236}">
                <a16:creationId xmlns:a16="http://schemas.microsoft.com/office/drawing/2014/main" id="{388647F7-B5F5-4FAE-9518-F94977213B54}"/>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18</a:t>
            </a:r>
          </a:p>
        </p:txBody>
      </p:sp>
      <p:graphicFrame>
        <p:nvGraphicFramePr>
          <p:cNvPr id="11" name=""/>
          <p:cNvGraphicFramePr/>
          <p:nvPr/>
        </p:nvGraphicFramePr>
        <p:xfrm>
          <a:off xmlns:a="http://schemas.openxmlformats.org/drawingml/2006/main" x="609600" y="2400300"/>
          <a:ext xmlns:a="http://schemas.openxmlformats.org/drawingml/2006/main" cx="10972800" cy="3038475"/>
        </p:xfrm>
        <a:graphic xmlns:a="http://schemas.openxmlformats.org/drawingml/2006/main">
          <a:graphicData uri="http://schemas.openxmlformats.org/drawingml/2006/table">
            <a:tbl>
              <a:tblPr/>
              <a:tblGrid>
                <a:gridCol w="4257675"/>
                <a:gridCol w="2238375"/>
                <a:gridCol w="2238375"/>
                <a:gridCol w="2238375"/>
              </a:tblGrid>
              <a:tr h="506413">
                <a:tc>
                  <a:txBody>
                    <a:bodyPr lIns="114300" tIns="76200" rIns="114300" bIns="76200">
                      <a:noAutofit/>
                    </a:bodyPr>
                    <a:lstStyle/>
                    <a:p>
                      <a:pPr algn="l"/>
                      <a:r>
                        <a:rPr sz="1950" b="1">
                          <a:solidFill>
                            <a:srgbClr val="FFFFFF"/>
                          </a:solidFill>
                          <a:latin typeface="Arial"/>
                          <a:ea typeface="Arial"/>
                          <a:cs typeface="Arial"/>
                        </a:rPr>
                        <a:t>Ownership</a:t>
                      </a:r>
                    </a:p>
                  </a:txBody>
                  <a:tcPr marL="91440" marR="91440" marT="45720" marB="45720" anchor="ctr">
                    <a:solidFill>
                      <a:srgbClr val="205938"/>
                    </a:solidFill>
                  </a:tcPr>
                </a:tc>
                <a:tc>
                  <a:txBody>
                    <a:bodyPr lIns="114300" tIns="76200" rIns="114300" bIns="76200">
                      <a:noAutofit/>
                    </a:bodyPr>
                    <a:lstStyle/>
                    <a:p>
                      <a:pPr algn="r"/>
                      <a:r>
                        <a:rPr sz="1950" b="1">
                          <a:solidFill>
                            <a:srgbClr val="FFFFFF"/>
                          </a:solidFill>
                          <a:latin typeface="Arial"/>
                          <a:ea typeface="Arial"/>
                          <a:cs typeface="Arial"/>
                        </a:rPr>
                        <a:t>At formation</a:t>
                      </a:r>
                    </a:p>
                  </a:txBody>
                  <a:tcPr marL="91440" marR="91440" marT="45720" marB="45720" anchor="ctr">
                    <a:solidFill>
                      <a:srgbClr val="205938"/>
                    </a:solidFill>
                  </a:tcPr>
                </a:tc>
                <a:tc>
                  <a:txBody>
                    <a:bodyPr lIns="114300" tIns="76200" rIns="114300" bIns="76200">
                      <a:noAutofit/>
                    </a:bodyPr>
                    <a:lstStyle/>
                    <a:p>
                      <a:pPr algn="r"/>
                      <a:r>
                        <a:rPr sz="1950" b="1">
                          <a:solidFill>
                            <a:srgbClr val="FFFFFF"/>
                          </a:solidFill>
                          <a:latin typeface="Arial"/>
                          <a:ea typeface="Arial"/>
                          <a:cs typeface="Arial"/>
                        </a:rPr>
                        <a:t>After round 1</a:t>
                      </a:r>
                    </a:p>
                  </a:txBody>
                  <a:tcPr marL="91440" marR="91440" marT="45720" marB="45720" anchor="ctr">
                    <a:solidFill>
                      <a:srgbClr val="205938"/>
                    </a:solidFill>
                  </a:tcPr>
                </a:tc>
                <a:tc>
                  <a:txBody>
                    <a:bodyPr lIns="114300" tIns="76200" rIns="114300" bIns="76200">
                      <a:noAutofit/>
                    </a:bodyPr>
                    <a:lstStyle/>
                    <a:p>
                      <a:pPr algn="r"/>
                      <a:r>
                        <a:rPr sz="1950" b="1">
                          <a:solidFill>
                            <a:srgbClr val="FFFFFF"/>
                          </a:solidFill>
                          <a:latin typeface="Arial"/>
                          <a:ea typeface="Arial"/>
                          <a:cs typeface="Arial"/>
                        </a:rPr>
                        <a:t>After round 2</a:t>
                      </a:r>
                    </a:p>
                  </a:txBody>
                  <a:tcPr marL="91440" marR="91440" marT="45720" marB="45720" anchor="ctr">
                    <a:solidFill>
                      <a:srgbClr val="205938"/>
                    </a:solidFill>
                  </a:tcPr>
                </a:tc>
              </a:tr>
              <a:tr h="506413">
                <a:tc>
                  <a:txBody>
                    <a:bodyPr lIns="114300" tIns="76200" rIns="114300" bIns="76200">
                      <a:noAutofit/>
                    </a:bodyPr>
                    <a:lstStyle/>
                    <a:p>
                      <a:pPr algn="l"/>
                      <a:r>
                        <a:rPr sz="1950" b="1">
                          <a:solidFill>
                            <a:srgbClr val="14281D"/>
                          </a:solidFill>
                          <a:latin typeface="Arial"/>
                          <a:ea typeface="Arial"/>
                          <a:cs typeface="Arial"/>
                        </a:rPr>
                        <a:t>Patrick</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70.0%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56.0%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44.8%</a:t>
                      </a:r>
                    </a:p>
                  </a:txBody>
                  <a:tcPr marL="91440" marR="91440" marT="45720" marB="45720" anchor="ctr">
                    <a:solidFill>
                      <a:srgbClr val="E8EDDF"/>
                    </a:solidFill>
                  </a:tcPr>
                </a:tc>
              </a:tr>
              <a:tr h="506413">
                <a:tc>
                  <a:txBody>
                    <a:bodyPr lIns="114300" tIns="76200" rIns="114300" bIns="76200">
                      <a:noAutofit/>
                    </a:bodyPr>
                    <a:lstStyle/>
                    <a:p>
                      <a:pPr algn="l"/>
                      <a:r>
                        <a:rPr sz="1950" b="0">
                          <a:solidFill>
                            <a:srgbClr val="14281D"/>
                          </a:solidFill>
                          <a:latin typeface="Arial"/>
                          <a:ea typeface="Arial"/>
                          <a:cs typeface="Arial"/>
                        </a:rPr>
                        <a:t>Other initial owners</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30.0%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24.0%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19.2%</a:t>
                      </a:r>
                    </a:p>
                  </a:txBody>
                  <a:tcPr marL="91440" marR="91440" marT="45720" marB="45720" anchor="ctr">
                    <a:solidFill>
                      <a:srgbClr val="F7F5EF"/>
                    </a:solidFill>
                  </a:tcPr>
                </a:tc>
              </a:tr>
              <a:tr h="506413">
                <a:tc>
                  <a:txBody>
                    <a:bodyPr lIns="114300" tIns="76200" rIns="114300" bIns="76200">
                      <a:noAutofit/>
                    </a:bodyPr>
                    <a:lstStyle/>
                    <a:p>
                      <a:pPr algn="l"/>
                      <a:r>
                        <a:rPr sz="1950" b="0">
                          <a:solidFill>
                            <a:srgbClr val="14281D"/>
                          </a:solidFill>
                          <a:latin typeface="Arial"/>
                          <a:ea typeface="Arial"/>
                          <a:cs typeface="Arial"/>
                        </a:rPr>
                        <a:t>Round 1 investors</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0.0%</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20.0%</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16.0%</a:t>
                      </a:r>
                    </a:p>
                  </a:txBody>
                  <a:tcPr marL="91440" marR="91440" marT="45720" marB="45720" anchor="ctr">
                    <a:solidFill>
                      <a:srgbClr val="FFFFFF"/>
                    </a:solidFill>
                  </a:tcPr>
                </a:tc>
              </a:tr>
              <a:tr h="506413">
                <a:tc>
                  <a:txBody>
                    <a:bodyPr lIns="114300" tIns="76200" rIns="114300" bIns="76200">
                      <a:noAutofit/>
                    </a:bodyPr>
                    <a:lstStyle/>
                    <a:p>
                      <a:pPr algn="l"/>
                      <a:r>
                        <a:rPr sz="1950" b="0">
                          <a:solidFill>
                            <a:srgbClr val="14281D"/>
                          </a:solidFill>
                          <a:latin typeface="Arial"/>
                          <a:ea typeface="Arial"/>
                          <a:cs typeface="Arial"/>
                        </a:rPr>
                        <a:t>Round 2 investors</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0.0%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0.0%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20.0%</a:t>
                      </a:r>
                    </a:p>
                  </a:txBody>
                  <a:tcPr marL="91440" marR="91440" marT="45720" marB="45720" anchor="ctr">
                    <a:solidFill>
                      <a:srgbClr val="F7F5EF"/>
                    </a:solidFill>
                  </a:tcPr>
                </a:tc>
              </a:tr>
              <a:tr h="506413">
                <a:tc>
                  <a:txBody>
                    <a:bodyPr lIns="114300" tIns="76200" rIns="114300" bIns="76200">
                      <a:noAutofit/>
                    </a:bodyPr>
                    <a:lstStyle/>
                    <a:p>
                      <a:pPr algn="l"/>
                      <a:r>
                        <a:rPr sz="1950" b="1">
                          <a:solidFill>
                            <a:srgbClr val="14281D"/>
                          </a:solidFill>
                          <a:latin typeface="Arial"/>
                          <a:ea typeface="Arial"/>
                          <a:cs typeface="Arial"/>
                        </a:rPr>
                        <a:t>Total</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100.0%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100.0%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100.0%</a:t>
                      </a:r>
                    </a:p>
                  </a:txBody>
                  <a:tcPr marL="91440" marR="91440" marT="45720" marB="45720" anchor="ctr">
                    <a:solidFill>
                      <a:srgbClr val="E8EDDF"/>
                    </a:solidFill>
                  </a:tcPr>
                </a:tc>
              </a:tr>
            </a:tbl>
          </a:graphicData>
        </a:graphic>
      </p:graphicFrame>
      <p:sp>
        <p:nvSpPr>
          <p:cNvPr id="6" name="Each illustrative round sells 20% post-money. A la">
            <a:extLst xmlns:a="http://schemas.openxmlformats.org/drawingml/2006/main">
              <a:ext uri="{FF2B5EF4-FFF2-40B4-BE49-F238E27FC236}">
                <a16:creationId xmlns:a16="http://schemas.microsoft.com/office/drawing/2014/main" id="{7F5950B6-27A3-4A44-B134-166DA18BC04D}"/>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Each illustrative round sells 20% post-money. A later 10% option pool would reduce Patrick to 40.32%. Voting and board control require separate terms.</a:t>
            </a:r>
          </a:p>
        </p:txBody>
      </p:sp>
    </p:spTree>
    <p:extLst>
      <p:ext uri="{BB962C8B-B14F-4D97-AF65-F5344CB8AC3E}">
        <p14:creationId xmlns:p14="http://schemas.microsoft.com/office/powerpoint/2010/main" val="1616190500"/>
      </p:ext>
    </p:extLst>
  </p:cSld>
</p:sld>
</file>

<file path=ppt/slides/slide1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The investor’s return comes from equity value">
            <a:extLst xmlns:a="http://schemas.openxmlformats.org/drawingml/2006/main">
              <a:ext uri="{FF2B5EF4-FFF2-40B4-BE49-F238E27FC236}">
                <a16:creationId xmlns:a16="http://schemas.microsoft.com/office/drawing/2014/main" id="{6CA6AAD2-FD47-4EFB-AAFB-D865F9B7C2ED}"/>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investor’s return comes from equity value</a:t>
            </a:r>
          </a:p>
        </p:txBody>
      </p:sp>
      <p:sp>
        <p:nvSpPr>
          <p:cNvPr id="2" name="Illustration: $1.5m buys 20% initially and becomes">
            <a:extLst xmlns:a="http://schemas.openxmlformats.org/drawingml/2006/main">
              <a:ext uri="{FF2B5EF4-FFF2-40B4-BE49-F238E27FC236}">
                <a16:creationId xmlns:a16="http://schemas.microsoft.com/office/drawing/2014/main" id="{D5BF7B3B-4383-4079-9A0F-D9E956283948}"/>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Illustration: $1.5m buys 20% initially and becomes 16% after one further 20% round.</a:t>
            </a:r>
          </a:p>
        </p:txBody>
      </p:sp>
      <p:sp>
        <p:nvSpPr>
          <p:cNvPr id="3" name="YardMatch">
            <a:extLst xmlns:a="http://schemas.openxmlformats.org/drawingml/2006/main">
              <a:ext uri="{FF2B5EF4-FFF2-40B4-BE49-F238E27FC236}">
                <a16:creationId xmlns:a16="http://schemas.microsoft.com/office/drawing/2014/main" id="{6AD99A0F-F671-4DA9-AFF8-7999BC26A9FC}"/>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9">
            <a:extLst xmlns:a="http://schemas.openxmlformats.org/drawingml/2006/main">
              <a:ext uri="{FF2B5EF4-FFF2-40B4-BE49-F238E27FC236}">
                <a16:creationId xmlns:a16="http://schemas.microsoft.com/office/drawing/2014/main" id="{646961E7-6623-4BF8-970F-EE575A480A38}"/>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19</a:t>
            </a:r>
          </a:p>
        </p:txBody>
      </p:sp>
      <p:graphicFrame>
        <p:nvGraphicFramePr>
          <p:cNvPr id="15" name=""/>
          <p:cNvGraphicFramePr/>
          <p:nvPr/>
        </p:nvGraphicFramePr>
        <p:xfrm>
          <a:off xmlns:a="http://schemas.openxmlformats.org/drawingml/2006/main" x="609600" y="2409825"/>
          <a:ext xmlns:a="http://schemas.openxmlformats.org/drawingml/2006/main" cx="8572500" cy="2828925"/>
        </p:xfrm>
        <a:graphic xmlns:a="http://schemas.openxmlformats.org/drawingml/2006/main">
          <a:graphicData uri="http://schemas.openxmlformats.org/drawingml/2006/table">
            <a:tbl>
              <a:tblPr/>
              <a:tblGrid>
                <a:gridCol w="2571750"/>
                <a:gridCol w="3619500"/>
                <a:gridCol w="2381250"/>
              </a:tblGrid>
              <a:tr h="565785">
                <a:tc>
                  <a:txBody>
                    <a:bodyPr lIns="114300" tIns="76200" rIns="114300" bIns="76200">
                      <a:noAutofit/>
                    </a:bodyPr>
                    <a:lstStyle/>
                    <a:p>
                      <a:pPr algn="l"/>
                      <a:r>
                        <a:rPr sz="2025" b="1">
                          <a:solidFill>
                            <a:srgbClr val="FFFFFF"/>
                          </a:solidFill>
                          <a:latin typeface="Arial"/>
                          <a:ea typeface="Arial"/>
                          <a:cs typeface="Arial"/>
                        </a:rPr>
                        <a:t>Exit equity value</a:t>
                      </a:r>
                    </a:p>
                  </a:txBody>
                  <a:tcPr marL="91440" marR="91440" marT="45720" marB="45720" anchor="ctr">
                    <a:solidFill>
                      <a:srgbClr val="205938"/>
                    </a:solidFill>
                  </a:tcPr>
                </a:tc>
                <a:tc>
                  <a:txBody>
                    <a:bodyPr lIns="114300" tIns="76200" rIns="114300" bIns="76200">
                      <a:noAutofit/>
                    </a:bodyPr>
                    <a:lstStyle/>
                    <a:p>
                      <a:pPr algn="r"/>
                      <a:r>
                        <a:rPr sz="2025" b="1">
                          <a:solidFill>
                            <a:srgbClr val="FFFFFF"/>
                          </a:solidFill>
                          <a:latin typeface="Arial"/>
                          <a:ea typeface="Arial"/>
                          <a:cs typeface="Arial"/>
                        </a:rPr>
                        <a:t>Initial investor proceeds</a:t>
                      </a:r>
                    </a:p>
                  </a:txBody>
                  <a:tcPr marL="91440" marR="91440" marT="45720" marB="45720" anchor="ctr">
                    <a:solidFill>
                      <a:srgbClr val="205938"/>
                    </a:solidFill>
                  </a:tcPr>
                </a:tc>
                <a:tc>
                  <a:txBody>
                    <a:bodyPr lIns="114300" tIns="76200" rIns="114300" bIns="76200">
                      <a:noAutofit/>
                    </a:bodyPr>
                    <a:lstStyle/>
                    <a:p>
                      <a:pPr algn="r"/>
                      <a:r>
                        <a:rPr sz="2025" b="1">
                          <a:solidFill>
                            <a:srgbClr val="FFFFFF"/>
                          </a:solidFill>
                          <a:latin typeface="Arial"/>
                          <a:ea typeface="Arial"/>
                          <a:cs typeface="Arial"/>
                        </a:rPr>
                        <a:t>Gross multiple</a:t>
                      </a:r>
                    </a:p>
                  </a:txBody>
                  <a:tcPr marL="91440" marR="91440" marT="45720" marB="45720" anchor="ctr">
                    <a:solidFill>
                      <a:srgbClr val="205938"/>
                    </a:solidFill>
                  </a:tcPr>
                </a:tc>
              </a:tr>
              <a:tr h="565785">
                <a:tc>
                  <a:txBody>
                    <a:bodyPr lIns="114300" tIns="76200" rIns="114300" bIns="76200">
                      <a:noAutofit/>
                    </a:bodyPr>
                    <a:lstStyle/>
                    <a:p>
                      <a:pPr algn="l"/>
                      <a:r>
                        <a:rPr sz="2025" b="0">
                          <a:solidFill>
                            <a:srgbClr val="14281D"/>
                          </a:solidFill>
                          <a:latin typeface="Arial"/>
                          <a:ea typeface="Arial"/>
                          <a:cs typeface="Arial"/>
                        </a:rPr>
                        <a:t>$0</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$0</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0.0x</a:t>
                      </a:r>
                    </a:p>
                  </a:txBody>
                  <a:tcPr marL="91440" marR="91440" marT="45720" marB="45720" anchor="ctr">
                    <a:solidFill>
                      <a:srgbClr val="FFFFFF"/>
                    </a:solidFill>
                  </a:tcPr>
                </a:tc>
              </a:tr>
              <a:tr h="565785">
                <a:tc>
                  <a:txBody>
                    <a:bodyPr lIns="114300" tIns="76200" rIns="114300" bIns="76200">
                      <a:noAutofit/>
                    </a:bodyPr>
                    <a:lstStyle/>
                    <a:p>
                      <a:pPr algn="l"/>
                      <a:r>
                        <a:rPr sz="2025" b="0">
                          <a:solidFill>
                            <a:srgbClr val="14281D"/>
                          </a:solidFill>
                          <a:latin typeface="Arial"/>
                          <a:ea typeface="Arial"/>
                          <a:cs typeface="Arial"/>
                        </a:rPr>
                        <a:t>$10m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$1.6m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1.1x</a:t>
                      </a:r>
                    </a:p>
                  </a:txBody>
                  <a:tcPr marL="91440" marR="91440" marT="45720" marB="45720" anchor="ctr">
                    <a:solidFill>
                      <a:srgbClr val="F7F5EF"/>
                    </a:solidFill>
                  </a:tcPr>
                </a:tc>
              </a:tr>
              <a:tr h="565785">
                <a:tc>
                  <a:txBody>
                    <a:bodyPr lIns="114300" tIns="76200" rIns="114300" bIns="76200">
                      <a:noAutofit/>
                    </a:bodyPr>
                    <a:lstStyle/>
                    <a:p>
                      <a:pPr algn="l"/>
                      <a:r>
                        <a:rPr sz="2025" b="0">
                          <a:solidFill>
                            <a:srgbClr val="14281D"/>
                          </a:solidFill>
                          <a:latin typeface="Arial"/>
                          <a:ea typeface="Arial"/>
                          <a:cs typeface="Arial"/>
                        </a:rPr>
                        <a:t>$50m</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$8.0m</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5.3x</a:t>
                      </a:r>
                    </a:p>
                  </a:txBody>
                  <a:tcPr marL="91440" marR="91440" marT="45720" marB="45720" anchor="ctr">
                    <a:solidFill>
                      <a:srgbClr val="FFFFFF"/>
                    </a:solidFill>
                  </a:tcPr>
                </a:tc>
              </a:tr>
              <a:tr h="565785">
                <a:tc>
                  <a:txBody>
                    <a:bodyPr lIns="114300" tIns="76200" rIns="114300" bIns="76200">
                      <a:noAutofit/>
                    </a:bodyPr>
                    <a:lstStyle/>
                    <a:p>
                      <a:pPr algn="l"/>
                      <a:r>
                        <a:rPr sz="2025" b="0">
                          <a:solidFill>
                            <a:srgbClr val="14281D"/>
                          </a:solidFill>
                          <a:latin typeface="Arial"/>
                          <a:ea typeface="Arial"/>
                          <a:cs typeface="Arial"/>
                        </a:rPr>
                        <a:t>$100m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$16.0m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10.7x</a:t>
                      </a:r>
                    </a:p>
                  </a:txBody>
                  <a:tcPr marL="91440" marR="91440" marT="45720" marB="45720" anchor="ctr">
                    <a:solidFill>
                      <a:srgbClr val="F7F5EF"/>
                    </a:solidFill>
                  </a:tcPr>
                </a:tc>
              </a:tr>
            </a:tbl>
          </a:graphicData>
        </a:graphic>
      </p:graphicFrame>
      <p:sp>
        <p:nvSpPr>
          <p:cNvPr id="6" name="$6.0m">
            <a:extLst xmlns:a="http://schemas.openxmlformats.org/drawingml/2006/main">
              <a:ext uri="{FF2B5EF4-FFF2-40B4-BE49-F238E27FC236}">
                <a16:creationId xmlns:a16="http://schemas.microsoft.com/office/drawing/2014/main" id="{C140313D-EF3A-4752-9D06-652D323B26C2}"/>
              </a:ext>
            </a:extLst>
          </p:cNvPr>
          <p:cNvSpPr>
            <a:spLocks xmlns:a="http://schemas.openxmlformats.org/drawingml/2006/main" noGrp="1"/>
          </p:cNvSpPr>
          <p:nvPr/>
        </p:nvSpPr>
        <p:spPr>
          <a:xfrm xmlns:a="http://schemas.openxmlformats.org/drawingml/2006/main">
            <a:off x="9582150" y="2495550"/>
            <a:ext cx="1962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205938"/>
                </a:solidFill>
                <a:latin typeface="Arial"/>
                <a:ea typeface="Arial"/>
                <a:cs typeface="Arial"/>
              </a:defRPr>
            </a:pPr>
            <a:r>
              <a:rPr sz="2775" b="1">
                <a:solidFill>
                  <a:srgbClr val="205938"/>
                </a:solidFill>
                <a:latin typeface="Arial"/>
                <a:ea typeface="Arial"/>
                <a:cs typeface="Arial"/>
              </a:rPr>
              <a:t>$6.0m</a:t>
            </a:r>
          </a:p>
        </p:txBody>
      </p:sp>
      <p:sp>
        <p:nvSpPr>
          <p:cNvPr id="7" name="Illustrative&#10;pre-money value">
            <a:extLst xmlns:a="http://schemas.openxmlformats.org/drawingml/2006/main">
              <a:ext uri="{FF2B5EF4-FFF2-40B4-BE49-F238E27FC236}">
                <a16:creationId xmlns:a16="http://schemas.microsoft.com/office/drawing/2014/main" id="{0BF692CD-CB79-4D83-99C0-C36E519D8B8A}"/>
              </a:ext>
            </a:extLst>
          </p:cNvPr>
          <p:cNvSpPr>
            <a:spLocks xmlns:a="http://schemas.openxmlformats.org/drawingml/2006/main" noGrp="1"/>
          </p:cNvSpPr>
          <p:nvPr/>
        </p:nvSpPr>
        <p:spPr>
          <a:xfrm xmlns:a="http://schemas.openxmlformats.org/drawingml/2006/main">
            <a:off x="9582150" y="3124200"/>
            <a:ext cx="19716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Illustrative</a:t>
            </a:r>
          </a:p>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pre-money value</a:t>
            </a:r>
          </a:p>
        </p:txBody>
      </p:sp>
      <p:sp>
        <p:nvSpPr>
          <p:cNvPr id="8" name="$7.5m">
            <a:extLst xmlns:a="http://schemas.openxmlformats.org/drawingml/2006/main">
              <a:ext uri="{FF2B5EF4-FFF2-40B4-BE49-F238E27FC236}">
                <a16:creationId xmlns:a16="http://schemas.microsoft.com/office/drawing/2014/main" id="{201107C9-6154-410A-B308-EA5B02D244DF}"/>
              </a:ext>
            </a:extLst>
          </p:cNvPr>
          <p:cNvSpPr>
            <a:spLocks xmlns:a="http://schemas.openxmlformats.org/drawingml/2006/main" noGrp="1"/>
          </p:cNvSpPr>
          <p:nvPr/>
        </p:nvSpPr>
        <p:spPr>
          <a:xfrm xmlns:a="http://schemas.openxmlformats.org/drawingml/2006/main">
            <a:off x="9582150" y="4238625"/>
            <a:ext cx="1962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205938"/>
                </a:solidFill>
                <a:latin typeface="Arial"/>
                <a:ea typeface="Arial"/>
                <a:cs typeface="Arial"/>
              </a:defRPr>
            </a:pPr>
            <a:r>
              <a:rPr sz="2775" b="1">
                <a:solidFill>
                  <a:srgbClr val="205938"/>
                </a:solidFill>
                <a:latin typeface="Arial"/>
                <a:ea typeface="Arial"/>
                <a:cs typeface="Arial"/>
              </a:rPr>
              <a:t>$7.5m</a:t>
            </a:r>
          </a:p>
        </p:txBody>
      </p:sp>
      <p:sp>
        <p:nvSpPr>
          <p:cNvPr id="9" name="Illustrative&#10;post-money value">
            <a:extLst xmlns:a="http://schemas.openxmlformats.org/drawingml/2006/main">
              <a:ext uri="{FF2B5EF4-FFF2-40B4-BE49-F238E27FC236}">
                <a16:creationId xmlns:a16="http://schemas.microsoft.com/office/drawing/2014/main" id="{25A7403A-47CD-4100-9CB6-46404C95F04F}"/>
              </a:ext>
            </a:extLst>
          </p:cNvPr>
          <p:cNvSpPr>
            <a:spLocks xmlns:a="http://schemas.openxmlformats.org/drawingml/2006/main" noGrp="1"/>
          </p:cNvSpPr>
          <p:nvPr/>
        </p:nvSpPr>
        <p:spPr>
          <a:xfrm xmlns:a="http://schemas.openxmlformats.org/drawingml/2006/main">
            <a:off x="9582150" y="4867275"/>
            <a:ext cx="19716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Illustrative</a:t>
            </a:r>
          </a:p>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post-money value</a:t>
            </a:r>
          </a:p>
        </p:txBody>
      </p:sp>
      <p:sp>
        <p:nvSpPr>
          <p:cNvPr id="10" name="Return arithmetic, not an exit forecast. Excludes ">
            <a:extLst xmlns:a="http://schemas.openxmlformats.org/drawingml/2006/main">
              <a:ext uri="{FF2B5EF4-FFF2-40B4-BE49-F238E27FC236}">
                <a16:creationId xmlns:a16="http://schemas.microsoft.com/office/drawing/2014/main" id="{9D3F68C2-6FE0-4BFE-A89E-0FF2E26797CA}"/>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Return arithmetic, not an exit forecast. Excludes further dilution, option pools, preferences, taxes and fees. The $0 outcome represents a complete loss.</a:t>
            </a:r>
          </a:p>
        </p:txBody>
      </p:sp>
    </p:spTree>
    <p:extLst>
      <p:ext uri="{BB962C8B-B14F-4D97-AF65-F5344CB8AC3E}">
        <p14:creationId xmlns:p14="http://schemas.microsoft.com/office/powerpoint/2010/main" val="229880465"/>
      </p:ext>
    </p:extLst>
  </p:cSld>
</p:sld>
</file>

<file path=ppt/slides/slide2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Milestones for the next round">
            <a:extLst xmlns:a="http://schemas.openxmlformats.org/drawingml/2006/main">
              <a:ext uri="{FF2B5EF4-FFF2-40B4-BE49-F238E27FC236}">
                <a16:creationId xmlns:a16="http://schemas.microsoft.com/office/drawing/2014/main" id="{A6363183-8E12-47BE-8126-54AAFD94C1B5}"/>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Milestones for the next round</a:t>
            </a:r>
          </a:p>
        </p:txBody>
      </p:sp>
      <p:sp>
        <p:nvSpPr>
          <p:cNvPr id="2" name="The strongest investment case will rest on paid co">
            <a:extLst xmlns:a="http://schemas.openxmlformats.org/drawingml/2006/main">
              <a:ext uri="{FF2B5EF4-FFF2-40B4-BE49-F238E27FC236}">
                <a16:creationId xmlns:a16="http://schemas.microsoft.com/office/drawing/2014/main" id="{3AFDF3DD-08D6-417F-A96F-78C909CE91F7}"/>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strongest investment case will rest on paid cohort results from a concentrated launch.</a:t>
            </a:r>
          </a:p>
        </p:txBody>
      </p:sp>
      <p:sp>
        <p:nvSpPr>
          <p:cNvPr id="3" name="YardMatch">
            <a:extLst xmlns:a="http://schemas.openxmlformats.org/drawingml/2006/main">
              <a:ext uri="{FF2B5EF4-FFF2-40B4-BE49-F238E27FC236}">
                <a16:creationId xmlns:a16="http://schemas.microsoft.com/office/drawing/2014/main" id="{86970E93-9E38-4EF2-833B-B919ACAC6E14}"/>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0">
            <a:extLst xmlns:a="http://schemas.openxmlformats.org/drawingml/2006/main">
              <a:ext uri="{FF2B5EF4-FFF2-40B4-BE49-F238E27FC236}">
                <a16:creationId xmlns:a16="http://schemas.microsoft.com/office/drawing/2014/main" id="{D6EDAB43-3A82-4EA8-9ED0-2776B3DA6CCF}"/>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20</a:t>
            </a:r>
          </a:p>
        </p:txBody>
      </p:sp>
      <p:graphicFrame>
        <p:nvGraphicFramePr>
          <p:cNvPr id="11" name=""/>
          <p:cNvGraphicFramePr/>
          <p:nvPr/>
        </p:nvGraphicFramePr>
        <p:xfrm>
          <a:off xmlns:a="http://schemas.openxmlformats.org/drawingml/2006/main" x="609600" y="2362200"/>
          <a:ext xmlns:a="http://schemas.openxmlformats.org/drawingml/2006/main" cx="10972800" cy="3333750"/>
        </p:xfrm>
        <a:graphic xmlns:a="http://schemas.openxmlformats.org/drawingml/2006/main">
          <a:graphicData uri="http://schemas.openxmlformats.org/drawingml/2006/table">
            <a:tbl>
              <a:tblPr/>
              <a:tblGrid>
                <a:gridCol w="3476625"/>
                <a:gridCol w="7496175"/>
              </a:tblGrid>
              <a:tr h="555625">
                <a:tc>
                  <a:txBody>
                    <a:bodyPr lIns="114300" tIns="76200" rIns="114300" bIns="76200">
                      <a:noAutofit/>
                    </a:bodyPr>
                    <a:lstStyle/>
                    <a:p>
                      <a:pPr algn="l"/>
                      <a:r>
                        <a:rPr sz="1800" b="1">
                          <a:solidFill>
                            <a:srgbClr val="FFFFFF"/>
                          </a:solidFill>
                          <a:latin typeface="Arial"/>
                          <a:ea typeface="Arial"/>
                          <a:cs typeface="Arial"/>
                        </a:rPr>
                        <a:t>Test</a:t>
                      </a:r>
                    </a:p>
                  </a:txBody>
                  <a:tcPr marL="91440" marR="91440" marT="45720" marB="45720" anchor="ctr">
                    <a:solidFill>
                      <a:srgbClr val="205938"/>
                    </a:solidFill>
                  </a:tcPr>
                </a:tc>
                <a:tc>
                  <a:txBody>
                    <a:bodyPr lIns="114300" tIns="76200" rIns="114300" bIns="76200">
                      <a:noAutofit/>
                    </a:bodyPr>
                    <a:lstStyle/>
                    <a:p>
                      <a:pPr algn="r"/>
                      <a:r>
                        <a:rPr sz="1800" b="1">
                          <a:solidFill>
                            <a:srgbClr val="FFFFFF"/>
                          </a:solidFill>
                          <a:latin typeface="Arial"/>
                          <a:ea typeface="Arial"/>
                          <a:cs typeface="Arial"/>
                        </a:rPr>
                        <a:t>Proposed evidence</a:t>
                      </a:r>
                    </a:p>
                  </a:txBody>
                  <a:tcPr marL="91440" marR="91440" marT="45720" marB="45720" anchor="ctr">
                    <a:solidFill>
                      <a:srgbClr val="205938"/>
                    </a:solidFill>
                  </a:tcPr>
                </a:tc>
              </a:tr>
              <a:tr h="555625">
                <a:tc>
                  <a:txBody>
                    <a:bodyPr lIns="114300" tIns="76200" rIns="114300" bIns="76200">
                      <a:noAutofit/>
                    </a:bodyPr>
                    <a:lstStyle/>
                    <a:p>
                      <a:pPr algn="l"/>
                      <a:r>
                        <a:rPr sz="1800" b="0">
                          <a:solidFill>
                            <a:srgbClr val="14281D"/>
                          </a:solidFill>
                          <a:latin typeface="Arial"/>
                          <a:ea typeface="Arial"/>
                          <a:cs typeface="Arial"/>
                        </a:rPr>
                        <a:t>Demand and retention</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500 first-year paying households and a measured second season</a:t>
                      </a:r>
                    </a:p>
                  </a:txBody>
                  <a:tcPr marL="91440" marR="91440" marT="45720" marB="45720" anchor="ctr">
                    <a:solidFill>
                      <a:srgbClr val="FFFFFF"/>
                    </a:solidFill>
                  </a:tcPr>
                </a:tc>
              </a:tr>
              <a:tr h="555625">
                <a:tc>
                  <a:txBody>
                    <a:bodyPr lIns="114300" tIns="76200" rIns="114300" bIns="76200">
                      <a:noAutofit/>
                    </a:bodyPr>
                    <a:lstStyle/>
                    <a:p>
                      <a:pPr algn="l"/>
                      <a:r>
                        <a:rPr sz="1800" b="0">
                          <a:solidFill>
                            <a:srgbClr val="14281D"/>
                          </a:solidFill>
                          <a:latin typeface="Arial"/>
                          <a:ea typeface="Arial"/>
                          <a:cs typeface="Arial"/>
                        </a:rPr>
                        <a:t>Provider fee acceptance</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Repeat jobs continue with the $2.99 provider deduction</a:t>
                      </a:r>
                    </a:p>
                  </a:txBody>
                  <a:tcPr marL="91440" marR="91440" marT="45720" marB="45720" anchor="ctr">
                    <a:solidFill>
                      <a:srgbClr val="F7F5EF"/>
                    </a:solidFill>
                  </a:tcPr>
                </a:tc>
              </a:tr>
              <a:tr h="555625">
                <a:tc>
                  <a:txBody>
                    <a:bodyPr lIns="114300" tIns="76200" rIns="114300" bIns="76200">
                      <a:noAutofit/>
                    </a:bodyPr>
                    <a:lstStyle/>
                    <a:p>
                      <a:pPr algn="l"/>
                      <a:r>
                        <a:rPr sz="1800" b="0">
                          <a:solidFill>
                            <a:srgbClr val="14281D"/>
                          </a:solidFill>
                          <a:latin typeface="Arial"/>
                          <a:ea typeface="Arial"/>
                          <a:cs typeface="Arial"/>
                        </a:rPr>
                        <a:t>Acquisition economics</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Blended cash CAC at or below $50 in year two</a:t>
                      </a:r>
                    </a:p>
                  </a:txBody>
                  <a:tcPr marL="91440" marR="91440" marT="45720" marB="45720" anchor="ctr">
                    <a:solidFill>
                      <a:srgbClr val="FFFFFF"/>
                    </a:solidFill>
                  </a:tcPr>
                </a:tc>
              </a:tr>
              <a:tr h="555625">
                <a:tc>
                  <a:txBody>
                    <a:bodyPr lIns="114300" tIns="76200" rIns="114300" bIns="76200">
                      <a:noAutofit/>
                    </a:bodyPr>
                    <a:lstStyle/>
                    <a:p>
                      <a:pPr algn="l"/>
                      <a:r>
                        <a:rPr sz="1800" b="0">
                          <a:solidFill>
                            <a:srgbClr val="14281D"/>
                          </a:solidFill>
                          <a:latin typeface="Arial"/>
                          <a:ea typeface="Arial"/>
                          <a:cs typeface="Arial"/>
                        </a:rPr>
                        <a:t>Positive repeat contribution</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Payment mix supports at least $0.50 per paid repeat visit</a:t>
                      </a:r>
                    </a:p>
                  </a:txBody>
                  <a:tcPr marL="91440" marR="91440" marT="45720" marB="45720" anchor="ctr">
                    <a:solidFill>
                      <a:srgbClr val="F7F5EF"/>
                    </a:solidFill>
                  </a:tcPr>
                </a:tc>
              </a:tr>
              <a:tr h="555625">
                <a:tc>
                  <a:txBody>
                    <a:bodyPr lIns="114300" tIns="76200" rIns="114300" bIns="76200">
                      <a:noAutofit/>
                    </a:bodyPr>
                    <a:lstStyle/>
                    <a:p>
                      <a:pPr algn="l"/>
                      <a:r>
                        <a:rPr sz="1800" b="0">
                          <a:solidFill>
                            <a:srgbClr val="14281D"/>
                          </a:solidFill>
                          <a:latin typeface="Arial"/>
                          <a:ea typeface="Arial"/>
                          <a:cs typeface="Arial"/>
                        </a:rPr>
                        <a:t>Reliability and expansion</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Resolved service issues and economics reproduced in a second market</a:t>
                      </a:r>
                    </a:p>
                  </a:txBody>
                  <a:tcPr marL="91440" marR="91440" marT="45720" marB="45720" anchor="ctr">
                    <a:solidFill>
                      <a:srgbClr val="FFFFFF"/>
                    </a:solidFill>
                  </a:tcPr>
                </a:tc>
              </a:tr>
            </a:tbl>
          </a:graphicData>
        </a:graphic>
      </p:graphicFrame>
      <p:sp>
        <p:nvSpPr>
          <p:cNvPr id="6" name="Material risks: off-platform migration, seasonal c">
            <a:extLst xmlns:a="http://schemas.openxmlformats.org/drawingml/2006/main">
              <a:ext uri="{FF2B5EF4-FFF2-40B4-BE49-F238E27FC236}">
                <a16:creationId xmlns:a16="http://schemas.microsoft.com/office/drawing/2014/main" id="{7D5312F8-A01F-45F4-A44A-6F8BF7F91007}"/>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Material risks: off-platform migration, seasonal cash needs, high-ticket payment costs and service liability. Expansion pauses when contribution or retention misses the gate.</a:t>
            </a:r>
          </a:p>
        </p:txBody>
      </p:sp>
    </p:spTree>
    <p:extLst>
      <p:ext uri="{BB962C8B-B14F-4D97-AF65-F5344CB8AC3E}">
        <p14:creationId xmlns:p14="http://schemas.microsoft.com/office/powerpoint/2010/main" val="115261142"/>
      </p:ext>
    </p:extLst>
  </p:cSld>
</p:sld>
</file>

<file path=ppt/slides/slide2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Model mechanics and limits">
            <a:extLst xmlns:a="http://schemas.openxmlformats.org/drawingml/2006/main">
              <a:ext uri="{FF2B5EF4-FFF2-40B4-BE49-F238E27FC236}">
                <a16:creationId xmlns:a16="http://schemas.microsoft.com/office/drawing/2014/main" id="{6D1DD9A5-AAF8-4522-98F3-31C58D733F99}"/>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Model mechanics and limits</a:t>
            </a:r>
          </a:p>
        </p:txBody>
      </p:sp>
      <p:sp>
        <p:nvSpPr>
          <p:cNvPr id="2" name="The companion workbook exposes the formulas and al">
            <a:extLst xmlns:a="http://schemas.openxmlformats.org/drawingml/2006/main">
              <a:ext uri="{FF2B5EF4-FFF2-40B4-BE49-F238E27FC236}">
                <a16:creationId xmlns:a16="http://schemas.microsoft.com/office/drawing/2014/main" id="{C7D84214-6DCD-4AC7-97DA-96D3C1877D8C}"/>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companion workbook exposes the formulas and all editable assumptions.</a:t>
            </a:r>
          </a:p>
        </p:txBody>
      </p:sp>
      <p:sp>
        <p:nvSpPr>
          <p:cNvPr id="3" name="YardMatch">
            <a:extLst xmlns:a="http://schemas.openxmlformats.org/drawingml/2006/main">
              <a:ext uri="{FF2B5EF4-FFF2-40B4-BE49-F238E27FC236}">
                <a16:creationId xmlns:a16="http://schemas.microsoft.com/office/drawing/2014/main" id="{84A15C29-E23A-4267-A864-3FC1AA5EC9EB}"/>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1">
            <a:extLst xmlns:a="http://schemas.openxmlformats.org/drawingml/2006/main">
              <a:ext uri="{FF2B5EF4-FFF2-40B4-BE49-F238E27FC236}">
                <a16:creationId xmlns:a16="http://schemas.microsoft.com/office/drawing/2014/main" id="{30966D4C-8B22-4FD9-B0D2-18F23E02E2C4}"/>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21</a:t>
            </a:r>
          </a:p>
        </p:txBody>
      </p:sp>
      <p:sp>
        <p:nvSpPr>
          <p:cNvPr id="5" name="Households and paid visits">
            <a:extLst xmlns:a="http://schemas.openxmlformats.org/drawingml/2006/main">
              <a:ext uri="{FF2B5EF4-FFF2-40B4-BE49-F238E27FC236}">
                <a16:creationId xmlns:a16="http://schemas.microsoft.com/office/drawing/2014/main" id="{ABBD4521-0777-499B-9E41-62C5C5F7366E}"/>
              </a:ext>
            </a:extLst>
          </p:cNvPr>
          <p:cNvSpPr>
            <a:spLocks xmlns:a="http://schemas.openxmlformats.org/drawingml/2006/main" noGrp="1"/>
          </p:cNvSpPr>
          <p:nvPr/>
        </p:nvSpPr>
        <p:spPr>
          <a:xfrm xmlns:a="http://schemas.openxmlformats.org/drawingml/2006/main">
            <a:off x="628650" y="237172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Households and paid visits</a:t>
            </a:r>
          </a:p>
        </p:txBody>
      </p:sp>
      <p:sp>
        <p:nvSpPr>
          <p:cNvPr id="6" name="Retained households plus half of new households fo">
            <a:extLst xmlns:a="http://schemas.openxmlformats.org/drawingml/2006/main">
              <a:ext uri="{FF2B5EF4-FFF2-40B4-BE49-F238E27FC236}">
                <a16:creationId xmlns:a16="http://schemas.microsoft.com/office/drawing/2014/main" id="{BA43C098-4092-451D-A9A3-469BA6EF0CF3}"/>
              </a:ext>
            </a:extLst>
          </p:cNvPr>
          <p:cNvSpPr>
            <a:spLocks xmlns:a="http://schemas.openxmlformats.org/drawingml/2006/main" noGrp="1"/>
          </p:cNvSpPr>
          <p:nvPr/>
        </p:nvSpPr>
        <p:spPr>
          <a:xfrm xmlns:a="http://schemas.openxmlformats.org/drawingml/2006/main">
            <a:off x="628650" y="2895600"/>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Retained households plus half of new households form the season’s service base. Visits then reflect platform capture and completion.</a:t>
            </a:r>
          </a:p>
        </p:txBody>
      </p:sp>
      <p:sp>
        <p:nvSpPr>
          <p:cNvPr id="7" name="Revenue and cost">
            <a:extLst xmlns:a="http://schemas.openxmlformats.org/drawingml/2006/main">
              <a:ext uri="{FF2B5EF4-FFF2-40B4-BE49-F238E27FC236}">
                <a16:creationId xmlns:a16="http://schemas.microsoft.com/office/drawing/2014/main" id="{79D17644-C53F-48B3-B649-AF2366861D53}"/>
              </a:ext>
            </a:extLst>
          </p:cNvPr>
          <p:cNvSpPr>
            <a:spLocks xmlns:a="http://schemas.openxmlformats.org/drawingml/2006/main" noGrp="1"/>
          </p:cNvSpPr>
          <p:nvPr/>
        </p:nvSpPr>
        <p:spPr>
          <a:xfrm xmlns:a="http://schemas.openxmlformats.org/drawingml/2006/main">
            <a:off x="6410325" y="237172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Revenue and cost</a:t>
            </a:r>
          </a:p>
        </p:txBody>
      </p:sp>
      <p:sp>
        <p:nvSpPr>
          <p:cNvPr id="8" name="$45 per new pairing after waivers, plus $2.99 per ">
            <a:extLst xmlns:a="http://schemas.openxmlformats.org/drawingml/2006/main">
              <a:ext uri="{FF2B5EF4-FFF2-40B4-BE49-F238E27FC236}">
                <a16:creationId xmlns:a16="http://schemas.microsoft.com/office/drawing/2014/main" id="{46C37217-CE29-459B-B2C9-B86D77DF5B8A}"/>
              </a:ext>
            </a:extLst>
          </p:cNvPr>
          <p:cNvSpPr>
            <a:spLocks xmlns:a="http://schemas.openxmlformats.org/drawingml/2006/main" noGrp="1"/>
          </p:cNvSpPr>
          <p:nvPr/>
        </p:nvSpPr>
        <p:spPr>
          <a:xfrm xmlns:a="http://schemas.openxmlformats.org/drawingml/2006/main">
            <a:off x="6410325" y="2895600"/>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$45 per new pairing after waivers, plus $2.99 per paid visit. Processing uses the whole service ticket. Crew costs stay with the provider.</a:t>
            </a:r>
          </a:p>
        </p:txBody>
      </p:sp>
      <p:sp>
        <p:nvSpPr>
          <p:cNvPr id="9" name="Profit and cash">
            <a:extLst xmlns:a="http://schemas.openxmlformats.org/drawingml/2006/main">
              <a:ext uri="{FF2B5EF4-FFF2-40B4-BE49-F238E27FC236}">
                <a16:creationId xmlns:a16="http://schemas.microsoft.com/office/drawing/2014/main" id="{85E1C2C1-3E92-490C-A52C-77E810379B4A}"/>
              </a:ext>
            </a:extLst>
          </p:cNvPr>
          <p:cNvSpPr>
            <a:spLocks xmlns:a="http://schemas.openxmlformats.org/drawingml/2006/main" noGrp="1"/>
          </p:cNvSpPr>
          <p:nvPr/>
        </p:nvSpPr>
        <p:spPr>
          <a:xfrm xmlns:a="http://schemas.openxmlformats.org/drawingml/2006/main">
            <a:off x="628650" y="426720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Profit and cash</a:t>
            </a:r>
          </a:p>
        </p:txBody>
      </p:sp>
      <p:sp>
        <p:nvSpPr>
          <p:cNvPr id="10" name="Payroll includes founder pay. Fixed costs run all ">
            <a:extLst xmlns:a="http://schemas.openxmlformats.org/drawingml/2006/main">
              <a:ext uri="{FF2B5EF4-FFF2-40B4-BE49-F238E27FC236}">
                <a16:creationId xmlns:a16="http://schemas.microsoft.com/office/drawing/2014/main" id="{32DEE276-FE63-4D03-8273-A9146A41A072}"/>
              </a:ext>
            </a:extLst>
          </p:cNvPr>
          <p:cNvSpPr>
            <a:spLocks xmlns:a="http://schemas.openxmlformats.org/drawingml/2006/main" noGrp="1"/>
          </p:cNvSpPr>
          <p:nvPr/>
        </p:nvSpPr>
        <p:spPr>
          <a:xfrm xmlns:a="http://schemas.openxmlformats.org/drawingml/2006/main">
            <a:off x="628650" y="4791075"/>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Payroll includes founder pay. Fixed costs run all year. Cash also funds equipment and a modeled risk reserve.</a:t>
            </a:r>
          </a:p>
        </p:txBody>
      </p:sp>
      <p:sp>
        <p:nvSpPr>
          <p:cNvPr id="11" name="A cohort check">
            <a:extLst xmlns:a="http://schemas.openxmlformats.org/drawingml/2006/main">
              <a:ext uri="{FF2B5EF4-FFF2-40B4-BE49-F238E27FC236}">
                <a16:creationId xmlns:a16="http://schemas.microsoft.com/office/drawing/2014/main" id="{D738A039-861A-42EB-879E-332326B23D6C}"/>
              </a:ext>
            </a:extLst>
          </p:cNvPr>
          <p:cNvSpPr>
            <a:spLocks xmlns:a="http://schemas.openxmlformats.org/drawingml/2006/main" noGrp="1"/>
          </p:cNvSpPr>
          <p:nvPr/>
        </p:nvSpPr>
        <p:spPr>
          <a:xfrm xmlns:a="http://schemas.openxmlformats.org/drawingml/2006/main">
            <a:off x="6410325" y="426720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 cohort check</a:t>
            </a:r>
          </a:p>
        </p:txBody>
      </p:sp>
      <p:sp>
        <p:nvSpPr>
          <p:cNvPr id="12" name="Base 2031 economics imply about $89 of five-year c">
            <a:extLst xmlns:a="http://schemas.openxmlformats.org/drawingml/2006/main">
              <a:ext uri="{FF2B5EF4-FFF2-40B4-BE49-F238E27FC236}">
                <a16:creationId xmlns:a16="http://schemas.microsoft.com/office/drawing/2014/main" id="{03D126A4-9A03-464B-990A-6B4142C261E5}"/>
              </a:ext>
            </a:extLst>
          </p:cNvPr>
          <p:cNvSpPr>
            <a:spLocks xmlns:a="http://schemas.openxmlformats.org/drawingml/2006/main" noGrp="1"/>
          </p:cNvSpPr>
          <p:nvPr/>
        </p:nvSpPr>
        <p:spPr>
          <a:xfrm xmlns:a="http://schemas.openxmlformats.org/drawingml/2006/main">
            <a:off x="6410325" y="4791075"/>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Base 2031 economics imply about $89 of five-year contribution per acquired household versus $35 CAC, or 2.6x. This is an assumption test.</a:t>
            </a:r>
          </a:p>
        </p:txBody>
      </p:sp>
    </p:spTree>
    <p:extLst>
      <p:ext uri="{BB962C8B-B14F-4D97-AF65-F5344CB8AC3E}">
        <p14:creationId xmlns:p14="http://schemas.microsoft.com/office/powerpoint/2010/main" val="1723987162"/>
      </p:ext>
    </p:extLst>
  </p:cSld>
</p:sld>
</file>

<file path=ppt/slides/slide2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0" name="Sources and basis">
            <a:extLst xmlns:a="http://schemas.openxmlformats.org/drawingml/2006/main">
              <a:ext uri="{FF2B5EF4-FFF2-40B4-BE49-F238E27FC236}">
                <a16:creationId xmlns:a16="http://schemas.microsoft.com/office/drawing/2014/main" id="{C41537D3-3EC6-45F4-B006-D61B1953C047}"/>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Sources and basis</a:t>
            </a:r>
          </a:p>
        </p:txBody>
      </p:sp>
      <p:sp>
        <p:nvSpPr>
          <p:cNvPr id="2" name="Prepared September 20, 2026. Financial projections">
            <a:extLst xmlns:a="http://schemas.openxmlformats.org/drawingml/2006/main">
              <a:ext uri="{FF2B5EF4-FFF2-40B4-BE49-F238E27FC236}">
                <a16:creationId xmlns:a16="http://schemas.microsoft.com/office/drawing/2014/main" id="{5F537634-7364-4342-A79C-8F6043DC1408}"/>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Prepared September 20, 2026. Financial projections use explicit planning assumptions.</a:t>
            </a:r>
          </a:p>
        </p:txBody>
      </p:sp>
      <p:sp>
        <p:nvSpPr>
          <p:cNvPr id="3" name="YardMatch">
            <a:extLst xmlns:a="http://schemas.openxmlformats.org/drawingml/2006/main">
              <a:ext uri="{FF2B5EF4-FFF2-40B4-BE49-F238E27FC236}">
                <a16:creationId xmlns:a16="http://schemas.microsoft.com/office/drawing/2014/main" id="{672FBBE6-D641-43E9-AAA2-A341A1947F17}"/>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2">
            <a:extLst xmlns:a="http://schemas.openxmlformats.org/drawingml/2006/main">
              <a:ext uri="{FF2B5EF4-FFF2-40B4-BE49-F238E27FC236}">
                <a16:creationId xmlns:a16="http://schemas.microsoft.com/office/drawing/2014/main" id="{0CF68466-E027-4B2D-ABCF-6402BCDF6C7C}"/>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22</a:t>
            </a:r>
          </a:p>
        </p:txBody>
      </p:sp>
      <p:sp>
        <p:nvSpPr>
          <p:cNvPr id="5" name="Company materials">
            <a:extLst xmlns:a="http://schemas.openxmlformats.org/drawingml/2006/main">
              <a:ext uri="{FF2B5EF4-FFF2-40B4-BE49-F238E27FC236}">
                <a16:creationId xmlns:a16="http://schemas.microsoft.com/office/drawing/2014/main" id="{D614B436-D018-4E69-915C-D0D076FAF94E}"/>
              </a:ext>
            </a:extLst>
          </p:cNvPr>
          <p:cNvSpPr>
            <a:spLocks xmlns:a="http://schemas.openxmlformats.org/drawingml/2006/main" noGrp="1"/>
          </p:cNvSpPr>
          <p:nvPr/>
        </p:nvSpPr>
        <p:spPr>
          <a:xfrm xmlns:a="http://schemas.openxmlformats.org/drawingml/2006/main">
            <a:off x="628650" y="2314575"/>
            <a:ext cx="3714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5938"/>
                </a:solidFill>
                <a:latin typeface="Arial"/>
                <a:ea typeface="Arial"/>
                <a:cs typeface="Arial"/>
              </a:defRPr>
            </a:pPr>
            <a:r>
              <a:rPr sz="2025" b="1">
                <a:solidFill>
                  <a:srgbClr val="205938"/>
                </a:solidFill>
                <a:latin typeface="Arial"/>
                <a:ea typeface="Arial"/>
                <a:cs typeface="Arial"/>
              </a:rPr>
              <a:t>Company materials</a:t>
            </a:r>
          </a:p>
        </p:txBody>
      </p:sp>
      <p:sp>
        <p:nvSpPr>
          <p:cNvPr id="6" name="YardMatch partner pitch, September 2026&#10;Product po">
            <a:extLst xmlns:a="http://schemas.openxmlformats.org/drawingml/2006/main">
              <a:ext uri="{FF2B5EF4-FFF2-40B4-BE49-F238E27FC236}">
                <a16:creationId xmlns:a16="http://schemas.microsoft.com/office/drawing/2014/main" id="{9E723410-32E6-45C5-B010-3F266C01F0A6}"/>
              </a:ext>
            </a:extLst>
          </p:cNvPr>
          <p:cNvSpPr>
            <a:spLocks xmlns:a="http://schemas.openxmlformats.org/drawingml/2006/main" noGrp="1"/>
          </p:cNvSpPr>
          <p:nvPr/>
        </p:nvSpPr>
        <p:spPr>
          <a:xfrm xmlns:a="http://schemas.openxmlformats.org/drawingml/2006/main">
            <a:off x="628650" y="2800350"/>
            <a:ext cx="108775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4281D"/>
                </a:solidFill>
                <a:latin typeface="Arial"/>
                <a:ea typeface="Arial"/>
                <a:cs typeface="Arial"/>
              </a:defRPr>
            </a:pPr>
            <a:r>
              <a:rPr sz="1725" b="0">
                <a:solidFill>
                  <a:srgbClr val="14281D"/>
                </a:solidFill>
                <a:latin typeface="Arial"/>
                <a:ea typeface="Arial"/>
                <a:cs typeface="Arial"/>
              </a:rPr>
              <a:t>YardMatch partner pitch, September 2026</a:t>
            </a:r>
          </a:p>
          <a:p xmlns:a="http://schemas.openxmlformats.org/drawingml/2006/main">
            <a:pPr algn="l">
              <a:defRPr sz="1725" b="0">
                <a:solidFill>
                  <a:srgbClr val="14281D"/>
                </a:solidFill>
                <a:latin typeface="Arial"/>
                <a:ea typeface="Arial"/>
                <a:cs typeface="Arial"/>
              </a:defRPr>
            </a:pPr>
            <a:r>
              <a:rPr sz="1725" b="0">
                <a:solidFill>
                  <a:srgbClr val="14281D"/>
                </a:solidFill>
                <a:latin typeface="Arial"/>
                <a:ea typeface="Arial"/>
                <a:cs typeface="Arial"/>
              </a:rPr>
              <a:t>Product positioning, role concepts, $45 finder fee and welcome offer</a:t>
            </a:r>
          </a:p>
          <a:p xmlns:a="http://schemas.openxmlformats.org/drawingml/2006/main">
            <a:pPr algn="l">
              <a:defRPr sz="1725" b="0">
                <a:solidFill>
                  <a:srgbClr val="14281D"/>
                </a:solidFill>
                <a:latin typeface="Arial"/>
                <a:ea typeface="Arial"/>
                <a:cs typeface="Arial"/>
              </a:defRPr>
            </a:pPr>
            <a:r>
              <a:rPr sz="1725" b="0">
                <a:solidFill>
                  <a:srgbClr val="14281D"/>
                </a:solidFill>
                <a:latin typeface="Arial"/>
                <a:ea typeface="Arial"/>
                <a:cs typeface="Arial"/>
              </a:rPr>
              <a:t>Repository roadmap and engineering status for local product progress</a:t>
            </a:r>
          </a:p>
        </p:txBody>
      </p:sp>
      <p:sp>
        <p:nvSpPr>
          <p:cNvPr id="7" name="External sources">
            <a:extLst xmlns:a="http://schemas.openxmlformats.org/drawingml/2006/main">
              <a:ext uri="{FF2B5EF4-FFF2-40B4-BE49-F238E27FC236}">
                <a16:creationId xmlns:a16="http://schemas.microsoft.com/office/drawing/2014/main" id="{0852247C-C948-467D-8208-CDAAD28EC418}"/>
              </a:ext>
            </a:extLst>
          </p:cNvPr>
          <p:cNvSpPr>
            <a:spLocks xmlns:a="http://schemas.openxmlformats.org/drawingml/2006/main" noGrp="1"/>
          </p:cNvSpPr>
          <p:nvPr/>
        </p:nvSpPr>
        <p:spPr>
          <a:xfrm xmlns:a="http://schemas.openxmlformats.org/drawingml/2006/main">
            <a:off x="628650" y="4038600"/>
            <a:ext cx="3714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5938"/>
                </a:solidFill>
                <a:latin typeface="Arial"/>
                <a:ea typeface="Arial"/>
                <a:cs typeface="Arial"/>
              </a:defRPr>
            </a:pPr>
            <a:r>
              <a:rPr sz="2025" b="1">
                <a:solidFill>
                  <a:srgbClr val="205938"/>
                </a:solidFill>
                <a:latin typeface="Arial"/>
                <a:ea typeface="Arial"/>
                <a:cs typeface="Arial"/>
              </a:rPr>
              <a:t>External sources</a:t>
            </a:r>
          </a:p>
        </p:txBody>
      </p:sp>
      <p:sp>
        <p:nvSpPr>
          <p:cNvPr id="8" name="Stripe Payments and Connect pricing; Financial Con">
            <a:extLst xmlns:a="http://schemas.openxmlformats.org/drawingml/2006/main">
              <a:ext uri="{FF2B5EF4-FFF2-40B4-BE49-F238E27FC236}">
                <a16:creationId xmlns:a16="http://schemas.microsoft.com/office/drawing/2014/main" id="{51ED847F-6C54-4A66-8EBA-71F3F1D634C9}"/>
              </a:ext>
            </a:extLst>
          </p:cNvPr>
          <p:cNvSpPr>
            <a:spLocks xmlns:a="http://schemas.openxmlformats.org/drawingml/2006/main" noGrp="1"/>
          </p:cNvSpPr>
          <p:nvPr/>
        </p:nvSpPr>
        <p:spPr>
          <a:xfrm xmlns:a="http://schemas.openxmlformats.org/drawingml/2006/main">
            <a:off x="628650" y="4514850"/>
            <a:ext cx="108775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4281D"/>
                </a:solidFill>
                <a:latin typeface="Arial"/>
                <a:ea typeface="Arial"/>
                <a:cs typeface="Arial"/>
              </a:defRPr>
            </a:pPr>
            <a:r>
              <a:rPr sz="1725" b="0">
                <a:solidFill>
                  <a:srgbClr val="14281D"/>
                </a:solidFill>
                <a:latin typeface="Arial"/>
                <a:ea typeface="Arial"/>
                <a:cs typeface="Arial"/>
              </a:rPr>
              <a:t>Stripe Payments and Connect pricing; Financial Connections pricing</a:t>
            </a:r>
          </a:p>
          <a:p xmlns:a="http://schemas.openxmlformats.org/drawingml/2006/main">
            <a:pPr algn="l">
              <a:defRPr sz="1725" b="0">
                <a:solidFill>
                  <a:srgbClr val="14281D"/>
                </a:solidFill>
                <a:latin typeface="Arial"/>
                <a:ea typeface="Arial"/>
                <a:cs typeface="Arial"/>
              </a:defRPr>
            </a:pPr>
            <a:r>
              <a:rPr sz="1725" b="0">
                <a:solidFill>
                  <a:srgbClr val="14281D"/>
                </a:solidFill>
                <a:latin typeface="Arial"/>
                <a:ea typeface="Arial"/>
                <a:cs typeface="Arial"/>
              </a:rPr>
              <a:t>Zocdoc provider help: “Understanding Zocdoc pricing and billing”</a:t>
            </a:r>
          </a:p>
          <a:p xmlns:a="http://schemas.openxmlformats.org/drawingml/2006/main">
            <a:pPr algn="l">
              <a:defRPr sz="1725" b="0">
                <a:solidFill>
                  <a:srgbClr val="14281D"/>
                </a:solidFill>
                <a:latin typeface="Arial"/>
                <a:ea typeface="Arial"/>
                <a:cs typeface="Arial"/>
              </a:defRPr>
            </a:pPr>
            <a:r>
              <a:rPr sz="1725" b="0">
                <a:solidFill>
                  <a:srgbClr val="14281D"/>
                </a:solidFill>
                <a:latin typeface="Arial"/>
                <a:ea typeface="Arial"/>
                <a:cs typeface="Arial"/>
              </a:rPr>
              <a:t>US Census QuickFacts: Barnegat township, 2020-2024 estimates</a:t>
            </a:r>
          </a:p>
        </p:txBody>
      </p:sp>
      <p:sp>
        <p:nvSpPr>
          <p:cNvPr id="9" name="Full source links are in speaker notes. Growth, co">
            <a:extLst xmlns:a="http://schemas.openxmlformats.org/drawingml/2006/main">
              <a:ext uri="{FF2B5EF4-FFF2-40B4-BE49-F238E27FC236}">
                <a16:creationId xmlns:a16="http://schemas.microsoft.com/office/drawing/2014/main" id="{A3C2531B-CA82-4A62-997D-69F22F6A2058}"/>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Full source links are in speaker notes. Growth, costs, financing terms and exit values are assumptions. No market demand survey or historical financial statements were supplied.</a:t>
            </a:r>
          </a:p>
        </p:txBody>
      </p:sp>
    </p:spTree>
    <p:extLst>
      <p:ext uri="{BB962C8B-B14F-4D97-AF65-F5344CB8AC3E}">
        <p14:creationId xmlns:p14="http://schemas.microsoft.com/office/powerpoint/2010/main" val="4087956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2026-09-20T18:04:33.4650000Z</dcterms:created>
  <dcterms:modified xsi:type="dcterms:W3CDTF">2026-09-20T18:04:33.4650000Z</dcterms:modified>
</coreProperties>
</file>