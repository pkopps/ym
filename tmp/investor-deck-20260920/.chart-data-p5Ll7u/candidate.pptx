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1.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aeb52cdd64c4fc8" /><Relationship Type="http://schemas.openxmlformats.org/officeDocument/2006/relationships/extended-properties" Target="/docProps/app.xml" Id="Rcac19c15c76947c7" /><Relationship Type="http://schemas.openxmlformats.org/officeDocument/2006/relationships/officeDocument" Target="/ppt/presentation.xml" Id="Rdd8c07c92ad14d34" /></Relationships>
</file>

<file path=ppt/presentation.xml><?xml version="1.0" encoding="utf-8"?>
<p:presentation xmlns:p="http://schemas.openxmlformats.org/presentationml/2006/main">
  <p:sldMasterIdLst>
    <p:sldMasterId xmlns:r="http://schemas.openxmlformats.org/officeDocument/2006/relationships" id="2147483648" r:id="R16d89e90878b45f0"/>
  </p:sldMasterIdLst>
  <p:notesMasterIdLst>
    <p:notesMasterId xmlns:r="http://schemas.openxmlformats.org/officeDocument/2006/relationships" r:id="R2ce0818a85754558"/>
  </p:notesMasterIdLst>
  <p:sldIdLst>
    <p:sldId xmlns:r="http://schemas.openxmlformats.org/officeDocument/2006/relationships" id="256" r:id="R09ef21ba53ac4042"/>
    <p:sldId xmlns:r="http://schemas.openxmlformats.org/officeDocument/2006/relationships" id="257" r:id="R0c7788951e9f4424"/>
    <p:sldId xmlns:r="http://schemas.openxmlformats.org/officeDocument/2006/relationships" id="258" r:id="R0557de6b59754492"/>
    <p:sldId xmlns:r="http://schemas.openxmlformats.org/officeDocument/2006/relationships" id="259" r:id="R8e2898e03a0a4f07"/>
    <p:sldId xmlns:r="http://schemas.openxmlformats.org/officeDocument/2006/relationships" id="260" r:id="R7e2d4ebf7e4c442a"/>
    <p:sldId xmlns:r="http://schemas.openxmlformats.org/officeDocument/2006/relationships" id="261" r:id="R95880b0c6600406e"/>
    <p:sldId xmlns:r="http://schemas.openxmlformats.org/officeDocument/2006/relationships" id="262" r:id="R935ca334076e4e9c"/>
    <p:sldId xmlns:r="http://schemas.openxmlformats.org/officeDocument/2006/relationships" id="263" r:id="R61d6921f3a5a4c8f"/>
    <p:sldId xmlns:r="http://schemas.openxmlformats.org/officeDocument/2006/relationships" id="264" r:id="Re72e81169dfe4bd5"/>
    <p:sldId xmlns:r="http://schemas.openxmlformats.org/officeDocument/2006/relationships" id="265" r:id="R9a433c59f0d74325"/>
    <p:sldId xmlns:r="http://schemas.openxmlformats.org/officeDocument/2006/relationships" id="266" r:id="R6f067d5fe07d471a"/>
    <p:sldId xmlns:r="http://schemas.openxmlformats.org/officeDocument/2006/relationships" id="267" r:id="R014f6b6a6934481a"/>
    <p:sldId xmlns:r="http://schemas.openxmlformats.org/officeDocument/2006/relationships" id="268" r:id="Rf7c3df20c6514d6e"/>
    <p:sldId xmlns:r="http://schemas.openxmlformats.org/officeDocument/2006/relationships" id="269" r:id="Rd81f4d896a004d9f"/>
    <p:sldId xmlns:r="http://schemas.openxmlformats.org/officeDocument/2006/relationships" id="270" r:id="R5a48bd4d6fb54de8"/>
    <p:sldId xmlns:r="http://schemas.openxmlformats.org/officeDocument/2006/relationships" id="271" r:id="R936307bb9e9c4769"/>
    <p:sldId xmlns:r="http://schemas.openxmlformats.org/officeDocument/2006/relationships" id="272" r:id="Re8b7e8853ba8458f"/>
    <p:sldId xmlns:r="http://schemas.openxmlformats.org/officeDocument/2006/relationships" id="273" r:id="Rc26dd76bc4c048f1"/>
    <p:sldId xmlns:r="http://schemas.openxmlformats.org/officeDocument/2006/relationships" id="274" r:id="R3bca19e06d924948"/>
    <p:sldId xmlns:r="http://schemas.openxmlformats.org/officeDocument/2006/relationships" id="275" r:id="Rdebc6f56d7ef40c9"/>
    <p:sldId xmlns:r="http://schemas.openxmlformats.org/officeDocument/2006/relationships" id="276" r:id="R14c824c8626f44b9"/>
    <p:sldId xmlns:r="http://schemas.openxmlformats.org/officeDocument/2006/relationships" id="277" r:id="R3474ef0547e7465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9a706284dff456c" /><Relationship Type="http://schemas.openxmlformats.org/officeDocument/2006/relationships/slideMaster" Target="/ppt/slideMasters/slideMaster1.xml" Id="R16d89e90878b45f0" /><Relationship Type="http://schemas.openxmlformats.org/officeDocument/2006/relationships/notesMaster" Target="/ppt/notesMasters/notesMaster1.xml" Id="R2ce0818a85754558" /><Relationship Type="http://schemas.openxmlformats.org/officeDocument/2006/relationships/presProps" Target="/ppt/presProps.xml" Id="R1f73e01778dc4d6a" /><Relationship Type="http://schemas.openxmlformats.org/officeDocument/2006/relationships/tableStyles" Target="/ppt/tableStyles.xml" Id="Rbbc7cb6f2c9142a0" /><Relationship Type="http://schemas.openxmlformats.org/officeDocument/2006/relationships/slide" Target="/ppt/slides/slide1.xml" Id="R09ef21ba53ac4042" /><Relationship Type="http://schemas.openxmlformats.org/officeDocument/2006/relationships/slide" Target="/ppt/slides/slide2.xml" Id="R0c7788951e9f4424" /><Relationship Type="http://schemas.openxmlformats.org/officeDocument/2006/relationships/slide" Target="/ppt/slides/slide3.xml" Id="R0557de6b59754492" /><Relationship Type="http://schemas.openxmlformats.org/officeDocument/2006/relationships/slide" Target="/ppt/slides/slide4.xml" Id="R8e2898e03a0a4f07" /><Relationship Type="http://schemas.openxmlformats.org/officeDocument/2006/relationships/slide" Target="/ppt/slides/slide5.xml" Id="R7e2d4ebf7e4c442a" /><Relationship Type="http://schemas.openxmlformats.org/officeDocument/2006/relationships/slide" Target="/ppt/slides/slide6.xml" Id="R95880b0c6600406e" /><Relationship Type="http://schemas.openxmlformats.org/officeDocument/2006/relationships/slide" Target="/ppt/slides/slide7.xml" Id="R935ca334076e4e9c" /><Relationship Type="http://schemas.openxmlformats.org/officeDocument/2006/relationships/slide" Target="/ppt/slides/slide8.xml" Id="R61d6921f3a5a4c8f" /><Relationship Type="http://schemas.openxmlformats.org/officeDocument/2006/relationships/slide" Target="/ppt/slides/slide9.xml" Id="Re72e81169dfe4bd5" /><Relationship Type="http://schemas.openxmlformats.org/officeDocument/2006/relationships/slide" Target="/ppt/slides/slide10.xml" Id="R9a433c59f0d74325" /><Relationship Type="http://schemas.openxmlformats.org/officeDocument/2006/relationships/slide" Target="/ppt/slides/slide11.xml" Id="R6f067d5fe07d471a" /><Relationship Type="http://schemas.openxmlformats.org/officeDocument/2006/relationships/slide" Target="/ppt/slides/slide12.xml" Id="R014f6b6a6934481a" /><Relationship Type="http://schemas.openxmlformats.org/officeDocument/2006/relationships/slide" Target="/ppt/slides/slide13.xml" Id="Rf7c3df20c6514d6e" /><Relationship Type="http://schemas.openxmlformats.org/officeDocument/2006/relationships/slide" Target="/ppt/slides/slide14.xml" Id="Rd81f4d896a004d9f" /><Relationship Type="http://schemas.openxmlformats.org/officeDocument/2006/relationships/slide" Target="/ppt/slides/slide15.xml" Id="R5a48bd4d6fb54de8" /><Relationship Type="http://schemas.openxmlformats.org/officeDocument/2006/relationships/slide" Target="/ppt/slides/slide16.xml" Id="R936307bb9e9c4769" /><Relationship Type="http://schemas.openxmlformats.org/officeDocument/2006/relationships/slide" Target="/ppt/slides/slide17.xml" Id="Re8b7e8853ba8458f" /><Relationship Type="http://schemas.openxmlformats.org/officeDocument/2006/relationships/slide" Target="/ppt/slides/slide18.xml" Id="Rc26dd76bc4c048f1" /><Relationship Type="http://schemas.openxmlformats.org/officeDocument/2006/relationships/slide" Target="/ppt/slides/slide19.xml" Id="R3bca19e06d924948" /><Relationship Type="http://schemas.openxmlformats.org/officeDocument/2006/relationships/slide" Target="/ppt/slides/slide20.xml" Id="Rdebc6f56d7ef40c9" /><Relationship Type="http://schemas.openxmlformats.org/officeDocument/2006/relationships/slide" Target="/ppt/slides/slide21.xml" Id="R14c824c8626f44b9" /><Relationship Type="http://schemas.openxmlformats.org/officeDocument/2006/relationships/slide" Target="/ppt/slides/slide22.xml" Id="R3474ef0547e7465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906b042e7cc473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c8bec56a0334e2b" /><Relationship Type="http://schemas.openxmlformats.org/officeDocument/2006/relationships/notesMaster" Target="/ppt/notesMasters/notesMaster1.xml" Id="R098dd822dd374fa2" /></Relationships>
</file>

<file path=ppt/notesSlides/_rels/notesSlide2.xml.rels>&#65279;<?xml version="1.0" encoding="utf-8"?><Relationships xmlns="http://schemas.openxmlformats.org/package/2006/relationships"><Relationship Type="http://schemas.openxmlformats.org/officeDocument/2006/relationships/slide" Target="/ppt/slides/slide2.xml" Id="Rfe2ec3d2997348e0" /><Relationship Type="http://schemas.openxmlformats.org/officeDocument/2006/relationships/notesMaster" Target="/ppt/notesMasters/notesMaster1.xml" Id="Rc2d6c5bc54b241e8" /></Relationships>
</file>

<file path=ppt/notesSlides/_rels/notesSlide3.xml.rels>&#65279;<?xml version="1.0" encoding="utf-8"?><Relationships xmlns="http://schemas.openxmlformats.org/package/2006/relationships"><Relationship Type="http://schemas.openxmlformats.org/officeDocument/2006/relationships/slide" Target="/ppt/slides/slide3.xml" Id="R1cd2ddd553244f81" /><Relationship Type="http://schemas.openxmlformats.org/officeDocument/2006/relationships/notesMaster" Target="/ppt/notesMasters/notesMaster1.xml" Id="R7e6c2632d3024059" /></Relationships>
</file>

<file path=ppt/notesSlides/_rels/notesSlide4.xml.rels>&#65279;<?xml version="1.0" encoding="utf-8"?><Relationships xmlns="http://schemas.openxmlformats.org/package/2006/relationships"><Relationship Type="http://schemas.openxmlformats.org/officeDocument/2006/relationships/slide" Target="/ppt/slides/slide4.xml" Id="R75e040eb6b6e4c52" /><Relationship Type="http://schemas.openxmlformats.org/officeDocument/2006/relationships/notesMaster" Target="/ppt/notesMasters/notesMaster1.xml" Id="Rfbdfa27c0aff4327" /></Relationships>
</file>

<file path=ppt/notesSlides/_rels/notesSlide5.xml.rels>&#65279;<?xml version="1.0" encoding="utf-8"?><Relationships xmlns="http://schemas.openxmlformats.org/package/2006/relationships"><Relationship Type="http://schemas.openxmlformats.org/officeDocument/2006/relationships/slide" Target="/ppt/slides/slide5.xml" Id="R7d3b33b0ae64443b" /><Relationship Type="http://schemas.openxmlformats.org/officeDocument/2006/relationships/notesMaster" Target="/ppt/notesMasters/notesMaster1.xml" Id="Re5b6f4e2ba334e77" /></Relationships>
</file>

<file path=ppt/notesSlides/_rels/notesSlide6.xml.rels>&#65279;<?xml version="1.0" encoding="utf-8"?><Relationships xmlns="http://schemas.openxmlformats.org/package/2006/relationships"><Relationship Type="http://schemas.openxmlformats.org/officeDocument/2006/relationships/slide" Target="/ppt/slides/slide6.xml" Id="Rd9328cf2836541df" /><Relationship Type="http://schemas.openxmlformats.org/officeDocument/2006/relationships/notesMaster" Target="/ppt/notesMasters/notesMaster1.xml" Id="Rfcdf5a5e8c4244d1" /></Relationships>
</file>

<file path=ppt/notesSlides/_rels/notesSlide7.xml.rels>&#65279;<?xml version="1.0" encoding="utf-8"?><Relationships xmlns="http://schemas.openxmlformats.org/package/2006/relationships"><Relationship Type="http://schemas.openxmlformats.org/officeDocument/2006/relationships/slide" Target="/ppt/slides/slide7.xml" Id="Rcf8b9601a51e4fc2" /><Relationship Type="http://schemas.openxmlformats.org/officeDocument/2006/relationships/notesMaster" Target="/ppt/notesMasters/notesMaster1.xml" Id="R878007d9181a4e78" /></Relationships>
</file>

<file path=ppt/notesSlides/_rels/notesSlide8.xml.rels>&#65279;<?xml version="1.0" encoding="utf-8"?><Relationships xmlns="http://schemas.openxmlformats.org/package/2006/relationships"><Relationship Type="http://schemas.openxmlformats.org/officeDocument/2006/relationships/slide" Target="/ppt/slides/slide8.xml" Id="R1b8ed139146e46cf" /><Relationship Type="http://schemas.openxmlformats.org/officeDocument/2006/relationships/notesMaster" Target="/ppt/notesMasters/notesMaster1.xml" Id="R7c3e351523f04aca" /></Relationships>
</file>

<file path=ppt/notesSlides/_rels/notesSlide9.xml.rels>&#65279;<?xml version="1.0" encoding="utf-8"?><Relationships xmlns="http://schemas.openxmlformats.org/package/2006/relationships"><Relationship Type="http://schemas.openxmlformats.org/officeDocument/2006/relationships/slide" Target="/ppt/slides/slide9.xml" Id="Rdb27fcca42384ee3" /><Relationship Type="http://schemas.openxmlformats.org/officeDocument/2006/relationships/notesMaster" Target="/ppt/notesMasters/notesMaster1.xml" Id="R29479c78c5ac4a9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6efa0189eb745b8" /><Relationship Type="http://schemas.openxmlformats.org/officeDocument/2006/relationships/notesMaster" Target="/ppt/notesMasters/notesMaster1.xml" Id="R24472f83506c4e7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f493acf60d9425c" /><Relationship Type="http://schemas.openxmlformats.org/officeDocument/2006/relationships/notesMaster" Target="/ppt/notesMasters/notesMaster1.xml" Id="R45eefdc9e87f4ed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17cad7f26e3407d" /><Relationship Type="http://schemas.openxmlformats.org/officeDocument/2006/relationships/notesMaster" Target="/ppt/notesMasters/notesMaster1.xml" Id="R5583b7616ecc4ab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c9c38b2d3774792" /><Relationship Type="http://schemas.openxmlformats.org/officeDocument/2006/relationships/notesMaster" Target="/ppt/notesMasters/notesMaster1.xml" Id="R55a7670720ef47a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0ee0b599a86463f" /><Relationship Type="http://schemas.openxmlformats.org/officeDocument/2006/relationships/notesMaster" Target="/ppt/notesMasters/notesMaster1.xml" Id="R3225772547d14fe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68502903a21489a" /><Relationship Type="http://schemas.openxmlformats.org/officeDocument/2006/relationships/notesMaster" Target="/ppt/notesMasters/notesMaster1.xml" Id="R4a1757fe5f724b1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cd50e01b2a54366" /><Relationship Type="http://schemas.openxmlformats.org/officeDocument/2006/relationships/notesMaster" Target="/ppt/notesMasters/notesMaster1.xml" Id="Rd6e8cce6b1fd45e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4ad9a6ad56b40cf" /><Relationship Type="http://schemas.openxmlformats.org/officeDocument/2006/relationships/notesMaster" Target="/ppt/notesMasters/notesMaster1.xml" Id="R54b7b0ef21bb4d6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e51f237fc364257" /><Relationship Type="http://schemas.openxmlformats.org/officeDocument/2006/relationships/notesMaster" Target="/ppt/notesMasters/notesMaster1.xml" Id="R2fa03dd206004a1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a56605f90004b36" /><Relationship Type="http://schemas.openxmlformats.org/officeDocument/2006/relationships/notesMaster" Target="/ppt/notesMasters/notesMaster1.xml" Id="Rd9b7864fe48b499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506ac810dc0453b" /><Relationship Type="http://schemas.openxmlformats.org/officeDocument/2006/relationships/notesMaster" Target="/ppt/notesMasters/notesMaster1.xml" Id="R123b2b2d1f754c3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ba6b130a5ae4159" /><Relationship Type="http://schemas.openxmlformats.org/officeDocument/2006/relationships/notesMaster" Target="/ppt/notesMasters/notesMaster1.xml" Id="R26df9eaa4f56455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a0565d615ed4a92" /><Relationship Type="http://schemas.openxmlformats.org/officeDocument/2006/relationships/notesMaster" Target="/ppt/notesMasters/notesMaster1.xml" Id="R03e7ee539f8f46f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Investor discussion draft. September 20, 2026. Source: YardMatch-Barnegat-Partner-Pitch.pdf, September 2026, pages 1-9. Product illustrations and sample data are conceptual, not commercial traction. Source: YardMatch-Investor-Model.xlsx, assumptions and formula-driven Operating model, prepared September 20, 2026. All 2027-2033 figures are illustrative forecasts, not actuals or promises. US dollars. No commercial actuals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Source: YardMatch-Investor-Model.xlsx, assumptions and formula-driven Operating model, prepared September 20, 2026. All 2027-2033 figures are illustrative forecasts, not actuals or promises. US dollars. No commercial actuals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Customer and provider problems are product hypotheses, not survey findings.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Map is conceptual. No measured route savings or density effect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Patrick instructions September 20, 2026: provider pays $2.99 per completed service. Source: YardMatch-Investor-Model.xlsx, assumptions and formula-driven Operating model, prepared September 20, 2026. All 2027-2033 figures are illustrative forecasts, not actuals or promises. US dollars. No commercial actuals supplied. $45 once per new relationship. One welcome finder-fee waiver per new provider.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checked September 20, 2026: https://www.zocdoc.com/provider-help/en/articles/10859404-understanding-zocdoc-pricing-and-billing . Discovery versus reputation bookings, one-time new patient/provider connection fee. Not every new-doctor booking is chargeable. YardMatch behavior is a planning hypothesis. Source: YardMatch-Barnegat-Partner-Pitch.pdf, September 2026, pages 1-9. Product illustrations and sample data are conceptual, not commercial traction.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checked September 20, 2026: https://stripe.com/pricing ; https://stripe.com/connect/pricing ; https://support.stripe.com/questions/monetizing-payments-with-stripe-connect ; https://stripe.com/financial-connections . US domestic card and platform-controlled Connect assumptions. Exact commercial account terms require confirmation. Source: YardMatch-Investor-Model.xlsx, assumptions and formula-driven Operating model, prepared September 20, 2026. All 2027-2033 figures are illustrative forecasts, not actuals or promises. US dollars. No commercial actuals supplied. Unit economics uses 2031 Base volumes to allocate account and payout-count costs. Repeat payout base excludes the finder fee.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 Census Bureau QuickFacts, Barnegat township, Ocean County, New Jersey, 2020-2024 estimates. https://www.census.gov/quickfacts/fact/table/barnegattownshipoceancountynewjersey/SBO010223 . 10,265 households and 88.0% owner occupancy. Households with lawn-care demand are a subset, not measured here. Source: YardMatch-Investor-Model.xlsx, assumptions and formula-driven Operating model, prepared September 20, 2026. All 2027-2033 figures are illustrative forecasts, not actuals or promises. US dollars. No commercial actuals supplied. Approximate owner households = 10,265 * 88% = 9,033.2. 500 / 9,033.2 = 5.5%. This is an upper-envelope denominator, not a lawn-care TAM.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Source: YardMatch-Investor-Model.xlsx, assumptions and formula-driven Operating model, prepared September 20, 2026. All 2027-2033 figures are illustrative forecasts, not actuals or promises. US dollars. No commercial actuals supplied. These are proposed experiments and decision gates, not completed milestones.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Sources: repository README.md, ROADMAP.md and docs/agent-status/engineer.md, reviewed September 20, 2026. Local engineering checkpoint evidence is not independent production verification. No founder biography or commercial actuals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These effects are hypotheses, not measured network effects or proven competitive advantages.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New households enter halfway through the season. Annual household retention applies before the next service season. Cases share one formula-driven build.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Revenue is finder fees after welcome waivers plus completed paid jobs * $2.99. Charts are editable snapshots of the Base model, not a live workbook link.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EBITDA excludes depreciation, interest and taxes. EBIT includes equipment depreciation. Net income proxy uses an illustrative 25% tax on positive EBIT with no NOL benefit. Free cash flow includes equipment capex and a 1% annual-GMV restricted risk cash assumption.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No probability weights are assigned. Upside is a target case, not a forecast with validated inputs.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Financing illustration: $1.5m gross less $25k transaction expenses. Model opens with zero cash. 2027-2028 projected FCF burn $1.053m and ending cash $421,907. Annual model does not establish exact monthly runway.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Patrick instruction: 70% to Patrick, 30% to other initial owners, then dilute per round. Assumes new share issuance, no secondary sales or convertible instruments.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Equity proceeds arithmetic only. No exit multiple or transaction probability assumed. Initial price implies $6m pre-money and $7.5m post-money. These valuations are not supported by comparable transactions or an agreed term sheet. Equity value assumes distributable proceeds with no senior claims.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Proposed validation gates, not achieved results. Figures chosen as operating test thresholds rather than claimed industry benchmarks.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Cohort calculation is undiscounted, five-year contribution using 2031 base economics. No customer lifetime value has been observed.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Sources checked September 20, 2026: https://stripe.com/pricing ; https://stripe.com/connect/pricing ; https://support.stripe.com/questions/monetizing-payments-with-stripe-connect ; https://stripe.com/financial-connections . US domestic card and platform-controlled Connect assumptions. Exact commercial account terms require confirmation. Source checked September 20, 2026: https://www.zocdoc.com/provider-help/en/articles/10859404-understanding-zocdoc-pricing-and-billing . Discovery versus reputation bookings, one-time new patient/provider connection fee. Not every new-doctor booking is chargeable. YardMatch behavior is a planning hypothesis. Source: US Census Bureau QuickFacts, Barnegat township, Ocean County, New Jersey, 2020-2024 estimates. https://www.census.gov/quickfacts/fact/table/barnegattownshipoceancountynewjersey/SBO010223 . 10,265 households and 88.0% owner occupancy. Households with lawn-care demand are a subset, not measured here. Source: YardMatch-Investor-Model.xlsx, assumptions and formula-driven Operating model, prepared September 20, 2026. All 2027-2033 figures are illustrative forecasts, not actuals or promises. US dollars. No commercial actuals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c3178f326fc44b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32ced28fbda45f8" /><Relationship Type="http://schemas.openxmlformats.org/officeDocument/2006/relationships/slideLayout" Target="/ppt/slideLayouts/slideLayout1.xml" Id="R67914f17c0e7402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7914f17c0e7402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aad4f79c0984fc2" /><Relationship Type="http://schemas.openxmlformats.org/officeDocument/2006/relationships/image" Target="/ppt/media/image.png" Id="R4f06243719ae4ed0" /><Relationship Type="http://schemas.openxmlformats.org/officeDocument/2006/relationships/notesSlide" Target="/ppt/notesSlides/notesSlide1.xml" Id="Rfa3e585992c448b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8db98351a3543f8" /><Relationship Type="http://schemas.openxmlformats.org/officeDocument/2006/relationships/notesSlide" Target="/ppt/notesSlides/notesSlide2.xml" Id="R54743050679a47a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64c4bcc5d0f49dd" /><Relationship Type="http://schemas.openxmlformats.org/officeDocument/2006/relationships/notesSlide" Target="/ppt/notesSlides/notesSlide3.xml" Id="R5b0b9b4f91184bf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cea406e0f6a467f" /><Relationship Type="http://schemas.openxmlformats.org/officeDocument/2006/relationships/image" Target="/ppt/media/image2.png" Id="Rd97b9adba32346ca" /><Relationship Type="http://schemas.openxmlformats.org/officeDocument/2006/relationships/notesSlide" Target="/ppt/notesSlides/notesSlide4.xml" Id="R91c3d8630fa8472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63b929725cb46e2" /><Relationship Type="http://schemas.openxmlformats.org/officeDocument/2006/relationships/image" Target="/ppt/media/image3.png" Id="R5f37b7362d24414f" /><Relationship Type="http://schemas.openxmlformats.org/officeDocument/2006/relationships/notesSlide" Target="/ppt/notesSlides/notesSlide5.xml" Id="R0b8c2c4d8978408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39055ba08374b1c" /><Relationship Type="http://schemas.openxmlformats.org/officeDocument/2006/relationships/notesSlide" Target="/ppt/notesSlides/notesSlide6.xml" Id="R4c5c97a46abf411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9ed0275bc5b47a1" /><Relationship Type="http://schemas.openxmlformats.org/officeDocument/2006/relationships/notesSlide" Target="/ppt/notesSlides/notesSlide7.xml" Id="R0dda4f929545492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74978c8fde44db6" /><Relationship Type="http://schemas.openxmlformats.org/officeDocument/2006/relationships/notesSlide" Target="/ppt/notesSlides/notesSlide8.xml" Id="R5de07c0be2864c3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351c1e8da8443a9" /><Relationship Type="http://schemas.openxmlformats.org/officeDocument/2006/relationships/notesSlide" Target="/ppt/notesSlides/notesSlide9.xml" Id="Rd7f85112ed2f404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4f0eb172f934cce" /><Relationship Type="http://schemas.openxmlformats.org/officeDocument/2006/relationships/notesSlide" Target="/ppt/notesSlides/notesSlide10.xml" Id="R0e5939c43d7649e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39dcf7c84bc464a" /><Relationship Type="http://schemas.openxmlformats.org/officeDocument/2006/relationships/notesSlide" Target="/ppt/notesSlides/notesSlide11.xml" Id="R9a68e611346e428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64cbdae6d974e03" /><Relationship Type="http://schemas.openxmlformats.org/officeDocument/2006/relationships/notesSlide" Target="/ppt/notesSlides/notesSlide12.xml" Id="R0eab6314275b460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a1480b66dfa4b87" /><Relationship Type="http://schemas.openxmlformats.org/officeDocument/2006/relationships/notesSlide" Target="/ppt/notesSlides/notesSlide13.xml" Id="R3480bb9a8109427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dcdad2b505f458e" /><Relationship Type="http://schemas.openxmlformats.org/officeDocument/2006/relationships/chart" Target="/ppt/slides/charts/chart1.xml" Id="Rbdf6d5ba73a64c54" /><Relationship Type="http://schemas.openxmlformats.org/officeDocument/2006/relationships/notesSlide" Target="/ppt/notesSlides/notesSlide14.xml" Id="R4d0dfc41ccc2428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f59a8bc63344b9d" /><Relationship Type="http://schemas.openxmlformats.org/officeDocument/2006/relationships/notesSlide" Target="/ppt/notesSlides/notesSlide15.xml" Id="R9a8a73fb857745f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269c32c4ba84021" /><Relationship Type="http://schemas.openxmlformats.org/officeDocument/2006/relationships/notesSlide" Target="/ppt/notesSlides/notesSlide16.xml" Id="R6d0d78df713c48a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9c1d6f556bb24cb0" /><Relationship Type="http://schemas.openxmlformats.org/officeDocument/2006/relationships/notesSlide" Target="/ppt/notesSlides/notesSlide17.xml" Id="R7144d6528d7d4fd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d94e4508c2ef45ec" /><Relationship Type="http://schemas.openxmlformats.org/officeDocument/2006/relationships/notesSlide" Target="/ppt/notesSlides/notesSlide18.xml" Id="Rc7646d3eabf4415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385cbc8472cf4937" /><Relationship Type="http://schemas.openxmlformats.org/officeDocument/2006/relationships/notesSlide" Target="/ppt/notesSlides/notesSlide19.xml" Id="R5e2971648492433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e2e2b81122e24c06" /><Relationship Type="http://schemas.openxmlformats.org/officeDocument/2006/relationships/notesSlide" Target="/ppt/notesSlides/notesSlide20.xml" Id="Rbadc3c4811c5401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220984701fa94189" /><Relationship Type="http://schemas.openxmlformats.org/officeDocument/2006/relationships/notesSlide" Target="/ppt/notesSlides/notesSlide21.xml" Id="R9f35f60ecf874b4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ad02d65418aa47ed" /><Relationship Type="http://schemas.openxmlformats.org/officeDocument/2006/relationships/hyperlink" Target="https://stripe.com/pricing" TargetMode="External" Id="R382900885a3e4179" /><Relationship Type="http://schemas.openxmlformats.org/officeDocument/2006/relationships/hyperlink" Target="https://stripe.com/connect/pricing" TargetMode="External" Id="Rff487f3edc014d5d" /><Relationship Type="http://schemas.openxmlformats.org/officeDocument/2006/relationships/hyperlink" Target="https://stripe.com/financial-connections" TargetMode="External" Id="Rc7c33fc50bbf4fdb" /><Relationship Type="http://schemas.openxmlformats.org/officeDocument/2006/relationships/hyperlink" Target="https://www.zocdoc.com/provider-help/en/articles/10859404-understanding-zocdoc-pricing-and-billing" TargetMode="External" Id="R696f72ea94c04930" /><Relationship Type="http://schemas.openxmlformats.org/officeDocument/2006/relationships/hyperlink" Target="https://www.census.gov/quickfacts/fact/table/barnegattownshipoceancountynewjersey/SBO010223" TargetMode="External" Id="R3d44fd8133aa4f76" /><Relationship Type="http://schemas.openxmlformats.org/officeDocument/2006/relationships/notesSlide" Target="/ppt/notesSlides/notesSlide22.xml" Id="R60d5d2c4cb444bb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stacked"/>
        <c:varyColors val="0"/>
        <c:ser>
          <c:idx val="0"/>
          <c:order val="0"/>
          <c:tx>
            <c:v>Finder fees after waivers</c:v>
          </c:tx>
          <c:spPr>
            <a:solidFill xmlns:a="http://schemas.openxmlformats.org/drawingml/2006/main">
              <a:srgbClr val="8EAA79"/>
            </a:solidFill>
          </c:spPr>
          <c:cat>
            <c:numRef>
              <c:f>'Chart Data'!$A$2:$A$8</c:f>
              <c:numCache>
                <c:formatCode>General</c:formatCode>
                <c:ptCount val="7"/>
                <c:pt idx="0">
                  <c:v>2027</c:v>
                </c:pt>
                <c:pt idx="1">
                  <c:v>2028</c:v>
                </c:pt>
                <c:pt idx="2">
                  <c:v>2029</c:v>
                </c:pt>
                <c:pt idx="3">
                  <c:v>2030</c:v>
                </c:pt>
                <c:pt idx="4">
                  <c:v>2031</c:v>
                </c:pt>
                <c:pt idx="5">
                  <c:v>2032</c:v>
                </c:pt>
                <c:pt idx="6">
                  <c:v>2033</c:v>
                </c:pt>
              </c:numCache>
            </c:numRef>
          </c:cat>
          <c:val>
            <c:numRef>
              <c:f>'Chart Data'!$B$2:$B$8</c:f>
              <c:numCache>
                <c:formatCode>$0.0</c:formatCode>
                <c:ptCount val="7"/>
                <c:pt idx="0">
                  <c:v>0.0216</c:v>
                </c:pt>
                <c:pt idx="1">
                  <c:v>0.110025</c:v>
                </c:pt>
                <c:pt idx="2">
                  <c:v>0.395199</c:v>
                </c:pt>
                <c:pt idx="3">
                  <c:v>1.097737</c:v>
                </c:pt>
                <c:pt idx="4">
                  <c:v>2.41504</c:v>
                </c:pt>
                <c:pt idx="5">
                  <c:v>4.392119</c:v>
                </c:pt>
                <c:pt idx="6">
                  <c:v>7.029277</c:v>
                </c:pt>
              </c:numCache>
            </c:numRef>
          </c:val>
        </c:ser>
        <c:ser>
          <c:idx val="1"/>
          <c:order val="1"/>
          <c:tx>
            <c:v>Service fees</c:v>
          </c:tx>
          <c:spPr>
            <a:solidFill xmlns:a="http://schemas.openxmlformats.org/drawingml/2006/main">
              <a:srgbClr val="205938"/>
            </a:solidFill>
          </c:spPr>
          <c:cat>
            <c:numRef>
              <c:f>'Chart Data'!$C$2:$C$8</c:f>
              <c:numCache>
                <c:formatCode>General</c:formatCode>
                <c:ptCount val="7"/>
                <c:pt idx="0">
                  <c:v>2027</c:v>
                </c:pt>
                <c:pt idx="1">
                  <c:v>2028</c:v>
                </c:pt>
                <c:pt idx="2">
                  <c:v>2029</c:v>
                </c:pt>
                <c:pt idx="3">
                  <c:v>2030</c:v>
                </c:pt>
                <c:pt idx="4">
                  <c:v>2031</c:v>
                </c:pt>
                <c:pt idx="5">
                  <c:v>2032</c:v>
                </c:pt>
                <c:pt idx="6">
                  <c:v>2033</c:v>
                </c:pt>
              </c:numCache>
            </c:numRef>
          </c:cat>
          <c:val>
            <c:numRef>
              <c:f>'Chart Data'!$D$2:$D$8</c:f>
              <c:numCache>
                <c:formatCode>$0.0</c:formatCode>
                <c:ptCount val="7"/>
                <c:pt idx="0">
                  <c:v>0.012782</c:v>
                </c:pt>
                <c:pt idx="1">
                  <c:v>0.081806</c:v>
                </c:pt>
                <c:pt idx="2">
                  <c:v>0.339369</c:v>
                </c:pt>
                <c:pt idx="3">
                  <c:v>1.083283</c:v>
                </c:pt>
                <c:pt idx="4">
                  <c:v>2.783964</c:v>
                </c:pt>
                <c:pt idx="5">
                  <c:v>5.908459</c:v>
                </c:pt>
                <c:pt idx="6">
                  <c:v>10.862247</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85"/>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8EDDF"/>
            </a:solidFill>
          </a:ln>
        </c:spPr>
        <c:txPr>
          <a:bodyPr xmlns:a="http://schemas.openxmlformats.org/drawingml/2006/main" anchorCtr="1"/>
          <a:lstStyle xmlns:a="http://schemas.openxmlformats.org/drawingml/2006/main"/>
          <a:p xmlns:a="http://schemas.openxmlformats.org/drawingml/2006/main">
            <a:pPr>
              <a:defRPr sz="1350">
                <a:solidFill>
                  <a:srgbClr val="14281D"/>
                </a:solidFill>
                <a:latin typeface="Arial"/>
                <a:ea typeface="Arial"/>
                <a:cs typeface="Arial"/>
              </a:defRPr>
            </a:pPr>
          </a:p>
        </c:txPr>
        <c:crossAx val="48672768"/>
      </c:catAx>
      <c:valAx>
        <c:axId val="48672768"/>
        <c:scaling>
          <c:orientation val="minMax"/>
          <c:max val="20"/>
          <c:min val="0"/>
        </c:scaling>
        <c:delete val="0"/>
        <c:axPos val="l"/>
        <c:majorGridlines>
          <c:spPr>
            <a:ln xmlns:a="http://schemas.openxmlformats.org/drawingml/2006/main" w="9525">
              <a:solidFill>
                <a:srgbClr val="D9DFD5"/>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756A"/>
                </a:solidFill>
                <a:latin typeface="Arial"/>
                <a:ea typeface="Arial"/>
                <a:cs typeface="Arial"/>
              </a:defRPr>
            </a:pPr>
          </a:p>
        </c:txPr>
        <c:crossAx val="48650112"/>
        <c:crossBetween val="between"/>
        <c:majorUnit val="5"/>
      </c:valAx>
      <c:spPr>
        <a:solidFill xmlns:a="http://schemas.openxmlformats.org/drawingml/2006/main">
          <a:srgbClr val="F7F5EF"/>
        </a:solidFill>
      </c:spPr>
    </c:plotArea>
    <c:legend>
      <c:legendPos val="b"/>
      <c:overlay val="0"/>
      <c:txPr>
        <a:bodyPr xmlns:a="http://schemas.openxmlformats.org/drawingml/2006/main" anchorCtr="1"/>
        <a:lstStyle xmlns:a="http://schemas.openxmlformats.org/drawingml/2006/main"/>
        <a:p xmlns:a="http://schemas.openxmlformats.org/drawingml/2006/main">
          <a:pPr>
            <a:defRPr sz="1425">
              <a:solidFill>
                <a:srgbClr val="14281D"/>
              </a:solidFill>
              <a:latin typeface="Arial"/>
              <a:ea typeface="Arial"/>
              <a:cs typeface="Arial"/>
            </a:defRPr>
          </a:pPr>
        </a:p>
      </c:txPr>
    </c:legend>
    <c:plotVisOnly val="1"/>
  </c:chart>
  <c:spPr>
    <a:solidFill xmlns:a="http://schemas.openxmlformats.org/drawingml/2006/main">
      <a:srgbClr val="F7F5E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YardMatch">
            <a:extLst xmlns:a="http://schemas.openxmlformats.org/drawingml/2006/main">
              <a:ext uri="{FF2B5EF4-FFF2-40B4-BE49-F238E27FC236}">
                <a16:creationId xmlns:a16="http://schemas.microsoft.com/office/drawing/2014/main" id="{380BAA99-4518-492C-9741-34209642F7D0}"/>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2" name="01">
            <a:extLst xmlns:a="http://schemas.openxmlformats.org/drawingml/2006/main">
              <a:ext uri="{FF2B5EF4-FFF2-40B4-BE49-F238E27FC236}">
                <a16:creationId xmlns:a16="http://schemas.microsoft.com/office/drawing/2014/main" id="{D2CA1776-6B20-4554-B6EC-951F8EFD754F}"/>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01</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4f06243719ae4ed0"/>
          <a:stretch xmlns:a="http://schemas.openxmlformats.org/drawingml/2006/main"/>
        </p:blipFill>
        <p:spPr>
          <a:xfrm xmlns:a="http://schemas.openxmlformats.org/drawingml/2006/main">
            <a:off x="552450" y="461963"/>
            <a:ext cx="4714875" cy="1571625"/>
          </a:xfrm>
          <a:prstGeom xmlns:a="http://schemas.openxmlformats.org/drawingml/2006/main" prst="rect">
            <a:avLst/>
          </a:prstGeom>
        </p:spPr>
      </p:pic>
      <p:sp>
        <p:nvSpPr>
          <p:cNvPr id="4" name="Investing in recurring&#10;local property care">
            <a:extLst xmlns:a="http://schemas.openxmlformats.org/drawingml/2006/main">
              <a:ext uri="{FF2B5EF4-FFF2-40B4-BE49-F238E27FC236}">
                <a16:creationId xmlns:a16="http://schemas.microsoft.com/office/drawing/2014/main" id="{EBE275B3-02E6-4A46-9BA1-720D472A1051}"/>
              </a:ext>
            </a:extLst>
          </p:cNvPr>
          <p:cNvSpPr>
            <a:spLocks xmlns:a="http://schemas.openxmlformats.org/drawingml/2006/main" noGrp="1"/>
          </p:cNvSpPr>
          <p:nvPr/>
        </p:nvSpPr>
        <p:spPr>
          <a:xfrm xmlns:a="http://schemas.openxmlformats.org/drawingml/2006/main">
            <a:off x="609600" y="2466975"/>
            <a:ext cx="10572750" cy="1733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0">
                <a:solidFill>
                  <a:srgbClr val="205938"/>
                </a:solidFill>
                <a:latin typeface="Georgia"/>
                <a:ea typeface="Georgia"/>
                <a:cs typeface="Georgia"/>
              </a:defRPr>
            </a:pPr>
            <a:r>
              <a:rPr sz="5100" b="0">
                <a:solidFill>
                  <a:srgbClr val="205938"/>
                </a:solidFill>
                <a:latin typeface="Georgia"/>
                <a:ea typeface="Georgia"/>
                <a:cs typeface="Georgia"/>
              </a:rPr>
              <a:t>Investing in recurring</a:t>
            </a:r>
          </a:p>
          <a:p xmlns:a="http://schemas.openxmlformats.org/drawingml/2006/main">
            <a:pPr algn="l">
              <a:defRPr sz="5100" b="0">
                <a:solidFill>
                  <a:srgbClr val="205938"/>
                </a:solidFill>
                <a:latin typeface="Georgia"/>
                <a:ea typeface="Georgia"/>
                <a:cs typeface="Georgia"/>
              </a:defRPr>
            </a:pPr>
            <a:r>
              <a:rPr sz="5100" b="0">
                <a:solidFill>
                  <a:srgbClr val="205938"/>
                </a:solidFill>
                <a:latin typeface="Georgia"/>
                <a:ea typeface="Georgia"/>
                <a:cs typeface="Georgia"/>
              </a:rPr>
              <a:t>local property care</a:t>
            </a:r>
          </a:p>
        </p:txBody>
      </p:sp>
      <p:sp>
        <p:nvSpPr>
          <p:cNvPr id="5" name="A managed marketplace for homeowners and local ser">
            <a:extLst xmlns:a="http://schemas.openxmlformats.org/drawingml/2006/main">
              <a:ext uri="{FF2B5EF4-FFF2-40B4-BE49-F238E27FC236}">
                <a16:creationId xmlns:a16="http://schemas.microsoft.com/office/drawing/2014/main" id="{E02BA6EA-BAA1-4134-B073-A4E0F5AAFF62}"/>
              </a:ext>
            </a:extLst>
          </p:cNvPr>
          <p:cNvSpPr>
            <a:spLocks xmlns:a="http://schemas.openxmlformats.org/drawingml/2006/main" noGrp="1"/>
          </p:cNvSpPr>
          <p:nvPr/>
        </p:nvSpPr>
        <p:spPr>
          <a:xfrm xmlns:a="http://schemas.openxmlformats.org/drawingml/2006/main">
            <a:off x="647700" y="4552950"/>
            <a:ext cx="9715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4281D"/>
                </a:solidFill>
                <a:latin typeface="Arial"/>
                <a:ea typeface="Arial"/>
                <a:cs typeface="Arial"/>
              </a:defRPr>
            </a:pPr>
            <a:r>
              <a:rPr sz="2100" b="0">
                <a:solidFill>
                  <a:srgbClr val="14281D"/>
                </a:solidFill>
                <a:latin typeface="Arial"/>
                <a:ea typeface="Arial"/>
                <a:cs typeface="Arial"/>
              </a:rPr>
              <a:t>A managed marketplace for homeowners and local service businesses</a:t>
            </a:r>
          </a:p>
        </p:txBody>
      </p:sp>
      <p:sp>
        <p:nvSpPr>
          <p:cNvPr id="6" name="Investor discussion draft&#10;September 2026">
            <a:extLst xmlns:a="http://schemas.openxmlformats.org/drawingml/2006/main">
              <a:ext uri="{FF2B5EF4-FFF2-40B4-BE49-F238E27FC236}">
                <a16:creationId xmlns:a16="http://schemas.microsoft.com/office/drawing/2014/main" id="{F7E4FC3D-C10E-4641-A0AC-E2D54C47BCB9}"/>
              </a:ext>
            </a:extLst>
          </p:cNvPr>
          <p:cNvSpPr>
            <a:spLocks xmlns:a="http://schemas.openxmlformats.org/drawingml/2006/main" noGrp="1"/>
          </p:cNvSpPr>
          <p:nvPr/>
        </p:nvSpPr>
        <p:spPr>
          <a:xfrm xmlns:a="http://schemas.openxmlformats.org/drawingml/2006/main">
            <a:off x="647700" y="5505450"/>
            <a:ext cx="7429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66756A"/>
                </a:solidFill>
                <a:latin typeface="Arial"/>
                <a:ea typeface="Arial"/>
                <a:cs typeface="Arial"/>
              </a:defRPr>
            </a:pPr>
            <a:r>
              <a:rPr sz="1500" b="0">
                <a:solidFill>
                  <a:srgbClr val="66756A"/>
                </a:solidFill>
                <a:latin typeface="Arial"/>
                <a:ea typeface="Arial"/>
                <a:cs typeface="Arial"/>
              </a:rPr>
              <a:t>Investor discussion draft</a:t>
            </a:r>
          </a:p>
          <a:p xmlns:a="http://schemas.openxmlformats.org/drawingml/2006/main">
            <a:pPr algn="l">
              <a:defRPr sz="1500" b="0">
                <a:solidFill>
                  <a:srgbClr val="66756A"/>
                </a:solidFill>
                <a:latin typeface="Arial"/>
                <a:ea typeface="Arial"/>
                <a:cs typeface="Arial"/>
              </a:defRPr>
            </a:pPr>
            <a:r>
              <a:rPr sz="1500" b="0">
                <a:solidFill>
                  <a:srgbClr val="66756A"/>
                </a:solidFill>
                <a:latin typeface="Arial"/>
                <a:ea typeface="Arial"/>
                <a:cs typeface="Arial"/>
              </a:rPr>
              <a:t>September 2026</a:t>
            </a:r>
          </a:p>
        </p:txBody>
      </p:sp>
    </p:spTree>
    <p:extLst>
      <p:ext uri="{BB962C8B-B14F-4D97-AF65-F5344CB8AC3E}">
        <p14:creationId xmlns:p14="http://schemas.microsoft.com/office/powerpoint/2010/main" val="216537963"/>
      </p:ext>
    </p:extLst>
  </p:cSld>
</p:sld>
</file>

<file path=ppt/slides/slide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2" name="The investment thesis">
            <a:extLst xmlns:a="http://schemas.openxmlformats.org/drawingml/2006/main">
              <a:ext uri="{FF2B5EF4-FFF2-40B4-BE49-F238E27FC236}">
                <a16:creationId xmlns:a16="http://schemas.microsoft.com/office/drawing/2014/main" id="{D8CE97DE-23E0-47A0-8789-EDDF0BCF0B47}"/>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The investment thesis</a:t>
            </a:r>
          </a:p>
        </p:txBody>
      </p:sp>
      <p:sp>
        <p:nvSpPr>
          <p:cNvPr id="2" name="Own a share of the company that helps local servic">
            <a:extLst xmlns:a="http://schemas.openxmlformats.org/drawingml/2006/main">
              <a:ext uri="{FF2B5EF4-FFF2-40B4-BE49-F238E27FC236}">
                <a16:creationId xmlns:a16="http://schemas.microsoft.com/office/drawing/2014/main" id="{695BC721-01B5-459C-826A-03CEC26A14D6}"/>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Own a share of the company that helps local service relationships form and continue.</a:t>
            </a:r>
          </a:p>
        </p:txBody>
      </p:sp>
      <p:sp>
        <p:nvSpPr>
          <p:cNvPr id="3" name="YardMatch">
            <a:extLst xmlns:a="http://schemas.openxmlformats.org/drawingml/2006/main">
              <a:ext uri="{FF2B5EF4-FFF2-40B4-BE49-F238E27FC236}">
                <a16:creationId xmlns:a16="http://schemas.microsoft.com/office/drawing/2014/main" id="{D33ECFDD-8ACA-4C80-B469-F08C73F9EFD0}"/>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2">
            <a:extLst xmlns:a="http://schemas.openxmlformats.org/drawingml/2006/main">
              <a:ext uri="{FF2B5EF4-FFF2-40B4-BE49-F238E27FC236}">
                <a16:creationId xmlns:a16="http://schemas.microsoft.com/office/drawing/2014/main" id="{21B16E73-9967-4EF2-ADCD-65C78DE61215}"/>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02</a:t>
            </a:r>
          </a:p>
        </p:txBody>
      </p:sp>
      <p:sp>
        <p:nvSpPr>
          <p:cNvPr id="5" name="A useful first transaction">
            <a:extLst xmlns:a="http://schemas.openxmlformats.org/drawingml/2006/main">
              <a:ext uri="{FF2B5EF4-FFF2-40B4-BE49-F238E27FC236}">
                <a16:creationId xmlns:a16="http://schemas.microsoft.com/office/drawing/2014/main" id="{7B316C7C-C02D-4525-83F9-7DA803D50ADA}"/>
              </a:ext>
            </a:extLst>
          </p:cNvPr>
          <p:cNvSpPr>
            <a:spLocks xmlns:a="http://schemas.openxmlformats.org/drawingml/2006/main" noGrp="1"/>
          </p:cNvSpPr>
          <p:nvPr/>
        </p:nvSpPr>
        <p:spPr>
          <a:xfrm xmlns:a="http://schemas.openxmlformats.org/drawingml/2006/main">
            <a:off x="628650" y="2495550"/>
            <a:ext cx="4972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A useful first transaction</a:t>
            </a:r>
          </a:p>
        </p:txBody>
      </p:sp>
      <p:sp>
        <p:nvSpPr>
          <p:cNvPr id="6" name="A qualified recommendation helps a homeowner book ">
            <a:extLst xmlns:a="http://schemas.openxmlformats.org/drawingml/2006/main">
              <a:ext uri="{FF2B5EF4-FFF2-40B4-BE49-F238E27FC236}">
                <a16:creationId xmlns:a16="http://schemas.microsoft.com/office/drawing/2014/main" id="{A2DC4354-C467-4CE7-B1AA-E930F40A0180}"/>
              </a:ext>
            </a:extLst>
          </p:cNvPr>
          <p:cNvSpPr>
            <a:spLocks xmlns:a="http://schemas.openxmlformats.org/drawingml/2006/main" noGrp="1"/>
          </p:cNvSpPr>
          <p:nvPr/>
        </p:nvSpPr>
        <p:spPr>
          <a:xfrm xmlns:a="http://schemas.openxmlformats.org/drawingml/2006/main">
            <a:off x="628650" y="3019425"/>
            <a:ext cx="49720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A qualified recommendation helps a homeowner book and gives a provider a new customer.</a:t>
            </a:r>
          </a:p>
        </p:txBody>
      </p:sp>
      <p:sp>
        <p:nvSpPr>
          <p:cNvPr id="7" name="An ongoing reason to return">
            <a:extLst xmlns:a="http://schemas.openxmlformats.org/drawingml/2006/main">
              <a:ext uri="{FF2B5EF4-FFF2-40B4-BE49-F238E27FC236}">
                <a16:creationId xmlns:a16="http://schemas.microsoft.com/office/drawing/2014/main" id="{4C405332-EC1A-4AB8-A795-3D5E93045A14}"/>
              </a:ext>
            </a:extLst>
          </p:cNvPr>
          <p:cNvSpPr>
            <a:spLocks xmlns:a="http://schemas.openxmlformats.org/drawingml/2006/main" noGrp="1"/>
          </p:cNvSpPr>
          <p:nvPr/>
        </p:nvSpPr>
        <p:spPr>
          <a:xfrm xmlns:a="http://schemas.openxmlformats.org/drawingml/2006/main">
            <a:off x="6381750" y="2495550"/>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An ongoing reason to return</a:t>
            </a:r>
          </a:p>
        </p:txBody>
      </p:sp>
      <p:sp>
        <p:nvSpPr>
          <p:cNvPr id="8" name="Schedules, service history, arrival updates and is">
            <a:extLst xmlns:a="http://schemas.openxmlformats.org/drawingml/2006/main">
              <a:ext uri="{FF2B5EF4-FFF2-40B4-BE49-F238E27FC236}">
                <a16:creationId xmlns:a16="http://schemas.microsoft.com/office/drawing/2014/main" id="{459AB383-5580-42B9-B95C-42363289A99F}"/>
              </a:ext>
            </a:extLst>
          </p:cNvPr>
          <p:cNvSpPr>
            <a:spLocks xmlns:a="http://schemas.openxmlformats.org/drawingml/2006/main" noGrp="1"/>
          </p:cNvSpPr>
          <p:nvPr/>
        </p:nvSpPr>
        <p:spPr>
          <a:xfrm xmlns:a="http://schemas.openxmlformats.org/drawingml/2006/main">
            <a:off x="6381750" y="3019425"/>
            <a:ext cx="4953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Schedules, service history, arrival updates and issue resolution keep later visits connected.</a:t>
            </a:r>
          </a:p>
        </p:txBody>
      </p:sp>
      <p:sp>
        <p:nvSpPr>
          <p:cNvPr id="9" name="The opportunity depends on profitable repeat use">
            <a:extLst xmlns:a="http://schemas.openxmlformats.org/drawingml/2006/main">
              <a:ext uri="{FF2B5EF4-FFF2-40B4-BE49-F238E27FC236}">
                <a16:creationId xmlns:a16="http://schemas.microsoft.com/office/drawing/2014/main" id="{71925C45-AD46-4F6B-BFDF-ED33C3E07E5E}"/>
              </a:ext>
            </a:extLst>
          </p:cNvPr>
          <p:cNvSpPr>
            <a:spLocks xmlns:a="http://schemas.openxmlformats.org/drawingml/2006/main" noGrp="1"/>
          </p:cNvSpPr>
          <p:nvPr/>
        </p:nvSpPr>
        <p:spPr>
          <a:xfrm xmlns:a="http://schemas.openxmlformats.org/drawingml/2006/main">
            <a:off x="628650" y="4581525"/>
            <a:ext cx="10715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205938"/>
                </a:solidFill>
                <a:latin typeface="Arial"/>
                <a:ea typeface="Arial"/>
                <a:cs typeface="Arial"/>
              </a:defRPr>
            </a:pPr>
            <a:r>
              <a:rPr sz="2475" b="1">
                <a:solidFill>
                  <a:srgbClr val="205938"/>
                </a:solidFill>
                <a:latin typeface="Arial"/>
                <a:ea typeface="Arial"/>
                <a:cs typeface="Arial"/>
              </a:rPr>
              <a:t>The opportunity depends on profitable repeat use</a:t>
            </a:r>
          </a:p>
        </p:txBody>
      </p:sp>
      <p:sp>
        <p:nvSpPr>
          <p:cNvPr id="10" name="Local density can lower acquisition and operating ">
            <a:extLst xmlns:a="http://schemas.openxmlformats.org/drawingml/2006/main">
              <a:ext uri="{FF2B5EF4-FFF2-40B4-BE49-F238E27FC236}">
                <a16:creationId xmlns:a16="http://schemas.microsoft.com/office/drawing/2014/main" id="{F3B055EB-C71B-40FB-A9AB-6F16C275766C}"/>
              </a:ext>
            </a:extLst>
          </p:cNvPr>
          <p:cNvSpPr>
            <a:spLocks xmlns:a="http://schemas.openxmlformats.org/drawingml/2006/main" noGrp="1"/>
          </p:cNvSpPr>
          <p:nvPr/>
        </p:nvSpPr>
        <p:spPr>
          <a:xfrm xmlns:a="http://schemas.openxmlformats.org/drawingml/2006/main">
            <a:off x="628650" y="5181600"/>
            <a:ext cx="10477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4281D"/>
                </a:solidFill>
                <a:latin typeface="Arial"/>
                <a:ea typeface="Arial"/>
                <a:cs typeface="Arial"/>
              </a:defRPr>
            </a:pPr>
            <a:r>
              <a:rPr sz="1950" b="0">
                <a:solidFill>
                  <a:srgbClr val="14281D"/>
                </a:solidFill>
                <a:latin typeface="Arial"/>
                <a:ea typeface="Arial"/>
                <a:cs typeface="Arial"/>
              </a:rPr>
              <a:t>Local density can lower acquisition and operating costs. Each expansion must demonstrate those savings before it earns more capital.</a:t>
            </a:r>
          </a:p>
        </p:txBody>
      </p:sp>
      <p:sp>
        <p:nvSpPr>
          <p:cNvPr id="11" name="Investment hypothesis. The model does not assume s">
            <a:extLst xmlns:a="http://schemas.openxmlformats.org/drawingml/2006/main">
              <a:ext uri="{FF2B5EF4-FFF2-40B4-BE49-F238E27FC236}">
                <a16:creationId xmlns:a16="http://schemas.microsoft.com/office/drawing/2014/main" id="{C4B01699-2D7B-4E49-90A6-0E58ACD6C24C}"/>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Investment hypothesis. The model does not assume subscriptions, advertising or repeated finder fees from the same relationship.</a:t>
            </a:r>
          </a:p>
        </p:txBody>
      </p:sp>
    </p:spTree>
    <p:extLst>
      <p:ext uri="{BB962C8B-B14F-4D97-AF65-F5344CB8AC3E}">
        <p14:creationId xmlns:p14="http://schemas.microsoft.com/office/powerpoint/2010/main" val="1315707553"/>
      </p:ext>
    </p:extLst>
  </p:cSld>
</p:sld>
</file>

<file path=ppt/slides/slide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Booking is only the start of the work">
            <a:extLst xmlns:a="http://schemas.openxmlformats.org/drawingml/2006/main">
              <a:ext uri="{FF2B5EF4-FFF2-40B4-BE49-F238E27FC236}">
                <a16:creationId xmlns:a16="http://schemas.microsoft.com/office/drawing/2014/main" id="{762A2EE7-1E3A-4997-84F1-17785C99B482}"/>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Booking is only the start of the work</a:t>
            </a:r>
          </a:p>
        </p:txBody>
      </p:sp>
      <p:sp>
        <p:nvSpPr>
          <p:cNvPr id="2" name="YardMatch connects the customer request to the pro">
            <a:extLst xmlns:a="http://schemas.openxmlformats.org/drawingml/2006/main">
              <a:ext uri="{FF2B5EF4-FFF2-40B4-BE49-F238E27FC236}">
                <a16:creationId xmlns:a16="http://schemas.microsoft.com/office/drawing/2014/main" id="{FB1357BB-D749-45E9-B3F5-63E7456B84AF}"/>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YardMatch connects the customer request to the provider’s schedule and the crew’s actual visit.</a:t>
            </a:r>
          </a:p>
        </p:txBody>
      </p:sp>
      <p:sp>
        <p:nvSpPr>
          <p:cNvPr id="3" name="YardMatch">
            <a:extLst xmlns:a="http://schemas.openxmlformats.org/drawingml/2006/main">
              <a:ext uri="{FF2B5EF4-FFF2-40B4-BE49-F238E27FC236}">
                <a16:creationId xmlns:a16="http://schemas.microsoft.com/office/drawing/2014/main" id="{C634F2CA-4014-4779-BA2D-E548D0780841}"/>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3">
            <a:extLst xmlns:a="http://schemas.openxmlformats.org/drawingml/2006/main">
              <a:ext uri="{FF2B5EF4-FFF2-40B4-BE49-F238E27FC236}">
                <a16:creationId xmlns:a16="http://schemas.microsoft.com/office/drawing/2014/main" id="{B0403BE0-5F93-4374-9E5F-F5D12C5F5407}"/>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03</a:t>
            </a:r>
          </a:p>
        </p:txBody>
      </p:sp>
      <p:graphicFrame>
        <p:nvGraphicFramePr>
          <p:cNvPr id="11" name=""/>
          <p:cNvGraphicFramePr/>
          <p:nvPr/>
        </p:nvGraphicFramePr>
        <p:xfrm>
          <a:off xmlns:a="http://schemas.openxmlformats.org/drawingml/2006/main" x="609600" y="2352675"/>
          <a:ext xmlns:a="http://schemas.openxmlformats.org/drawingml/2006/main" cx="10972800" cy="3209925"/>
        </p:xfrm>
        <a:graphic xmlns:a="http://schemas.openxmlformats.org/drawingml/2006/main">
          <a:graphicData uri="http://schemas.openxmlformats.org/drawingml/2006/table">
            <a:tbl>
              <a:tblPr/>
              <a:tblGrid>
                <a:gridCol w="3333750"/>
                <a:gridCol w="3429000"/>
                <a:gridCol w="4210050"/>
              </a:tblGrid>
              <a:tr h="802481">
                <a:tc>
                  <a:txBody>
                    <a:bodyPr lIns="114300" tIns="76200" rIns="114300" bIns="76200">
                      <a:noAutofit/>
                    </a:bodyPr>
                    <a:lstStyle/>
                    <a:p>
                      <a:pPr algn="l"/>
                      <a:r>
                        <a:rPr sz="1875" b="1">
                          <a:solidFill>
                            <a:srgbClr val="FFFFFF"/>
                          </a:solidFill>
                          <a:latin typeface="Arial"/>
                          <a:ea typeface="Arial"/>
                          <a:cs typeface="Arial"/>
                        </a:rPr>
                        <a:t>Customer need</a:t>
                      </a:r>
                    </a:p>
                  </a:txBody>
                  <a:tcPr marL="91440" marR="91440" marT="45720" marB="45720" anchor="ctr">
                    <a:solidFill>
                      <a:srgbClr val="205938"/>
                    </a:solidFill>
                  </a:tcPr>
                </a:tc>
                <a:tc>
                  <a:txBody>
                    <a:bodyPr lIns="114300" tIns="76200" rIns="114300" bIns="76200">
                      <a:noAutofit/>
                    </a:bodyPr>
                    <a:lstStyle/>
                    <a:p>
                      <a:pPr algn="l"/>
                      <a:r>
                        <a:rPr sz="1875" b="1">
                          <a:solidFill>
                            <a:srgbClr val="FFFFFF"/>
                          </a:solidFill>
                          <a:latin typeface="Arial"/>
                          <a:ea typeface="Arial"/>
                          <a:cs typeface="Arial"/>
                        </a:rPr>
                        <a:t>Provider need</a:t>
                      </a:r>
                    </a:p>
                  </a:txBody>
                  <a:tcPr marL="91440" marR="91440" marT="45720" marB="45720" anchor="ctr">
                    <a:solidFill>
                      <a:srgbClr val="205938"/>
                    </a:solidFill>
                  </a:tcPr>
                </a:tc>
                <a:tc>
                  <a:txBody>
                    <a:bodyPr lIns="114300" tIns="76200" rIns="114300" bIns="76200">
                      <a:noAutofit/>
                    </a:bodyPr>
                    <a:lstStyle/>
                    <a:p>
                      <a:pPr algn="l"/>
                      <a:r>
                        <a:rPr sz="1875" b="1">
                          <a:solidFill>
                            <a:srgbClr val="FFFFFF"/>
                          </a:solidFill>
                          <a:latin typeface="Arial"/>
                          <a:ea typeface="Arial"/>
                          <a:cs typeface="Arial"/>
                        </a:rPr>
                        <a:t>YardMatch response</a:t>
                      </a:r>
                    </a:p>
                  </a:txBody>
                  <a:tcPr marL="91440" marR="91440" marT="45720" marB="45720" anchor="ctr">
                    <a:solidFill>
                      <a:srgbClr val="205938"/>
                    </a:solidFill>
                  </a:tcPr>
                </a:tc>
              </a:tr>
              <a:tr h="802481">
                <a:tc>
                  <a:txBody>
                    <a:bodyPr lIns="114300" tIns="76200" rIns="114300" bIns="76200">
                      <a:noAutofit/>
                    </a:bodyPr>
                    <a:lstStyle/>
                    <a:p>
                      <a:pPr algn="l"/>
                      <a:r>
                        <a:rPr sz="1875" b="0">
                          <a:solidFill>
                            <a:srgbClr val="14281D"/>
                          </a:solidFill>
                          <a:latin typeface="Arial"/>
                          <a:ea typeface="Arial"/>
                          <a:cs typeface="Arial"/>
                        </a:rPr>
                        <a:t>A suitable, available business</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New work that fits the route</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One recommendation and a few qualified backups</a:t>
                      </a:r>
                    </a:p>
                  </a:txBody>
                  <a:tcPr marL="91440" marR="91440" marT="45720" marB="45720" anchor="ctr">
                    <a:solidFill>
                      <a:srgbClr val="FFFFFF"/>
                    </a:solidFill>
                  </a:tcPr>
                </a:tc>
              </a:tr>
              <a:tr h="802481">
                <a:tc>
                  <a:txBody>
                    <a:bodyPr lIns="114300" tIns="76200" rIns="114300" bIns="76200">
                      <a:noAutofit/>
                    </a:bodyPr>
                    <a:lstStyle/>
                    <a:p>
                      <a:pPr algn="l"/>
                      <a:r>
                        <a:rPr sz="1875" b="0">
                          <a:solidFill>
                            <a:srgbClr val="14281D"/>
                          </a:solidFill>
                          <a:latin typeface="Arial"/>
                          <a:ea typeface="Arial"/>
                          <a:cs typeface="Arial"/>
                        </a:rPr>
                        <a:t>Confidence about arrival</a:t>
                      </a:r>
                    </a:p>
                  </a:txBody>
                  <a:tcPr marL="91440" marR="91440" marT="45720" marB="45720" anchor="ctr">
                    <a:solidFill>
                      <a:srgbClr val="F7F5EF"/>
                    </a:solidFill>
                  </a:tcPr>
                </a:tc>
                <a:tc>
                  <a:txBody>
                    <a:bodyPr lIns="114300" tIns="76200" rIns="114300" bIns="76200">
                      <a:noAutofit/>
                    </a:bodyPr>
                    <a:lstStyle/>
                    <a:p>
                      <a:pPr algn="l"/>
                      <a:r>
                        <a:rPr sz="1875" b="0">
                          <a:solidFill>
                            <a:srgbClr val="14281D"/>
                          </a:solidFill>
                          <a:latin typeface="Arial"/>
                          <a:ea typeface="Arial"/>
                          <a:cs typeface="Arial"/>
                        </a:rPr>
                        <a:t>A schedule crews can execute</a:t>
                      </a:r>
                    </a:p>
                  </a:txBody>
                  <a:tcPr marL="91440" marR="91440" marT="45720" marB="45720" anchor="ctr">
                    <a:solidFill>
                      <a:srgbClr val="F7F5EF"/>
                    </a:solidFill>
                  </a:tcPr>
                </a:tc>
                <a:tc>
                  <a:txBody>
                    <a:bodyPr lIns="114300" tIns="76200" rIns="114300" bIns="76200">
                      <a:noAutofit/>
                    </a:bodyPr>
                    <a:lstStyle/>
                    <a:p>
                      <a:pPr algn="l"/>
                      <a:r>
                        <a:rPr sz="1875" b="0">
                          <a:solidFill>
                            <a:srgbClr val="14281D"/>
                          </a:solidFill>
                          <a:latin typeface="Arial"/>
                          <a:ea typeface="Arial"/>
                          <a:cs typeface="Arial"/>
                        </a:rPr>
                        <a:t>Shared job details and arrival updates</a:t>
                      </a:r>
                    </a:p>
                  </a:txBody>
                  <a:tcPr marL="91440" marR="91440" marT="45720" marB="45720" anchor="ctr">
                    <a:solidFill>
                      <a:srgbClr val="F7F5EF"/>
                    </a:solidFill>
                  </a:tcPr>
                </a:tc>
              </a:tr>
              <a:tr h="802481">
                <a:tc>
                  <a:txBody>
                    <a:bodyPr lIns="114300" tIns="76200" rIns="114300" bIns="76200">
                      <a:noAutofit/>
                    </a:bodyPr>
                    <a:lstStyle/>
                    <a:p>
                      <a:pPr algn="l"/>
                      <a:r>
                        <a:rPr sz="1875" b="0">
                          <a:solidFill>
                            <a:srgbClr val="14281D"/>
                          </a:solidFill>
                          <a:latin typeface="Arial"/>
                          <a:ea typeface="Arial"/>
                          <a:cs typeface="Arial"/>
                        </a:rPr>
                        <a:t>A dependable next visit</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Repeat business without another finder fee</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Rebooking, service records and follow-up</a:t>
                      </a:r>
                    </a:p>
                  </a:txBody>
                  <a:tcPr marL="91440" marR="91440" marT="45720" marB="45720" anchor="ctr">
                    <a:solidFill>
                      <a:srgbClr val="FFFFFF"/>
                    </a:solidFill>
                  </a:tcPr>
                </a:tc>
              </a:tr>
            </a:tbl>
          </a:graphicData>
        </a:graphic>
      </p:graphicFrame>
      <p:sp>
        <p:nvSpPr>
          <p:cNvPr id="6" name="Local referrals can supply trust. Direct texting a">
            <a:extLst xmlns:a="http://schemas.openxmlformats.org/drawingml/2006/main">
              <a:ext uri="{FF2B5EF4-FFF2-40B4-BE49-F238E27FC236}">
                <a16:creationId xmlns:a16="http://schemas.microsoft.com/office/drawing/2014/main" id="{97BBBB8D-C55A-4E1A-8E36-157C630634CE}"/>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Local referrals can supply trust. Direct texting and field-service tools can coordinate work. YardMatch aims to connect discovery with the ongoing job.</a:t>
            </a:r>
          </a:p>
        </p:txBody>
      </p:sp>
    </p:spTree>
    <p:extLst>
      <p:ext uri="{BB962C8B-B14F-4D97-AF65-F5344CB8AC3E}">
        <p14:creationId xmlns:p14="http://schemas.microsoft.com/office/powerpoint/2010/main" val="912614377"/>
      </p:ext>
    </p:extLst>
  </p:cSld>
</p:sld>
</file>

<file path=ppt/slides/slide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8" name="One service experience across three roles">
            <a:extLst xmlns:a="http://schemas.openxmlformats.org/drawingml/2006/main">
              <a:ext uri="{FF2B5EF4-FFF2-40B4-BE49-F238E27FC236}">
                <a16:creationId xmlns:a16="http://schemas.microsoft.com/office/drawing/2014/main" id="{DEB82E3E-831F-4568-808A-949436FF9B0E}"/>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One service experience across three roles</a:t>
            </a:r>
          </a:p>
        </p:txBody>
      </p:sp>
      <p:sp>
        <p:nvSpPr>
          <p:cNvPr id="2" name="Customer, provider and crew share the job while ea">
            <a:extLst xmlns:a="http://schemas.openxmlformats.org/drawingml/2006/main">
              <a:ext uri="{FF2B5EF4-FFF2-40B4-BE49-F238E27FC236}">
                <a16:creationId xmlns:a16="http://schemas.microsoft.com/office/drawing/2014/main" id="{CF690E2B-9E27-42E1-89CB-2B3E4533B3E3}"/>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Customer, provider and crew share the job while each sees the information needed for their role.</a:t>
            </a:r>
          </a:p>
        </p:txBody>
      </p:sp>
      <p:sp>
        <p:nvSpPr>
          <p:cNvPr id="3" name="YardMatch">
            <a:extLst xmlns:a="http://schemas.openxmlformats.org/drawingml/2006/main">
              <a:ext uri="{FF2B5EF4-FFF2-40B4-BE49-F238E27FC236}">
                <a16:creationId xmlns:a16="http://schemas.microsoft.com/office/drawing/2014/main" id="{41F909EC-E33D-4240-9D84-FA541C075759}"/>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4">
            <a:extLst xmlns:a="http://schemas.openxmlformats.org/drawingml/2006/main">
              <a:ext uri="{FF2B5EF4-FFF2-40B4-BE49-F238E27FC236}">
                <a16:creationId xmlns:a16="http://schemas.microsoft.com/office/drawing/2014/main" id="{CFD52C14-15F2-4EE9-8297-2F248E730F6C}"/>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04</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d97b9adba32346ca"/>
          <a:stretch xmlns:a="http://schemas.openxmlformats.org/drawingml/2006/main"/>
        </p:blipFill>
        <p:spPr>
          <a:xfrm xmlns:a="http://schemas.openxmlformats.org/drawingml/2006/main">
            <a:off x="5110163" y="2276475"/>
            <a:ext cx="5286375" cy="3524250"/>
          </a:xfrm>
          <a:prstGeom xmlns:a="http://schemas.openxmlformats.org/drawingml/2006/main" prst="rect">
            <a:avLst/>
          </a:prstGeom>
        </p:spPr>
      </p:pic>
      <p:sp>
        <p:nvSpPr>
          <p:cNvPr id="6" name="Customer&#10;Book and follow the visit&#10;&#10;Provider&#10;Sched">
            <a:extLst xmlns:a="http://schemas.openxmlformats.org/drawingml/2006/main">
              <a:ext uri="{FF2B5EF4-FFF2-40B4-BE49-F238E27FC236}">
                <a16:creationId xmlns:a16="http://schemas.microsoft.com/office/drawing/2014/main" id="{864B6E2E-C184-4781-9ABD-14F56E197BEB}"/>
              </a:ext>
            </a:extLst>
          </p:cNvPr>
          <p:cNvSpPr>
            <a:spLocks xmlns:a="http://schemas.openxmlformats.org/drawingml/2006/main" noGrp="1"/>
          </p:cNvSpPr>
          <p:nvPr/>
        </p:nvSpPr>
        <p:spPr>
          <a:xfrm xmlns:a="http://schemas.openxmlformats.org/drawingml/2006/main">
            <a:off x="628650" y="2428875"/>
            <a:ext cx="3190875"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Customer</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Book and follow the visit</a:t>
            </a:r>
          </a:p>
          <a:p xmlns:a="http://schemas.openxmlformats.org/drawingml/2006/main">
            <a:r>
              <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Provider</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Schedule and assign work</a:t>
            </a:r>
          </a:p>
          <a:p xmlns:a="http://schemas.openxmlformats.org/drawingml/2006/main">
            <a:r>
              <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Crew</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Know the place and task</a:t>
            </a:r>
          </a:p>
        </p:txBody>
      </p:sp>
      <p:sp>
        <p:nvSpPr>
          <p:cNvPr id="7" name="Illustrative screens and sample data from the part">
            <a:extLst xmlns:a="http://schemas.openxmlformats.org/drawingml/2006/main">
              <a:ext uri="{FF2B5EF4-FFF2-40B4-BE49-F238E27FC236}">
                <a16:creationId xmlns:a16="http://schemas.microsoft.com/office/drawing/2014/main" id="{ECBD84A2-5950-4B4C-93FC-862AA417F9C3}"/>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Illustrative screens and sample data from the partner pitch. They do not show live customers or app-store availability.</a:t>
            </a:r>
          </a:p>
        </p:txBody>
      </p:sp>
    </p:spTree>
    <p:extLst>
      <p:ext uri="{BB962C8B-B14F-4D97-AF65-F5344CB8AC3E}">
        <p14:creationId xmlns:p14="http://schemas.microsoft.com/office/powerpoint/2010/main" val="1561423433"/>
      </p:ext>
    </p:extLst>
  </p:cSld>
</p:sld>
</file>

<file path=ppt/slides/slide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Local density benefits both sides">
            <a:extLst xmlns:a="http://schemas.openxmlformats.org/drawingml/2006/main">
              <a:ext uri="{FF2B5EF4-FFF2-40B4-BE49-F238E27FC236}">
                <a16:creationId xmlns:a16="http://schemas.microsoft.com/office/drawing/2014/main" id="{F9003A05-54E8-437E-91A6-ABA71E9F94E2}"/>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Local density benefits both sides</a:t>
            </a:r>
          </a:p>
        </p:txBody>
      </p:sp>
      <p:sp>
        <p:nvSpPr>
          <p:cNvPr id="2" name="Nearby bookings can fit existing routes and make a">
            <a:extLst xmlns:a="http://schemas.openxmlformats.org/drawingml/2006/main">
              <a:ext uri="{FF2B5EF4-FFF2-40B4-BE49-F238E27FC236}">
                <a16:creationId xmlns:a16="http://schemas.microsoft.com/office/drawing/2014/main" id="{18170306-CDD7-4845-A801-F28B5BCB8410}"/>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Nearby bookings can fit existing routes and make a provider’s customer base more valuable.</a:t>
            </a:r>
          </a:p>
        </p:txBody>
      </p:sp>
      <p:sp>
        <p:nvSpPr>
          <p:cNvPr id="3" name="YardMatch">
            <a:extLst xmlns:a="http://schemas.openxmlformats.org/drawingml/2006/main">
              <a:ext uri="{FF2B5EF4-FFF2-40B4-BE49-F238E27FC236}">
                <a16:creationId xmlns:a16="http://schemas.microsoft.com/office/drawing/2014/main" id="{1DE499B9-82F9-4ADA-A3B7-D0FD08BCAA8E}"/>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5">
            <a:extLst xmlns:a="http://schemas.openxmlformats.org/drawingml/2006/main">
              <a:ext uri="{FF2B5EF4-FFF2-40B4-BE49-F238E27FC236}">
                <a16:creationId xmlns:a16="http://schemas.microsoft.com/office/drawing/2014/main" id="{521DB08A-4DC8-4B31-BACA-76B44ABE8AC2}"/>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05</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5f37b7362d24414f"/>
          <a:stretch xmlns:a="http://schemas.openxmlformats.org/drawingml/2006/main"/>
        </p:blipFill>
        <p:spPr>
          <a:xfrm xmlns:a="http://schemas.openxmlformats.org/drawingml/2006/main">
            <a:off x="1458823" y="2381250"/>
            <a:ext cx="5635804" cy="3171825"/>
          </a:xfrm>
          <a:prstGeom xmlns:a="http://schemas.openxmlformats.org/drawingml/2006/main" prst="rect">
            <a:avLst/>
          </a:prstGeom>
        </p:spPr>
      </p:pic>
      <p:sp>
        <p:nvSpPr>
          <p:cNvPr id="6" name="Provider control">
            <a:extLst xmlns:a="http://schemas.openxmlformats.org/drawingml/2006/main">
              <a:ext uri="{FF2B5EF4-FFF2-40B4-BE49-F238E27FC236}">
                <a16:creationId xmlns:a16="http://schemas.microsoft.com/office/drawing/2014/main" id="{9BEB65A0-8A88-444D-9115-9EC07E449373}"/>
              </a:ext>
            </a:extLst>
          </p:cNvPr>
          <p:cNvSpPr>
            <a:spLocks xmlns:a="http://schemas.openxmlformats.org/drawingml/2006/main" noGrp="1"/>
          </p:cNvSpPr>
          <p:nvPr/>
        </p:nvSpPr>
        <p:spPr>
          <a:xfrm xmlns:a="http://schemas.openxmlformats.org/drawingml/2006/main">
            <a:off x="8401050" y="2390775"/>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205938"/>
                </a:solidFill>
                <a:latin typeface="Arial"/>
                <a:ea typeface="Arial"/>
                <a:cs typeface="Arial"/>
              </a:defRPr>
            </a:pPr>
            <a:r>
              <a:rPr sz="2175" b="1">
                <a:solidFill>
                  <a:srgbClr val="205938"/>
                </a:solidFill>
                <a:latin typeface="Arial"/>
                <a:ea typeface="Arial"/>
                <a:cs typeface="Arial"/>
              </a:rPr>
              <a:t>Provider control</a:t>
            </a:r>
          </a:p>
        </p:txBody>
      </p:sp>
      <p:sp>
        <p:nvSpPr>
          <p:cNvPr id="7" name="The business chooses its service area, capacity an">
            <a:extLst xmlns:a="http://schemas.openxmlformats.org/drawingml/2006/main">
              <a:ext uri="{FF2B5EF4-FFF2-40B4-BE49-F238E27FC236}">
                <a16:creationId xmlns:a16="http://schemas.microsoft.com/office/drawing/2014/main" id="{155C8A7A-7776-4AD7-907D-F55D4942BF18}"/>
              </a:ext>
            </a:extLst>
          </p:cNvPr>
          <p:cNvSpPr>
            <a:spLocks xmlns:a="http://schemas.openxmlformats.org/drawingml/2006/main" noGrp="1"/>
          </p:cNvSpPr>
          <p:nvPr/>
        </p:nvSpPr>
        <p:spPr>
          <a:xfrm xmlns:a="http://schemas.openxmlformats.org/drawingml/2006/main">
            <a:off x="8401050" y="2905125"/>
            <a:ext cx="3095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The business chooses its service area, capacity and crew assignments.</a:t>
            </a:r>
          </a:p>
        </p:txBody>
      </p:sp>
      <p:sp>
        <p:nvSpPr>
          <p:cNvPr id="8" name="Customer trust">
            <a:extLst xmlns:a="http://schemas.openxmlformats.org/drawingml/2006/main">
              <a:ext uri="{FF2B5EF4-FFF2-40B4-BE49-F238E27FC236}">
                <a16:creationId xmlns:a16="http://schemas.microsoft.com/office/drawing/2014/main" id="{C3508B6B-1F85-4729-8511-0CA9C4CC62CC}"/>
              </a:ext>
            </a:extLst>
          </p:cNvPr>
          <p:cNvSpPr>
            <a:spLocks xmlns:a="http://schemas.openxmlformats.org/drawingml/2006/main" noGrp="1"/>
          </p:cNvSpPr>
          <p:nvPr/>
        </p:nvSpPr>
        <p:spPr>
          <a:xfrm xmlns:a="http://schemas.openxmlformats.org/drawingml/2006/main">
            <a:off x="8401050" y="4181475"/>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205938"/>
                </a:solidFill>
                <a:latin typeface="Arial"/>
                <a:ea typeface="Arial"/>
                <a:cs typeface="Arial"/>
              </a:defRPr>
            </a:pPr>
            <a:r>
              <a:rPr sz="2175" b="1">
                <a:solidFill>
                  <a:srgbClr val="205938"/>
                </a:solidFill>
                <a:latin typeface="Arial"/>
                <a:ea typeface="Arial"/>
                <a:cs typeface="Arial"/>
              </a:rPr>
              <a:t>Customer trust</a:t>
            </a:r>
          </a:p>
        </p:txBody>
      </p:sp>
      <p:sp>
        <p:nvSpPr>
          <p:cNvPr id="9" name="Recommendations favor service fit and reliability.">
            <a:extLst xmlns:a="http://schemas.openxmlformats.org/drawingml/2006/main">
              <a:ext uri="{FF2B5EF4-FFF2-40B4-BE49-F238E27FC236}">
                <a16:creationId xmlns:a16="http://schemas.microsoft.com/office/drawing/2014/main" id="{0CC07751-0858-4187-A553-BE5AFF041C94}"/>
              </a:ext>
            </a:extLst>
          </p:cNvPr>
          <p:cNvSpPr>
            <a:spLocks xmlns:a="http://schemas.openxmlformats.org/drawingml/2006/main" noGrp="1"/>
          </p:cNvSpPr>
          <p:nvPr/>
        </p:nvSpPr>
        <p:spPr>
          <a:xfrm xmlns:a="http://schemas.openxmlformats.org/drawingml/2006/main">
            <a:off x="8401050" y="4695825"/>
            <a:ext cx="309562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Recommendations favor service fit and reliability. Paid placement does not set the order.</a:t>
            </a:r>
          </a:p>
        </p:txBody>
      </p:sp>
      <p:sp>
        <p:nvSpPr>
          <p:cNvPr id="10" name="Route savings and retention effects remain to be m">
            <a:extLst xmlns:a="http://schemas.openxmlformats.org/drawingml/2006/main">
              <a:ext uri="{FF2B5EF4-FFF2-40B4-BE49-F238E27FC236}">
                <a16:creationId xmlns:a16="http://schemas.microsoft.com/office/drawing/2014/main" id="{1166F953-33DC-4A0F-AEC6-0A80B5F9EB32}"/>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Route savings and retention effects remain to be measured. Providers handle equipment, insurance, supervision and crew pay.</a:t>
            </a:r>
          </a:p>
        </p:txBody>
      </p:sp>
    </p:spTree>
    <p:extLst>
      <p:ext uri="{BB962C8B-B14F-4D97-AF65-F5344CB8AC3E}">
        <p14:creationId xmlns:p14="http://schemas.microsoft.com/office/powerpoint/2010/main" val="1632165395"/>
      </p:ext>
    </p:extLst>
  </p:cSld>
</p:sld>
</file>

<file path=ppt/slides/slide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A finder fee plus $2.99 for every paid service">
            <a:extLst xmlns:a="http://schemas.openxmlformats.org/drawingml/2006/main">
              <a:ext uri="{FF2B5EF4-FFF2-40B4-BE49-F238E27FC236}">
                <a16:creationId xmlns:a16="http://schemas.microsoft.com/office/drawing/2014/main" id="{FDDF6D8B-6FDA-4BC3-8F51-E5950875CB7B}"/>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A finder fee plus $2.99 for every paid service</a:t>
            </a:r>
          </a:p>
        </p:txBody>
      </p:sp>
      <p:sp>
        <p:nvSpPr>
          <p:cNvPr id="2" name="Providers pay both fees. YardMatch covers modeled ">
            <a:extLst xmlns:a="http://schemas.openxmlformats.org/drawingml/2006/main">
              <a:ext uri="{FF2B5EF4-FFF2-40B4-BE49-F238E27FC236}">
                <a16:creationId xmlns:a16="http://schemas.microsoft.com/office/drawing/2014/main" id="{5C77EB99-1E38-42D6-8272-8D6669538815}"/>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Providers pay both fees. YardMatch covers modeled processing costs.</a:t>
            </a:r>
          </a:p>
        </p:txBody>
      </p:sp>
      <p:sp>
        <p:nvSpPr>
          <p:cNvPr id="3" name="YardMatch">
            <a:extLst xmlns:a="http://schemas.openxmlformats.org/drawingml/2006/main">
              <a:ext uri="{FF2B5EF4-FFF2-40B4-BE49-F238E27FC236}">
                <a16:creationId xmlns:a16="http://schemas.microsoft.com/office/drawing/2014/main" id="{997C3C3E-46B1-4505-9858-CFC7BDA58C8F}"/>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6">
            <a:extLst xmlns:a="http://schemas.openxmlformats.org/drawingml/2006/main">
              <a:ext uri="{FF2B5EF4-FFF2-40B4-BE49-F238E27FC236}">
                <a16:creationId xmlns:a16="http://schemas.microsoft.com/office/drawing/2014/main" id="{0C743397-C39E-4ABC-A1EE-2D32CEC0C395}"/>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06</a:t>
            </a:r>
          </a:p>
        </p:txBody>
      </p:sp>
      <p:sp>
        <p:nvSpPr>
          <p:cNvPr id="5" name="$45">
            <a:extLst xmlns:a="http://schemas.openxmlformats.org/drawingml/2006/main">
              <a:ext uri="{FF2B5EF4-FFF2-40B4-BE49-F238E27FC236}">
                <a16:creationId xmlns:a16="http://schemas.microsoft.com/office/drawing/2014/main" id="{73F6FD03-4689-4065-952C-B2AC42B1E40E}"/>
              </a:ext>
            </a:extLst>
          </p:cNvPr>
          <p:cNvSpPr>
            <a:spLocks xmlns:a="http://schemas.openxmlformats.org/drawingml/2006/main" noGrp="1"/>
          </p:cNvSpPr>
          <p:nvPr/>
        </p:nvSpPr>
        <p:spPr>
          <a:xfrm xmlns:a="http://schemas.openxmlformats.org/drawingml/2006/main">
            <a:off x="647700" y="2324100"/>
            <a:ext cx="4381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850" b="1">
                <a:solidFill>
                  <a:srgbClr val="205938"/>
                </a:solidFill>
                <a:latin typeface="Arial"/>
                <a:ea typeface="Arial"/>
                <a:cs typeface="Arial"/>
              </a:defRPr>
            </a:pPr>
            <a:r>
              <a:rPr sz="5850" b="1">
                <a:solidFill>
                  <a:srgbClr val="205938"/>
                </a:solidFill>
                <a:latin typeface="Arial"/>
                <a:ea typeface="Arial"/>
                <a:cs typeface="Arial"/>
              </a:rPr>
              <a:t>$45</a:t>
            </a:r>
          </a:p>
        </p:txBody>
      </p:sp>
      <p:sp>
        <p:nvSpPr>
          <p:cNvPr id="6" name="Once per new customer/provider pairing,&#10;after the ">
            <a:extLst xmlns:a="http://schemas.openxmlformats.org/drawingml/2006/main">
              <a:ext uri="{FF2B5EF4-FFF2-40B4-BE49-F238E27FC236}">
                <a16:creationId xmlns:a16="http://schemas.microsoft.com/office/drawing/2014/main" id="{34AAE278-2146-4450-B5B5-098DFB1F7ADE}"/>
              </a:ext>
            </a:extLst>
          </p:cNvPr>
          <p:cNvSpPr>
            <a:spLocks xmlns:a="http://schemas.openxmlformats.org/drawingml/2006/main" noGrp="1"/>
          </p:cNvSpPr>
          <p:nvPr/>
        </p:nvSpPr>
        <p:spPr>
          <a:xfrm xmlns:a="http://schemas.openxmlformats.org/drawingml/2006/main">
            <a:off x="647700" y="3295650"/>
            <a:ext cx="482917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Once per new customer/provider pairing,</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after the first paid completed job</a:t>
            </a:r>
          </a:p>
        </p:txBody>
      </p:sp>
      <p:sp>
        <p:nvSpPr>
          <p:cNvPr id="7" name="$2.99">
            <a:extLst xmlns:a="http://schemas.openxmlformats.org/drawingml/2006/main">
              <a:ext uri="{FF2B5EF4-FFF2-40B4-BE49-F238E27FC236}">
                <a16:creationId xmlns:a16="http://schemas.microsoft.com/office/drawing/2014/main" id="{DE3D31D6-C0E8-43BC-B4AB-08C1AF91E580}"/>
              </a:ext>
            </a:extLst>
          </p:cNvPr>
          <p:cNvSpPr>
            <a:spLocks xmlns:a="http://schemas.openxmlformats.org/drawingml/2006/main" noGrp="1"/>
          </p:cNvSpPr>
          <p:nvPr/>
        </p:nvSpPr>
        <p:spPr>
          <a:xfrm xmlns:a="http://schemas.openxmlformats.org/drawingml/2006/main">
            <a:off x="6391275" y="2324100"/>
            <a:ext cx="44291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850" b="1">
                <a:solidFill>
                  <a:srgbClr val="205938"/>
                </a:solidFill>
                <a:latin typeface="Arial"/>
                <a:ea typeface="Arial"/>
                <a:cs typeface="Arial"/>
              </a:defRPr>
            </a:pPr>
            <a:r>
              <a:rPr sz="5850" b="1">
                <a:solidFill>
                  <a:srgbClr val="205938"/>
                </a:solidFill>
                <a:latin typeface="Arial"/>
                <a:ea typeface="Arial"/>
                <a:cs typeface="Arial"/>
              </a:rPr>
              <a:t>$2.99</a:t>
            </a:r>
          </a:p>
        </p:txBody>
      </p:sp>
      <p:sp>
        <p:nvSpPr>
          <p:cNvPr id="8" name="On every paid completed service,&#10;including repeat ">
            <a:extLst xmlns:a="http://schemas.openxmlformats.org/drawingml/2006/main">
              <a:ext uri="{FF2B5EF4-FFF2-40B4-BE49-F238E27FC236}">
                <a16:creationId xmlns:a16="http://schemas.microsoft.com/office/drawing/2014/main" id="{3AF88B20-61CA-4BA3-B4B1-4172C6E639F9}"/>
              </a:ext>
            </a:extLst>
          </p:cNvPr>
          <p:cNvSpPr>
            <a:spLocks xmlns:a="http://schemas.openxmlformats.org/drawingml/2006/main" noGrp="1"/>
          </p:cNvSpPr>
          <p:nvPr/>
        </p:nvSpPr>
        <p:spPr>
          <a:xfrm xmlns:a="http://schemas.openxmlformats.org/drawingml/2006/main">
            <a:off x="6391275" y="3295650"/>
            <a:ext cx="482917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On every paid completed service,</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including repeat visits</a:t>
            </a:r>
          </a:p>
        </p:txBody>
      </p:sp>
      <p:graphicFrame>
        <p:nvGraphicFramePr>
          <p:cNvPr id="19" name=""/>
          <p:cNvGraphicFramePr/>
          <p:nvPr/>
        </p:nvGraphicFramePr>
        <p:xfrm>
          <a:off xmlns:a="http://schemas.openxmlformats.org/drawingml/2006/main" x="609600" y="4533900"/>
          <a:ext xmlns:a="http://schemas.openxmlformats.org/drawingml/2006/main" cx="10972800" cy="1057275"/>
        </p:xfrm>
        <a:graphic xmlns:a="http://schemas.openxmlformats.org/drawingml/2006/main">
          <a:graphicData uri="http://schemas.openxmlformats.org/drawingml/2006/table">
            <a:tbl>
              <a:tblPr/>
              <a:tblGrid>
                <a:gridCol w="6191250"/>
                <a:gridCol w="2390775"/>
                <a:gridCol w="2390775"/>
              </a:tblGrid>
              <a:tr h="528638">
                <a:tc>
                  <a:txBody>
                    <a:bodyPr lIns="114300" tIns="76200" rIns="114300" bIns="76200">
                      <a:noAutofit/>
                    </a:bodyPr>
                    <a:lstStyle/>
                    <a:p>
                      <a:pPr algn="l"/>
                      <a:r>
                        <a:rPr sz="1725" b="1">
                          <a:solidFill>
                            <a:srgbClr val="FFFFFF"/>
                          </a:solidFill>
                          <a:latin typeface="Arial"/>
                          <a:ea typeface="Arial"/>
                          <a:cs typeface="Arial"/>
                        </a:rPr>
                        <a:t>A $60 service</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First paid visit</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Later paid visit</a:t>
                      </a:r>
                    </a:p>
                  </a:txBody>
                  <a:tcPr marL="91440" marR="91440" marT="45720" marB="45720" anchor="ctr">
                    <a:solidFill>
                      <a:srgbClr val="205938"/>
                    </a:solidFill>
                  </a:tcPr>
                </a:tc>
              </a:tr>
              <a:tr h="528638">
                <a:tc>
                  <a:txBody>
                    <a:bodyPr lIns="114300" tIns="76200" rIns="114300" bIns="76200">
                      <a:noAutofit/>
                    </a:bodyPr>
                    <a:lstStyle/>
                    <a:p>
                      <a:pPr algn="l"/>
                      <a:r>
                        <a:rPr sz="1725" b="1">
                          <a:solidFill>
                            <a:srgbClr val="14281D"/>
                          </a:solidFill>
                          <a:latin typeface="Arial"/>
                          <a:ea typeface="Arial"/>
                          <a:cs typeface="Arial"/>
                        </a:rPr>
                        <a:t>Provider proceeds before business costs</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$12.01</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$57.01</a:t>
                      </a:r>
                    </a:p>
                  </a:txBody>
                  <a:tcPr marL="91440" marR="91440" marT="45720" marB="45720" anchor="ctr">
                    <a:solidFill>
                      <a:srgbClr val="E8EDDF"/>
                    </a:solidFill>
                  </a:tcPr>
                </a:tc>
              </a:tr>
            </a:tbl>
          </a:graphicData>
        </a:graphic>
      </p:graphicFrame>
      <p:sp>
        <p:nvSpPr>
          <p:cNvPr id="10" name="Welcome offer waives the first $45 finder fee for ">
            <a:extLst xmlns:a="http://schemas.openxmlformats.org/drawingml/2006/main">
              <a:ext uri="{FF2B5EF4-FFF2-40B4-BE49-F238E27FC236}">
                <a16:creationId xmlns:a16="http://schemas.microsoft.com/office/drawing/2014/main" id="{18D73A4B-D9C8-4519-8238-EC23EEEE73B5}"/>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Welcome offer waives the first $45 finder fee for a new provider. It does not waive the $2.99 service fee. No customer surcharge modeled.</a:t>
            </a:r>
          </a:p>
        </p:txBody>
      </p:sp>
    </p:spTree>
    <p:extLst>
      <p:ext uri="{BB962C8B-B14F-4D97-AF65-F5344CB8AC3E}">
        <p14:creationId xmlns:p14="http://schemas.microsoft.com/office/powerpoint/2010/main" val="958964234"/>
      </p:ext>
    </p:extLst>
  </p:cSld>
</p:sld>
</file>

<file path=ppt/slides/slide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Zocdoc monetizes a different relationship pattern">
            <a:extLst xmlns:a="http://schemas.openxmlformats.org/drawingml/2006/main">
              <a:ext uri="{FF2B5EF4-FFF2-40B4-BE49-F238E27FC236}">
                <a16:creationId xmlns:a16="http://schemas.microsoft.com/office/drawing/2014/main" id="{BCF76BF9-051F-4B15-A3D2-A2AD7B771F69}"/>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Zocdoc monetizes a different relationship pattern</a:t>
            </a:r>
          </a:p>
        </p:txBody>
      </p:sp>
      <p:sp>
        <p:nvSpPr>
          <p:cNvPr id="2" name="A new service category does not automatically crea">
            <a:extLst xmlns:a="http://schemas.openxmlformats.org/drawingml/2006/main">
              <a:ext uri="{FF2B5EF4-FFF2-40B4-BE49-F238E27FC236}">
                <a16:creationId xmlns:a16="http://schemas.microsoft.com/office/drawing/2014/main" id="{0ABF968C-7B5F-4BF9-9D89-51C5C2095A31}"/>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A new service category does not automatically create a new YardMatch finder fee.</a:t>
            </a:r>
          </a:p>
        </p:txBody>
      </p:sp>
      <p:sp>
        <p:nvSpPr>
          <p:cNvPr id="3" name="YardMatch">
            <a:extLst xmlns:a="http://schemas.openxmlformats.org/drawingml/2006/main">
              <a:ext uri="{FF2B5EF4-FFF2-40B4-BE49-F238E27FC236}">
                <a16:creationId xmlns:a16="http://schemas.microsoft.com/office/drawing/2014/main" id="{A658807D-2EF9-4BC9-80A8-F144133B8FC7}"/>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7">
            <a:extLst xmlns:a="http://schemas.openxmlformats.org/drawingml/2006/main">
              <a:ext uri="{FF2B5EF4-FFF2-40B4-BE49-F238E27FC236}">
                <a16:creationId xmlns:a16="http://schemas.microsoft.com/office/drawing/2014/main" id="{36EE8D97-1D4A-4076-8E89-53E743247057}"/>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07</a:t>
            </a:r>
          </a:p>
        </p:txBody>
      </p:sp>
      <p:graphicFrame>
        <p:nvGraphicFramePr>
          <p:cNvPr id="11" name=""/>
          <p:cNvGraphicFramePr/>
          <p:nvPr/>
        </p:nvGraphicFramePr>
        <p:xfrm>
          <a:off xmlns:a="http://schemas.openxmlformats.org/drawingml/2006/main" x="609600" y="2343150"/>
          <a:ext xmlns:a="http://schemas.openxmlformats.org/drawingml/2006/main" cx="10972800" cy="3190875"/>
        </p:xfrm>
        <a:graphic xmlns:a="http://schemas.openxmlformats.org/drawingml/2006/main">
          <a:graphicData uri="http://schemas.openxmlformats.org/drawingml/2006/table">
            <a:tbl>
              <a:tblPr/>
              <a:tblGrid>
                <a:gridCol w="2238375"/>
                <a:gridCol w="4114800"/>
                <a:gridCol w="4619625"/>
              </a:tblGrid>
              <a:tr h="638175">
                <a:tc>
                  <a:txBody>
                    <a:bodyPr lIns="114300" tIns="76200" rIns="114300" bIns="76200">
                      <a:noAutofit/>
                    </a:bodyPr>
                    <a:lstStyle/>
                    <a:p>
                      <a:r>
                        <a:rPr sz="1725" b="1">
                          <a:solidFill>
                            <a:srgbClr val="FFFFFF"/>
                          </a:solidFill>
                          <a:latin typeface="Arial"/>
                          <a:ea typeface="Arial"/>
                          <a:cs typeface="Arial"/>
                        </a:rPr>
                        <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Zocdoc</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YardMatch</a:t>
                      </a:r>
                    </a:p>
                  </a:txBody>
                  <a:tcPr marL="91440" marR="91440" marT="45720" marB="45720" anchor="ctr">
                    <a:solidFill>
                      <a:srgbClr val="205938"/>
                    </a:solidFill>
                  </a:tcPr>
                </a:tc>
              </a:tr>
              <a:tr h="638175">
                <a:tc>
                  <a:txBody>
                    <a:bodyPr lIns="114300" tIns="76200" rIns="114300" bIns="76200">
                      <a:noAutofit/>
                    </a:bodyPr>
                    <a:lstStyle/>
                    <a:p>
                      <a:pPr algn="l"/>
                      <a:r>
                        <a:rPr sz="1725" b="0">
                          <a:solidFill>
                            <a:srgbClr val="14281D"/>
                          </a:solidFill>
                          <a:latin typeface="Arial"/>
                          <a:ea typeface="Arial"/>
                          <a:cs typeface="Arial"/>
                        </a:rPr>
                        <a:t>Fee event</a:t>
                      </a:r>
                    </a:p>
                  </a:txBody>
                  <a:tcPr marL="91440" marR="91440" marT="45720" marB="45720" anchor="ctr">
                    <a:solidFill>
                      <a:srgbClr val="FFFFFF"/>
                    </a:solidFill>
                  </a:tcPr>
                </a:tc>
                <a:tc>
                  <a:txBody>
                    <a:bodyPr lIns="114300" tIns="76200" rIns="114300" bIns="76200">
                      <a:noAutofit/>
                    </a:bodyPr>
                    <a:lstStyle/>
                    <a:p>
                      <a:pPr algn="l"/>
                      <a:r>
                        <a:rPr sz="1725" b="0">
                          <a:solidFill>
                            <a:srgbClr val="14281D"/>
                          </a:solidFill>
                          <a:latin typeface="Arial"/>
                          <a:ea typeface="Arial"/>
                          <a:cs typeface="Arial"/>
                        </a:rPr>
                        <a:t>New patient/provider discovery booking</a:t>
                      </a:r>
                    </a:p>
                  </a:txBody>
                  <a:tcPr marL="91440" marR="91440" marT="45720" marB="45720" anchor="ctr">
                    <a:solidFill>
                      <a:srgbClr val="FFFFFF"/>
                    </a:solidFill>
                  </a:tcPr>
                </a:tc>
                <a:tc>
                  <a:txBody>
                    <a:bodyPr lIns="114300" tIns="76200" rIns="114300" bIns="76200">
                      <a:noAutofit/>
                    </a:bodyPr>
                    <a:lstStyle/>
                    <a:p>
                      <a:pPr algn="l"/>
                      <a:r>
                        <a:rPr sz="1725" b="0">
                          <a:solidFill>
                            <a:srgbClr val="14281D"/>
                          </a:solidFill>
                          <a:latin typeface="Arial"/>
                          <a:ea typeface="Arial"/>
                          <a:cs typeface="Arial"/>
                        </a:rPr>
                        <a:t>First paid job in a new customer/provider pair</a:t>
                      </a:r>
                    </a:p>
                  </a:txBody>
                  <a:tcPr marL="91440" marR="91440" marT="45720" marB="45720" anchor="ctr">
                    <a:solidFill>
                      <a:srgbClr val="FFFFFF"/>
                    </a:solidFill>
                  </a:tcPr>
                </a:tc>
              </a:tr>
              <a:tr h="638175">
                <a:tc>
                  <a:txBody>
                    <a:bodyPr lIns="114300" tIns="76200" rIns="114300" bIns="76200">
                      <a:noAutofit/>
                    </a:bodyPr>
                    <a:lstStyle/>
                    <a:p>
                      <a:pPr algn="l"/>
                      <a:r>
                        <a:rPr sz="1725" b="0">
                          <a:solidFill>
                            <a:srgbClr val="14281D"/>
                          </a:solidFill>
                          <a:latin typeface="Arial"/>
                          <a:ea typeface="Arial"/>
                          <a:cs typeface="Arial"/>
                        </a:rPr>
                        <a:t>Return to the same provider</a:t>
                      </a:r>
                    </a:p>
                  </a:txBody>
                  <a:tcPr marL="91440" marR="91440" marT="45720" marB="45720" anchor="ctr">
                    <a:solidFill>
                      <a:srgbClr val="F7F5EF"/>
                    </a:solidFill>
                  </a:tcPr>
                </a:tc>
                <a:tc>
                  <a:txBody>
                    <a:bodyPr lIns="114300" tIns="76200" rIns="114300" bIns="76200">
                      <a:noAutofit/>
                    </a:bodyPr>
                    <a:lstStyle/>
                    <a:p>
                      <a:pPr algn="l"/>
                      <a:r>
                        <a:rPr sz="1725" b="0">
                          <a:solidFill>
                            <a:srgbClr val="14281D"/>
                          </a:solidFill>
                          <a:latin typeface="Arial"/>
                          <a:ea typeface="Arial"/>
                          <a:cs typeface="Arial"/>
                        </a:rPr>
                        <a:t>No new discovery fee</a:t>
                      </a:r>
                    </a:p>
                  </a:txBody>
                  <a:tcPr marL="91440" marR="91440" marT="45720" marB="45720" anchor="ctr">
                    <a:solidFill>
                      <a:srgbClr val="F7F5EF"/>
                    </a:solidFill>
                  </a:tcPr>
                </a:tc>
                <a:tc>
                  <a:txBody>
                    <a:bodyPr lIns="114300" tIns="76200" rIns="114300" bIns="76200">
                      <a:noAutofit/>
                    </a:bodyPr>
                    <a:lstStyle/>
                    <a:p>
                      <a:pPr algn="l"/>
                      <a:r>
                        <a:rPr sz="1725" b="0">
                          <a:solidFill>
                            <a:srgbClr val="14281D"/>
                          </a:solidFill>
                          <a:latin typeface="Arial"/>
                          <a:ea typeface="Arial"/>
                          <a:cs typeface="Arial"/>
                        </a:rPr>
                        <a:t>No new finder fee. $2.99 service fee applies.</a:t>
                      </a:r>
                    </a:p>
                  </a:txBody>
                  <a:tcPr marL="91440" marR="91440" marT="45720" marB="45720" anchor="ctr">
                    <a:solidFill>
                      <a:srgbClr val="F7F5EF"/>
                    </a:solidFill>
                  </a:tcPr>
                </a:tc>
              </a:tr>
              <a:tr h="638175">
                <a:tc>
                  <a:txBody>
                    <a:bodyPr lIns="114300" tIns="76200" rIns="114300" bIns="76200">
                      <a:noAutofit/>
                    </a:bodyPr>
                    <a:lstStyle/>
                    <a:p>
                      <a:pPr algn="l"/>
                      <a:r>
                        <a:rPr sz="1725" b="0">
                          <a:solidFill>
                            <a:srgbClr val="14281D"/>
                          </a:solidFill>
                          <a:latin typeface="Arial"/>
                          <a:ea typeface="Arial"/>
                          <a:cs typeface="Arial"/>
                        </a:rPr>
                        <a:t>New category</a:t>
                      </a:r>
                    </a:p>
                  </a:txBody>
                  <a:tcPr marL="91440" marR="91440" marT="45720" marB="45720" anchor="ctr">
                    <a:solidFill>
                      <a:srgbClr val="FFFFFF"/>
                    </a:solidFill>
                  </a:tcPr>
                </a:tc>
                <a:tc>
                  <a:txBody>
                    <a:bodyPr lIns="114300" tIns="76200" rIns="114300" bIns="76200">
                      <a:noAutofit/>
                    </a:bodyPr>
                    <a:lstStyle/>
                    <a:p>
                      <a:pPr algn="l"/>
                      <a:r>
                        <a:rPr sz="1725" b="0">
                          <a:solidFill>
                            <a:srgbClr val="14281D"/>
                          </a:solidFill>
                          <a:latin typeface="Arial"/>
                          <a:ea typeface="Arial"/>
                          <a:cs typeface="Arial"/>
                        </a:rPr>
                        <a:t>May introduce a different doctor</a:t>
                      </a:r>
                    </a:p>
                  </a:txBody>
                  <a:tcPr marL="91440" marR="91440" marT="45720" marB="45720" anchor="ctr">
                    <a:solidFill>
                      <a:srgbClr val="FFFFFF"/>
                    </a:solidFill>
                  </a:tcPr>
                </a:tc>
                <a:tc>
                  <a:txBody>
                    <a:bodyPr lIns="114300" tIns="76200" rIns="114300" bIns="76200">
                      <a:noAutofit/>
                    </a:bodyPr>
                    <a:lstStyle/>
                    <a:p>
                      <a:pPr algn="l"/>
                      <a:r>
                        <a:rPr sz="1725" b="0">
                          <a:solidFill>
                            <a:srgbClr val="14281D"/>
                          </a:solidFill>
                          <a:latin typeface="Arial"/>
                          <a:ea typeface="Arial"/>
                          <a:cs typeface="Arial"/>
                        </a:rPr>
                        <a:t>May use the same landscaping company</a:t>
                      </a:r>
                    </a:p>
                  </a:txBody>
                  <a:tcPr marL="91440" marR="91440" marT="45720" marB="45720" anchor="ctr">
                    <a:solidFill>
                      <a:srgbClr val="FFFFFF"/>
                    </a:solidFill>
                  </a:tcPr>
                </a:tc>
              </a:tr>
              <a:tr h="638175">
                <a:tc>
                  <a:txBody>
                    <a:bodyPr lIns="114300" tIns="76200" rIns="114300" bIns="76200">
                      <a:noAutofit/>
                    </a:bodyPr>
                    <a:lstStyle/>
                    <a:p>
                      <a:pPr algn="l"/>
                      <a:r>
                        <a:rPr sz="1725" b="0">
                          <a:solidFill>
                            <a:srgbClr val="14281D"/>
                          </a:solidFill>
                          <a:latin typeface="Arial"/>
                          <a:ea typeface="Arial"/>
                          <a:cs typeface="Arial"/>
                        </a:rPr>
                        <a:t>Core revenue opportunity</a:t>
                      </a:r>
                    </a:p>
                  </a:txBody>
                  <a:tcPr marL="91440" marR="91440" marT="45720" marB="45720" anchor="ctr">
                    <a:solidFill>
                      <a:srgbClr val="F7F5EF"/>
                    </a:solidFill>
                  </a:tcPr>
                </a:tc>
                <a:tc>
                  <a:txBody>
                    <a:bodyPr lIns="114300" tIns="76200" rIns="114300" bIns="76200">
                      <a:noAutofit/>
                    </a:bodyPr>
                    <a:lstStyle/>
                    <a:p>
                      <a:pPr algn="l"/>
                      <a:r>
                        <a:rPr sz="1725" b="0">
                          <a:solidFill>
                            <a:srgbClr val="14281D"/>
                          </a:solidFill>
                          <a:latin typeface="Arial"/>
                          <a:ea typeface="Arial"/>
                          <a:cs typeface="Arial"/>
                        </a:rPr>
                        <a:t>More qualifying new provider connections</a:t>
                      </a:r>
                    </a:p>
                  </a:txBody>
                  <a:tcPr marL="91440" marR="91440" marT="45720" marB="45720" anchor="ctr">
                    <a:solidFill>
                      <a:srgbClr val="F7F5EF"/>
                    </a:solidFill>
                  </a:tcPr>
                </a:tc>
                <a:tc>
                  <a:txBody>
                    <a:bodyPr lIns="114300" tIns="76200" rIns="114300" bIns="76200">
                      <a:noAutofit/>
                    </a:bodyPr>
                    <a:lstStyle/>
                    <a:p>
                      <a:pPr algn="l"/>
                      <a:r>
                        <a:rPr sz="1725" b="0">
                          <a:solidFill>
                            <a:srgbClr val="14281D"/>
                          </a:solidFill>
                          <a:latin typeface="Arial"/>
                          <a:ea typeface="Arial"/>
                          <a:cs typeface="Arial"/>
                        </a:rPr>
                        <a:t>More profitable paid visits over time</a:t>
                      </a:r>
                    </a:p>
                  </a:txBody>
                  <a:tcPr marL="91440" marR="91440" marT="45720" marB="45720" anchor="ctr">
                    <a:solidFill>
                      <a:srgbClr val="F7F5EF"/>
                    </a:solidFill>
                  </a:tcPr>
                </a:tc>
              </a:tr>
            </a:tbl>
          </a:graphicData>
        </a:graphic>
      </p:graphicFrame>
      <p:sp>
        <p:nvSpPr>
          <p:cNvPr id="6" name="Zocdoc also exempts reputation and certain partner">
            <a:extLst xmlns:a="http://schemas.openxmlformats.org/drawingml/2006/main">
              <a:ext uri="{FF2B5EF4-FFF2-40B4-BE49-F238E27FC236}">
                <a16:creationId xmlns:a16="http://schemas.microsoft.com/office/drawing/2014/main" id="{7D2B7646-66BC-4BA1-84EB-F222AD9842B1}"/>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Zocdoc also exempts reputation and certain partner bookings. Fewer providers per YardMatch household is a hypothesis. Cross-category finder-fee revenue is zero in this forecast.</a:t>
            </a:r>
          </a:p>
        </p:txBody>
      </p:sp>
    </p:spTree>
    <p:extLst>
      <p:ext uri="{BB962C8B-B14F-4D97-AF65-F5344CB8AC3E}">
        <p14:creationId xmlns:p14="http://schemas.microsoft.com/office/powerpoint/2010/main" val="1257367076"/>
      </p:ext>
    </p:extLst>
  </p:cSld>
</p:sld>
</file>

<file path=ppt/slides/slide8.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0" name="At $60, repeat card payments leave about $0.20">
            <a:extLst xmlns:a="http://schemas.openxmlformats.org/drawingml/2006/main">
              <a:ext uri="{FF2B5EF4-FFF2-40B4-BE49-F238E27FC236}">
                <a16:creationId xmlns:a16="http://schemas.microsoft.com/office/drawing/2014/main" id="{37DA8FCF-10FE-4290-A878-D96DA5DADAD3}"/>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At $60, repeat card payments leave about $0.20</a:t>
            </a:r>
          </a:p>
        </p:txBody>
      </p:sp>
      <p:sp>
        <p:nvSpPr>
          <p:cNvPr id="2" name="Illustrative contribution after payment costs and ">
            <a:extLst xmlns:a="http://schemas.openxmlformats.org/drawingml/2006/main">
              <a:ext uri="{FF2B5EF4-FFF2-40B4-BE49-F238E27FC236}">
                <a16:creationId xmlns:a16="http://schemas.microsoft.com/office/drawing/2014/main" id="{34E9B29F-74D7-429E-8F3B-33C0D74B93C0}"/>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Illustrative contribution after payment costs and variable operating costs, before acquisition and fixed overhead.</a:t>
            </a:r>
          </a:p>
        </p:txBody>
      </p:sp>
      <p:sp>
        <p:nvSpPr>
          <p:cNvPr id="3" name="YardMatch">
            <a:extLst xmlns:a="http://schemas.openxmlformats.org/drawingml/2006/main">
              <a:ext uri="{FF2B5EF4-FFF2-40B4-BE49-F238E27FC236}">
                <a16:creationId xmlns:a16="http://schemas.microsoft.com/office/drawing/2014/main" id="{447D24F1-D340-46D0-86A4-43D480035964}"/>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8">
            <a:extLst xmlns:a="http://schemas.openxmlformats.org/drawingml/2006/main">
              <a:ext uri="{FF2B5EF4-FFF2-40B4-BE49-F238E27FC236}">
                <a16:creationId xmlns:a16="http://schemas.microsoft.com/office/drawing/2014/main" id="{F5F1D515-007C-4AAC-8EAA-85E8440F8AE1}"/>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08</a:t>
            </a:r>
          </a:p>
        </p:txBody>
      </p:sp>
      <p:graphicFrame>
        <p:nvGraphicFramePr>
          <p:cNvPr id="14" name=""/>
          <p:cNvGraphicFramePr/>
          <p:nvPr/>
        </p:nvGraphicFramePr>
        <p:xfrm>
          <a:off xmlns:a="http://schemas.openxmlformats.org/drawingml/2006/main" x="609600" y="2409825"/>
          <a:ext xmlns:a="http://schemas.openxmlformats.org/drawingml/2006/main" cx="7810500" cy="2781300"/>
        </p:xfrm>
        <a:graphic xmlns:a="http://schemas.openxmlformats.org/drawingml/2006/main">
          <a:graphicData uri="http://schemas.openxmlformats.org/drawingml/2006/table">
            <a:tbl>
              <a:tblPr/>
              <a:tblGrid>
                <a:gridCol w="4953000"/>
                <a:gridCol w="1428750"/>
                <a:gridCol w="1428750"/>
              </a:tblGrid>
              <a:tr h="556260">
                <a:tc>
                  <a:txBody>
                    <a:bodyPr lIns="114300" tIns="76200" rIns="114300" bIns="76200">
                      <a:noAutofit/>
                    </a:bodyPr>
                    <a:lstStyle/>
                    <a:p>
                      <a:pPr algn="l"/>
                      <a:r>
                        <a:rPr sz="1725" b="1">
                          <a:solidFill>
                            <a:srgbClr val="FFFFFF"/>
                          </a:solidFill>
                          <a:latin typeface="Arial"/>
                          <a:ea typeface="Arial"/>
                          <a:cs typeface="Arial"/>
                        </a:rPr>
                        <a:t>Per paid repeat service</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Card</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Bank debit (ACH)</a:t>
                      </a:r>
                    </a:p>
                  </a:txBody>
                  <a:tcPr marL="91440" marR="91440" marT="45720" marB="45720" anchor="ctr">
                    <a:solidFill>
                      <a:srgbClr val="205938"/>
                    </a:solidFill>
                  </a:tcPr>
                </a:tc>
              </a:tr>
              <a:tr h="556260">
                <a:tc>
                  <a:txBody>
                    <a:bodyPr lIns="114300" tIns="76200" rIns="114300" bIns="76200">
                      <a:noAutofit/>
                    </a:bodyPr>
                    <a:lstStyle/>
                    <a:p>
                      <a:pPr algn="l"/>
                      <a:r>
                        <a:rPr sz="1725" b="0">
                          <a:solidFill>
                            <a:srgbClr val="14281D"/>
                          </a:solidFill>
                          <a:latin typeface="Arial"/>
                          <a:ea typeface="Arial"/>
                          <a:cs typeface="Arial"/>
                        </a:rPr>
                        <a:t>Provider service fee</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$2.99</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$2.99</a:t>
                      </a:r>
                    </a:p>
                  </a:txBody>
                  <a:tcPr marL="91440" marR="91440" marT="45720" marB="45720" anchor="ctr">
                    <a:solidFill>
                      <a:srgbClr val="FFFFFF"/>
                    </a:solidFill>
                  </a:tcPr>
                </a:tc>
              </a:tr>
              <a:tr h="556260">
                <a:tc>
                  <a:txBody>
                    <a:bodyPr lIns="114300" tIns="76200" rIns="114300" bIns="76200">
                      <a:noAutofit/>
                    </a:bodyPr>
                    <a:lstStyle/>
                    <a:p>
                      <a:pPr algn="l"/>
                      <a:r>
                        <a:rPr sz="1725" b="0">
                          <a:solidFill>
                            <a:srgbClr val="14281D"/>
                          </a:solidFill>
                          <a:latin typeface="Arial"/>
                          <a:ea typeface="Arial"/>
                          <a:cs typeface="Arial"/>
                        </a:rPr>
                        <a:t>Payment processing</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($2.04)</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($0.48)</a:t>
                      </a:r>
                    </a:p>
                  </a:txBody>
                  <a:tcPr marL="91440" marR="91440" marT="45720" marB="45720" anchor="ctr">
                    <a:solidFill>
                      <a:srgbClr val="F7F5EF"/>
                    </a:solidFill>
                  </a:tcPr>
                </a:tc>
              </a:tr>
              <a:tr h="556260">
                <a:tc>
                  <a:txBody>
                    <a:bodyPr lIns="114300" tIns="76200" rIns="114300" bIns="76200">
                      <a:noAutofit/>
                    </a:bodyPr>
                    <a:lstStyle/>
                    <a:p>
                      <a:pPr algn="l"/>
                      <a:r>
                        <a:rPr sz="1725" b="0">
                          <a:solidFill>
                            <a:srgbClr val="14281D"/>
                          </a:solidFill>
                          <a:latin typeface="Arial"/>
                          <a:ea typeface="Arial"/>
                          <a:cs typeface="Arial"/>
                        </a:rPr>
                        <a:t>Payouts, account costs and variable operations</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($0.75)</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($0.75)</a:t>
                      </a:r>
                    </a:p>
                  </a:txBody>
                  <a:tcPr marL="91440" marR="91440" marT="45720" marB="45720" anchor="ctr">
                    <a:solidFill>
                      <a:srgbClr val="FFFFFF"/>
                    </a:solidFill>
                  </a:tcPr>
                </a:tc>
              </a:tr>
              <a:tr h="556260">
                <a:tc>
                  <a:txBody>
                    <a:bodyPr lIns="114300" tIns="76200" rIns="114300" bIns="76200">
                      <a:noAutofit/>
                    </a:bodyPr>
                    <a:lstStyle/>
                    <a:p>
                      <a:pPr algn="l"/>
                      <a:r>
                        <a:rPr sz="1725" b="1">
                          <a:solidFill>
                            <a:srgbClr val="14281D"/>
                          </a:solidFill>
                          <a:latin typeface="Arial"/>
                          <a:ea typeface="Arial"/>
                          <a:cs typeface="Arial"/>
                        </a:rPr>
                        <a:t>Contribution before fixed overhead</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$0.20</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$1.76</a:t>
                      </a:r>
                    </a:p>
                  </a:txBody>
                  <a:tcPr marL="91440" marR="91440" marT="45720" marB="45720" anchor="ctr">
                    <a:solidFill>
                      <a:srgbClr val="E8EDDF"/>
                    </a:solidFill>
                  </a:tcPr>
                </a:tc>
              </a:tr>
            </a:tbl>
          </a:graphicData>
        </a:graphic>
      </p:graphicFrame>
      <p:sp>
        <p:nvSpPr>
          <p:cNvPr id="6" name="About $66">
            <a:extLst xmlns:a="http://schemas.openxmlformats.org/drawingml/2006/main">
              <a:ext uri="{FF2B5EF4-FFF2-40B4-BE49-F238E27FC236}">
                <a16:creationId xmlns:a16="http://schemas.microsoft.com/office/drawing/2014/main" id="{F9683D4A-BDEF-45DB-BA9F-2D74490BB38B}"/>
              </a:ext>
            </a:extLst>
          </p:cNvPr>
          <p:cNvSpPr>
            <a:spLocks xmlns:a="http://schemas.openxmlformats.org/drawingml/2006/main" noGrp="1"/>
          </p:cNvSpPr>
          <p:nvPr/>
        </p:nvSpPr>
        <p:spPr>
          <a:xfrm xmlns:a="http://schemas.openxmlformats.org/drawingml/2006/main">
            <a:off x="8810625" y="2543175"/>
            <a:ext cx="27813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205938"/>
                </a:solidFill>
                <a:latin typeface="Arial"/>
                <a:ea typeface="Arial"/>
                <a:cs typeface="Arial"/>
              </a:defRPr>
            </a:pPr>
            <a:r>
              <a:rPr sz="3000" b="1">
                <a:solidFill>
                  <a:srgbClr val="205938"/>
                </a:solidFill>
                <a:latin typeface="Arial"/>
                <a:ea typeface="Arial"/>
                <a:cs typeface="Arial"/>
              </a:rPr>
              <a:t>About $66</a:t>
            </a:r>
          </a:p>
        </p:txBody>
      </p:sp>
      <p:sp>
        <p:nvSpPr>
          <p:cNvPr id="7" name="Card-ticket ceiling for a positive repeat contribu">
            <a:extLst xmlns:a="http://schemas.openxmlformats.org/drawingml/2006/main">
              <a:ext uri="{FF2B5EF4-FFF2-40B4-BE49-F238E27FC236}">
                <a16:creationId xmlns:a16="http://schemas.microsoft.com/office/drawing/2014/main" id="{4CB35F14-1B03-4FCD-8755-D6B1866848B3}"/>
              </a:ext>
            </a:extLst>
          </p:cNvPr>
          <p:cNvSpPr>
            <a:spLocks xmlns:a="http://schemas.openxmlformats.org/drawingml/2006/main" noGrp="1"/>
          </p:cNvSpPr>
          <p:nvPr/>
        </p:nvSpPr>
        <p:spPr>
          <a:xfrm xmlns:a="http://schemas.openxmlformats.org/drawingml/2006/main">
            <a:off x="8810625" y="3324225"/>
            <a:ext cx="274320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Card-ticket ceiling for a positive repeat contribution under these assumptions.</a:t>
            </a:r>
          </a:p>
        </p:txBody>
      </p:sp>
      <p:sp>
        <p:nvSpPr>
          <p:cNvPr id="8" name="Larger jobs need separate pricing economics">
            <a:extLst xmlns:a="http://schemas.openxmlformats.org/drawingml/2006/main">
              <a:ext uri="{FF2B5EF4-FFF2-40B4-BE49-F238E27FC236}">
                <a16:creationId xmlns:a16="http://schemas.microsoft.com/office/drawing/2014/main" id="{CE343E8A-1B04-4F96-A524-1E5203EDA35C}"/>
              </a:ext>
            </a:extLst>
          </p:cNvPr>
          <p:cNvSpPr>
            <a:spLocks xmlns:a="http://schemas.openxmlformats.org/drawingml/2006/main" noGrp="1"/>
          </p:cNvSpPr>
          <p:nvPr/>
        </p:nvSpPr>
        <p:spPr>
          <a:xfrm xmlns:a="http://schemas.openxmlformats.org/drawingml/2006/main">
            <a:off x="628650" y="5410200"/>
            <a:ext cx="10572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A24D3E"/>
                </a:solidFill>
                <a:latin typeface="Arial"/>
                <a:ea typeface="Arial"/>
                <a:cs typeface="Arial"/>
              </a:defRPr>
            </a:pPr>
            <a:r>
              <a:rPr sz="2100" b="1">
                <a:solidFill>
                  <a:srgbClr val="A24D3E"/>
                </a:solidFill>
                <a:latin typeface="Arial"/>
                <a:ea typeface="Arial"/>
                <a:cs typeface="Arial"/>
              </a:rPr>
              <a:t>Larger jobs need separate pricing economics</a:t>
            </a:r>
          </a:p>
        </p:txBody>
      </p:sp>
      <p:sp>
        <p:nvSpPr>
          <p:cNvPr id="9" name="A $100 card-paid repeat job loses about $1.14 befo">
            <a:extLst xmlns:a="http://schemas.openxmlformats.org/drawingml/2006/main">
              <a:ext uri="{FF2B5EF4-FFF2-40B4-BE49-F238E27FC236}">
                <a16:creationId xmlns:a16="http://schemas.microsoft.com/office/drawing/2014/main" id="{F36972B6-9888-45A2-BE21-8EF0058E50D5}"/>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A $100 card-paid repeat job loses about $1.14 before fixed costs. ACH excludes a $1.50 initial bank-link allowance. Rates and operating costs are assumptions or published standard prices.</a:t>
            </a:r>
          </a:p>
        </p:txBody>
      </p:sp>
    </p:spTree>
    <p:extLst>
      <p:ext uri="{BB962C8B-B14F-4D97-AF65-F5344CB8AC3E}">
        <p14:creationId xmlns:p14="http://schemas.microsoft.com/office/powerpoint/2010/main" val="1944850175"/>
      </p:ext>
    </p:extLst>
  </p:cSld>
</p:sld>
</file>

<file path=ppt/slides/slide9.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2" name="Barnegat is a starting market">
            <a:extLst xmlns:a="http://schemas.openxmlformats.org/drawingml/2006/main">
              <a:ext uri="{FF2B5EF4-FFF2-40B4-BE49-F238E27FC236}">
                <a16:creationId xmlns:a16="http://schemas.microsoft.com/office/drawing/2014/main" id="{CB1FF885-ED3E-497D-81ED-80946B5D4EA2}"/>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Barnegat is a starting market</a:t>
            </a:r>
          </a:p>
        </p:txBody>
      </p:sp>
      <p:sp>
        <p:nvSpPr>
          <p:cNvPr id="2" name="The investment case requires expansion into many l">
            <a:extLst xmlns:a="http://schemas.openxmlformats.org/drawingml/2006/main">
              <a:ext uri="{FF2B5EF4-FFF2-40B4-BE49-F238E27FC236}">
                <a16:creationId xmlns:a16="http://schemas.microsoft.com/office/drawing/2014/main" id="{562CC48F-CC0F-4E48-B53B-7BD1BF0A8687}"/>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The investment case requires expansion into many local markets after the first market works.</a:t>
            </a:r>
          </a:p>
        </p:txBody>
      </p:sp>
      <p:sp>
        <p:nvSpPr>
          <p:cNvPr id="3" name="YardMatch">
            <a:extLst xmlns:a="http://schemas.openxmlformats.org/drawingml/2006/main">
              <a:ext uri="{FF2B5EF4-FFF2-40B4-BE49-F238E27FC236}">
                <a16:creationId xmlns:a16="http://schemas.microsoft.com/office/drawing/2014/main" id="{0D39EF30-336A-4E5F-BF63-487F14CDE5A0}"/>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9">
            <a:extLst xmlns:a="http://schemas.openxmlformats.org/drawingml/2006/main">
              <a:ext uri="{FF2B5EF4-FFF2-40B4-BE49-F238E27FC236}">
                <a16:creationId xmlns:a16="http://schemas.microsoft.com/office/drawing/2014/main" id="{0941577D-D94E-4542-872E-F31AF7ACA7D3}"/>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09</a:t>
            </a:r>
          </a:p>
        </p:txBody>
      </p:sp>
      <p:sp>
        <p:nvSpPr>
          <p:cNvPr id="5" name="10,265">
            <a:extLst xmlns:a="http://schemas.openxmlformats.org/drawingml/2006/main">
              <a:ext uri="{FF2B5EF4-FFF2-40B4-BE49-F238E27FC236}">
                <a16:creationId xmlns:a16="http://schemas.microsoft.com/office/drawing/2014/main" id="{74832D7B-444B-49C1-B899-56925B1C0DF2}"/>
              </a:ext>
            </a:extLst>
          </p:cNvPr>
          <p:cNvSpPr>
            <a:spLocks xmlns:a="http://schemas.openxmlformats.org/drawingml/2006/main" noGrp="1"/>
          </p:cNvSpPr>
          <p:nvPr/>
        </p:nvSpPr>
        <p:spPr>
          <a:xfrm xmlns:a="http://schemas.openxmlformats.org/drawingml/2006/main">
            <a:off x="628650" y="2400300"/>
            <a:ext cx="4667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00" b="1">
                <a:solidFill>
                  <a:srgbClr val="205938"/>
                </a:solidFill>
                <a:latin typeface="Arial"/>
                <a:ea typeface="Arial"/>
                <a:cs typeface="Arial"/>
              </a:defRPr>
            </a:pPr>
            <a:r>
              <a:rPr sz="4800" b="1">
                <a:solidFill>
                  <a:srgbClr val="205938"/>
                </a:solidFill>
                <a:latin typeface="Arial"/>
                <a:ea typeface="Arial"/>
                <a:cs typeface="Arial"/>
              </a:rPr>
              <a:t>10,265</a:t>
            </a:r>
          </a:p>
        </p:txBody>
      </p:sp>
      <p:sp>
        <p:nvSpPr>
          <p:cNvPr id="6" name="Barnegat households">
            <a:extLst xmlns:a="http://schemas.openxmlformats.org/drawingml/2006/main">
              <a:ext uri="{FF2B5EF4-FFF2-40B4-BE49-F238E27FC236}">
                <a16:creationId xmlns:a16="http://schemas.microsoft.com/office/drawing/2014/main" id="{E60C8425-306A-49C1-B5AB-09DC0DE2F64F}"/>
              </a:ext>
            </a:extLst>
          </p:cNvPr>
          <p:cNvSpPr>
            <a:spLocks xmlns:a="http://schemas.openxmlformats.org/drawingml/2006/main" noGrp="1"/>
          </p:cNvSpPr>
          <p:nvPr/>
        </p:nvSpPr>
        <p:spPr>
          <a:xfrm xmlns:a="http://schemas.openxmlformats.org/drawingml/2006/main">
            <a:off x="647700" y="3305175"/>
            <a:ext cx="4762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4281D"/>
                </a:solidFill>
                <a:latin typeface="Arial"/>
                <a:ea typeface="Arial"/>
                <a:cs typeface="Arial"/>
              </a:defRPr>
            </a:pPr>
            <a:r>
              <a:rPr sz="2175" b="0">
                <a:solidFill>
                  <a:srgbClr val="14281D"/>
                </a:solidFill>
                <a:latin typeface="Arial"/>
                <a:ea typeface="Arial"/>
                <a:cs typeface="Arial"/>
              </a:rPr>
              <a:t>Barnegat households</a:t>
            </a:r>
          </a:p>
        </p:txBody>
      </p:sp>
      <p:sp>
        <p:nvSpPr>
          <p:cNvPr id="7" name="88%">
            <a:extLst xmlns:a="http://schemas.openxmlformats.org/drawingml/2006/main">
              <a:ext uri="{FF2B5EF4-FFF2-40B4-BE49-F238E27FC236}">
                <a16:creationId xmlns:a16="http://schemas.microsoft.com/office/drawing/2014/main" id="{DD460182-0B0E-4718-AF8A-5F7F08C8BB29}"/>
              </a:ext>
            </a:extLst>
          </p:cNvPr>
          <p:cNvSpPr>
            <a:spLocks xmlns:a="http://schemas.openxmlformats.org/drawingml/2006/main" noGrp="1"/>
          </p:cNvSpPr>
          <p:nvPr/>
        </p:nvSpPr>
        <p:spPr>
          <a:xfrm xmlns:a="http://schemas.openxmlformats.org/drawingml/2006/main">
            <a:off x="6429375" y="2400300"/>
            <a:ext cx="4381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00" b="1">
                <a:solidFill>
                  <a:srgbClr val="205938"/>
                </a:solidFill>
                <a:latin typeface="Arial"/>
                <a:ea typeface="Arial"/>
                <a:cs typeface="Arial"/>
              </a:defRPr>
            </a:pPr>
            <a:r>
              <a:rPr sz="4800" b="1">
                <a:solidFill>
                  <a:srgbClr val="205938"/>
                </a:solidFill>
                <a:latin typeface="Arial"/>
                <a:ea typeface="Arial"/>
                <a:cs typeface="Arial"/>
              </a:rPr>
              <a:t>88%</a:t>
            </a:r>
          </a:p>
        </p:txBody>
      </p:sp>
      <p:sp>
        <p:nvSpPr>
          <p:cNvPr id="8" name="Homes occupied by their owners">
            <a:extLst xmlns:a="http://schemas.openxmlformats.org/drawingml/2006/main">
              <a:ext uri="{FF2B5EF4-FFF2-40B4-BE49-F238E27FC236}">
                <a16:creationId xmlns:a16="http://schemas.microsoft.com/office/drawing/2014/main" id="{FA226075-746B-431F-BB50-9032AB056BDB}"/>
              </a:ext>
            </a:extLst>
          </p:cNvPr>
          <p:cNvSpPr>
            <a:spLocks xmlns:a="http://schemas.openxmlformats.org/drawingml/2006/main" noGrp="1"/>
          </p:cNvSpPr>
          <p:nvPr/>
        </p:nvSpPr>
        <p:spPr>
          <a:xfrm xmlns:a="http://schemas.openxmlformats.org/drawingml/2006/main">
            <a:off x="6448425" y="3305175"/>
            <a:ext cx="4857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4281D"/>
                </a:solidFill>
                <a:latin typeface="Arial"/>
                <a:ea typeface="Arial"/>
                <a:cs typeface="Arial"/>
              </a:defRPr>
            </a:pPr>
            <a:r>
              <a:rPr sz="2175" b="0">
                <a:solidFill>
                  <a:srgbClr val="14281D"/>
                </a:solidFill>
                <a:latin typeface="Arial"/>
                <a:ea typeface="Arial"/>
                <a:cs typeface="Arial"/>
              </a:rPr>
              <a:t>Homes occupied by their owners</a:t>
            </a:r>
          </a:p>
        </p:txBody>
      </p:sp>
      <p:sp>
        <p:nvSpPr>
          <p:cNvPr id="9" name="500 paying households in the first forecast year">
            <a:extLst xmlns:a="http://schemas.openxmlformats.org/drawingml/2006/main">
              <a:ext uri="{FF2B5EF4-FFF2-40B4-BE49-F238E27FC236}">
                <a16:creationId xmlns:a16="http://schemas.microsoft.com/office/drawing/2014/main" id="{D055B9EA-CE31-4FCE-B8AC-2DDCD0A05BD0}"/>
              </a:ext>
            </a:extLst>
          </p:cNvPr>
          <p:cNvSpPr>
            <a:spLocks xmlns:a="http://schemas.openxmlformats.org/drawingml/2006/main" noGrp="1"/>
          </p:cNvSpPr>
          <p:nvPr/>
        </p:nvSpPr>
        <p:spPr>
          <a:xfrm xmlns:a="http://schemas.openxmlformats.org/drawingml/2006/main">
            <a:off x="628650" y="4381500"/>
            <a:ext cx="108394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4281D"/>
                </a:solidFill>
                <a:latin typeface="Arial"/>
                <a:ea typeface="Arial"/>
                <a:cs typeface="Arial"/>
              </a:defRPr>
            </a:pPr>
            <a:r>
              <a:rPr sz="2550" b="1">
                <a:solidFill>
                  <a:srgbClr val="14281D"/>
                </a:solidFill>
                <a:latin typeface="Arial"/>
                <a:ea typeface="Arial"/>
                <a:cs typeface="Arial"/>
              </a:rPr>
              <a:t>500 paying households in the first forecast year</a:t>
            </a:r>
          </a:p>
        </p:txBody>
      </p:sp>
      <p:sp>
        <p:nvSpPr>
          <p:cNvPr id="10" name="About 5.5% of the roughly 9,033 owner households. ">
            <a:extLst xmlns:a="http://schemas.openxmlformats.org/drawingml/2006/main">
              <a:ext uri="{FF2B5EF4-FFF2-40B4-BE49-F238E27FC236}">
                <a16:creationId xmlns:a16="http://schemas.microsoft.com/office/drawing/2014/main" id="{A591BEAA-316D-4398-8B22-6C23FE516C6C}"/>
              </a:ext>
            </a:extLst>
          </p:cNvPr>
          <p:cNvSpPr>
            <a:spLocks xmlns:a="http://schemas.openxmlformats.org/drawingml/2006/main" noGrp="1"/>
          </p:cNvSpPr>
          <p:nvPr/>
        </p:nvSpPr>
        <p:spPr>
          <a:xfrm xmlns:a="http://schemas.openxmlformats.org/drawingml/2006/main">
            <a:off x="647700" y="5057775"/>
            <a:ext cx="106203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About 5.5% of the roughly 9,033 owner households. Actual eligible lawns and willingness to pay remain unmeasured.</a:t>
            </a:r>
          </a:p>
        </p:txBody>
      </p:sp>
      <p:sp>
        <p:nvSpPr>
          <p:cNvPr id="11" name="Census 2020-2024 estimates. Launch target is illus">
            <a:extLst xmlns:a="http://schemas.openxmlformats.org/drawingml/2006/main">
              <a:ext uri="{FF2B5EF4-FFF2-40B4-BE49-F238E27FC236}">
                <a16:creationId xmlns:a16="http://schemas.microsoft.com/office/drawing/2014/main" id="{F716924C-6745-4BC7-B5FC-2AA0D14DB415}"/>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Census 2020-2024 estimates. Launch target is illustrative. Later-year household totals require regional and multi-market expansion.</a:t>
            </a:r>
          </a:p>
        </p:txBody>
      </p:sp>
    </p:spTree>
    <p:extLst>
      <p:ext uri="{BB962C8B-B14F-4D97-AF65-F5344CB8AC3E}">
        <p14:creationId xmlns:p14="http://schemas.microsoft.com/office/powerpoint/2010/main" val="294427984"/>
      </p:ext>
    </p:extLst>
  </p:cSld>
</p:sld>
</file>

<file path=ppt/slides/slide10.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3" name="Expansion follows verified local economics">
            <a:extLst xmlns:a="http://schemas.openxmlformats.org/drawingml/2006/main">
              <a:ext uri="{FF2B5EF4-FFF2-40B4-BE49-F238E27FC236}">
                <a16:creationId xmlns:a16="http://schemas.microsoft.com/office/drawing/2014/main" id="{92926C48-135E-47D4-BA4C-8E68CEFF9700}"/>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Expansion follows verified local economics</a:t>
            </a:r>
          </a:p>
        </p:txBody>
      </p:sp>
      <p:sp>
        <p:nvSpPr>
          <p:cNvPr id="2" name="A proposed sequence for acquiring supply and deman">
            <a:extLst xmlns:a="http://schemas.openxmlformats.org/drawingml/2006/main">
              <a:ext uri="{FF2B5EF4-FFF2-40B4-BE49-F238E27FC236}">
                <a16:creationId xmlns:a16="http://schemas.microsoft.com/office/drawing/2014/main" id="{FA57C0E3-BB34-489F-9E60-D519B35EF699}"/>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A proposed sequence for acquiring supply and demand without sacrificing service reliability.</a:t>
            </a:r>
          </a:p>
        </p:txBody>
      </p:sp>
      <p:sp>
        <p:nvSpPr>
          <p:cNvPr id="3" name="YardMatch">
            <a:extLst xmlns:a="http://schemas.openxmlformats.org/drawingml/2006/main">
              <a:ext uri="{FF2B5EF4-FFF2-40B4-BE49-F238E27FC236}">
                <a16:creationId xmlns:a16="http://schemas.microsoft.com/office/drawing/2014/main" id="{DB0A1CCA-BF4F-47A7-9C03-17233C797A15}"/>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0">
            <a:extLst xmlns:a="http://schemas.openxmlformats.org/drawingml/2006/main">
              <a:ext uri="{FF2B5EF4-FFF2-40B4-BE49-F238E27FC236}">
                <a16:creationId xmlns:a16="http://schemas.microsoft.com/office/drawing/2014/main" id="{8AC58F95-C1CF-4458-8E27-8E3955170DE0}"/>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10</a:t>
            </a:r>
          </a:p>
        </p:txBody>
      </p:sp>
      <p:sp>
        <p:nvSpPr>
          <p:cNvPr id="5" name="1. Concentrated provider launch">
            <a:extLst xmlns:a="http://schemas.openxmlformats.org/drawingml/2006/main">
              <a:ext uri="{FF2B5EF4-FFF2-40B4-BE49-F238E27FC236}">
                <a16:creationId xmlns:a16="http://schemas.microsoft.com/office/drawing/2014/main" id="{B5403FB4-DE5A-408F-8A42-14175B1A93DB}"/>
              </a:ext>
            </a:extLst>
          </p:cNvPr>
          <p:cNvSpPr>
            <a:spLocks xmlns:a="http://schemas.openxmlformats.org/drawingml/2006/main" noGrp="1"/>
          </p:cNvSpPr>
          <p:nvPr/>
        </p:nvSpPr>
        <p:spPr>
          <a:xfrm xmlns:a="http://schemas.openxmlformats.org/drawingml/2006/main">
            <a:off x="628650" y="2400300"/>
            <a:ext cx="5010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1. Concentrated provider launch</a:t>
            </a:r>
          </a:p>
        </p:txBody>
      </p:sp>
      <p:sp>
        <p:nvSpPr>
          <p:cNvPr id="6" name="Recruit qualified businesses around neighboring ro">
            <a:extLst xmlns:a="http://schemas.openxmlformats.org/drawingml/2006/main">
              <a:ext uri="{FF2B5EF4-FFF2-40B4-BE49-F238E27FC236}">
                <a16:creationId xmlns:a16="http://schemas.microsoft.com/office/drawing/2014/main" id="{985028F1-2902-4E94-974B-1D574117841F}"/>
              </a:ext>
            </a:extLst>
          </p:cNvPr>
          <p:cNvSpPr>
            <a:spLocks xmlns:a="http://schemas.openxmlformats.org/drawingml/2006/main" noGrp="1"/>
          </p:cNvSpPr>
          <p:nvPr/>
        </p:nvSpPr>
        <p:spPr>
          <a:xfrm xmlns:a="http://schemas.openxmlformats.org/drawingml/2006/main">
            <a:off x="628650" y="2924175"/>
            <a:ext cx="50101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Recruit qualified businesses around neighboring routes. Use the first-client finder-fee waiver.</a:t>
            </a:r>
          </a:p>
        </p:txBody>
      </p:sp>
      <p:sp>
        <p:nvSpPr>
          <p:cNvPr id="7" name="2. Measured household acquisition">
            <a:extLst xmlns:a="http://schemas.openxmlformats.org/drawingml/2006/main">
              <a:ext uri="{FF2B5EF4-FFF2-40B4-BE49-F238E27FC236}">
                <a16:creationId xmlns:a16="http://schemas.microsoft.com/office/drawing/2014/main" id="{596EE7CC-DF9B-43D5-909B-05C09A1F39A2}"/>
              </a:ext>
            </a:extLst>
          </p:cNvPr>
          <p:cNvSpPr>
            <a:spLocks xmlns:a="http://schemas.openxmlformats.org/drawingml/2006/main" noGrp="1"/>
          </p:cNvSpPr>
          <p:nvPr/>
        </p:nvSpPr>
        <p:spPr>
          <a:xfrm xmlns:a="http://schemas.openxmlformats.org/drawingml/2006/main">
            <a:off x="6400800" y="2400300"/>
            <a:ext cx="5010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2. Measured household acquisition</a:t>
            </a:r>
          </a:p>
        </p:txBody>
      </p:sp>
      <p:sp>
        <p:nvSpPr>
          <p:cNvPr id="8" name="Test local search, neighborhood referrals and prov">
            <a:extLst xmlns:a="http://schemas.openxmlformats.org/drawingml/2006/main">
              <a:ext uri="{FF2B5EF4-FFF2-40B4-BE49-F238E27FC236}">
                <a16:creationId xmlns:a16="http://schemas.microsoft.com/office/drawing/2014/main" id="{58B869AB-AEAD-4968-AF9E-7C98AC4FF071}"/>
              </a:ext>
            </a:extLst>
          </p:cNvPr>
          <p:cNvSpPr>
            <a:spLocks xmlns:a="http://schemas.openxmlformats.org/drawingml/2006/main" noGrp="1"/>
          </p:cNvSpPr>
          <p:nvPr/>
        </p:nvSpPr>
        <p:spPr>
          <a:xfrm xmlns:a="http://schemas.openxmlformats.org/drawingml/2006/main">
            <a:off x="6400800" y="2924175"/>
            <a:ext cx="50101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Test local search, neighborhood referrals and provider referrals. Count paying customers, not leads.</a:t>
            </a:r>
          </a:p>
        </p:txBody>
      </p:sp>
      <p:sp>
        <p:nvSpPr>
          <p:cNvPr id="9" name="3. A complete service season">
            <a:extLst xmlns:a="http://schemas.openxmlformats.org/drawingml/2006/main">
              <a:ext uri="{FF2B5EF4-FFF2-40B4-BE49-F238E27FC236}">
                <a16:creationId xmlns:a16="http://schemas.microsoft.com/office/drawing/2014/main" id="{15241361-F6FB-4DF7-B542-DBF7517B97DD}"/>
              </a:ext>
            </a:extLst>
          </p:cNvPr>
          <p:cNvSpPr>
            <a:spLocks xmlns:a="http://schemas.openxmlformats.org/drawingml/2006/main" noGrp="1"/>
          </p:cNvSpPr>
          <p:nvPr/>
        </p:nvSpPr>
        <p:spPr>
          <a:xfrm xmlns:a="http://schemas.openxmlformats.org/drawingml/2006/main">
            <a:off x="628650" y="4257675"/>
            <a:ext cx="5010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3. A complete service season</a:t>
            </a:r>
          </a:p>
        </p:txBody>
      </p:sp>
      <p:sp>
        <p:nvSpPr>
          <p:cNvPr id="10" name="Measure paid repeat visits, fee acceptance, servic">
            <a:extLst xmlns:a="http://schemas.openxmlformats.org/drawingml/2006/main">
              <a:ext uri="{FF2B5EF4-FFF2-40B4-BE49-F238E27FC236}">
                <a16:creationId xmlns:a16="http://schemas.microsoft.com/office/drawing/2014/main" id="{85EA8E8B-6B23-44BA-911D-D86FC26818F5}"/>
              </a:ext>
            </a:extLst>
          </p:cNvPr>
          <p:cNvSpPr>
            <a:spLocks xmlns:a="http://schemas.openxmlformats.org/drawingml/2006/main" noGrp="1"/>
          </p:cNvSpPr>
          <p:nvPr/>
        </p:nvSpPr>
        <p:spPr>
          <a:xfrm xmlns:a="http://schemas.openxmlformats.org/drawingml/2006/main">
            <a:off x="628650" y="4781550"/>
            <a:ext cx="50101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Measure paid repeat visits, fee acceptance, service quality and cost per completed job.</a:t>
            </a:r>
          </a:p>
        </p:txBody>
      </p:sp>
      <p:sp>
        <p:nvSpPr>
          <p:cNvPr id="11" name="4. A second local market">
            <a:extLst xmlns:a="http://schemas.openxmlformats.org/drawingml/2006/main">
              <a:ext uri="{FF2B5EF4-FFF2-40B4-BE49-F238E27FC236}">
                <a16:creationId xmlns:a16="http://schemas.microsoft.com/office/drawing/2014/main" id="{9F6A8AB3-EAD5-49F1-A0CC-D026ACDBDBB1}"/>
              </a:ext>
            </a:extLst>
          </p:cNvPr>
          <p:cNvSpPr>
            <a:spLocks xmlns:a="http://schemas.openxmlformats.org/drawingml/2006/main" noGrp="1"/>
          </p:cNvSpPr>
          <p:nvPr/>
        </p:nvSpPr>
        <p:spPr>
          <a:xfrm xmlns:a="http://schemas.openxmlformats.org/drawingml/2006/main">
            <a:off x="6400800" y="4257675"/>
            <a:ext cx="5010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4. A second local market</a:t>
            </a:r>
          </a:p>
        </p:txBody>
      </p:sp>
      <p:sp>
        <p:nvSpPr>
          <p:cNvPr id="12" name="Expand only after retention and acquisition econom">
            <a:extLst xmlns:a="http://schemas.openxmlformats.org/drawingml/2006/main">
              <a:ext uri="{FF2B5EF4-FFF2-40B4-BE49-F238E27FC236}">
                <a16:creationId xmlns:a16="http://schemas.microsoft.com/office/drawing/2014/main" id="{F1E63A5C-EA4F-4E48-806D-659744F26322}"/>
              </a:ext>
            </a:extLst>
          </p:cNvPr>
          <p:cNvSpPr>
            <a:spLocks xmlns:a="http://schemas.openxmlformats.org/drawingml/2006/main" noGrp="1"/>
          </p:cNvSpPr>
          <p:nvPr/>
        </p:nvSpPr>
        <p:spPr>
          <a:xfrm xmlns:a="http://schemas.openxmlformats.org/drawingml/2006/main">
            <a:off x="6400800" y="4781550"/>
            <a:ext cx="50101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Expand only after retention and acquisition economics repeat across providers and neighborhoods.</a:t>
            </a:r>
          </a:p>
        </p:txBody>
      </p:sp>
    </p:spTree>
    <p:extLst>
      <p:ext uri="{BB962C8B-B14F-4D97-AF65-F5344CB8AC3E}">
        <p14:creationId xmlns:p14="http://schemas.microsoft.com/office/powerpoint/2010/main" val="830092197"/>
      </p:ext>
    </p:extLst>
  </p:cSld>
</p:sld>
</file>

<file path=ppt/slides/slide1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3" name="Product progress and commercial evidence">
            <a:extLst xmlns:a="http://schemas.openxmlformats.org/drawingml/2006/main">
              <a:ext uri="{FF2B5EF4-FFF2-40B4-BE49-F238E27FC236}">
                <a16:creationId xmlns:a16="http://schemas.microsoft.com/office/drawing/2014/main" id="{80CC2E0F-00B7-4E39-B7D5-359098E9851C}"/>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Product progress and commercial evidence</a:t>
            </a:r>
          </a:p>
        </p:txBody>
      </p:sp>
      <p:sp>
        <p:nvSpPr>
          <p:cNvPr id="2" name="An early company with working product workflows an">
            <a:extLst xmlns:a="http://schemas.openxmlformats.org/drawingml/2006/main">
              <a:ext uri="{FF2B5EF4-FFF2-40B4-BE49-F238E27FC236}">
                <a16:creationId xmlns:a16="http://schemas.microsoft.com/office/drawing/2014/main" id="{537A7CC3-50F1-4F41-AC0E-C9037E95975C}"/>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An early company with working product workflows and commercial assumptions still to validate.</a:t>
            </a:r>
          </a:p>
        </p:txBody>
      </p:sp>
      <p:sp>
        <p:nvSpPr>
          <p:cNvPr id="3" name="YardMatch">
            <a:extLst xmlns:a="http://schemas.openxmlformats.org/drawingml/2006/main">
              <a:ext uri="{FF2B5EF4-FFF2-40B4-BE49-F238E27FC236}">
                <a16:creationId xmlns:a16="http://schemas.microsoft.com/office/drawing/2014/main" id="{A1518840-F65D-4EB7-8CD0-8EA404C7076D}"/>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1">
            <a:extLst xmlns:a="http://schemas.openxmlformats.org/drawingml/2006/main">
              <a:ext uri="{FF2B5EF4-FFF2-40B4-BE49-F238E27FC236}">
                <a16:creationId xmlns:a16="http://schemas.microsoft.com/office/drawing/2014/main" id="{CCB59EF9-0CCC-4921-967A-6744793B10F4}"/>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11</a:t>
            </a:r>
          </a:p>
        </p:txBody>
      </p:sp>
      <p:sp>
        <p:nvSpPr>
          <p:cNvPr id="5" name="Product foundation">
            <a:extLst xmlns:a="http://schemas.openxmlformats.org/drawingml/2006/main">
              <a:ext uri="{FF2B5EF4-FFF2-40B4-BE49-F238E27FC236}">
                <a16:creationId xmlns:a16="http://schemas.microsoft.com/office/drawing/2014/main" id="{9F3E7579-DF78-41BC-9EF3-AA4134937E5A}"/>
              </a:ext>
            </a:extLst>
          </p:cNvPr>
          <p:cNvSpPr>
            <a:spLocks xmlns:a="http://schemas.openxmlformats.org/drawingml/2006/main" noGrp="1"/>
          </p:cNvSpPr>
          <p:nvPr/>
        </p:nvSpPr>
        <p:spPr>
          <a:xfrm xmlns:a="http://schemas.openxmlformats.org/drawingml/2006/main">
            <a:off x="628650" y="2400300"/>
            <a:ext cx="5067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Product foundation</a:t>
            </a:r>
          </a:p>
        </p:txBody>
      </p:sp>
      <p:sp>
        <p:nvSpPr>
          <p:cNvPr id="6" name="Customer booking and rebooking, provider calendars">
            <a:extLst xmlns:a="http://schemas.openxmlformats.org/drawingml/2006/main">
              <a:ext uri="{FF2B5EF4-FFF2-40B4-BE49-F238E27FC236}">
                <a16:creationId xmlns:a16="http://schemas.microsoft.com/office/drawing/2014/main" id="{E3308BB7-F1AF-4BF1-85D5-9A3AF2B4F9DA}"/>
              </a:ext>
            </a:extLst>
          </p:cNvPr>
          <p:cNvSpPr>
            <a:spLocks xmlns:a="http://schemas.openxmlformats.org/drawingml/2006/main" noGrp="1"/>
          </p:cNvSpPr>
          <p:nvPr/>
        </p:nvSpPr>
        <p:spPr>
          <a:xfrm xmlns:a="http://schemas.openxmlformats.org/drawingml/2006/main">
            <a:off x="628650" y="2924175"/>
            <a:ext cx="5067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Customer booking and rebooking, provider calendars and client maps, crew assignments, payments and ops workflows.</a:t>
            </a:r>
          </a:p>
        </p:txBody>
      </p:sp>
      <p:sp>
        <p:nvSpPr>
          <p:cNvPr id="7" name="Launch work remaining">
            <a:extLst xmlns:a="http://schemas.openxmlformats.org/drawingml/2006/main">
              <a:ext uri="{FF2B5EF4-FFF2-40B4-BE49-F238E27FC236}">
                <a16:creationId xmlns:a16="http://schemas.microsoft.com/office/drawing/2014/main" id="{624B35BF-E170-4650-8703-A799591C2D8E}"/>
              </a:ext>
            </a:extLst>
          </p:cNvPr>
          <p:cNvSpPr>
            <a:spLocks xmlns:a="http://schemas.openxmlformats.org/drawingml/2006/main" noGrp="1"/>
          </p:cNvSpPr>
          <p:nvPr/>
        </p:nvSpPr>
        <p:spPr>
          <a:xfrm xmlns:a="http://schemas.openxmlformats.org/drawingml/2006/main">
            <a:off x="6400800" y="2400300"/>
            <a:ext cx="5067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Launch work remaining</a:t>
            </a:r>
          </a:p>
        </p:txBody>
      </p:sp>
      <p:sp>
        <p:nvSpPr>
          <p:cNvPr id="8" name="Live payment acceptance, provider onboarding, prod">
            <a:extLst xmlns:a="http://schemas.openxmlformats.org/drawingml/2006/main">
              <a:ext uri="{FF2B5EF4-FFF2-40B4-BE49-F238E27FC236}">
                <a16:creationId xmlns:a16="http://schemas.microsoft.com/office/drawing/2014/main" id="{1C03A8EE-08A9-4B78-80C2-F998E5ABD6A8}"/>
              </a:ext>
            </a:extLst>
          </p:cNvPr>
          <p:cNvSpPr>
            <a:spLocks xmlns:a="http://schemas.openxmlformats.org/drawingml/2006/main" noGrp="1"/>
          </p:cNvSpPr>
          <p:nvPr/>
        </p:nvSpPr>
        <p:spPr>
          <a:xfrm xmlns:a="http://schemas.openxmlformats.org/drawingml/2006/main">
            <a:off x="6400800" y="2924175"/>
            <a:ext cx="5067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Live payment acceptance, provider onboarding, production readiness and store distribution need independent verification.</a:t>
            </a:r>
          </a:p>
        </p:txBody>
      </p:sp>
      <p:sp>
        <p:nvSpPr>
          <p:cNvPr id="9" name="Founder and operating team">
            <a:extLst xmlns:a="http://schemas.openxmlformats.org/drawingml/2006/main">
              <a:ext uri="{FF2B5EF4-FFF2-40B4-BE49-F238E27FC236}">
                <a16:creationId xmlns:a16="http://schemas.microsoft.com/office/drawing/2014/main" id="{120828E6-16F3-4E14-A93C-7D2ED570CFAC}"/>
              </a:ext>
            </a:extLst>
          </p:cNvPr>
          <p:cNvSpPr>
            <a:spLocks xmlns:a="http://schemas.openxmlformats.org/drawingml/2006/main" noGrp="1"/>
          </p:cNvSpPr>
          <p:nvPr/>
        </p:nvSpPr>
        <p:spPr>
          <a:xfrm xmlns:a="http://schemas.openxmlformats.org/drawingml/2006/main">
            <a:off x="628650" y="4371975"/>
            <a:ext cx="5067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Founder and operating team</a:t>
            </a:r>
          </a:p>
        </p:txBody>
      </p:sp>
      <p:sp>
        <p:nvSpPr>
          <p:cNvPr id="10" name="Patrick leads the company. The model budgets paid ">
            <a:extLst xmlns:a="http://schemas.openxmlformats.org/drawingml/2006/main">
              <a:ext uri="{FF2B5EF4-FFF2-40B4-BE49-F238E27FC236}">
                <a16:creationId xmlns:a16="http://schemas.microsoft.com/office/drawing/2014/main" id="{1D45F507-5370-406A-8768-6B89D8FF2ACB}"/>
              </a:ext>
            </a:extLst>
          </p:cNvPr>
          <p:cNvSpPr>
            <a:spLocks xmlns:a="http://schemas.openxmlformats.org/drawingml/2006/main" noGrp="1"/>
          </p:cNvSpPr>
          <p:nvPr/>
        </p:nvSpPr>
        <p:spPr>
          <a:xfrm xmlns:a="http://schemas.openxmlformats.org/drawingml/2006/main">
            <a:off x="628650" y="4895850"/>
            <a:ext cx="5067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Patrick leads the company. The model budgets paid staff, including founder compensation. Other owner roles remain to be defined.</a:t>
            </a:r>
          </a:p>
        </p:txBody>
      </p:sp>
      <p:sp>
        <p:nvSpPr>
          <p:cNvPr id="11" name="Commercial evidence required">
            <a:extLst xmlns:a="http://schemas.openxmlformats.org/drawingml/2006/main">
              <a:ext uri="{FF2B5EF4-FFF2-40B4-BE49-F238E27FC236}">
                <a16:creationId xmlns:a16="http://schemas.microsoft.com/office/drawing/2014/main" id="{8384E02C-A5C0-4EB0-96D7-2FBD33E585DF}"/>
              </a:ext>
            </a:extLst>
          </p:cNvPr>
          <p:cNvSpPr>
            <a:spLocks xmlns:a="http://schemas.openxmlformats.org/drawingml/2006/main" noGrp="1"/>
          </p:cNvSpPr>
          <p:nvPr/>
        </p:nvSpPr>
        <p:spPr>
          <a:xfrm xmlns:a="http://schemas.openxmlformats.org/drawingml/2006/main">
            <a:off x="6400800" y="4371975"/>
            <a:ext cx="5067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Commercial evidence required</a:t>
            </a:r>
          </a:p>
        </p:txBody>
      </p:sp>
      <p:sp>
        <p:nvSpPr>
          <p:cNvPr id="12" name="No verified revenue, paying customer base, signed ">
            <a:extLst xmlns:a="http://schemas.openxmlformats.org/drawingml/2006/main">
              <a:ext uri="{FF2B5EF4-FFF2-40B4-BE49-F238E27FC236}">
                <a16:creationId xmlns:a16="http://schemas.microsoft.com/office/drawing/2014/main" id="{C2575779-1A4F-4AA1-8423-158C88C0B45E}"/>
              </a:ext>
            </a:extLst>
          </p:cNvPr>
          <p:cNvSpPr>
            <a:spLocks xmlns:a="http://schemas.openxmlformats.org/drawingml/2006/main" noGrp="1"/>
          </p:cNvSpPr>
          <p:nvPr/>
        </p:nvSpPr>
        <p:spPr>
          <a:xfrm xmlns:a="http://schemas.openxmlformats.org/drawingml/2006/main">
            <a:off x="6400800" y="4895850"/>
            <a:ext cx="5067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No verified revenue, paying customer base, signed provider count or measured retention is claimed in this deck.</a:t>
            </a:r>
          </a:p>
        </p:txBody>
      </p:sp>
    </p:spTree>
    <p:extLst>
      <p:ext uri="{BB962C8B-B14F-4D97-AF65-F5344CB8AC3E}">
        <p14:creationId xmlns:p14="http://schemas.microsoft.com/office/powerpoint/2010/main" val="1254875347"/>
      </p:ext>
    </p:extLst>
  </p:cSld>
</p:sld>
</file>

<file path=ppt/slides/slide1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What can increase the value of the company">
            <a:extLst xmlns:a="http://schemas.openxmlformats.org/drawingml/2006/main">
              <a:ext uri="{FF2B5EF4-FFF2-40B4-BE49-F238E27FC236}">
                <a16:creationId xmlns:a16="http://schemas.microsoft.com/office/drawing/2014/main" id="{2448C56E-7067-4946-96F6-00196249C8A7}"/>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What can increase the value of the company</a:t>
            </a:r>
          </a:p>
        </p:txBody>
      </p:sp>
      <p:sp>
        <p:nvSpPr>
          <p:cNvPr id="2" name="More paying households matter when the relationshi">
            <a:extLst xmlns:a="http://schemas.openxmlformats.org/drawingml/2006/main">
              <a:ext uri="{FF2B5EF4-FFF2-40B4-BE49-F238E27FC236}">
                <a16:creationId xmlns:a16="http://schemas.microsoft.com/office/drawing/2014/main" id="{BDBCA914-D27A-4154-91DE-28E716B9A552}"/>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More paying households matter when the relationships remain profitable and stay on the platform.</a:t>
            </a:r>
          </a:p>
        </p:txBody>
      </p:sp>
      <p:sp>
        <p:nvSpPr>
          <p:cNvPr id="3" name="YardMatch">
            <a:extLst xmlns:a="http://schemas.openxmlformats.org/drawingml/2006/main">
              <a:ext uri="{FF2B5EF4-FFF2-40B4-BE49-F238E27FC236}">
                <a16:creationId xmlns:a16="http://schemas.microsoft.com/office/drawing/2014/main" id="{7F88DB01-B1C0-4812-991B-4D6D07AE0A68}"/>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2">
            <a:extLst xmlns:a="http://schemas.openxmlformats.org/drawingml/2006/main">
              <a:ext uri="{FF2B5EF4-FFF2-40B4-BE49-F238E27FC236}">
                <a16:creationId xmlns:a16="http://schemas.microsoft.com/office/drawing/2014/main" id="{F37F267C-43C2-48A9-A0DC-37376A0ADF70}"/>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12</a:t>
            </a:r>
          </a:p>
        </p:txBody>
      </p:sp>
      <p:graphicFrame>
        <p:nvGraphicFramePr>
          <p:cNvPr id="11" name=""/>
          <p:cNvGraphicFramePr/>
          <p:nvPr/>
        </p:nvGraphicFramePr>
        <p:xfrm>
          <a:off xmlns:a="http://schemas.openxmlformats.org/drawingml/2006/main" x="609600" y="2400300"/>
          <a:ext xmlns:a="http://schemas.openxmlformats.org/drawingml/2006/main" cx="10972800" cy="3133725"/>
        </p:xfrm>
        <a:graphic xmlns:a="http://schemas.openxmlformats.org/drawingml/2006/main">
          <a:graphicData uri="http://schemas.openxmlformats.org/drawingml/2006/table">
            <a:tbl>
              <a:tblPr/>
              <a:tblGrid>
                <a:gridCol w="3400425"/>
                <a:gridCol w="7572375"/>
              </a:tblGrid>
              <a:tr h="626745">
                <a:tc>
                  <a:txBody>
                    <a:bodyPr lIns="114300" tIns="76200" rIns="114300" bIns="76200">
                      <a:noAutofit/>
                    </a:bodyPr>
                    <a:lstStyle/>
                    <a:p>
                      <a:pPr algn="l"/>
                      <a:r>
                        <a:rPr sz="1875" b="1">
                          <a:solidFill>
                            <a:srgbClr val="FFFFFF"/>
                          </a:solidFill>
                          <a:latin typeface="Arial"/>
                          <a:ea typeface="Arial"/>
                          <a:cs typeface="Arial"/>
                        </a:rPr>
                        <a:t>Value driver</a:t>
                      </a:r>
                    </a:p>
                  </a:txBody>
                  <a:tcPr marL="91440" marR="91440" marT="45720" marB="45720" anchor="ctr">
                    <a:solidFill>
                      <a:srgbClr val="205938"/>
                    </a:solidFill>
                  </a:tcPr>
                </a:tc>
                <a:tc>
                  <a:txBody>
                    <a:bodyPr lIns="114300" tIns="76200" rIns="114300" bIns="76200">
                      <a:noAutofit/>
                    </a:bodyPr>
                    <a:lstStyle/>
                    <a:p>
                      <a:pPr algn="l"/>
                      <a:r>
                        <a:rPr sz="1875" b="1">
                          <a:solidFill>
                            <a:srgbClr val="FFFFFF"/>
                          </a:solidFill>
                          <a:latin typeface="Arial"/>
                          <a:ea typeface="Arial"/>
                          <a:cs typeface="Arial"/>
                        </a:rPr>
                        <a:t>Evidence an investor can evaluate</a:t>
                      </a:r>
                    </a:p>
                  </a:txBody>
                  <a:tcPr marL="91440" marR="91440" marT="45720" marB="45720" anchor="ctr">
                    <a:solidFill>
                      <a:srgbClr val="205938"/>
                    </a:solidFill>
                  </a:tcPr>
                </a:tc>
              </a:tr>
              <a:tr h="626745">
                <a:tc>
                  <a:txBody>
                    <a:bodyPr lIns="114300" tIns="76200" rIns="114300" bIns="76200">
                      <a:noAutofit/>
                    </a:bodyPr>
                    <a:lstStyle/>
                    <a:p>
                      <a:pPr algn="l"/>
                      <a:r>
                        <a:rPr sz="1875" b="0">
                          <a:solidFill>
                            <a:srgbClr val="14281D"/>
                          </a:solidFill>
                          <a:latin typeface="Arial"/>
                          <a:ea typeface="Arial"/>
                          <a:cs typeface="Arial"/>
                        </a:rPr>
                        <a:t>Household retention</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The next season’s paid bookings, not just app activity</a:t>
                      </a:r>
                    </a:p>
                  </a:txBody>
                  <a:tcPr marL="91440" marR="91440" marT="45720" marB="45720" anchor="ctr">
                    <a:solidFill>
                      <a:srgbClr val="FFFFFF"/>
                    </a:solidFill>
                  </a:tcPr>
                </a:tc>
              </a:tr>
              <a:tr h="626745">
                <a:tc>
                  <a:txBody>
                    <a:bodyPr lIns="114300" tIns="76200" rIns="114300" bIns="76200">
                      <a:noAutofit/>
                    </a:bodyPr>
                    <a:lstStyle/>
                    <a:p>
                      <a:pPr algn="l"/>
                      <a:r>
                        <a:rPr sz="1875" b="0">
                          <a:solidFill>
                            <a:srgbClr val="14281D"/>
                          </a:solidFill>
                          <a:latin typeface="Arial"/>
                          <a:ea typeface="Arial"/>
                          <a:cs typeface="Arial"/>
                        </a:rPr>
                        <a:t>Provider density</a:t>
                      </a:r>
                    </a:p>
                  </a:txBody>
                  <a:tcPr marL="91440" marR="91440" marT="45720" marB="45720" anchor="ctr">
                    <a:solidFill>
                      <a:srgbClr val="F7F5EF"/>
                    </a:solidFill>
                  </a:tcPr>
                </a:tc>
                <a:tc>
                  <a:txBody>
                    <a:bodyPr lIns="114300" tIns="76200" rIns="114300" bIns="76200">
                      <a:noAutofit/>
                    </a:bodyPr>
                    <a:lstStyle/>
                    <a:p>
                      <a:pPr algn="l"/>
                      <a:r>
                        <a:rPr sz="1875" b="0">
                          <a:solidFill>
                            <a:srgbClr val="14281D"/>
                          </a:solidFill>
                          <a:latin typeface="Arial"/>
                          <a:ea typeface="Arial"/>
                          <a:cs typeface="Arial"/>
                        </a:rPr>
                        <a:t>More completed jobs per service area and less unfilled demand</a:t>
                      </a:r>
                    </a:p>
                  </a:txBody>
                  <a:tcPr marL="91440" marR="91440" marT="45720" marB="45720" anchor="ctr">
                    <a:solidFill>
                      <a:srgbClr val="F7F5EF"/>
                    </a:solidFill>
                  </a:tcPr>
                </a:tc>
              </a:tr>
              <a:tr h="626745">
                <a:tc>
                  <a:txBody>
                    <a:bodyPr lIns="114300" tIns="76200" rIns="114300" bIns="76200">
                      <a:noAutofit/>
                    </a:bodyPr>
                    <a:lstStyle/>
                    <a:p>
                      <a:pPr algn="l"/>
                      <a:r>
                        <a:rPr sz="1875" b="0">
                          <a:solidFill>
                            <a:srgbClr val="14281D"/>
                          </a:solidFill>
                          <a:latin typeface="Arial"/>
                          <a:ea typeface="Arial"/>
                          <a:cs typeface="Arial"/>
                        </a:rPr>
                        <a:t>Acquisition efficiency</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Contribution earned relative to cost per first paying household</a:t>
                      </a:r>
                    </a:p>
                  </a:txBody>
                  <a:tcPr marL="91440" marR="91440" marT="45720" marB="45720" anchor="ctr">
                    <a:solidFill>
                      <a:srgbClr val="FFFFFF"/>
                    </a:solidFill>
                  </a:tcPr>
                </a:tc>
              </a:tr>
              <a:tr h="626745">
                <a:tc>
                  <a:txBody>
                    <a:bodyPr lIns="114300" tIns="76200" rIns="114300" bIns="76200">
                      <a:noAutofit/>
                    </a:bodyPr>
                    <a:lstStyle/>
                    <a:p>
                      <a:pPr algn="l"/>
                      <a:r>
                        <a:rPr sz="1875" b="0">
                          <a:solidFill>
                            <a:srgbClr val="14281D"/>
                          </a:solidFill>
                          <a:latin typeface="Arial"/>
                          <a:ea typeface="Arial"/>
                          <a:cs typeface="Arial"/>
                        </a:rPr>
                        <a:t>Operational reliability</a:t>
                      </a:r>
                    </a:p>
                  </a:txBody>
                  <a:tcPr marL="91440" marR="91440" marT="45720" marB="45720" anchor="ctr">
                    <a:solidFill>
                      <a:srgbClr val="F7F5EF"/>
                    </a:solidFill>
                  </a:tcPr>
                </a:tc>
                <a:tc>
                  <a:txBody>
                    <a:bodyPr lIns="114300" tIns="76200" rIns="114300" bIns="76200">
                      <a:noAutofit/>
                    </a:bodyPr>
                    <a:lstStyle/>
                    <a:p>
                      <a:pPr algn="l"/>
                      <a:r>
                        <a:rPr sz="1875" b="0">
                          <a:solidFill>
                            <a:srgbClr val="14281D"/>
                          </a:solidFill>
                          <a:latin typeface="Arial"/>
                          <a:ea typeface="Arial"/>
                          <a:cs typeface="Arial"/>
                        </a:rPr>
                        <a:t>On-time visits, fewer service issues and resolved payment failures</a:t>
                      </a:r>
                    </a:p>
                  </a:txBody>
                  <a:tcPr marL="91440" marR="91440" marT="45720" marB="45720" anchor="ctr">
                    <a:solidFill>
                      <a:srgbClr val="F7F5EF"/>
                    </a:solidFill>
                  </a:tcPr>
                </a:tc>
              </a:tr>
            </a:tbl>
          </a:graphicData>
        </a:graphic>
      </p:graphicFrame>
      <p:sp>
        <p:nvSpPr>
          <p:cNvPr id="6" name="The model assigns no revenue to subscriptions, pro">
            <a:extLst xmlns:a="http://schemas.openxmlformats.org/drawingml/2006/main">
              <a:ext uri="{FF2B5EF4-FFF2-40B4-BE49-F238E27FC236}">
                <a16:creationId xmlns:a16="http://schemas.microsoft.com/office/drawing/2014/main" id="{BB1C58FF-57FA-438B-A090-28D155A85585}"/>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The model assigns no revenue to subscriptions, provider recruiting fees, advertising or specialist cross-sell. These remain optional future tests.</a:t>
            </a:r>
          </a:p>
        </p:txBody>
      </p:sp>
    </p:spTree>
    <p:extLst>
      <p:ext uri="{BB962C8B-B14F-4D97-AF65-F5344CB8AC3E}">
        <p14:creationId xmlns:p14="http://schemas.microsoft.com/office/powerpoint/2010/main" val="1613099574"/>
      </p:ext>
    </p:extLst>
  </p:cSld>
</p:sld>
</file>

<file path=ppt/slides/slide1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The forecast makes the assumptions visible">
            <a:extLst xmlns:a="http://schemas.openxmlformats.org/drawingml/2006/main">
              <a:ext uri="{FF2B5EF4-FFF2-40B4-BE49-F238E27FC236}">
                <a16:creationId xmlns:a16="http://schemas.microsoft.com/office/drawing/2014/main" id="{76BF63DA-E8BF-4D78-BAC5-4126BD84B856}"/>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The forecast makes the assumptions visible</a:t>
            </a:r>
          </a:p>
        </p:txBody>
      </p:sp>
      <p:sp>
        <p:nvSpPr>
          <p:cNvPr id="2" name="2027-2033 calendar years. No historical operating ">
            <a:extLst xmlns:a="http://schemas.openxmlformats.org/drawingml/2006/main">
              <a:ext uri="{FF2B5EF4-FFF2-40B4-BE49-F238E27FC236}">
                <a16:creationId xmlns:a16="http://schemas.microsoft.com/office/drawing/2014/main" id="{A1424BB3-5D1B-4DAB-A81F-0E06A72F7A05}"/>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2027-2033 calendar years. No historical operating results are implied.</a:t>
            </a:r>
          </a:p>
        </p:txBody>
      </p:sp>
      <p:sp>
        <p:nvSpPr>
          <p:cNvPr id="3" name="YardMatch">
            <a:extLst xmlns:a="http://schemas.openxmlformats.org/drawingml/2006/main">
              <a:ext uri="{FF2B5EF4-FFF2-40B4-BE49-F238E27FC236}">
                <a16:creationId xmlns:a16="http://schemas.microsoft.com/office/drawing/2014/main" id="{5BC3C46F-99A3-425C-B74D-B11811E21472}"/>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3">
            <a:extLst xmlns:a="http://schemas.openxmlformats.org/drawingml/2006/main">
              <a:ext uri="{FF2B5EF4-FFF2-40B4-BE49-F238E27FC236}">
                <a16:creationId xmlns:a16="http://schemas.microsoft.com/office/drawing/2014/main" id="{6E16B7BE-EA1C-4FB8-9C76-2FA7CF1FC201}"/>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13</a:t>
            </a:r>
          </a:p>
        </p:txBody>
      </p:sp>
      <p:graphicFrame>
        <p:nvGraphicFramePr>
          <p:cNvPr id="11" name=""/>
          <p:cNvGraphicFramePr/>
          <p:nvPr/>
        </p:nvGraphicFramePr>
        <p:xfrm>
          <a:off xmlns:a="http://schemas.openxmlformats.org/drawingml/2006/main" x="609600" y="2352675"/>
          <a:ext xmlns:a="http://schemas.openxmlformats.org/drawingml/2006/main" cx="10972800" cy="3381375"/>
        </p:xfrm>
        <a:graphic xmlns:a="http://schemas.openxmlformats.org/drawingml/2006/main">
          <a:graphicData uri="http://schemas.openxmlformats.org/drawingml/2006/table">
            <a:tbl>
              <a:tblPr/>
              <a:tblGrid>
                <a:gridCol w="4857750"/>
                <a:gridCol w="2038350"/>
                <a:gridCol w="2038350"/>
                <a:gridCol w="2038350"/>
              </a:tblGrid>
              <a:tr h="483054">
                <a:tc>
                  <a:txBody>
                    <a:bodyPr lIns="114300" tIns="76200" rIns="114300" bIns="76200">
                      <a:noAutofit/>
                    </a:bodyPr>
                    <a:lstStyle/>
                    <a:p>
                      <a:pPr algn="l"/>
                      <a:r>
                        <a:rPr sz="1650" b="1">
                          <a:solidFill>
                            <a:srgbClr val="FFFFFF"/>
                          </a:solidFill>
                          <a:latin typeface="Arial"/>
                          <a:ea typeface="Arial"/>
                          <a:cs typeface="Arial"/>
                        </a:rPr>
                        <a:t>Driver</a:t>
                      </a:r>
                    </a:p>
                  </a:txBody>
                  <a:tcPr marL="91440" marR="91440" marT="45720" marB="45720" anchor="ctr">
                    <a:solidFill>
                      <a:srgbClr val="205938"/>
                    </a:solidFill>
                  </a:tcPr>
                </a:tc>
                <a:tc>
                  <a:txBody>
                    <a:bodyPr lIns="114300" tIns="76200" rIns="114300" bIns="76200">
                      <a:noAutofit/>
                    </a:bodyPr>
                    <a:lstStyle/>
                    <a:p>
                      <a:pPr algn="l"/>
                      <a:r>
                        <a:rPr sz="1650" b="1">
                          <a:solidFill>
                            <a:srgbClr val="FFFFFF"/>
                          </a:solidFill>
                          <a:latin typeface="Arial"/>
                          <a:ea typeface="Arial"/>
                          <a:cs typeface="Arial"/>
                        </a:rPr>
                        <a:t>Downside</a:t>
                      </a:r>
                    </a:p>
                  </a:txBody>
                  <a:tcPr marL="91440" marR="91440" marT="45720" marB="45720" anchor="ctr">
                    <a:solidFill>
                      <a:srgbClr val="205938"/>
                    </a:solidFill>
                  </a:tcPr>
                </a:tc>
                <a:tc>
                  <a:txBody>
                    <a:bodyPr lIns="114300" tIns="76200" rIns="114300" bIns="76200">
                      <a:noAutofit/>
                    </a:bodyPr>
                    <a:lstStyle/>
                    <a:p>
                      <a:pPr algn="l"/>
                      <a:r>
                        <a:rPr sz="1650" b="1">
                          <a:solidFill>
                            <a:srgbClr val="FFFFFF"/>
                          </a:solidFill>
                          <a:latin typeface="Arial"/>
                          <a:ea typeface="Arial"/>
                          <a:cs typeface="Arial"/>
                        </a:rPr>
                        <a:t>Base</a:t>
                      </a:r>
                    </a:p>
                  </a:txBody>
                  <a:tcPr marL="91440" marR="91440" marT="45720" marB="45720" anchor="ctr">
                    <a:solidFill>
                      <a:srgbClr val="205938"/>
                    </a:solidFill>
                  </a:tcPr>
                </a:tc>
                <a:tc>
                  <a:txBody>
                    <a:bodyPr lIns="114300" tIns="76200" rIns="114300" bIns="76200">
                      <a:noAutofit/>
                    </a:bodyPr>
                    <a:lstStyle/>
                    <a:p>
                      <a:pPr algn="l"/>
                      <a:r>
                        <a:rPr sz="1650" b="1">
                          <a:solidFill>
                            <a:srgbClr val="FFFFFF"/>
                          </a:solidFill>
                          <a:latin typeface="Arial"/>
                          <a:ea typeface="Arial"/>
                          <a:cs typeface="Arial"/>
                        </a:rPr>
                        <a:t>Upside</a:t>
                      </a:r>
                    </a:p>
                  </a:txBody>
                  <a:tcPr marL="91440" marR="91440" marT="45720" marB="45720" anchor="ctr">
                    <a:solidFill>
                      <a:srgbClr val="205938"/>
                    </a:solidFill>
                  </a:tcPr>
                </a:tc>
              </a:tr>
              <a:tr h="483054">
                <a:tc>
                  <a:txBody>
                    <a:bodyPr lIns="114300" tIns="76200" rIns="114300" bIns="76200">
                      <a:noAutofit/>
                    </a:bodyPr>
                    <a:lstStyle/>
                    <a:p>
                      <a:pPr algn="l"/>
                      <a:r>
                        <a:rPr sz="1650" b="0">
                          <a:solidFill>
                            <a:srgbClr val="14281D"/>
                          </a:solidFill>
                          <a:latin typeface="Arial"/>
                          <a:ea typeface="Arial"/>
                          <a:cs typeface="Arial"/>
                        </a:rPr>
                        <a:t>New paying households, 2027 / 2033</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300 / 40,000</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500 / 160,000</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500 / 280,000</a:t>
                      </a:r>
                    </a:p>
                  </a:txBody>
                  <a:tcPr marL="91440" marR="91440" marT="45720" marB="45720" anchor="ctr">
                    <a:solidFill>
                      <a:srgbClr val="FFFFFF"/>
                    </a:solidFill>
                  </a:tcPr>
                </a:tc>
              </a:tr>
              <a:tr h="483054">
                <a:tc>
                  <a:txBody>
                    <a:bodyPr lIns="114300" tIns="76200" rIns="114300" bIns="76200">
                      <a:noAutofit/>
                    </a:bodyPr>
                    <a:lstStyle/>
                    <a:p>
                      <a:pPr algn="l"/>
                      <a:r>
                        <a:rPr sz="1650" b="0">
                          <a:solidFill>
                            <a:srgbClr val="14281D"/>
                          </a:solidFill>
                          <a:latin typeface="Arial"/>
                          <a:ea typeface="Arial"/>
                          <a:cs typeface="Arial"/>
                        </a:rPr>
                        <a:t>Annual retention by 2033</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65%</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80%</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85%</a:t>
                      </a:r>
                    </a:p>
                  </a:txBody>
                  <a:tcPr marL="91440" marR="91440" marT="45720" marB="45720" anchor="ctr">
                    <a:solidFill>
                      <a:srgbClr val="F7F5EF"/>
                    </a:solidFill>
                  </a:tcPr>
                </a:tc>
              </a:tr>
              <a:tr h="483054">
                <a:tc>
                  <a:txBody>
                    <a:bodyPr lIns="114300" tIns="76200" rIns="114300" bIns="76200">
                      <a:noAutofit/>
                    </a:bodyPr>
                    <a:lstStyle/>
                    <a:p>
                      <a:pPr algn="l"/>
                      <a:r>
                        <a:rPr sz="1650" b="0">
                          <a:solidFill>
                            <a:srgbClr val="14281D"/>
                          </a:solidFill>
                          <a:latin typeface="Arial"/>
                          <a:ea typeface="Arial"/>
                          <a:cs typeface="Arial"/>
                        </a:rPr>
                        <a:t>Scheduled visits per full season</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16</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20</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24</a:t>
                      </a:r>
                    </a:p>
                  </a:txBody>
                  <a:tcPr marL="91440" marR="91440" marT="45720" marB="45720" anchor="ctr">
                    <a:solidFill>
                      <a:srgbClr val="FFFFFF"/>
                    </a:solidFill>
                  </a:tcPr>
                </a:tc>
              </a:tr>
              <a:tr h="483054">
                <a:tc>
                  <a:txBody>
                    <a:bodyPr lIns="114300" tIns="76200" rIns="114300" bIns="76200">
                      <a:noAutofit/>
                    </a:bodyPr>
                    <a:lstStyle/>
                    <a:p>
                      <a:pPr algn="l"/>
                      <a:r>
                        <a:rPr sz="1650" b="0">
                          <a:solidFill>
                            <a:srgbClr val="14281D"/>
                          </a:solidFill>
                          <a:latin typeface="Arial"/>
                          <a:ea typeface="Arial"/>
                          <a:cs typeface="Arial"/>
                        </a:rPr>
                        <a:t>Visits kept on platform</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80%</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90%</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95%</a:t>
                      </a:r>
                    </a:p>
                  </a:txBody>
                  <a:tcPr marL="91440" marR="91440" marT="45720" marB="45720" anchor="ctr">
                    <a:solidFill>
                      <a:srgbClr val="F7F5EF"/>
                    </a:solidFill>
                  </a:tcPr>
                </a:tc>
              </a:tr>
              <a:tr h="483054">
                <a:tc>
                  <a:txBody>
                    <a:bodyPr lIns="114300" tIns="76200" rIns="114300" bIns="76200">
                      <a:noAutofit/>
                    </a:bodyPr>
                    <a:lstStyle/>
                    <a:p>
                      <a:pPr algn="l"/>
                      <a:r>
                        <a:rPr sz="1650" b="0">
                          <a:solidFill>
                            <a:srgbClr val="14281D"/>
                          </a:solidFill>
                          <a:latin typeface="Arial"/>
                          <a:ea typeface="Arial"/>
                          <a:cs typeface="Arial"/>
                        </a:rPr>
                        <a:t>ACH share, 2027 / 2033</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0% / 20%</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10% / 60%</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20% / 75%</a:t>
                      </a:r>
                    </a:p>
                  </a:txBody>
                  <a:tcPr marL="91440" marR="91440" marT="45720" marB="45720" anchor="ctr">
                    <a:solidFill>
                      <a:srgbClr val="FFFFFF"/>
                    </a:solidFill>
                  </a:tcPr>
                </a:tc>
              </a:tr>
              <a:tr h="483054">
                <a:tc>
                  <a:txBody>
                    <a:bodyPr lIns="114300" tIns="76200" rIns="114300" bIns="76200">
                      <a:noAutofit/>
                    </a:bodyPr>
                    <a:lstStyle/>
                    <a:p>
                      <a:pPr algn="l"/>
                      <a:r>
                        <a:rPr sz="1650" b="0">
                          <a:solidFill>
                            <a:srgbClr val="14281D"/>
                          </a:solidFill>
                          <a:latin typeface="Arial"/>
                          <a:ea typeface="Arial"/>
                          <a:cs typeface="Arial"/>
                        </a:rPr>
                        <a:t>Cash CAC, 2027 / 2033</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$75 / $50</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$55 / $28</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$45 / $22</a:t>
                      </a:r>
                    </a:p>
                  </a:txBody>
                  <a:tcPr marL="91440" marR="91440" marT="45720" marB="45720" anchor="ctr">
                    <a:solidFill>
                      <a:srgbClr val="F7F5EF"/>
                    </a:solidFill>
                  </a:tcPr>
                </a:tc>
              </a:tr>
            </a:tbl>
          </a:graphicData>
        </a:graphic>
      </p:graphicFrame>
      <p:sp>
        <p:nvSpPr>
          <p:cNvPr id="6" name="Base: $60 service ticket, 95% completion/collectio">
            <a:extLst xmlns:a="http://schemas.openxmlformats.org/drawingml/2006/main">
              <a:ext uri="{FF2B5EF4-FFF2-40B4-BE49-F238E27FC236}">
                <a16:creationId xmlns:a16="http://schemas.microsoft.com/office/drawing/2014/main" id="{C98DAFC3-A999-49EA-A2C7-9F6766F5BF41}"/>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Base: $60 service ticket, 95% completion/collection, eight payout-active months, 3 to 36 paid employees. All cases retain $45 plus $2.99 pricing.</a:t>
            </a:r>
          </a:p>
        </p:txBody>
      </p:sp>
    </p:spTree>
    <p:extLst>
      <p:ext uri="{BB962C8B-B14F-4D97-AF65-F5344CB8AC3E}">
        <p14:creationId xmlns:p14="http://schemas.microsoft.com/office/powerpoint/2010/main" val="688928775"/>
      </p:ext>
    </p:extLst>
  </p:cSld>
</p:sld>
</file>

<file path=ppt/slides/slide1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Base revenue reaches $17.9m in 2033">
            <a:extLst xmlns:a="http://schemas.openxmlformats.org/drawingml/2006/main">
              <a:ext uri="{FF2B5EF4-FFF2-40B4-BE49-F238E27FC236}">
                <a16:creationId xmlns:a16="http://schemas.microsoft.com/office/drawing/2014/main" id="{324134F8-1E2E-464E-BB5C-9A7357B7FB26}"/>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Base revenue reaches $17.9m in 2033</a:t>
            </a:r>
          </a:p>
        </p:txBody>
      </p:sp>
      <p:sp>
        <p:nvSpPr>
          <p:cNvPr id="2" name="Net marketplace revenue, US$ millions. Finder fees">
            <a:extLst xmlns:a="http://schemas.openxmlformats.org/drawingml/2006/main">
              <a:ext uri="{FF2B5EF4-FFF2-40B4-BE49-F238E27FC236}">
                <a16:creationId xmlns:a16="http://schemas.microsoft.com/office/drawing/2014/main" id="{821CEECE-2ADE-4DC6-BE1D-65F60A6AF725}"/>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Net marketplace revenue, US$ millions. Finder fees and recurring fees are distinct revenue streams.</a:t>
            </a:r>
          </a:p>
        </p:txBody>
      </p:sp>
      <p:sp>
        <p:nvSpPr>
          <p:cNvPr id="3" name="YardMatch">
            <a:extLst xmlns:a="http://schemas.openxmlformats.org/drawingml/2006/main">
              <a:ext uri="{FF2B5EF4-FFF2-40B4-BE49-F238E27FC236}">
                <a16:creationId xmlns:a16="http://schemas.microsoft.com/office/drawing/2014/main" id="{62195070-7020-4571-AA69-D4EEC6A9171D}"/>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4">
            <a:extLst xmlns:a="http://schemas.openxmlformats.org/drawingml/2006/main">
              <a:ext uri="{FF2B5EF4-FFF2-40B4-BE49-F238E27FC236}">
                <a16:creationId xmlns:a16="http://schemas.microsoft.com/office/drawing/2014/main" id="{7D2F77EA-75F1-48A2-8BE6-481FEF92FD61}"/>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14</a:t>
            </a:r>
          </a:p>
        </p:txBody>
      </p:sp>
      <p:graphicFrame>
        <p:nvGraphicFramePr>
          <p:cNvPr id="11" name="Chart"/>
          <p:cNvGraphicFramePr/>
          <p:nvPr/>
        </p:nvGraphicFramePr>
        <p:xfrm>
          <a:off xmlns:a="http://schemas.openxmlformats.org/drawingml/2006/main" x="590550" y="2286000"/>
          <a:ext xmlns:a="http://schemas.openxmlformats.org/drawingml/2006/main" cx="11010900" cy="3362325"/>
        </p:xfrm>
        <a:graphic xmlns:a="http://schemas.openxmlformats.org/drawingml/2006/main">
          <a:graphicData uri="http://schemas.openxmlformats.org/drawingml/2006/chart">
            <c:chart xmlns:r="http://schemas.openxmlformats.org/officeDocument/2006/relationships" xmlns:c="http://schemas.openxmlformats.org/drawingml/2006/chart" r:id="Rbdf6d5ba73a64c54"/>
          </a:graphicData>
        </a:graphic>
      </p:graphicFrame>
      <p:sp>
        <p:nvSpPr>
          <p:cNvPr id="6" name="Base 2033: 292,448 year-end paying households, 3.6">
            <a:extLst xmlns:a="http://schemas.openxmlformats.org/drawingml/2006/main">
              <a:ext uri="{FF2B5EF4-FFF2-40B4-BE49-F238E27FC236}">
                <a16:creationId xmlns:a16="http://schemas.microsoft.com/office/drawing/2014/main" id="{2A19E698-0667-472D-A813-009B35C95C40}"/>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Base 2033: 292,448 year-end paying households, 3.63m paid visits and $218.0m GMV. The $218.0m is service volume, not YardMatch revenue.</a:t>
            </a:r>
          </a:p>
        </p:txBody>
      </p:sp>
    </p:spTree>
    <p:extLst>
      <p:ext uri="{BB962C8B-B14F-4D97-AF65-F5344CB8AC3E}">
        <p14:creationId xmlns:p14="http://schemas.microsoft.com/office/powerpoint/2010/main" val="400130749"/>
      </p:ext>
    </p:extLst>
  </p:cSld>
</p:sld>
</file>

<file path=ppt/slides/slide1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Base operating profitability arrives in 2033">
            <a:extLst xmlns:a="http://schemas.openxmlformats.org/drawingml/2006/main">
              <a:ext uri="{FF2B5EF4-FFF2-40B4-BE49-F238E27FC236}">
                <a16:creationId xmlns:a16="http://schemas.microsoft.com/office/drawing/2014/main" id="{A11FC45E-8BA0-4E04-8BB6-3DE3096AEAE0}"/>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Base operating profitability arrives in 2033</a:t>
            </a:r>
          </a:p>
        </p:txBody>
      </p:sp>
      <p:sp>
        <p:nvSpPr>
          <p:cNvPr id="2" name="US$ millions. The company funds several loss-makin">
            <a:extLst xmlns:a="http://schemas.openxmlformats.org/drawingml/2006/main">
              <a:ext uri="{FF2B5EF4-FFF2-40B4-BE49-F238E27FC236}">
                <a16:creationId xmlns:a16="http://schemas.microsoft.com/office/drawing/2014/main" id="{247280F5-B5AC-40A1-80DA-6032B867AE5C}"/>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US$ millions. The company funds several loss-making years before reaching this scale.</a:t>
            </a:r>
          </a:p>
        </p:txBody>
      </p:sp>
      <p:sp>
        <p:nvSpPr>
          <p:cNvPr id="3" name="YardMatch">
            <a:extLst xmlns:a="http://schemas.openxmlformats.org/drawingml/2006/main">
              <a:ext uri="{FF2B5EF4-FFF2-40B4-BE49-F238E27FC236}">
                <a16:creationId xmlns:a16="http://schemas.microsoft.com/office/drawing/2014/main" id="{A4B6A1E5-CB59-45F4-9610-8535A324B544}"/>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5">
            <a:extLst xmlns:a="http://schemas.openxmlformats.org/drawingml/2006/main">
              <a:ext uri="{FF2B5EF4-FFF2-40B4-BE49-F238E27FC236}">
                <a16:creationId xmlns:a16="http://schemas.microsoft.com/office/drawing/2014/main" id="{5ADEFB46-C733-4D5D-BF38-3059A874888D}"/>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15</a:t>
            </a:r>
          </a:p>
        </p:txBody>
      </p:sp>
      <p:graphicFrame>
        <p:nvGraphicFramePr>
          <p:cNvPr id="11" name=""/>
          <p:cNvGraphicFramePr/>
          <p:nvPr/>
        </p:nvGraphicFramePr>
        <p:xfrm>
          <a:off xmlns:a="http://schemas.openxmlformats.org/drawingml/2006/main" x="609600" y="2343150"/>
          <a:ext xmlns:a="http://schemas.openxmlformats.org/drawingml/2006/main" cx="10972800" cy="3228975"/>
        </p:xfrm>
        <a:graphic xmlns:a="http://schemas.openxmlformats.org/drawingml/2006/main">
          <a:graphicData uri="http://schemas.openxmlformats.org/drawingml/2006/table">
            <a:tbl>
              <a:tblPr/>
              <a:tblGrid>
                <a:gridCol w="2571750"/>
                <a:gridCol w="1200150"/>
                <a:gridCol w="1200150"/>
                <a:gridCol w="1200150"/>
                <a:gridCol w="1200150"/>
                <a:gridCol w="1200150"/>
                <a:gridCol w="1200150"/>
                <a:gridCol w="1200150"/>
              </a:tblGrid>
              <a:tr h="461282">
                <a:tc>
                  <a:txBody>
                    <a:bodyPr lIns="114300" tIns="76200" rIns="114300" bIns="76200">
                      <a:noAutofit/>
                    </a:bodyPr>
                    <a:lstStyle/>
                    <a:p>
                      <a:pPr algn="l"/>
                      <a:r>
                        <a:rPr sz="1500" b="1">
                          <a:solidFill>
                            <a:srgbClr val="FFFFFF"/>
                          </a:solidFill>
                          <a:latin typeface="Arial"/>
                          <a:ea typeface="Arial"/>
                          <a:cs typeface="Arial"/>
                        </a:rPr>
                        <a:t>Base forecast</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2027</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2028</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2029</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2030</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2031</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2032</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2033</a:t>
                      </a:r>
                    </a:p>
                  </a:txBody>
                  <a:tcPr marL="91440" marR="91440" marT="45720" marB="45720" anchor="ctr">
                    <a:solidFill>
                      <a:srgbClr val="205938"/>
                    </a:solidFill>
                  </a:tcPr>
                </a:tc>
              </a:tr>
              <a:tr h="461282">
                <a:tc>
                  <a:txBody>
                    <a:bodyPr lIns="114300" tIns="76200" rIns="114300" bIns="76200">
                      <a:noAutofit/>
                    </a:bodyPr>
                    <a:lstStyle/>
                    <a:p>
                      <a:pPr algn="l"/>
                      <a:r>
                        <a:rPr sz="1500" b="0">
                          <a:solidFill>
                            <a:srgbClr val="14281D"/>
                          </a:solidFill>
                          <a:latin typeface="Arial"/>
                          <a:ea typeface="Arial"/>
                          <a:cs typeface="Arial"/>
                        </a:rPr>
                        <a:t>Revenue</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$0.03</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$0.19</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$0.73</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$2.18</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$5.20</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$10.30</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$17.89</a:t>
                      </a:r>
                    </a:p>
                  </a:txBody>
                  <a:tcPr marL="91440" marR="91440" marT="45720" marB="45720" anchor="ctr">
                    <a:solidFill>
                      <a:srgbClr val="FFFFFF"/>
                    </a:solidFill>
                  </a:tcPr>
                </a:tc>
              </a:tr>
              <a:tr h="461282">
                <a:tc>
                  <a:txBody>
                    <a:bodyPr lIns="114300" tIns="76200" rIns="114300" bIns="76200">
                      <a:noAutofit/>
                    </a:bodyPr>
                    <a:lstStyle/>
                    <a:p>
                      <a:pPr algn="l"/>
                      <a:r>
                        <a:rPr sz="1500" b="0">
                          <a:solidFill>
                            <a:srgbClr val="14281D"/>
                          </a:solidFill>
                          <a:latin typeface="Arial"/>
                          <a:ea typeface="Arial"/>
                          <a:cs typeface="Arial"/>
                        </a:rPr>
                        <a:t>Gross profit</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$0.02</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$0.12</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$0.47</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$1.38</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$3.29</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$6.41</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$11.02</a:t>
                      </a:r>
                    </a:p>
                  </a:txBody>
                  <a:tcPr marL="91440" marR="91440" marT="45720" marB="45720" anchor="ctr">
                    <a:solidFill>
                      <a:srgbClr val="F7F5EF"/>
                    </a:solidFill>
                  </a:tcPr>
                </a:tc>
              </a:tr>
              <a:tr h="461282">
                <a:tc>
                  <a:txBody>
                    <a:bodyPr lIns="114300" tIns="76200" rIns="114300" bIns="76200">
                      <a:noAutofit/>
                    </a:bodyPr>
                    <a:lstStyle/>
                    <a:p>
                      <a:pPr algn="l"/>
                      <a:r>
                        <a:rPr sz="1500" b="1">
                          <a:solidFill>
                            <a:srgbClr val="14281D"/>
                          </a:solidFill>
                          <a:latin typeface="Arial"/>
                          <a:ea typeface="Arial"/>
                          <a:cs typeface="Arial"/>
                        </a:rPr>
                        <a:t>EBITDA</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($0.37)</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($0.63)</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($0.99)</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($1.29)</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($1.30)</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($0.62)</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$0.78</a:t>
                      </a:r>
                    </a:p>
                  </a:txBody>
                  <a:tcPr marL="91440" marR="91440" marT="45720" marB="45720" anchor="ctr">
                    <a:solidFill>
                      <a:srgbClr val="E8EDDF"/>
                    </a:solidFill>
                  </a:tcPr>
                </a:tc>
              </a:tr>
              <a:tr h="461282">
                <a:tc>
                  <a:txBody>
                    <a:bodyPr lIns="114300" tIns="76200" rIns="114300" bIns="76200">
                      <a:noAutofit/>
                    </a:bodyPr>
                    <a:lstStyle/>
                    <a:p>
                      <a:pPr algn="l"/>
                      <a:r>
                        <a:rPr sz="1500" b="0">
                          <a:solidFill>
                            <a:srgbClr val="14281D"/>
                          </a:solidFill>
                          <a:latin typeface="Arial"/>
                          <a:ea typeface="Arial"/>
                          <a:cs typeface="Arial"/>
                        </a:rPr>
                        <a:t>Operating profit</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($0.37)</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($0.64)</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($1.02)</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($1.33)</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($1.36)</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($0.72)</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$0.64</a:t>
                      </a:r>
                    </a:p>
                  </a:txBody>
                  <a:tcPr marL="91440" marR="91440" marT="45720" marB="45720" anchor="ctr">
                    <a:solidFill>
                      <a:srgbClr val="F7F5EF"/>
                    </a:solidFill>
                  </a:tcPr>
                </a:tc>
              </a:tr>
              <a:tr h="461282">
                <a:tc>
                  <a:txBody>
                    <a:bodyPr lIns="114300" tIns="76200" rIns="114300" bIns="76200">
                      <a:noAutofit/>
                    </a:bodyPr>
                    <a:lstStyle/>
                    <a:p>
                      <a:pPr algn="l"/>
                      <a:r>
                        <a:rPr sz="1500" b="1">
                          <a:solidFill>
                            <a:srgbClr val="14281D"/>
                          </a:solidFill>
                          <a:latin typeface="Arial"/>
                          <a:ea typeface="Arial"/>
                          <a:cs typeface="Arial"/>
                        </a:rPr>
                        <a:t>Net income proxy</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($0.37)</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($0.64)</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($1.02)</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($1.33)</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($1.36)</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($0.72)</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$0.48</a:t>
                      </a:r>
                    </a:p>
                  </a:txBody>
                  <a:tcPr marL="91440" marR="91440" marT="45720" marB="45720" anchor="ctr">
                    <a:solidFill>
                      <a:srgbClr val="E8EDDF"/>
                    </a:solidFill>
                  </a:tcPr>
                </a:tc>
              </a:tr>
              <a:tr h="461282">
                <a:tc>
                  <a:txBody>
                    <a:bodyPr lIns="114300" tIns="76200" rIns="114300" bIns="76200">
                      <a:noAutofit/>
                    </a:bodyPr>
                    <a:lstStyle/>
                    <a:p>
                      <a:pPr algn="l"/>
                      <a:r>
                        <a:rPr sz="1500" b="0">
                          <a:solidFill>
                            <a:srgbClr val="14281D"/>
                          </a:solidFill>
                          <a:latin typeface="Arial"/>
                          <a:ea typeface="Arial"/>
                          <a:cs typeface="Arial"/>
                        </a:rPr>
                        <a:t>Free cash flow</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($0.38)</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($0.67)</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($1.09)</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($1.50)</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($1.73)</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($1.38)</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($0.56)</a:t>
                      </a:r>
                    </a:p>
                  </a:txBody>
                  <a:tcPr marL="91440" marR="91440" marT="45720" marB="45720" anchor="ctr">
                    <a:solidFill>
                      <a:srgbClr val="F7F5EF"/>
                    </a:solidFill>
                  </a:tcPr>
                </a:tc>
              </a:tr>
            </a:tbl>
          </a:graphicData>
        </a:graphic>
      </p:graphicFrame>
      <p:sp>
        <p:nvSpPr>
          <p:cNvPr id="6" name="2033 net income is $0.48m, while free cash flow is">
            <a:extLst xmlns:a="http://schemas.openxmlformats.org/drawingml/2006/main">
              <a:ext uri="{FF2B5EF4-FFF2-40B4-BE49-F238E27FC236}">
                <a16:creationId xmlns:a16="http://schemas.microsoft.com/office/drawing/2014/main" id="{F9F5D652-B9EE-432D-A7CF-AC2164F6BDCF}"/>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2033 net income is $0.48m, while free cash flow is ($0.56m) because growth requires more risk cash and equipment. Profit and cash generation differ.</a:t>
            </a:r>
          </a:p>
        </p:txBody>
      </p:sp>
    </p:spTree>
    <p:extLst>
      <p:ext uri="{BB962C8B-B14F-4D97-AF65-F5344CB8AC3E}">
        <p14:creationId xmlns:p14="http://schemas.microsoft.com/office/powerpoint/2010/main" val="1402777818"/>
      </p:ext>
    </p:extLst>
  </p:cSld>
</p:sld>
</file>

<file path=ppt/slides/slide1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Returns depend on execution, not volume alone">
            <a:extLst xmlns:a="http://schemas.openxmlformats.org/drawingml/2006/main">
              <a:ext uri="{FF2B5EF4-FFF2-40B4-BE49-F238E27FC236}">
                <a16:creationId xmlns:a16="http://schemas.microsoft.com/office/drawing/2014/main" id="{94E65467-54E3-4164-A699-2AD8B49CE301}"/>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Returns depend on execution, not volume alone</a:t>
            </a:r>
          </a:p>
        </p:txBody>
      </p:sp>
      <p:sp>
        <p:nvSpPr>
          <p:cNvPr id="2" name="All three cases use the same provider pricing. Ret">
            <a:extLst xmlns:a="http://schemas.openxmlformats.org/drawingml/2006/main">
              <a:ext uri="{FF2B5EF4-FFF2-40B4-BE49-F238E27FC236}">
                <a16:creationId xmlns:a16="http://schemas.microsoft.com/office/drawing/2014/main" id="{D09780BE-240F-4497-9B49-05576452486E}"/>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All three cases use the same provider pricing. Retention, acquisition and payment mix change the outcome.</a:t>
            </a:r>
          </a:p>
        </p:txBody>
      </p:sp>
      <p:sp>
        <p:nvSpPr>
          <p:cNvPr id="3" name="YardMatch">
            <a:extLst xmlns:a="http://schemas.openxmlformats.org/drawingml/2006/main">
              <a:ext uri="{FF2B5EF4-FFF2-40B4-BE49-F238E27FC236}">
                <a16:creationId xmlns:a16="http://schemas.microsoft.com/office/drawing/2014/main" id="{848DF1D0-4D47-4A15-908B-D1E1476039C9}"/>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6">
            <a:extLst xmlns:a="http://schemas.openxmlformats.org/drawingml/2006/main">
              <a:ext uri="{FF2B5EF4-FFF2-40B4-BE49-F238E27FC236}">
                <a16:creationId xmlns:a16="http://schemas.microsoft.com/office/drawing/2014/main" id="{FCFA0749-E51B-4A6F-A505-282D2D7275ED}"/>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16</a:t>
            </a:r>
          </a:p>
        </p:txBody>
      </p:sp>
      <p:graphicFrame>
        <p:nvGraphicFramePr>
          <p:cNvPr id="11" name=""/>
          <p:cNvGraphicFramePr/>
          <p:nvPr/>
        </p:nvGraphicFramePr>
        <p:xfrm>
          <a:off xmlns:a="http://schemas.openxmlformats.org/drawingml/2006/main" x="609600" y="2371725"/>
          <a:ext xmlns:a="http://schemas.openxmlformats.org/drawingml/2006/main" cx="10972800" cy="3057525"/>
        </p:xfrm>
        <a:graphic xmlns:a="http://schemas.openxmlformats.org/drawingml/2006/main">
          <a:graphicData uri="http://schemas.openxmlformats.org/drawingml/2006/table">
            <a:tbl>
              <a:tblPr/>
              <a:tblGrid>
                <a:gridCol w="4600575"/>
                <a:gridCol w="2124075"/>
                <a:gridCol w="2124075"/>
                <a:gridCol w="2124075"/>
              </a:tblGrid>
              <a:tr h="509588">
                <a:tc>
                  <a:txBody>
                    <a:bodyPr lIns="114300" tIns="76200" rIns="114300" bIns="76200">
                      <a:noAutofit/>
                    </a:bodyPr>
                    <a:lstStyle/>
                    <a:p>
                      <a:pPr algn="l"/>
                      <a:r>
                        <a:rPr sz="1800" b="1">
                          <a:solidFill>
                            <a:srgbClr val="FFFFFF"/>
                          </a:solidFill>
                          <a:latin typeface="Arial"/>
                          <a:ea typeface="Arial"/>
                          <a:cs typeface="Arial"/>
                        </a:rPr>
                        <a:t>Result</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Downside</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Base</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Upside</a:t>
                      </a:r>
                    </a:p>
                  </a:txBody>
                  <a:tcPr marL="91440" marR="91440" marT="45720" marB="45720" anchor="ctr">
                    <a:solidFill>
                      <a:srgbClr val="205938"/>
                    </a:solidFill>
                  </a:tcPr>
                </a:tc>
              </a:tr>
              <a:tr h="509588">
                <a:tc>
                  <a:txBody>
                    <a:bodyPr lIns="114300" tIns="76200" rIns="114300" bIns="76200">
                      <a:noAutofit/>
                    </a:bodyPr>
                    <a:lstStyle/>
                    <a:p>
                      <a:pPr algn="l"/>
                      <a:r>
                        <a:rPr sz="1800" b="0">
                          <a:solidFill>
                            <a:srgbClr val="14281D"/>
                          </a:solidFill>
                          <a:latin typeface="Arial"/>
                          <a:ea typeface="Arial"/>
                          <a:cs typeface="Arial"/>
                        </a:rPr>
                        <a:t>2031 revenue</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$1.16m</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$5.20m</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$9.21m</a:t>
                      </a:r>
                    </a:p>
                  </a:txBody>
                  <a:tcPr marL="91440" marR="91440" marT="45720" marB="45720" anchor="ctr">
                    <a:solidFill>
                      <a:srgbClr val="FFFFFF"/>
                    </a:solidFill>
                  </a:tcPr>
                </a:tc>
              </a:tr>
              <a:tr h="509588">
                <a:tc>
                  <a:txBody>
                    <a:bodyPr lIns="114300" tIns="76200" rIns="114300" bIns="76200">
                      <a:noAutofit/>
                    </a:bodyPr>
                    <a:lstStyle/>
                    <a:p>
                      <a:pPr algn="l"/>
                      <a:r>
                        <a:rPr sz="1800" b="0">
                          <a:solidFill>
                            <a:srgbClr val="14281D"/>
                          </a:solidFill>
                          <a:latin typeface="Arial"/>
                          <a:ea typeface="Arial"/>
                          <a:cs typeface="Arial"/>
                        </a:rPr>
                        <a:t>2031 EBITDA</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($1.61)m</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($1.30)m</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$0.37m</a:t>
                      </a:r>
                    </a:p>
                  </a:txBody>
                  <a:tcPr marL="91440" marR="91440" marT="45720" marB="45720" anchor="ctr">
                    <a:solidFill>
                      <a:srgbClr val="F7F5EF"/>
                    </a:solidFill>
                  </a:tcPr>
                </a:tc>
              </a:tr>
              <a:tr h="509588">
                <a:tc>
                  <a:txBody>
                    <a:bodyPr lIns="114300" tIns="76200" rIns="114300" bIns="76200">
                      <a:noAutofit/>
                    </a:bodyPr>
                    <a:lstStyle/>
                    <a:p>
                      <a:pPr algn="l"/>
                      <a:r>
                        <a:rPr sz="1800" b="0">
                          <a:solidFill>
                            <a:srgbClr val="14281D"/>
                          </a:solidFill>
                          <a:latin typeface="Arial"/>
                          <a:ea typeface="Arial"/>
                          <a:cs typeface="Arial"/>
                        </a:rPr>
                        <a:t>2033 revenue</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$3.33m</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$17.89m</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$37.09m</a:t>
                      </a:r>
                    </a:p>
                  </a:txBody>
                  <a:tcPr marL="91440" marR="91440" marT="45720" marB="45720" anchor="ctr">
                    <a:solidFill>
                      <a:srgbClr val="FFFFFF"/>
                    </a:solidFill>
                  </a:tcPr>
                </a:tc>
              </a:tr>
              <a:tr h="509588">
                <a:tc>
                  <a:txBody>
                    <a:bodyPr lIns="114300" tIns="76200" rIns="114300" bIns="76200">
                      <a:noAutofit/>
                    </a:bodyPr>
                    <a:lstStyle/>
                    <a:p>
                      <a:pPr algn="l"/>
                      <a:r>
                        <a:rPr sz="1800" b="1">
                          <a:solidFill>
                            <a:srgbClr val="14281D"/>
                          </a:solidFill>
                          <a:latin typeface="Arial"/>
                          <a:ea typeface="Arial"/>
                          <a:cs typeface="Arial"/>
                        </a:rPr>
                        <a:t>2033 net income proxy</a:t>
                      </a:r>
                    </a:p>
                  </a:txBody>
                  <a:tcPr marL="91440" marR="91440" marT="45720" marB="45720" anchor="ctr">
                    <a:solidFill>
                      <a:srgbClr val="E8EDDF"/>
                    </a:solidFill>
                  </a:tcPr>
                </a:tc>
                <a:tc>
                  <a:txBody>
                    <a:bodyPr lIns="114300" tIns="76200" rIns="114300" bIns="76200">
                      <a:noAutofit/>
                    </a:bodyPr>
                    <a:lstStyle/>
                    <a:p>
                      <a:pPr algn="r"/>
                      <a:r>
                        <a:rPr sz="1800" b="1">
                          <a:solidFill>
                            <a:srgbClr val="14281D"/>
                          </a:solidFill>
                          <a:latin typeface="Arial"/>
                          <a:ea typeface="Arial"/>
                          <a:cs typeface="Arial"/>
                        </a:rPr>
                        <a:t>($2.83)m</a:t>
                      </a:r>
                    </a:p>
                  </a:txBody>
                  <a:tcPr marL="91440" marR="91440" marT="45720" marB="45720" anchor="ctr">
                    <a:solidFill>
                      <a:srgbClr val="E8EDDF"/>
                    </a:solidFill>
                  </a:tcPr>
                </a:tc>
                <a:tc>
                  <a:txBody>
                    <a:bodyPr lIns="114300" tIns="76200" rIns="114300" bIns="76200">
                      <a:noAutofit/>
                    </a:bodyPr>
                    <a:lstStyle/>
                    <a:p>
                      <a:pPr algn="r"/>
                      <a:r>
                        <a:rPr sz="1800" b="1">
                          <a:solidFill>
                            <a:srgbClr val="14281D"/>
                          </a:solidFill>
                          <a:latin typeface="Arial"/>
                          <a:ea typeface="Arial"/>
                          <a:cs typeface="Arial"/>
                        </a:rPr>
                        <a:t>$0.48m</a:t>
                      </a:r>
                    </a:p>
                  </a:txBody>
                  <a:tcPr marL="91440" marR="91440" marT="45720" marB="45720" anchor="ctr">
                    <a:solidFill>
                      <a:srgbClr val="E8EDDF"/>
                    </a:solidFill>
                  </a:tcPr>
                </a:tc>
                <a:tc>
                  <a:txBody>
                    <a:bodyPr lIns="114300" tIns="76200" rIns="114300" bIns="76200">
                      <a:noAutofit/>
                    </a:bodyPr>
                    <a:lstStyle/>
                    <a:p>
                      <a:pPr algn="r"/>
                      <a:r>
                        <a:rPr sz="1800" b="1">
                          <a:solidFill>
                            <a:srgbClr val="14281D"/>
                          </a:solidFill>
                          <a:latin typeface="Arial"/>
                          <a:ea typeface="Arial"/>
                          <a:cs typeface="Arial"/>
                        </a:rPr>
                        <a:t>$6.46m</a:t>
                      </a:r>
                    </a:p>
                  </a:txBody>
                  <a:tcPr marL="91440" marR="91440" marT="45720" marB="45720" anchor="ctr">
                    <a:solidFill>
                      <a:srgbClr val="E8EDDF"/>
                    </a:solidFill>
                  </a:tcPr>
                </a:tc>
              </a:tr>
              <a:tr h="509588">
                <a:tc>
                  <a:txBody>
                    <a:bodyPr lIns="114300" tIns="76200" rIns="114300" bIns="76200">
                      <a:noAutofit/>
                    </a:bodyPr>
                    <a:lstStyle/>
                    <a:p>
                      <a:pPr algn="l"/>
                      <a:r>
                        <a:rPr sz="1800" b="0">
                          <a:solidFill>
                            <a:srgbClr val="14281D"/>
                          </a:solidFill>
                          <a:latin typeface="Arial"/>
                          <a:ea typeface="Arial"/>
                          <a:cs typeface="Arial"/>
                        </a:rPr>
                        <a:t>First positive EBITDA year</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None through 2033</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2033</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2031</a:t>
                      </a:r>
                    </a:p>
                  </a:txBody>
                  <a:tcPr marL="91440" marR="91440" marT="45720" marB="45720" anchor="ctr">
                    <a:solidFill>
                      <a:srgbClr val="FFFFFF"/>
                    </a:solidFill>
                  </a:tcPr>
                </a:tc>
              </a:tr>
            </a:tbl>
          </a:graphicData>
        </a:graphic>
      </p:graphicFrame>
      <p:sp>
        <p:nvSpPr>
          <p:cNvPr id="6" name="In the downside case, larger service tickets and l">
            <a:extLst xmlns:a="http://schemas.openxmlformats.org/drawingml/2006/main">
              <a:ext uri="{FF2B5EF4-FFF2-40B4-BE49-F238E27FC236}">
                <a16:creationId xmlns:a16="http://schemas.microsoft.com/office/drawing/2014/main" id="{97EE69AF-943F-4E17-B36F-D6BB0A282E63}"/>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In the downside case, larger service tickets and low ACH use make repeat contribution negative through 2032. More such transactions deepen the loss.</a:t>
            </a:r>
          </a:p>
        </p:txBody>
      </p:sp>
    </p:spTree>
    <p:extLst>
      <p:ext uri="{BB962C8B-B14F-4D97-AF65-F5344CB8AC3E}">
        <p14:creationId xmlns:p14="http://schemas.microsoft.com/office/powerpoint/2010/main" val="1661729835"/>
      </p:ext>
    </p:extLst>
  </p:cSld>
</p:sld>
</file>

<file path=ppt/slides/slide1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An illustrative $1.5m first round funds validation">
            <a:extLst xmlns:a="http://schemas.openxmlformats.org/drawingml/2006/main">
              <a:ext uri="{FF2B5EF4-FFF2-40B4-BE49-F238E27FC236}">
                <a16:creationId xmlns:a16="http://schemas.microsoft.com/office/drawing/2014/main" id="{B0156750-22F4-4B84-A1E7-C73FA0738806}"/>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An illustrative $1.5m first round funds validation</a:t>
            </a:r>
          </a:p>
        </p:txBody>
      </p:sp>
      <p:sp>
        <p:nvSpPr>
          <p:cNvPr id="2" name="The two-year base budget tests commercial adoption">
            <a:extLst xmlns:a="http://schemas.openxmlformats.org/drawingml/2006/main">
              <a:ext uri="{FF2B5EF4-FFF2-40B4-BE49-F238E27FC236}">
                <a16:creationId xmlns:a16="http://schemas.microsoft.com/office/drawing/2014/main" id="{C1C94155-8222-4C3F-B9B8-9F0AFDAF1544}"/>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The two-year base budget tests commercial adoption and leaves a reserve for the next financing decision.</a:t>
            </a:r>
          </a:p>
        </p:txBody>
      </p:sp>
      <p:sp>
        <p:nvSpPr>
          <p:cNvPr id="3" name="YardMatch">
            <a:extLst xmlns:a="http://schemas.openxmlformats.org/drawingml/2006/main">
              <a:ext uri="{FF2B5EF4-FFF2-40B4-BE49-F238E27FC236}">
                <a16:creationId xmlns:a16="http://schemas.microsoft.com/office/drawing/2014/main" id="{30BED1D2-0BDB-485F-8F78-12E99DE4AB67}"/>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7">
            <a:extLst xmlns:a="http://schemas.openxmlformats.org/drawingml/2006/main">
              <a:ext uri="{FF2B5EF4-FFF2-40B4-BE49-F238E27FC236}">
                <a16:creationId xmlns:a16="http://schemas.microsoft.com/office/drawing/2014/main" id="{4485CEB7-2BBA-487A-9628-2F4856E39166}"/>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17</a:t>
            </a:r>
          </a:p>
        </p:txBody>
      </p:sp>
      <p:graphicFrame>
        <p:nvGraphicFramePr>
          <p:cNvPr id="15" name=""/>
          <p:cNvGraphicFramePr/>
          <p:nvPr/>
        </p:nvGraphicFramePr>
        <p:xfrm>
          <a:off xmlns:a="http://schemas.openxmlformats.org/drawingml/2006/main" x="609600" y="2314575"/>
          <a:ext xmlns:a="http://schemas.openxmlformats.org/drawingml/2006/main" cx="6858000" cy="3371850"/>
        </p:xfrm>
        <a:graphic xmlns:a="http://schemas.openxmlformats.org/drawingml/2006/main">
          <a:graphicData uri="http://schemas.openxmlformats.org/drawingml/2006/table">
            <a:tbl>
              <a:tblPr/>
              <a:tblGrid>
                <a:gridCol w="4857750"/>
                <a:gridCol w="2000250"/>
              </a:tblGrid>
              <a:tr h="374650">
                <a:tc>
                  <a:txBody>
                    <a:bodyPr lIns="114300" tIns="76200" rIns="114300" bIns="76200">
                      <a:noAutofit/>
                    </a:bodyPr>
                    <a:lstStyle/>
                    <a:p>
                      <a:pPr algn="l"/>
                      <a:r>
                        <a:rPr sz="1650" b="1">
                          <a:solidFill>
                            <a:srgbClr val="FFFFFF"/>
                          </a:solidFill>
                          <a:latin typeface="Arial"/>
                          <a:ea typeface="Arial"/>
                          <a:cs typeface="Arial"/>
                        </a:rPr>
                        <a:t>2027-2028 base cash plan</a:t>
                      </a:r>
                    </a:p>
                  </a:txBody>
                  <a:tcPr marL="91440" marR="91440" marT="45720" marB="45720" anchor="ctr">
                    <a:solidFill>
                      <a:srgbClr val="205938"/>
                    </a:solidFill>
                  </a:tcPr>
                </a:tc>
                <a:tc>
                  <a:txBody>
                    <a:bodyPr lIns="114300" tIns="76200" rIns="114300" bIns="76200">
                      <a:noAutofit/>
                    </a:bodyPr>
                    <a:lstStyle/>
                    <a:p>
                      <a:pPr algn="l"/>
                      <a:r>
                        <a:rPr sz="1650" b="1">
                          <a:solidFill>
                            <a:srgbClr val="FFFFFF"/>
                          </a:solidFill>
                          <a:latin typeface="Arial"/>
                          <a:ea typeface="Arial"/>
                          <a:cs typeface="Arial"/>
                        </a:rPr>
                        <a:t>Amount</a:t>
                      </a:r>
                    </a:p>
                  </a:txBody>
                  <a:tcPr marL="91440" marR="91440" marT="45720" marB="45720" anchor="ctr">
                    <a:solidFill>
                      <a:srgbClr val="205938"/>
                    </a:solidFill>
                  </a:tcPr>
                </a:tc>
              </a:tr>
              <a:tr h="374650">
                <a:tc>
                  <a:txBody>
                    <a:bodyPr lIns="114300" tIns="76200" rIns="114300" bIns="76200">
                      <a:noAutofit/>
                    </a:bodyPr>
                    <a:lstStyle/>
                    <a:p>
                      <a:pPr algn="l"/>
                      <a:r>
                        <a:rPr sz="1650" b="0">
                          <a:solidFill>
                            <a:srgbClr val="14281D"/>
                          </a:solidFill>
                          <a:latin typeface="Arial"/>
                          <a:ea typeface="Arial"/>
                          <a:cs typeface="Arial"/>
                        </a:rPr>
                        <a:t>Payroll</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$825,000</a:t>
                      </a:r>
                    </a:p>
                  </a:txBody>
                  <a:tcPr marL="91440" marR="91440" marT="45720" marB="45720" anchor="ctr">
                    <a:solidFill>
                      <a:srgbClr val="FFFFFF"/>
                    </a:solidFill>
                  </a:tcPr>
                </a:tc>
              </a:tr>
              <a:tr h="374650">
                <a:tc>
                  <a:txBody>
                    <a:bodyPr lIns="114300" tIns="76200" rIns="114300" bIns="76200">
                      <a:noAutofit/>
                    </a:bodyPr>
                    <a:lstStyle/>
                    <a:p>
                      <a:pPr algn="l"/>
                      <a:r>
                        <a:rPr sz="1650" b="0">
                          <a:solidFill>
                            <a:srgbClr val="14281D"/>
                          </a:solidFill>
                          <a:latin typeface="Arial"/>
                          <a:ea typeface="Arial"/>
                          <a:cs typeface="Arial"/>
                        </a:rPr>
                        <a:t>Customer and provider acquisition</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$158,125</a:t>
                      </a:r>
                    </a:p>
                  </a:txBody>
                  <a:tcPr marL="91440" marR="91440" marT="45720" marB="45720" anchor="ctr">
                    <a:solidFill>
                      <a:srgbClr val="F7F5EF"/>
                    </a:solidFill>
                  </a:tcPr>
                </a:tc>
              </a:tr>
              <a:tr h="374650">
                <a:tc>
                  <a:txBody>
                    <a:bodyPr lIns="114300" tIns="76200" rIns="114300" bIns="76200">
                      <a:noAutofit/>
                    </a:bodyPr>
                    <a:lstStyle/>
                    <a:p>
                      <a:pPr algn="l"/>
                      <a:r>
                        <a:rPr sz="1650" b="0">
                          <a:solidFill>
                            <a:srgbClr val="14281D"/>
                          </a:solidFill>
                          <a:latin typeface="Arial"/>
                          <a:ea typeface="Arial"/>
                          <a:cs typeface="Arial"/>
                        </a:rPr>
                        <a:t>Fixed overhead</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$160,000</a:t>
                      </a:r>
                    </a:p>
                  </a:txBody>
                  <a:tcPr marL="91440" marR="91440" marT="45720" marB="45720" anchor="ctr">
                    <a:solidFill>
                      <a:srgbClr val="FFFFFF"/>
                    </a:solidFill>
                  </a:tcPr>
                </a:tc>
              </a:tr>
              <a:tr h="374650">
                <a:tc>
                  <a:txBody>
                    <a:bodyPr lIns="114300" tIns="76200" rIns="114300" bIns="76200">
                      <a:noAutofit/>
                    </a:bodyPr>
                    <a:lstStyle/>
                    <a:p>
                      <a:pPr algn="l"/>
                      <a:r>
                        <a:rPr sz="1650" b="0">
                          <a:solidFill>
                            <a:srgbClr val="14281D"/>
                          </a:solidFill>
                          <a:latin typeface="Arial"/>
                          <a:ea typeface="Arial"/>
                          <a:cs typeface="Arial"/>
                        </a:rPr>
                        <a:t>Capex and risk cash</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$56,416</a:t>
                      </a:r>
                    </a:p>
                  </a:txBody>
                  <a:tcPr marL="91440" marR="91440" marT="45720" marB="45720" anchor="ctr">
                    <a:solidFill>
                      <a:srgbClr val="F7F5EF"/>
                    </a:solidFill>
                  </a:tcPr>
                </a:tc>
              </a:tr>
              <a:tr h="374650">
                <a:tc>
                  <a:txBody>
                    <a:bodyPr lIns="114300" tIns="76200" rIns="114300" bIns="76200">
                      <a:noAutofit/>
                    </a:bodyPr>
                    <a:lstStyle/>
                    <a:p>
                      <a:pPr algn="l"/>
                      <a:r>
                        <a:rPr sz="1650" b="0">
                          <a:solidFill>
                            <a:srgbClr val="14281D"/>
                          </a:solidFill>
                          <a:latin typeface="Arial"/>
                          <a:ea typeface="Arial"/>
                          <a:cs typeface="Arial"/>
                        </a:rPr>
                        <a:t>Less gross profit generated</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($146,448)</a:t>
                      </a:r>
                    </a:p>
                  </a:txBody>
                  <a:tcPr marL="91440" marR="91440" marT="45720" marB="45720" anchor="ctr">
                    <a:solidFill>
                      <a:srgbClr val="FFFFFF"/>
                    </a:solidFill>
                  </a:tcPr>
                </a:tc>
              </a:tr>
              <a:tr h="374650">
                <a:tc>
                  <a:txBody>
                    <a:bodyPr lIns="114300" tIns="76200" rIns="114300" bIns="76200">
                      <a:noAutofit/>
                    </a:bodyPr>
                    <a:lstStyle/>
                    <a:p>
                      <a:pPr algn="l"/>
                      <a:r>
                        <a:rPr sz="1650" b="1">
                          <a:solidFill>
                            <a:srgbClr val="14281D"/>
                          </a:solidFill>
                          <a:latin typeface="Arial"/>
                          <a:ea typeface="Arial"/>
                          <a:cs typeface="Arial"/>
                        </a:rPr>
                        <a:t>Net cash used</a:t>
                      </a:r>
                    </a:p>
                  </a:txBody>
                  <a:tcPr marL="91440" marR="91440" marT="45720" marB="45720" anchor="ctr">
                    <a:solidFill>
                      <a:srgbClr val="E8EDDF"/>
                    </a:solidFill>
                  </a:tcPr>
                </a:tc>
                <a:tc>
                  <a:txBody>
                    <a:bodyPr lIns="114300" tIns="76200" rIns="114300" bIns="76200">
                      <a:noAutofit/>
                    </a:bodyPr>
                    <a:lstStyle/>
                    <a:p>
                      <a:pPr algn="r"/>
                      <a:r>
                        <a:rPr sz="1650" b="1">
                          <a:solidFill>
                            <a:srgbClr val="14281D"/>
                          </a:solidFill>
                          <a:latin typeface="Arial"/>
                          <a:ea typeface="Arial"/>
                          <a:cs typeface="Arial"/>
                        </a:rPr>
                        <a:t>$1,053,093</a:t>
                      </a:r>
                    </a:p>
                  </a:txBody>
                  <a:tcPr marL="91440" marR="91440" marT="45720" marB="45720" anchor="ctr">
                    <a:solidFill>
                      <a:srgbClr val="E8EDDF"/>
                    </a:solidFill>
                  </a:tcPr>
                </a:tc>
              </a:tr>
              <a:tr h="374650">
                <a:tc>
                  <a:txBody>
                    <a:bodyPr lIns="114300" tIns="76200" rIns="114300" bIns="76200">
                      <a:noAutofit/>
                    </a:bodyPr>
                    <a:lstStyle/>
                    <a:p>
                      <a:pPr algn="l"/>
                      <a:r>
                        <a:rPr sz="1650" b="0">
                          <a:solidFill>
                            <a:srgbClr val="14281D"/>
                          </a:solidFill>
                          <a:latin typeface="Arial"/>
                          <a:ea typeface="Arial"/>
                          <a:cs typeface="Arial"/>
                        </a:rPr>
                        <a:t>Financing costs</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$25,000</a:t>
                      </a:r>
                    </a:p>
                  </a:txBody>
                  <a:tcPr marL="91440" marR="91440" marT="45720" marB="45720" anchor="ctr">
                    <a:solidFill>
                      <a:srgbClr val="FFFFFF"/>
                    </a:solidFill>
                  </a:tcPr>
                </a:tc>
              </a:tr>
              <a:tr h="374650">
                <a:tc>
                  <a:txBody>
                    <a:bodyPr lIns="114300" tIns="76200" rIns="114300" bIns="76200">
                      <a:noAutofit/>
                    </a:bodyPr>
                    <a:lstStyle/>
                    <a:p>
                      <a:pPr algn="l"/>
                      <a:r>
                        <a:rPr sz="1650" b="1">
                          <a:solidFill>
                            <a:srgbClr val="14281D"/>
                          </a:solidFill>
                          <a:latin typeface="Arial"/>
                          <a:ea typeface="Arial"/>
                          <a:cs typeface="Arial"/>
                        </a:rPr>
                        <a:t>Remaining cash from $1.5m</a:t>
                      </a:r>
                    </a:p>
                  </a:txBody>
                  <a:tcPr marL="91440" marR="91440" marT="45720" marB="45720" anchor="ctr">
                    <a:solidFill>
                      <a:srgbClr val="E8EDDF"/>
                    </a:solidFill>
                  </a:tcPr>
                </a:tc>
                <a:tc>
                  <a:txBody>
                    <a:bodyPr lIns="114300" tIns="76200" rIns="114300" bIns="76200">
                      <a:noAutofit/>
                    </a:bodyPr>
                    <a:lstStyle/>
                    <a:p>
                      <a:pPr algn="r"/>
                      <a:r>
                        <a:rPr sz="1650" b="1">
                          <a:solidFill>
                            <a:srgbClr val="14281D"/>
                          </a:solidFill>
                          <a:latin typeface="Arial"/>
                          <a:ea typeface="Arial"/>
                          <a:cs typeface="Arial"/>
                        </a:rPr>
                        <a:t>$421,907</a:t>
                      </a:r>
                    </a:p>
                  </a:txBody>
                  <a:tcPr marL="91440" marR="91440" marT="45720" marB="45720" anchor="ctr">
                    <a:solidFill>
                      <a:srgbClr val="E8EDDF"/>
                    </a:solidFill>
                  </a:tcPr>
                </a:tc>
              </a:tr>
            </a:tbl>
          </a:graphicData>
        </a:graphic>
      </p:graphicFrame>
      <p:sp>
        <p:nvSpPr>
          <p:cNvPr id="6" name="A first round">
            <a:extLst xmlns:a="http://schemas.openxmlformats.org/drawingml/2006/main">
              <a:ext uri="{FF2B5EF4-FFF2-40B4-BE49-F238E27FC236}">
                <a16:creationId xmlns:a16="http://schemas.microsoft.com/office/drawing/2014/main" id="{51B47C33-26C9-4D66-B656-0CAFC0D39C52}"/>
              </a:ext>
            </a:extLst>
          </p:cNvPr>
          <p:cNvSpPr>
            <a:spLocks xmlns:a="http://schemas.openxmlformats.org/drawingml/2006/main" noGrp="1"/>
          </p:cNvSpPr>
          <p:nvPr/>
        </p:nvSpPr>
        <p:spPr>
          <a:xfrm xmlns:a="http://schemas.openxmlformats.org/drawingml/2006/main">
            <a:off x="7962900" y="2419350"/>
            <a:ext cx="35052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05938"/>
                </a:solidFill>
                <a:latin typeface="Arial"/>
                <a:ea typeface="Arial"/>
                <a:cs typeface="Arial"/>
              </a:defRPr>
            </a:pPr>
            <a:r>
              <a:rPr sz="2550" b="1">
                <a:solidFill>
                  <a:srgbClr val="205938"/>
                </a:solidFill>
                <a:latin typeface="Arial"/>
                <a:ea typeface="Arial"/>
                <a:cs typeface="Arial"/>
              </a:rPr>
              <a:t>A first round</a:t>
            </a:r>
          </a:p>
        </p:txBody>
      </p:sp>
      <p:sp>
        <p:nvSpPr>
          <p:cNvPr id="7" name="The base case needs further funding from 2029.">
            <a:extLst xmlns:a="http://schemas.openxmlformats.org/drawingml/2006/main">
              <a:ext uri="{FF2B5EF4-FFF2-40B4-BE49-F238E27FC236}">
                <a16:creationId xmlns:a16="http://schemas.microsoft.com/office/drawing/2014/main" id="{76430DC5-0F32-42E5-A2BF-8D14268063D0}"/>
              </a:ext>
            </a:extLst>
          </p:cNvPr>
          <p:cNvSpPr>
            <a:spLocks xmlns:a="http://schemas.openxmlformats.org/drawingml/2006/main" noGrp="1"/>
          </p:cNvSpPr>
          <p:nvPr/>
        </p:nvSpPr>
        <p:spPr>
          <a:xfrm xmlns:a="http://schemas.openxmlformats.org/drawingml/2006/main">
            <a:off x="7962900" y="3095625"/>
            <a:ext cx="34671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The base case needs further funding from 2029.</a:t>
            </a:r>
          </a:p>
        </p:txBody>
      </p:sp>
      <p:sp>
        <p:nvSpPr>
          <p:cNvPr id="8" name="$7.30m">
            <a:extLst xmlns:a="http://schemas.openxmlformats.org/drawingml/2006/main">
              <a:ext uri="{FF2B5EF4-FFF2-40B4-BE49-F238E27FC236}">
                <a16:creationId xmlns:a16="http://schemas.microsoft.com/office/drawing/2014/main" id="{D3CABCA2-DA90-47E2-B2C6-C5D8A7D94C48}"/>
              </a:ext>
            </a:extLst>
          </p:cNvPr>
          <p:cNvSpPr>
            <a:spLocks xmlns:a="http://schemas.openxmlformats.org/drawingml/2006/main" noGrp="1"/>
          </p:cNvSpPr>
          <p:nvPr/>
        </p:nvSpPr>
        <p:spPr>
          <a:xfrm xmlns:a="http://schemas.openxmlformats.org/drawingml/2006/main">
            <a:off x="7962900" y="4410075"/>
            <a:ext cx="34671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205938"/>
                </a:solidFill>
                <a:latin typeface="Arial"/>
                <a:ea typeface="Arial"/>
                <a:cs typeface="Arial"/>
              </a:defRPr>
            </a:pPr>
            <a:r>
              <a:rPr sz="3375" b="1">
                <a:solidFill>
                  <a:srgbClr val="205938"/>
                </a:solidFill>
                <a:latin typeface="Arial"/>
                <a:ea typeface="Arial"/>
                <a:cs typeface="Arial"/>
              </a:rPr>
              <a:t>$7.30m</a:t>
            </a:r>
          </a:p>
        </p:txBody>
      </p:sp>
      <p:sp>
        <p:nvSpPr>
          <p:cNvPr id="9" name="Cumulative base cash deficit through 2033, before ">
            <a:extLst xmlns:a="http://schemas.openxmlformats.org/drawingml/2006/main">
              <a:ext uri="{FF2B5EF4-FFF2-40B4-BE49-F238E27FC236}">
                <a16:creationId xmlns:a16="http://schemas.microsoft.com/office/drawing/2014/main" id="{ED8BFCB5-567B-4A9F-BD04-ECB6744C913F}"/>
              </a:ext>
            </a:extLst>
          </p:cNvPr>
          <p:cNvSpPr>
            <a:spLocks xmlns:a="http://schemas.openxmlformats.org/drawingml/2006/main" noGrp="1"/>
          </p:cNvSpPr>
          <p:nvPr/>
        </p:nvSpPr>
        <p:spPr>
          <a:xfrm xmlns:a="http://schemas.openxmlformats.org/drawingml/2006/main">
            <a:off x="7962900" y="5076825"/>
            <a:ext cx="34671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4281D"/>
                </a:solidFill>
                <a:latin typeface="Arial"/>
                <a:ea typeface="Arial"/>
                <a:cs typeface="Arial"/>
              </a:defRPr>
            </a:pPr>
            <a:r>
              <a:rPr sz="1800" b="0">
                <a:solidFill>
                  <a:srgbClr val="14281D"/>
                </a:solidFill>
                <a:latin typeface="Arial"/>
                <a:ea typeface="Arial"/>
                <a:cs typeface="Arial"/>
              </a:rPr>
              <a:t>Cumulative base cash deficit through 2033, before a liquidity buffer.</a:t>
            </a:r>
          </a:p>
        </p:txBody>
      </p:sp>
      <p:sp>
        <p:nvSpPr>
          <p:cNvPr id="10" name="A six-month 2033 fixed-cost buffer adds $2.74m, fo">
            <a:extLst xmlns:a="http://schemas.openxmlformats.org/drawingml/2006/main">
              <a:ext uri="{FF2B5EF4-FFF2-40B4-BE49-F238E27FC236}">
                <a16:creationId xmlns:a16="http://schemas.microsoft.com/office/drawing/2014/main" id="{CE2315FF-2F3B-4A0E-9A98-85D095266E0E}"/>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A six-month 2033 fixed-cost buffer adds $2.74m, for $10.04m in the model. Financing amounts and valuation are illustrative, not agreed terms.</a:t>
            </a:r>
          </a:p>
        </p:txBody>
      </p:sp>
    </p:spTree>
    <p:extLst>
      <p:ext uri="{BB962C8B-B14F-4D97-AF65-F5344CB8AC3E}">
        <p14:creationId xmlns:p14="http://schemas.microsoft.com/office/powerpoint/2010/main" val="1943766878"/>
      </p:ext>
    </p:extLst>
  </p:cSld>
</p:sld>
</file>

<file path=ppt/slides/slide18.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70% founder ownership before new investment">
            <a:extLst xmlns:a="http://schemas.openxmlformats.org/drawingml/2006/main">
              <a:ext uri="{FF2B5EF4-FFF2-40B4-BE49-F238E27FC236}">
                <a16:creationId xmlns:a16="http://schemas.microsoft.com/office/drawing/2014/main" id="{844632E2-91EC-4072-9D3B-83ACE0EC7B08}"/>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70% founder ownership before new investment</a:t>
            </a:r>
          </a:p>
        </p:txBody>
      </p:sp>
      <p:sp>
        <p:nvSpPr>
          <p:cNvPr id="2" name="Every new equity round dilutes existing owners pro">
            <a:extLst xmlns:a="http://schemas.openxmlformats.org/drawingml/2006/main">
              <a:ext uri="{FF2B5EF4-FFF2-40B4-BE49-F238E27FC236}">
                <a16:creationId xmlns:a16="http://schemas.microsoft.com/office/drawing/2014/main" id="{C95905EC-69C5-4F6C-8655-7CB0ACC6F71F}"/>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Every new equity round dilutes existing owners proportionately in this illustration.</a:t>
            </a:r>
          </a:p>
        </p:txBody>
      </p:sp>
      <p:sp>
        <p:nvSpPr>
          <p:cNvPr id="3" name="YardMatch">
            <a:extLst xmlns:a="http://schemas.openxmlformats.org/drawingml/2006/main">
              <a:ext uri="{FF2B5EF4-FFF2-40B4-BE49-F238E27FC236}">
                <a16:creationId xmlns:a16="http://schemas.microsoft.com/office/drawing/2014/main" id="{75EF5D7C-BA19-465B-BA59-6A1159B99BDA}"/>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8">
            <a:extLst xmlns:a="http://schemas.openxmlformats.org/drawingml/2006/main">
              <a:ext uri="{FF2B5EF4-FFF2-40B4-BE49-F238E27FC236}">
                <a16:creationId xmlns:a16="http://schemas.microsoft.com/office/drawing/2014/main" id="{46AC6B30-0E6A-40F5-949E-F9BA585BCE55}"/>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18</a:t>
            </a:r>
          </a:p>
        </p:txBody>
      </p:sp>
      <p:graphicFrame>
        <p:nvGraphicFramePr>
          <p:cNvPr id="11" name=""/>
          <p:cNvGraphicFramePr/>
          <p:nvPr/>
        </p:nvGraphicFramePr>
        <p:xfrm>
          <a:off xmlns:a="http://schemas.openxmlformats.org/drawingml/2006/main" x="609600" y="2400300"/>
          <a:ext xmlns:a="http://schemas.openxmlformats.org/drawingml/2006/main" cx="10972800" cy="3038475"/>
        </p:xfrm>
        <a:graphic xmlns:a="http://schemas.openxmlformats.org/drawingml/2006/main">
          <a:graphicData uri="http://schemas.openxmlformats.org/drawingml/2006/table">
            <a:tbl>
              <a:tblPr/>
              <a:tblGrid>
                <a:gridCol w="4257675"/>
                <a:gridCol w="2238375"/>
                <a:gridCol w="2238375"/>
                <a:gridCol w="2238375"/>
              </a:tblGrid>
              <a:tr h="506413">
                <a:tc>
                  <a:txBody>
                    <a:bodyPr lIns="114300" tIns="76200" rIns="114300" bIns="76200">
                      <a:noAutofit/>
                    </a:bodyPr>
                    <a:lstStyle/>
                    <a:p>
                      <a:pPr algn="l"/>
                      <a:r>
                        <a:rPr sz="1950" b="1">
                          <a:solidFill>
                            <a:srgbClr val="FFFFFF"/>
                          </a:solidFill>
                          <a:latin typeface="Arial"/>
                          <a:ea typeface="Arial"/>
                          <a:cs typeface="Arial"/>
                        </a:rPr>
                        <a:t>Ownership</a:t>
                      </a:r>
                    </a:p>
                  </a:txBody>
                  <a:tcPr marL="91440" marR="91440" marT="45720" marB="45720" anchor="ctr">
                    <a:solidFill>
                      <a:srgbClr val="205938"/>
                    </a:solidFill>
                  </a:tcPr>
                </a:tc>
                <a:tc>
                  <a:txBody>
                    <a:bodyPr lIns="114300" tIns="76200" rIns="114300" bIns="76200">
                      <a:noAutofit/>
                    </a:bodyPr>
                    <a:lstStyle/>
                    <a:p>
                      <a:pPr algn="l"/>
                      <a:r>
                        <a:rPr sz="1950" b="1">
                          <a:solidFill>
                            <a:srgbClr val="FFFFFF"/>
                          </a:solidFill>
                          <a:latin typeface="Arial"/>
                          <a:ea typeface="Arial"/>
                          <a:cs typeface="Arial"/>
                        </a:rPr>
                        <a:t>At formation</a:t>
                      </a:r>
                    </a:p>
                  </a:txBody>
                  <a:tcPr marL="91440" marR="91440" marT="45720" marB="45720" anchor="ctr">
                    <a:solidFill>
                      <a:srgbClr val="205938"/>
                    </a:solidFill>
                  </a:tcPr>
                </a:tc>
                <a:tc>
                  <a:txBody>
                    <a:bodyPr lIns="114300" tIns="76200" rIns="114300" bIns="76200">
                      <a:noAutofit/>
                    </a:bodyPr>
                    <a:lstStyle/>
                    <a:p>
                      <a:pPr algn="l"/>
                      <a:r>
                        <a:rPr sz="1950" b="1">
                          <a:solidFill>
                            <a:srgbClr val="FFFFFF"/>
                          </a:solidFill>
                          <a:latin typeface="Arial"/>
                          <a:ea typeface="Arial"/>
                          <a:cs typeface="Arial"/>
                        </a:rPr>
                        <a:t>After round 1</a:t>
                      </a:r>
                    </a:p>
                  </a:txBody>
                  <a:tcPr marL="91440" marR="91440" marT="45720" marB="45720" anchor="ctr">
                    <a:solidFill>
                      <a:srgbClr val="205938"/>
                    </a:solidFill>
                  </a:tcPr>
                </a:tc>
                <a:tc>
                  <a:txBody>
                    <a:bodyPr lIns="114300" tIns="76200" rIns="114300" bIns="76200">
                      <a:noAutofit/>
                    </a:bodyPr>
                    <a:lstStyle/>
                    <a:p>
                      <a:pPr algn="l"/>
                      <a:r>
                        <a:rPr sz="1950" b="1">
                          <a:solidFill>
                            <a:srgbClr val="FFFFFF"/>
                          </a:solidFill>
                          <a:latin typeface="Arial"/>
                          <a:ea typeface="Arial"/>
                          <a:cs typeface="Arial"/>
                        </a:rPr>
                        <a:t>After round 2</a:t>
                      </a:r>
                    </a:p>
                  </a:txBody>
                  <a:tcPr marL="91440" marR="91440" marT="45720" marB="45720" anchor="ctr">
                    <a:solidFill>
                      <a:srgbClr val="205938"/>
                    </a:solidFill>
                  </a:tcPr>
                </a:tc>
              </a:tr>
              <a:tr h="506413">
                <a:tc>
                  <a:txBody>
                    <a:bodyPr lIns="114300" tIns="76200" rIns="114300" bIns="76200">
                      <a:noAutofit/>
                    </a:bodyPr>
                    <a:lstStyle/>
                    <a:p>
                      <a:pPr algn="l"/>
                      <a:r>
                        <a:rPr sz="1950" b="1">
                          <a:solidFill>
                            <a:srgbClr val="14281D"/>
                          </a:solidFill>
                          <a:latin typeface="Arial"/>
                          <a:ea typeface="Arial"/>
                          <a:cs typeface="Arial"/>
                        </a:rPr>
                        <a:t>Patrick</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70.0%</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56.0%</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44.8%</a:t>
                      </a:r>
                    </a:p>
                  </a:txBody>
                  <a:tcPr marL="91440" marR="91440" marT="45720" marB="45720" anchor="ctr">
                    <a:solidFill>
                      <a:srgbClr val="E8EDDF"/>
                    </a:solidFill>
                  </a:tcPr>
                </a:tc>
              </a:tr>
              <a:tr h="506413">
                <a:tc>
                  <a:txBody>
                    <a:bodyPr lIns="114300" tIns="76200" rIns="114300" bIns="76200">
                      <a:noAutofit/>
                    </a:bodyPr>
                    <a:lstStyle/>
                    <a:p>
                      <a:pPr algn="l"/>
                      <a:r>
                        <a:rPr sz="1950" b="0">
                          <a:solidFill>
                            <a:srgbClr val="14281D"/>
                          </a:solidFill>
                          <a:latin typeface="Arial"/>
                          <a:ea typeface="Arial"/>
                          <a:cs typeface="Arial"/>
                        </a:rPr>
                        <a:t>Other initial owners</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30.0%</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24.0%</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19.2%</a:t>
                      </a:r>
                    </a:p>
                  </a:txBody>
                  <a:tcPr marL="91440" marR="91440" marT="45720" marB="45720" anchor="ctr">
                    <a:solidFill>
                      <a:srgbClr val="F7F5EF"/>
                    </a:solidFill>
                  </a:tcPr>
                </a:tc>
              </a:tr>
              <a:tr h="506413">
                <a:tc>
                  <a:txBody>
                    <a:bodyPr lIns="114300" tIns="76200" rIns="114300" bIns="76200">
                      <a:noAutofit/>
                    </a:bodyPr>
                    <a:lstStyle/>
                    <a:p>
                      <a:pPr algn="l"/>
                      <a:r>
                        <a:rPr sz="1950" b="0">
                          <a:solidFill>
                            <a:srgbClr val="14281D"/>
                          </a:solidFill>
                          <a:latin typeface="Arial"/>
                          <a:ea typeface="Arial"/>
                          <a:cs typeface="Arial"/>
                        </a:rPr>
                        <a:t>Round 1 investors</a:t>
                      </a:r>
                    </a:p>
                  </a:txBody>
                  <a:tcPr marL="91440" marR="91440" marT="45720" marB="45720" anchor="ctr">
                    <a:solidFill>
                      <a:srgbClr val="FFFFFF"/>
                    </a:solidFill>
                  </a:tcPr>
                </a:tc>
                <a:tc>
                  <a:txBody>
                    <a:bodyPr lIns="114300" tIns="76200" rIns="114300" bIns="76200">
                      <a:noAutofit/>
                    </a:bodyPr>
                    <a:lstStyle/>
                    <a:p>
                      <a:pPr algn="r"/>
                      <a:r>
                        <a:rPr sz="1950" b="0">
                          <a:solidFill>
                            <a:srgbClr val="14281D"/>
                          </a:solidFill>
                          <a:latin typeface="Arial"/>
                          <a:ea typeface="Arial"/>
                          <a:cs typeface="Arial"/>
                        </a:rPr>
                        <a:t>0.0%</a:t>
                      </a:r>
                    </a:p>
                  </a:txBody>
                  <a:tcPr marL="91440" marR="91440" marT="45720" marB="45720" anchor="ctr">
                    <a:solidFill>
                      <a:srgbClr val="FFFFFF"/>
                    </a:solidFill>
                  </a:tcPr>
                </a:tc>
                <a:tc>
                  <a:txBody>
                    <a:bodyPr lIns="114300" tIns="76200" rIns="114300" bIns="76200">
                      <a:noAutofit/>
                    </a:bodyPr>
                    <a:lstStyle/>
                    <a:p>
                      <a:pPr algn="r"/>
                      <a:r>
                        <a:rPr sz="1950" b="0">
                          <a:solidFill>
                            <a:srgbClr val="14281D"/>
                          </a:solidFill>
                          <a:latin typeface="Arial"/>
                          <a:ea typeface="Arial"/>
                          <a:cs typeface="Arial"/>
                        </a:rPr>
                        <a:t>20.0%</a:t>
                      </a:r>
                    </a:p>
                  </a:txBody>
                  <a:tcPr marL="91440" marR="91440" marT="45720" marB="45720" anchor="ctr">
                    <a:solidFill>
                      <a:srgbClr val="FFFFFF"/>
                    </a:solidFill>
                  </a:tcPr>
                </a:tc>
                <a:tc>
                  <a:txBody>
                    <a:bodyPr lIns="114300" tIns="76200" rIns="114300" bIns="76200">
                      <a:noAutofit/>
                    </a:bodyPr>
                    <a:lstStyle/>
                    <a:p>
                      <a:pPr algn="r"/>
                      <a:r>
                        <a:rPr sz="1950" b="0">
                          <a:solidFill>
                            <a:srgbClr val="14281D"/>
                          </a:solidFill>
                          <a:latin typeface="Arial"/>
                          <a:ea typeface="Arial"/>
                          <a:cs typeface="Arial"/>
                        </a:rPr>
                        <a:t>16.0%</a:t>
                      </a:r>
                    </a:p>
                  </a:txBody>
                  <a:tcPr marL="91440" marR="91440" marT="45720" marB="45720" anchor="ctr">
                    <a:solidFill>
                      <a:srgbClr val="FFFFFF"/>
                    </a:solidFill>
                  </a:tcPr>
                </a:tc>
              </a:tr>
              <a:tr h="506413">
                <a:tc>
                  <a:txBody>
                    <a:bodyPr lIns="114300" tIns="76200" rIns="114300" bIns="76200">
                      <a:noAutofit/>
                    </a:bodyPr>
                    <a:lstStyle/>
                    <a:p>
                      <a:pPr algn="l"/>
                      <a:r>
                        <a:rPr sz="1950" b="0">
                          <a:solidFill>
                            <a:srgbClr val="14281D"/>
                          </a:solidFill>
                          <a:latin typeface="Arial"/>
                          <a:ea typeface="Arial"/>
                          <a:cs typeface="Arial"/>
                        </a:rPr>
                        <a:t>Round 2 investors</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0.0%</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0.0%</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20.0%</a:t>
                      </a:r>
                    </a:p>
                  </a:txBody>
                  <a:tcPr marL="91440" marR="91440" marT="45720" marB="45720" anchor="ctr">
                    <a:solidFill>
                      <a:srgbClr val="F7F5EF"/>
                    </a:solidFill>
                  </a:tcPr>
                </a:tc>
              </a:tr>
              <a:tr h="506413">
                <a:tc>
                  <a:txBody>
                    <a:bodyPr lIns="114300" tIns="76200" rIns="114300" bIns="76200">
                      <a:noAutofit/>
                    </a:bodyPr>
                    <a:lstStyle/>
                    <a:p>
                      <a:pPr algn="l"/>
                      <a:r>
                        <a:rPr sz="1950" b="1">
                          <a:solidFill>
                            <a:srgbClr val="14281D"/>
                          </a:solidFill>
                          <a:latin typeface="Arial"/>
                          <a:ea typeface="Arial"/>
                          <a:cs typeface="Arial"/>
                        </a:rPr>
                        <a:t>Total</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100.0%</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100.0%</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100.0%</a:t>
                      </a:r>
                    </a:p>
                  </a:txBody>
                  <a:tcPr marL="91440" marR="91440" marT="45720" marB="45720" anchor="ctr">
                    <a:solidFill>
                      <a:srgbClr val="E8EDDF"/>
                    </a:solidFill>
                  </a:tcPr>
                </a:tc>
              </a:tr>
            </a:tbl>
          </a:graphicData>
        </a:graphic>
      </p:graphicFrame>
      <p:sp>
        <p:nvSpPr>
          <p:cNvPr id="6" name="Each illustrative round sells 20% post-money. A la">
            <a:extLst xmlns:a="http://schemas.openxmlformats.org/drawingml/2006/main">
              <a:ext uri="{FF2B5EF4-FFF2-40B4-BE49-F238E27FC236}">
                <a16:creationId xmlns:a16="http://schemas.microsoft.com/office/drawing/2014/main" id="{70B18EA5-407C-4A06-A764-F1FC560642C4}"/>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Each illustrative round sells 20% post-money. A later 10% option pool would reduce Patrick to 40.32%. Voting and board control require separate terms.</a:t>
            </a:r>
          </a:p>
        </p:txBody>
      </p:sp>
    </p:spTree>
    <p:extLst>
      <p:ext uri="{BB962C8B-B14F-4D97-AF65-F5344CB8AC3E}">
        <p14:creationId xmlns:p14="http://schemas.microsoft.com/office/powerpoint/2010/main" val="971065937"/>
      </p:ext>
    </p:extLst>
  </p:cSld>
</p:sld>
</file>

<file path=ppt/slides/slide19.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The investor’s return comes from equity value">
            <a:extLst xmlns:a="http://schemas.openxmlformats.org/drawingml/2006/main">
              <a:ext uri="{FF2B5EF4-FFF2-40B4-BE49-F238E27FC236}">
                <a16:creationId xmlns:a16="http://schemas.microsoft.com/office/drawing/2014/main" id="{FC74A486-005B-4095-A4ED-83B11164DE71}"/>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The investor’s return comes from equity value</a:t>
            </a:r>
          </a:p>
        </p:txBody>
      </p:sp>
      <p:sp>
        <p:nvSpPr>
          <p:cNvPr id="2" name="Illustration: $1.5m buys 20% initially and becomes">
            <a:extLst xmlns:a="http://schemas.openxmlformats.org/drawingml/2006/main">
              <a:ext uri="{FF2B5EF4-FFF2-40B4-BE49-F238E27FC236}">
                <a16:creationId xmlns:a16="http://schemas.microsoft.com/office/drawing/2014/main" id="{E3519A89-B76C-43DA-A97A-D3184C9315AA}"/>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Illustration: $1.5m buys 20% initially and becomes 16% after one further 20% round.</a:t>
            </a:r>
          </a:p>
        </p:txBody>
      </p:sp>
      <p:sp>
        <p:nvSpPr>
          <p:cNvPr id="3" name="YardMatch">
            <a:extLst xmlns:a="http://schemas.openxmlformats.org/drawingml/2006/main">
              <a:ext uri="{FF2B5EF4-FFF2-40B4-BE49-F238E27FC236}">
                <a16:creationId xmlns:a16="http://schemas.microsoft.com/office/drawing/2014/main" id="{0EBFD245-9D9B-435C-BB1D-3BB09A34B158}"/>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9">
            <a:extLst xmlns:a="http://schemas.openxmlformats.org/drawingml/2006/main">
              <a:ext uri="{FF2B5EF4-FFF2-40B4-BE49-F238E27FC236}">
                <a16:creationId xmlns:a16="http://schemas.microsoft.com/office/drawing/2014/main" id="{43F55161-78BF-4CBF-AFA5-305F0E8902D7}"/>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19</a:t>
            </a:r>
          </a:p>
        </p:txBody>
      </p:sp>
      <p:graphicFrame>
        <p:nvGraphicFramePr>
          <p:cNvPr id="15" name=""/>
          <p:cNvGraphicFramePr/>
          <p:nvPr/>
        </p:nvGraphicFramePr>
        <p:xfrm>
          <a:off xmlns:a="http://schemas.openxmlformats.org/drawingml/2006/main" x="609600" y="2409825"/>
          <a:ext xmlns:a="http://schemas.openxmlformats.org/drawingml/2006/main" cx="8572500" cy="2828925"/>
        </p:xfrm>
        <a:graphic xmlns:a="http://schemas.openxmlformats.org/drawingml/2006/main">
          <a:graphicData uri="http://schemas.openxmlformats.org/drawingml/2006/table">
            <a:tbl>
              <a:tblPr/>
              <a:tblGrid>
                <a:gridCol w="2571750"/>
                <a:gridCol w="3619500"/>
                <a:gridCol w="2381250"/>
              </a:tblGrid>
              <a:tr h="565785">
                <a:tc>
                  <a:txBody>
                    <a:bodyPr lIns="114300" tIns="76200" rIns="114300" bIns="76200">
                      <a:noAutofit/>
                    </a:bodyPr>
                    <a:lstStyle/>
                    <a:p>
                      <a:pPr algn="l"/>
                      <a:r>
                        <a:rPr sz="2025" b="1">
                          <a:solidFill>
                            <a:srgbClr val="FFFFFF"/>
                          </a:solidFill>
                          <a:latin typeface="Arial"/>
                          <a:ea typeface="Arial"/>
                          <a:cs typeface="Arial"/>
                        </a:rPr>
                        <a:t>Exit equity value</a:t>
                      </a:r>
                    </a:p>
                  </a:txBody>
                  <a:tcPr marL="91440" marR="91440" marT="45720" marB="45720" anchor="ctr">
                    <a:solidFill>
                      <a:srgbClr val="205938"/>
                    </a:solidFill>
                  </a:tcPr>
                </a:tc>
                <a:tc>
                  <a:txBody>
                    <a:bodyPr lIns="114300" tIns="76200" rIns="114300" bIns="76200">
                      <a:noAutofit/>
                    </a:bodyPr>
                    <a:lstStyle/>
                    <a:p>
                      <a:pPr algn="l"/>
                      <a:r>
                        <a:rPr sz="2025" b="1">
                          <a:solidFill>
                            <a:srgbClr val="FFFFFF"/>
                          </a:solidFill>
                          <a:latin typeface="Arial"/>
                          <a:ea typeface="Arial"/>
                          <a:cs typeface="Arial"/>
                        </a:rPr>
                        <a:t>Initial investor proceeds</a:t>
                      </a:r>
                    </a:p>
                  </a:txBody>
                  <a:tcPr marL="91440" marR="91440" marT="45720" marB="45720" anchor="ctr">
                    <a:solidFill>
                      <a:srgbClr val="205938"/>
                    </a:solidFill>
                  </a:tcPr>
                </a:tc>
                <a:tc>
                  <a:txBody>
                    <a:bodyPr lIns="114300" tIns="76200" rIns="114300" bIns="76200">
                      <a:noAutofit/>
                    </a:bodyPr>
                    <a:lstStyle/>
                    <a:p>
                      <a:pPr algn="l"/>
                      <a:r>
                        <a:rPr sz="2025" b="1">
                          <a:solidFill>
                            <a:srgbClr val="FFFFFF"/>
                          </a:solidFill>
                          <a:latin typeface="Arial"/>
                          <a:ea typeface="Arial"/>
                          <a:cs typeface="Arial"/>
                        </a:rPr>
                        <a:t>Gross multiple</a:t>
                      </a:r>
                    </a:p>
                  </a:txBody>
                  <a:tcPr marL="91440" marR="91440" marT="45720" marB="45720" anchor="ctr">
                    <a:solidFill>
                      <a:srgbClr val="205938"/>
                    </a:solidFill>
                  </a:tcPr>
                </a:tc>
              </a:tr>
              <a:tr h="565785">
                <a:tc>
                  <a:txBody>
                    <a:bodyPr lIns="114300" tIns="76200" rIns="114300" bIns="76200">
                      <a:noAutofit/>
                    </a:bodyPr>
                    <a:lstStyle/>
                    <a:p>
                      <a:pPr algn="l"/>
                      <a:r>
                        <a:rPr sz="2025" b="0">
                          <a:solidFill>
                            <a:srgbClr val="14281D"/>
                          </a:solidFill>
                          <a:latin typeface="Arial"/>
                          <a:ea typeface="Arial"/>
                          <a:cs typeface="Arial"/>
                        </a:rPr>
                        <a:t>$0</a:t>
                      </a:r>
                    </a:p>
                  </a:txBody>
                  <a:tcPr marL="91440" marR="91440" marT="45720" marB="45720" anchor="ctr">
                    <a:solidFill>
                      <a:srgbClr val="FFFFFF"/>
                    </a:solidFill>
                  </a:tcPr>
                </a:tc>
                <a:tc>
                  <a:txBody>
                    <a:bodyPr lIns="114300" tIns="76200" rIns="114300" bIns="76200">
                      <a:noAutofit/>
                    </a:bodyPr>
                    <a:lstStyle/>
                    <a:p>
                      <a:pPr algn="r"/>
                      <a:r>
                        <a:rPr sz="2025" b="0">
                          <a:solidFill>
                            <a:srgbClr val="14281D"/>
                          </a:solidFill>
                          <a:latin typeface="Arial"/>
                          <a:ea typeface="Arial"/>
                          <a:cs typeface="Arial"/>
                        </a:rPr>
                        <a:t>$0</a:t>
                      </a:r>
                    </a:p>
                  </a:txBody>
                  <a:tcPr marL="91440" marR="91440" marT="45720" marB="45720" anchor="ctr">
                    <a:solidFill>
                      <a:srgbClr val="FFFFFF"/>
                    </a:solidFill>
                  </a:tcPr>
                </a:tc>
                <a:tc>
                  <a:txBody>
                    <a:bodyPr lIns="114300" tIns="76200" rIns="114300" bIns="76200">
                      <a:noAutofit/>
                    </a:bodyPr>
                    <a:lstStyle/>
                    <a:p>
                      <a:pPr algn="r"/>
                      <a:r>
                        <a:rPr sz="2025" b="0">
                          <a:solidFill>
                            <a:srgbClr val="14281D"/>
                          </a:solidFill>
                          <a:latin typeface="Arial"/>
                          <a:ea typeface="Arial"/>
                          <a:cs typeface="Arial"/>
                        </a:rPr>
                        <a:t>0.0x</a:t>
                      </a:r>
                    </a:p>
                  </a:txBody>
                  <a:tcPr marL="91440" marR="91440" marT="45720" marB="45720" anchor="ctr">
                    <a:solidFill>
                      <a:srgbClr val="FFFFFF"/>
                    </a:solidFill>
                  </a:tcPr>
                </a:tc>
              </a:tr>
              <a:tr h="565785">
                <a:tc>
                  <a:txBody>
                    <a:bodyPr lIns="114300" tIns="76200" rIns="114300" bIns="76200">
                      <a:noAutofit/>
                    </a:bodyPr>
                    <a:lstStyle/>
                    <a:p>
                      <a:pPr algn="l"/>
                      <a:r>
                        <a:rPr sz="2025" b="0">
                          <a:solidFill>
                            <a:srgbClr val="14281D"/>
                          </a:solidFill>
                          <a:latin typeface="Arial"/>
                          <a:ea typeface="Arial"/>
                          <a:cs typeface="Arial"/>
                        </a:rPr>
                        <a:t>$10m</a:t>
                      </a:r>
                    </a:p>
                  </a:txBody>
                  <a:tcPr marL="91440" marR="91440" marT="45720" marB="45720" anchor="ctr">
                    <a:solidFill>
                      <a:srgbClr val="F7F5EF"/>
                    </a:solidFill>
                  </a:tcPr>
                </a:tc>
                <a:tc>
                  <a:txBody>
                    <a:bodyPr lIns="114300" tIns="76200" rIns="114300" bIns="76200">
                      <a:noAutofit/>
                    </a:bodyPr>
                    <a:lstStyle/>
                    <a:p>
                      <a:pPr algn="r"/>
                      <a:r>
                        <a:rPr sz="2025" b="0">
                          <a:solidFill>
                            <a:srgbClr val="14281D"/>
                          </a:solidFill>
                          <a:latin typeface="Arial"/>
                          <a:ea typeface="Arial"/>
                          <a:cs typeface="Arial"/>
                        </a:rPr>
                        <a:t>$1.6m</a:t>
                      </a:r>
                    </a:p>
                  </a:txBody>
                  <a:tcPr marL="91440" marR="91440" marT="45720" marB="45720" anchor="ctr">
                    <a:solidFill>
                      <a:srgbClr val="F7F5EF"/>
                    </a:solidFill>
                  </a:tcPr>
                </a:tc>
                <a:tc>
                  <a:txBody>
                    <a:bodyPr lIns="114300" tIns="76200" rIns="114300" bIns="76200">
                      <a:noAutofit/>
                    </a:bodyPr>
                    <a:lstStyle/>
                    <a:p>
                      <a:pPr algn="r"/>
                      <a:r>
                        <a:rPr sz="2025" b="0">
                          <a:solidFill>
                            <a:srgbClr val="14281D"/>
                          </a:solidFill>
                          <a:latin typeface="Arial"/>
                          <a:ea typeface="Arial"/>
                          <a:cs typeface="Arial"/>
                        </a:rPr>
                        <a:t>1.1x</a:t>
                      </a:r>
                    </a:p>
                  </a:txBody>
                  <a:tcPr marL="91440" marR="91440" marT="45720" marB="45720" anchor="ctr">
                    <a:solidFill>
                      <a:srgbClr val="F7F5EF"/>
                    </a:solidFill>
                  </a:tcPr>
                </a:tc>
              </a:tr>
              <a:tr h="565785">
                <a:tc>
                  <a:txBody>
                    <a:bodyPr lIns="114300" tIns="76200" rIns="114300" bIns="76200">
                      <a:noAutofit/>
                    </a:bodyPr>
                    <a:lstStyle/>
                    <a:p>
                      <a:pPr algn="l"/>
                      <a:r>
                        <a:rPr sz="2025" b="0">
                          <a:solidFill>
                            <a:srgbClr val="14281D"/>
                          </a:solidFill>
                          <a:latin typeface="Arial"/>
                          <a:ea typeface="Arial"/>
                          <a:cs typeface="Arial"/>
                        </a:rPr>
                        <a:t>$50m</a:t>
                      </a:r>
                    </a:p>
                  </a:txBody>
                  <a:tcPr marL="91440" marR="91440" marT="45720" marB="45720" anchor="ctr">
                    <a:solidFill>
                      <a:srgbClr val="FFFFFF"/>
                    </a:solidFill>
                  </a:tcPr>
                </a:tc>
                <a:tc>
                  <a:txBody>
                    <a:bodyPr lIns="114300" tIns="76200" rIns="114300" bIns="76200">
                      <a:noAutofit/>
                    </a:bodyPr>
                    <a:lstStyle/>
                    <a:p>
                      <a:pPr algn="r"/>
                      <a:r>
                        <a:rPr sz="2025" b="0">
                          <a:solidFill>
                            <a:srgbClr val="14281D"/>
                          </a:solidFill>
                          <a:latin typeface="Arial"/>
                          <a:ea typeface="Arial"/>
                          <a:cs typeface="Arial"/>
                        </a:rPr>
                        <a:t>$8.0m</a:t>
                      </a:r>
                    </a:p>
                  </a:txBody>
                  <a:tcPr marL="91440" marR="91440" marT="45720" marB="45720" anchor="ctr">
                    <a:solidFill>
                      <a:srgbClr val="FFFFFF"/>
                    </a:solidFill>
                  </a:tcPr>
                </a:tc>
                <a:tc>
                  <a:txBody>
                    <a:bodyPr lIns="114300" tIns="76200" rIns="114300" bIns="76200">
                      <a:noAutofit/>
                    </a:bodyPr>
                    <a:lstStyle/>
                    <a:p>
                      <a:pPr algn="r"/>
                      <a:r>
                        <a:rPr sz="2025" b="0">
                          <a:solidFill>
                            <a:srgbClr val="14281D"/>
                          </a:solidFill>
                          <a:latin typeface="Arial"/>
                          <a:ea typeface="Arial"/>
                          <a:cs typeface="Arial"/>
                        </a:rPr>
                        <a:t>5.3x</a:t>
                      </a:r>
                    </a:p>
                  </a:txBody>
                  <a:tcPr marL="91440" marR="91440" marT="45720" marB="45720" anchor="ctr">
                    <a:solidFill>
                      <a:srgbClr val="FFFFFF"/>
                    </a:solidFill>
                  </a:tcPr>
                </a:tc>
              </a:tr>
              <a:tr h="565785">
                <a:tc>
                  <a:txBody>
                    <a:bodyPr lIns="114300" tIns="76200" rIns="114300" bIns="76200">
                      <a:noAutofit/>
                    </a:bodyPr>
                    <a:lstStyle/>
                    <a:p>
                      <a:pPr algn="l"/>
                      <a:r>
                        <a:rPr sz="2025" b="0">
                          <a:solidFill>
                            <a:srgbClr val="14281D"/>
                          </a:solidFill>
                          <a:latin typeface="Arial"/>
                          <a:ea typeface="Arial"/>
                          <a:cs typeface="Arial"/>
                        </a:rPr>
                        <a:t>$100m</a:t>
                      </a:r>
                    </a:p>
                  </a:txBody>
                  <a:tcPr marL="91440" marR="91440" marT="45720" marB="45720" anchor="ctr">
                    <a:solidFill>
                      <a:srgbClr val="F7F5EF"/>
                    </a:solidFill>
                  </a:tcPr>
                </a:tc>
                <a:tc>
                  <a:txBody>
                    <a:bodyPr lIns="114300" tIns="76200" rIns="114300" bIns="76200">
                      <a:noAutofit/>
                    </a:bodyPr>
                    <a:lstStyle/>
                    <a:p>
                      <a:pPr algn="r"/>
                      <a:r>
                        <a:rPr sz="2025" b="0">
                          <a:solidFill>
                            <a:srgbClr val="14281D"/>
                          </a:solidFill>
                          <a:latin typeface="Arial"/>
                          <a:ea typeface="Arial"/>
                          <a:cs typeface="Arial"/>
                        </a:rPr>
                        <a:t>$16.0m</a:t>
                      </a:r>
                    </a:p>
                  </a:txBody>
                  <a:tcPr marL="91440" marR="91440" marT="45720" marB="45720" anchor="ctr">
                    <a:solidFill>
                      <a:srgbClr val="F7F5EF"/>
                    </a:solidFill>
                  </a:tcPr>
                </a:tc>
                <a:tc>
                  <a:txBody>
                    <a:bodyPr lIns="114300" tIns="76200" rIns="114300" bIns="76200">
                      <a:noAutofit/>
                    </a:bodyPr>
                    <a:lstStyle/>
                    <a:p>
                      <a:pPr algn="r"/>
                      <a:r>
                        <a:rPr sz="2025" b="0">
                          <a:solidFill>
                            <a:srgbClr val="14281D"/>
                          </a:solidFill>
                          <a:latin typeface="Arial"/>
                          <a:ea typeface="Arial"/>
                          <a:cs typeface="Arial"/>
                        </a:rPr>
                        <a:t>10.7x</a:t>
                      </a:r>
                    </a:p>
                  </a:txBody>
                  <a:tcPr marL="91440" marR="91440" marT="45720" marB="45720" anchor="ctr">
                    <a:solidFill>
                      <a:srgbClr val="F7F5EF"/>
                    </a:solidFill>
                  </a:tcPr>
                </a:tc>
              </a:tr>
            </a:tbl>
          </a:graphicData>
        </a:graphic>
      </p:graphicFrame>
      <p:sp>
        <p:nvSpPr>
          <p:cNvPr id="6" name="$6.0m">
            <a:extLst xmlns:a="http://schemas.openxmlformats.org/drawingml/2006/main">
              <a:ext uri="{FF2B5EF4-FFF2-40B4-BE49-F238E27FC236}">
                <a16:creationId xmlns:a16="http://schemas.microsoft.com/office/drawing/2014/main" id="{8796C9EE-2B25-47E2-9405-31F4FC42951A}"/>
              </a:ext>
            </a:extLst>
          </p:cNvPr>
          <p:cNvSpPr>
            <a:spLocks xmlns:a="http://schemas.openxmlformats.org/drawingml/2006/main" noGrp="1"/>
          </p:cNvSpPr>
          <p:nvPr/>
        </p:nvSpPr>
        <p:spPr>
          <a:xfrm xmlns:a="http://schemas.openxmlformats.org/drawingml/2006/main">
            <a:off x="9582150" y="2495550"/>
            <a:ext cx="19621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205938"/>
                </a:solidFill>
                <a:latin typeface="Arial"/>
                <a:ea typeface="Arial"/>
                <a:cs typeface="Arial"/>
              </a:defRPr>
            </a:pPr>
            <a:r>
              <a:rPr sz="2775" b="1">
                <a:solidFill>
                  <a:srgbClr val="205938"/>
                </a:solidFill>
                <a:latin typeface="Arial"/>
                <a:ea typeface="Arial"/>
                <a:cs typeface="Arial"/>
              </a:rPr>
              <a:t>$6.0m</a:t>
            </a:r>
          </a:p>
        </p:txBody>
      </p:sp>
      <p:sp>
        <p:nvSpPr>
          <p:cNvPr id="7" name="Illustrative&#10;pre-money value">
            <a:extLst xmlns:a="http://schemas.openxmlformats.org/drawingml/2006/main">
              <a:ext uri="{FF2B5EF4-FFF2-40B4-BE49-F238E27FC236}">
                <a16:creationId xmlns:a16="http://schemas.microsoft.com/office/drawing/2014/main" id="{CEB06877-4F4A-45AA-9CF5-791CD2BC98B9}"/>
              </a:ext>
            </a:extLst>
          </p:cNvPr>
          <p:cNvSpPr>
            <a:spLocks xmlns:a="http://schemas.openxmlformats.org/drawingml/2006/main" noGrp="1"/>
          </p:cNvSpPr>
          <p:nvPr/>
        </p:nvSpPr>
        <p:spPr>
          <a:xfrm xmlns:a="http://schemas.openxmlformats.org/drawingml/2006/main">
            <a:off x="9582150" y="3124200"/>
            <a:ext cx="19716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4281D"/>
                </a:solidFill>
                <a:latin typeface="Arial"/>
                <a:ea typeface="Arial"/>
                <a:cs typeface="Arial"/>
              </a:defRPr>
            </a:pPr>
            <a:r>
              <a:rPr sz="1800" b="0">
                <a:solidFill>
                  <a:srgbClr val="14281D"/>
                </a:solidFill>
                <a:latin typeface="Arial"/>
                <a:ea typeface="Arial"/>
                <a:cs typeface="Arial"/>
              </a:rPr>
              <a:t>Illustrative</a:t>
            </a:r>
          </a:p>
          <a:p xmlns:a="http://schemas.openxmlformats.org/drawingml/2006/main">
            <a:pPr algn="l">
              <a:defRPr sz="1800" b="0">
                <a:solidFill>
                  <a:srgbClr val="14281D"/>
                </a:solidFill>
                <a:latin typeface="Arial"/>
                <a:ea typeface="Arial"/>
                <a:cs typeface="Arial"/>
              </a:defRPr>
            </a:pPr>
            <a:r>
              <a:rPr sz="1800" b="0">
                <a:solidFill>
                  <a:srgbClr val="14281D"/>
                </a:solidFill>
                <a:latin typeface="Arial"/>
                <a:ea typeface="Arial"/>
                <a:cs typeface="Arial"/>
              </a:rPr>
              <a:t>pre-money value</a:t>
            </a:r>
          </a:p>
        </p:txBody>
      </p:sp>
      <p:sp>
        <p:nvSpPr>
          <p:cNvPr id="8" name="$7.5m">
            <a:extLst xmlns:a="http://schemas.openxmlformats.org/drawingml/2006/main">
              <a:ext uri="{FF2B5EF4-FFF2-40B4-BE49-F238E27FC236}">
                <a16:creationId xmlns:a16="http://schemas.microsoft.com/office/drawing/2014/main" id="{EA82D452-99AF-4BD3-8068-CE1D63DCBFB1}"/>
              </a:ext>
            </a:extLst>
          </p:cNvPr>
          <p:cNvSpPr>
            <a:spLocks xmlns:a="http://schemas.openxmlformats.org/drawingml/2006/main" noGrp="1"/>
          </p:cNvSpPr>
          <p:nvPr/>
        </p:nvSpPr>
        <p:spPr>
          <a:xfrm xmlns:a="http://schemas.openxmlformats.org/drawingml/2006/main">
            <a:off x="9582150" y="4238625"/>
            <a:ext cx="19621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205938"/>
                </a:solidFill>
                <a:latin typeface="Arial"/>
                <a:ea typeface="Arial"/>
                <a:cs typeface="Arial"/>
              </a:defRPr>
            </a:pPr>
            <a:r>
              <a:rPr sz="2775" b="1">
                <a:solidFill>
                  <a:srgbClr val="205938"/>
                </a:solidFill>
                <a:latin typeface="Arial"/>
                <a:ea typeface="Arial"/>
                <a:cs typeface="Arial"/>
              </a:rPr>
              <a:t>$7.5m</a:t>
            </a:r>
          </a:p>
        </p:txBody>
      </p:sp>
      <p:sp>
        <p:nvSpPr>
          <p:cNvPr id="9" name="Illustrative&#10;post-money value">
            <a:extLst xmlns:a="http://schemas.openxmlformats.org/drawingml/2006/main">
              <a:ext uri="{FF2B5EF4-FFF2-40B4-BE49-F238E27FC236}">
                <a16:creationId xmlns:a16="http://schemas.microsoft.com/office/drawing/2014/main" id="{BF1AACE9-BB84-4E2A-BBB4-0A15DC861549}"/>
              </a:ext>
            </a:extLst>
          </p:cNvPr>
          <p:cNvSpPr>
            <a:spLocks xmlns:a="http://schemas.openxmlformats.org/drawingml/2006/main" noGrp="1"/>
          </p:cNvSpPr>
          <p:nvPr/>
        </p:nvSpPr>
        <p:spPr>
          <a:xfrm xmlns:a="http://schemas.openxmlformats.org/drawingml/2006/main">
            <a:off x="9582150" y="4867275"/>
            <a:ext cx="19716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4281D"/>
                </a:solidFill>
                <a:latin typeface="Arial"/>
                <a:ea typeface="Arial"/>
                <a:cs typeface="Arial"/>
              </a:defRPr>
            </a:pPr>
            <a:r>
              <a:rPr sz="1800" b="0">
                <a:solidFill>
                  <a:srgbClr val="14281D"/>
                </a:solidFill>
                <a:latin typeface="Arial"/>
                <a:ea typeface="Arial"/>
                <a:cs typeface="Arial"/>
              </a:rPr>
              <a:t>Illustrative</a:t>
            </a:r>
          </a:p>
          <a:p xmlns:a="http://schemas.openxmlformats.org/drawingml/2006/main">
            <a:pPr algn="l">
              <a:defRPr sz="1800" b="0">
                <a:solidFill>
                  <a:srgbClr val="14281D"/>
                </a:solidFill>
                <a:latin typeface="Arial"/>
                <a:ea typeface="Arial"/>
                <a:cs typeface="Arial"/>
              </a:defRPr>
            </a:pPr>
            <a:r>
              <a:rPr sz="1800" b="0">
                <a:solidFill>
                  <a:srgbClr val="14281D"/>
                </a:solidFill>
                <a:latin typeface="Arial"/>
                <a:ea typeface="Arial"/>
                <a:cs typeface="Arial"/>
              </a:rPr>
              <a:t>post-money value</a:t>
            </a:r>
          </a:p>
        </p:txBody>
      </p:sp>
      <p:sp>
        <p:nvSpPr>
          <p:cNvPr id="10" name="Return arithmetic, not an exit forecast. Excludes ">
            <a:extLst xmlns:a="http://schemas.openxmlformats.org/drawingml/2006/main">
              <a:ext uri="{FF2B5EF4-FFF2-40B4-BE49-F238E27FC236}">
                <a16:creationId xmlns:a16="http://schemas.microsoft.com/office/drawing/2014/main" id="{AE73FA7B-ADF4-444C-B965-EC556F825B9E}"/>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Return arithmetic, not an exit forecast. Excludes further dilution, option pools, preferences, taxes and fees. The $0 outcome represents a complete loss.</a:t>
            </a:r>
          </a:p>
        </p:txBody>
      </p:sp>
    </p:spTree>
    <p:extLst>
      <p:ext uri="{BB962C8B-B14F-4D97-AF65-F5344CB8AC3E}">
        <p14:creationId xmlns:p14="http://schemas.microsoft.com/office/powerpoint/2010/main" val="1174463767"/>
      </p:ext>
    </p:extLst>
  </p:cSld>
</p:sld>
</file>

<file path=ppt/slides/slide20.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Milestones for the next round">
            <a:extLst xmlns:a="http://schemas.openxmlformats.org/drawingml/2006/main">
              <a:ext uri="{FF2B5EF4-FFF2-40B4-BE49-F238E27FC236}">
                <a16:creationId xmlns:a16="http://schemas.microsoft.com/office/drawing/2014/main" id="{68125AB1-F3CA-42DD-9829-E09CF595F7C4}"/>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Milestones for the next round</a:t>
            </a:r>
          </a:p>
        </p:txBody>
      </p:sp>
      <p:sp>
        <p:nvSpPr>
          <p:cNvPr id="2" name="The strongest investment case will rest on paid co">
            <a:extLst xmlns:a="http://schemas.openxmlformats.org/drawingml/2006/main">
              <a:ext uri="{FF2B5EF4-FFF2-40B4-BE49-F238E27FC236}">
                <a16:creationId xmlns:a16="http://schemas.microsoft.com/office/drawing/2014/main" id="{C26BF73B-95F0-4A0F-A091-C3F57E8AE3B2}"/>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The strongest investment case will rest on paid cohort results from a concentrated launch.</a:t>
            </a:r>
          </a:p>
        </p:txBody>
      </p:sp>
      <p:sp>
        <p:nvSpPr>
          <p:cNvPr id="3" name="YardMatch">
            <a:extLst xmlns:a="http://schemas.openxmlformats.org/drawingml/2006/main">
              <a:ext uri="{FF2B5EF4-FFF2-40B4-BE49-F238E27FC236}">
                <a16:creationId xmlns:a16="http://schemas.microsoft.com/office/drawing/2014/main" id="{0982F7E5-6631-431F-B79A-2E549EE2E810}"/>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0">
            <a:extLst xmlns:a="http://schemas.openxmlformats.org/drawingml/2006/main">
              <a:ext uri="{FF2B5EF4-FFF2-40B4-BE49-F238E27FC236}">
                <a16:creationId xmlns:a16="http://schemas.microsoft.com/office/drawing/2014/main" id="{B8A83D3D-72B9-4118-8FC5-5A72AB7C8E27}"/>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20</a:t>
            </a:r>
          </a:p>
        </p:txBody>
      </p:sp>
      <p:graphicFrame>
        <p:nvGraphicFramePr>
          <p:cNvPr id="11" name=""/>
          <p:cNvGraphicFramePr/>
          <p:nvPr/>
        </p:nvGraphicFramePr>
        <p:xfrm>
          <a:off xmlns:a="http://schemas.openxmlformats.org/drawingml/2006/main" x="609600" y="2362200"/>
          <a:ext xmlns:a="http://schemas.openxmlformats.org/drawingml/2006/main" cx="10972800" cy="3333750"/>
        </p:xfrm>
        <a:graphic xmlns:a="http://schemas.openxmlformats.org/drawingml/2006/main">
          <a:graphicData uri="http://schemas.openxmlformats.org/drawingml/2006/table">
            <a:tbl>
              <a:tblPr/>
              <a:tblGrid>
                <a:gridCol w="3476625"/>
                <a:gridCol w="7496175"/>
              </a:tblGrid>
              <a:tr h="555625">
                <a:tc>
                  <a:txBody>
                    <a:bodyPr lIns="114300" tIns="76200" rIns="114300" bIns="76200">
                      <a:noAutofit/>
                    </a:bodyPr>
                    <a:lstStyle/>
                    <a:p>
                      <a:pPr algn="l"/>
                      <a:r>
                        <a:rPr sz="1800" b="1">
                          <a:solidFill>
                            <a:srgbClr val="FFFFFF"/>
                          </a:solidFill>
                          <a:latin typeface="Arial"/>
                          <a:ea typeface="Arial"/>
                          <a:cs typeface="Arial"/>
                        </a:rPr>
                        <a:t>Test</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Proposed evidence</a:t>
                      </a:r>
                    </a:p>
                  </a:txBody>
                  <a:tcPr marL="91440" marR="91440" marT="45720" marB="45720" anchor="ctr">
                    <a:solidFill>
                      <a:srgbClr val="205938"/>
                    </a:solidFill>
                  </a:tcPr>
                </a:tc>
              </a:tr>
              <a:tr h="555625">
                <a:tc>
                  <a:txBody>
                    <a:bodyPr lIns="114300" tIns="76200" rIns="114300" bIns="76200">
                      <a:noAutofit/>
                    </a:bodyPr>
                    <a:lstStyle/>
                    <a:p>
                      <a:pPr algn="l"/>
                      <a:r>
                        <a:rPr sz="1800" b="0">
                          <a:solidFill>
                            <a:srgbClr val="14281D"/>
                          </a:solidFill>
                          <a:latin typeface="Arial"/>
                          <a:ea typeface="Arial"/>
                          <a:cs typeface="Arial"/>
                        </a:rPr>
                        <a:t>Demand and retention</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500 paying households and measured second-season retention</a:t>
                      </a:r>
                    </a:p>
                  </a:txBody>
                  <a:tcPr marL="91440" marR="91440" marT="45720" marB="45720" anchor="ctr">
                    <a:solidFill>
                      <a:srgbClr val="FFFFFF"/>
                    </a:solidFill>
                  </a:tcPr>
                </a:tc>
              </a:tr>
              <a:tr h="555625">
                <a:tc>
                  <a:txBody>
                    <a:bodyPr lIns="114300" tIns="76200" rIns="114300" bIns="76200">
                      <a:noAutofit/>
                    </a:bodyPr>
                    <a:lstStyle/>
                    <a:p>
                      <a:pPr algn="l"/>
                      <a:r>
                        <a:rPr sz="1800" b="0">
                          <a:solidFill>
                            <a:srgbClr val="14281D"/>
                          </a:solidFill>
                          <a:latin typeface="Arial"/>
                          <a:ea typeface="Arial"/>
                          <a:cs typeface="Arial"/>
                        </a:rPr>
                        <a:t>Provider fee acceptance</a:t>
                      </a:r>
                    </a:p>
                  </a:txBody>
                  <a:tcPr marL="91440" marR="91440" marT="45720" marB="45720" anchor="ctr">
                    <a:solidFill>
                      <a:srgbClr val="F7F5EF"/>
                    </a:solidFill>
                  </a:tcPr>
                </a:tc>
                <a:tc>
                  <a:txBody>
                    <a:bodyPr lIns="114300" tIns="76200" rIns="114300" bIns="76200">
                      <a:noAutofit/>
                    </a:bodyPr>
                    <a:lstStyle/>
                    <a:p>
                      <a:pPr algn="l"/>
                      <a:r>
                        <a:rPr sz="1800" b="0">
                          <a:solidFill>
                            <a:srgbClr val="14281D"/>
                          </a:solidFill>
                          <a:latin typeface="Arial"/>
                          <a:ea typeface="Arial"/>
                          <a:cs typeface="Arial"/>
                        </a:rPr>
                        <a:t>Repeat visits continue with a $2.99 provider fee</a:t>
                      </a:r>
                    </a:p>
                  </a:txBody>
                  <a:tcPr marL="91440" marR="91440" marT="45720" marB="45720" anchor="ctr">
                    <a:solidFill>
                      <a:srgbClr val="F7F5EF"/>
                    </a:solidFill>
                  </a:tcPr>
                </a:tc>
              </a:tr>
              <a:tr h="555625">
                <a:tc>
                  <a:txBody>
                    <a:bodyPr lIns="114300" tIns="76200" rIns="114300" bIns="76200">
                      <a:noAutofit/>
                    </a:bodyPr>
                    <a:lstStyle/>
                    <a:p>
                      <a:pPr algn="l"/>
                      <a:r>
                        <a:rPr sz="1800" b="0">
                          <a:solidFill>
                            <a:srgbClr val="14281D"/>
                          </a:solidFill>
                          <a:latin typeface="Arial"/>
                          <a:ea typeface="Arial"/>
                          <a:cs typeface="Arial"/>
                        </a:rPr>
                        <a:t>Acquisition economics</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Cash CAC of $50 or less in year two</a:t>
                      </a:r>
                    </a:p>
                  </a:txBody>
                  <a:tcPr marL="91440" marR="91440" marT="45720" marB="45720" anchor="ctr">
                    <a:solidFill>
                      <a:srgbClr val="FFFFFF"/>
                    </a:solidFill>
                  </a:tcPr>
                </a:tc>
              </a:tr>
              <a:tr h="555625">
                <a:tc>
                  <a:txBody>
                    <a:bodyPr lIns="114300" tIns="76200" rIns="114300" bIns="76200">
                      <a:noAutofit/>
                    </a:bodyPr>
                    <a:lstStyle/>
                    <a:p>
                      <a:pPr algn="l"/>
                      <a:r>
                        <a:rPr sz="1800" b="0">
                          <a:solidFill>
                            <a:srgbClr val="14281D"/>
                          </a:solidFill>
                          <a:latin typeface="Arial"/>
                          <a:ea typeface="Arial"/>
                          <a:cs typeface="Arial"/>
                        </a:rPr>
                        <a:t>Positive repeat contribution</a:t>
                      </a:r>
                    </a:p>
                  </a:txBody>
                  <a:tcPr marL="91440" marR="91440" marT="45720" marB="45720" anchor="ctr">
                    <a:solidFill>
                      <a:srgbClr val="F7F5EF"/>
                    </a:solidFill>
                  </a:tcPr>
                </a:tc>
                <a:tc>
                  <a:txBody>
                    <a:bodyPr lIns="114300" tIns="76200" rIns="114300" bIns="76200">
                      <a:noAutofit/>
                    </a:bodyPr>
                    <a:lstStyle/>
                    <a:p>
                      <a:pPr algn="l"/>
                      <a:r>
                        <a:rPr sz="1800" b="0">
                          <a:solidFill>
                            <a:srgbClr val="14281D"/>
                          </a:solidFill>
                          <a:latin typeface="Arial"/>
                          <a:ea typeface="Arial"/>
                          <a:cs typeface="Arial"/>
                        </a:rPr>
                        <a:t>Payment mix supports at least $0.50 per paid repeat visit</a:t>
                      </a:r>
                    </a:p>
                  </a:txBody>
                  <a:tcPr marL="91440" marR="91440" marT="45720" marB="45720" anchor="ctr">
                    <a:solidFill>
                      <a:srgbClr val="F7F5EF"/>
                    </a:solidFill>
                  </a:tcPr>
                </a:tc>
              </a:tr>
              <a:tr h="555625">
                <a:tc>
                  <a:txBody>
                    <a:bodyPr lIns="114300" tIns="76200" rIns="114300" bIns="76200">
                      <a:noAutofit/>
                    </a:bodyPr>
                    <a:lstStyle/>
                    <a:p>
                      <a:pPr algn="l"/>
                      <a:r>
                        <a:rPr sz="1800" b="0">
                          <a:solidFill>
                            <a:srgbClr val="14281D"/>
                          </a:solidFill>
                          <a:latin typeface="Arial"/>
                          <a:ea typeface="Arial"/>
                          <a:cs typeface="Arial"/>
                        </a:rPr>
                        <a:t>Reliability and expansion</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Reliable service and economics reproduced in a second market</a:t>
                      </a:r>
                    </a:p>
                  </a:txBody>
                  <a:tcPr marL="91440" marR="91440" marT="45720" marB="45720" anchor="ctr">
                    <a:solidFill>
                      <a:srgbClr val="FFFFFF"/>
                    </a:solidFill>
                  </a:tcPr>
                </a:tc>
              </a:tr>
            </a:tbl>
          </a:graphicData>
        </a:graphic>
      </p:graphicFrame>
      <p:sp>
        <p:nvSpPr>
          <p:cNvPr id="6" name="Material risks: off-platform migration, seasonal c">
            <a:extLst xmlns:a="http://schemas.openxmlformats.org/drawingml/2006/main">
              <a:ext uri="{FF2B5EF4-FFF2-40B4-BE49-F238E27FC236}">
                <a16:creationId xmlns:a16="http://schemas.microsoft.com/office/drawing/2014/main" id="{428BBF48-2B19-4BFD-A5EF-742D77D48864}"/>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Material risks: off-platform migration, seasonal cash needs, high-ticket payment costs and service liability. Expansion pauses when contribution or retention misses the gate.</a:t>
            </a:r>
          </a:p>
        </p:txBody>
      </p:sp>
    </p:spTree>
    <p:extLst>
      <p:ext uri="{BB962C8B-B14F-4D97-AF65-F5344CB8AC3E}">
        <p14:creationId xmlns:p14="http://schemas.microsoft.com/office/powerpoint/2010/main" val="966103692"/>
      </p:ext>
    </p:extLst>
  </p:cSld>
</p:sld>
</file>

<file path=ppt/slides/slide2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3" name="Model mechanics and limits">
            <a:extLst xmlns:a="http://schemas.openxmlformats.org/drawingml/2006/main">
              <a:ext uri="{FF2B5EF4-FFF2-40B4-BE49-F238E27FC236}">
                <a16:creationId xmlns:a16="http://schemas.microsoft.com/office/drawing/2014/main" id="{5100FEA4-DFEC-4AE9-BF2B-5CF069E00A21}"/>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Model mechanics and limits</a:t>
            </a:r>
          </a:p>
        </p:txBody>
      </p:sp>
      <p:sp>
        <p:nvSpPr>
          <p:cNvPr id="2" name="The companion workbook exposes the formulas and al">
            <a:extLst xmlns:a="http://schemas.openxmlformats.org/drawingml/2006/main">
              <a:ext uri="{FF2B5EF4-FFF2-40B4-BE49-F238E27FC236}">
                <a16:creationId xmlns:a16="http://schemas.microsoft.com/office/drawing/2014/main" id="{543A2211-BC98-4EFD-97DE-4C2E191EDDE9}"/>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The companion workbook exposes the formulas and all editable assumptions.</a:t>
            </a:r>
          </a:p>
        </p:txBody>
      </p:sp>
      <p:sp>
        <p:nvSpPr>
          <p:cNvPr id="3" name="YardMatch">
            <a:extLst xmlns:a="http://schemas.openxmlformats.org/drawingml/2006/main">
              <a:ext uri="{FF2B5EF4-FFF2-40B4-BE49-F238E27FC236}">
                <a16:creationId xmlns:a16="http://schemas.microsoft.com/office/drawing/2014/main" id="{85F977A3-3A66-4B40-BF27-A25C6E419B5C}"/>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1">
            <a:extLst xmlns:a="http://schemas.openxmlformats.org/drawingml/2006/main">
              <a:ext uri="{FF2B5EF4-FFF2-40B4-BE49-F238E27FC236}">
                <a16:creationId xmlns:a16="http://schemas.microsoft.com/office/drawing/2014/main" id="{B00AECF9-7768-4D23-BCDE-48E018703B45}"/>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21</a:t>
            </a:r>
          </a:p>
        </p:txBody>
      </p:sp>
      <p:sp>
        <p:nvSpPr>
          <p:cNvPr id="5" name="Households and paid visits">
            <a:extLst xmlns:a="http://schemas.openxmlformats.org/drawingml/2006/main">
              <a:ext uri="{FF2B5EF4-FFF2-40B4-BE49-F238E27FC236}">
                <a16:creationId xmlns:a16="http://schemas.microsoft.com/office/drawing/2014/main" id="{FB0AC94D-AA7E-4326-90C6-E978D2146E93}"/>
              </a:ext>
            </a:extLst>
          </p:cNvPr>
          <p:cNvSpPr>
            <a:spLocks xmlns:a="http://schemas.openxmlformats.org/drawingml/2006/main" noGrp="1"/>
          </p:cNvSpPr>
          <p:nvPr/>
        </p:nvSpPr>
        <p:spPr>
          <a:xfrm xmlns:a="http://schemas.openxmlformats.org/drawingml/2006/main">
            <a:off x="628650" y="2371725"/>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Households and paid visits</a:t>
            </a:r>
          </a:p>
        </p:txBody>
      </p:sp>
      <p:sp>
        <p:nvSpPr>
          <p:cNvPr id="6" name="Retained households plus half of new households fo">
            <a:extLst xmlns:a="http://schemas.openxmlformats.org/drawingml/2006/main">
              <a:ext uri="{FF2B5EF4-FFF2-40B4-BE49-F238E27FC236}">
                <a16:creationId xmlns:a16="http://schemas.microsoft.com/office/drawing/2014/main" id="{BD9C5342-37CF-4C51-ADE3-2741B91AF26A}"/>
              </a:ext>
            </a:extLst>
          </p:cNvPr>
          <p:cNvSpPr>
            <a:spLocks xmlns:a="http://schemas.openxmlformats.org/drawingml/2006/main" noGrp="1"/>
          </p:cNvSpPr>
          <p:nvPr/>
        </p:nvSpPr>
        <p:spPr>
          <a:xfrm xmlns:a="http://schemas.openxmlformats.org/drawingml/2006/main">
            <a:off x="628650" y="2895600"/>
            <a:ext cx="5048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Retained households plus half of new households form the season’s service base. Visits then reflect platform capture and completion.</a:t>
            </a:r>
          </a:p>
        </p:txBody>
      </p:sp>
      <p:sp>
        <p:nvSpPr>
          <p:cNvPr id="7" name="Revenue and cost">
            <a:extLst xmlns:a="http://schemas.openxmlformats.org/drawingml/2006/main">
              <a:ext uri="{FF2B5EF4-FFF2-40B4-BE49-F238E27FC236}">
                <a16:creationId xmlns:a16="http://schemas.microsoft.com/office/drawing/2014/main" id="{521DCA21-DFBF-46BD-A27E-66C9BE4032CB}"/>
              </a:ext>
            </a:extLst>
          </p:cNvPr>
          <p:cNvSpPr>
            <a:spLocks xmlns:a="http://schemas.openxmlformats.org/drawingml/2006/main" noGrp="1"/>
          </p:cNvSpPr>
          <p:nvPr/>
        </p:nvSpPr>
        <p:spPr>
          <a:xfrm xmlns:a="http://schemas.openxmlformats.org/drawingml/2006/main">
            <a:off x="6410325" y="2371725"/>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Revenue and cost</a:t>
            </a:r>
          </a:p>
        </p:txBody>
      </p:sp>
      <p:sp>
        <p:nvSpPr>
          <p:cNvPr id="8" name="$45 per new pairing after waivers, plus $2.99 per ">
            <a:extLst xmlns:a="http://schemas.openxmlformats.org/drawingml/2006/main">
              <a:ext uri="{FF2B5EF4-FFF2-40B4-BE49-F238E27FC236}">
                <a16:creationId xmlns:a16="http://schemas.microsoft.com/office/drawing/2014/main" id="{285B56D7-8910-4EC4-A21E-7F0E3C7E10AF}"/>
              </a:ext>
            </a:extLst>
          </p:cNvPr>
          <p:cNvSpPr>
            <a:spLocks xmlns:a="http://schemas.openxmlformats.org/drawingml/2006/main" noGrp="1"/>
          </p:cNvSpPr>
          <p:nvPr/>
        </p:nvSpPr>
        <p:spPr>
          <a:xfrm xmlns:a="http://schemas.openxmlformats.org/drawingml/2006/main">
            <a:off x="6410325" y="2895600"/>
            <a:ext cx="5048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$45 per new pairing after waivers, plus $2.99 per paid visit. Processing uses the whole service ticket. Crew costs stay with the provider.</a:t>
            </a:r>
          </a:p>
        </p:txBody>
      </p:sp>
      <p:sp>
        <p:nvSpPr>
          <p:cNvPr id="9" name="Profit and cash">
            <a:extLst xmlns:a="http://schemas.openxmlformats.org/drawingml/2006/main">
              <a:ext uri="{FF2B5EF4-FFF2-40B4-BE49-F238E27FC236}">
                <a16:creationId xmlns:a16="http://schemas.microsoft.com/office/drawing/2014/main" id="{09F4A7BF-05C7-4843-893F-A1211D8D7EEE}"/>
              </a:ext>
            </a:extLst>
          </p:cNvPr>
          <p:cNvSpPr>
            <a:spLocks xmlns:a="http://schemas.openxmlformats.org/drawingml/2006/main" noGrp="1"/>
          </p:cNvSpPr>
          <p:nvPr/>
        </p:nvSpPr>
        <p:spPr>
          <a:xfrm xmlns:a="http://schemas.openxmlformats.org/drawingml/2006/main">
            <a:off x="628650" y="4267200"/>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Profit and cash</a:t>
            </a:r>
          </a:p>
        </p:txBody>
      </p:sp>
      <p:sp>
        <p:nvSpPr>
          <p:cNvPr id="10" name="Payroll includes founder pay. Fixed costs run all ">
            <a:extLst xmlns:a="http://schemas.openxmlformats.org/drawingml/2006/main">
              <a:ext uri="{FF2B5EF4-FFF2-40B4-BE49-F238E27FC236}">
                <a16:creationId xmlns:a16="http://schemas.microsoft.com/office/drawing/2014/main" id="{13619740-84EF-42C5-94C3-74C7977CECA8}"/>
              </a:ext>
            </a:extLst>
          </p:cNvPr>
          <p:cNvSpPr>
            <a:spLocks xmlns:a="http://schemas.openxmlformats.org/drawingml/2006/main" noGrp="1"/>
          </p:cNvSpPr>
          <p:nvPr/>
        </p:nvSpPr>
        <p:spPr>
          <a:xfrm xmlns:a="http://schemas.openxmlformats.org/drawingml/2006/main">
            <a:off x="628650" y="4791075"/>
            <a:ext cx="5048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Payroll includes founder pay. Fixed costs run all year. Cash also funds equipment and a modeled risk reserve.</a:t>
            </a:r>
          </a:p>
        </p:txBody>
      </p:sp>
      <p:sp>
        <p:nvSpPr>
          <p:cNvPr id="11" name="A cohort check">
            <a:extLst xmlns:a="http://schemas.openxmlformats.org/drawingml/2006/main">
              <a:ext uri="{FF2B5EF4-FFF2-40B4-BE49-F238E27FC236}">
                <a16:creationId xmlns:a16="http://schemas.microsoft.com/office/drawing/2014/main" id="{9BDE01BA-A77F-4471-A30D-E6F2879A4E95}"/>
              </a:ext>
            </a:extLst>
          </p:cNvPr>
          <p:cNvSpPr>
            <a:spLocks xmlns:a="http://schemas.openxmlformats.org/drawingml/2006/main" noGrp="1"/>
          </p:cNvSpPr>
          <p:nvPr/>
        </p:nvSpPr>
        <p:spPr>
          <a:xfrm xmlns:a="http://schemas.openxmlformats.org/drawingml/2006/main">
            <a:off x="6410325" y="4267200"/>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A cohort check</a:t>
            </a:r>
          </a:p>
        </p:txBody>
      </p:sp>
      <p:sp>
        <p:nvSpPr>
          <p:cNvPr id="12" name="Base 2031 economics imply about $89 of five-year c">
            <a:extLst xmlns:a="http://schemas.openxmlformats.org/drawingml/2006/main">
              <a:ext uri="{FF2B5EF4-FFF2-40B4-BE49-F238E27FC236}">
                <a16:creationId xmlns:a16="http://schemas.microsoft.com/office/drawing/2014/main" id="{4004EE4D-E8B0-4DCA-8ED3-33445B34A907}"/>
              </a:ext>
            </a:extLst>
          </p:cNvPr>
          <p:cNvSpPr>
            <a:spLocks xmlns:a="http://schemas.openxmlformats.org/drawingml/2006/main" noGrp="1"/>
          </p:cNvSpPr>
          <p:nvPr/>
        </p:nvSpPr>
        <p:spPr>
          <a:xfrm xmlns:a="http://schemas.openxmlformats.org/drawingml/2006/main">
            <a:off x="6410325" y="4791075"/>
            <a:ext cx="5048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Base 2031 economics imply about $89 of five-year contribution per acquired household versus $35 CAC, or 2.6x. This is an assumption test.</a:t>
            </a:r>
          </a:p>
        </p:txBody>
      </p:sp>
    </p:spTree>
    <p:extLst>
      <p:ext uri="{BB962C8B-B14F-4D97-AF65-F5344CB8AC3E}">
        <p14:creationId xmlns:p14="http://schemas.microsoft.com/office/powerpoint/2010/main" val="1677943094"/>
      </p:ext>
    </p:extLst>
  </p:cSld>
</p:sld>
</file>

<file path=ppt/slides/slide2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4" name="Sources and basis">
            <a:extLst xmlns:a="http://schemas.openxmlformats.org/drawingml/2006/main">
              <a:ext uri="{FF2B5EF4-FFF2-40B4-BE49-F238E27FC236}">
                <a16:creationId xmlns:a16="http://schemas.microsoft.com/office/drawing/2014/main" id="{697F8929-E727-47A2-B413-C9007FE24D87}"/>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Sources and basis</a:t>
            </a:r>
          </a:p>
        </p:txBody>
      </p:sp>
      <p:sp>
        <p:nvSpPr>
          <p:cNvPr id="2" name="Prepared September 20, 2026. Financial projections">
            <a:extLst xmlns:a="http://schemas.openxmlformats.org/drawingml/2006/main">
              <a:ext uri="{FF2B5EF4-FFF2-40B4-BE49-F238E27FC236}">
                <a16:creationId xmlns:a16="http://schemas.microsoft.com/office/drawing/2014/main" id="{539E7D26-CFB6-4C06-8664-F98787969561}"/>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Prepared September 20, 2026. Financial projections use explicit planning assumptions.</a:t>
            </a:r>
          </a:p>
        </p:txBody>
      </p:sp>
      <p:sp>
        <p:nvSpPr>
          <p:cNvPr id="3" name="YardMatch">
            <a:extLst xmlns:a="http://schemas.openxmlformats.org/drawingml/2006/main">
              <a:ext uri="{FF2B5EF4-FFF2-40B4-BE49-F238E27FC236}">
                <a16:creationId xmlns:a16="http://schemas.microsoft.com/office/drawing/2014/main" id="{BADF8F6E-8EBF-4FF0-8A75-F65EC070D64B}"/>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2">
            <a:extLst xmlns:a="http://schemas.openxmlformats.org/drawingml/2006/main">
              <a:ext uri="{FF2B5EF4-FFF2-40B4-BE49-F238E27FC236}">
                <a16:creationId xmlns:a16="http://schemas.microsoft.com/office/drawing/2014/main" id="{877A8738-F94E-466C-9952-49291C8196A4}"/>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22</a:t>
            </a:r>
          </a:p>
        </p:txBody>
      </p:sp>
      <p:sp>
        <p:nvSpPr>
          <p:cNvPr id="5" name="Company materials">
            <a:extLst xmlns:a="http://schemas.openxmlformats.org/drawingml/2006/main">
              <a:ext uri="{FF2B5EF4-FFF2-40B4-BE49-F238E27FC236}">
                <a16:creationId xmlns:a16="http://schemas.microsoft.com/office/drawing/2014/main" id="{221EDAF5-7619-44EE-A0C0-28C3B515FEE6}"/>
              </a:ext>
            </a:extLst>
          </p:cNvPr>
          <p:cNvSpPr>
            <a:spLocks xmlns:a="http://schemas.openxmlformats.org/drawingml/2006/main" noGrp="1"/>
          </p:cNvSpPr>
          <p:nvPr/>
        </p:nvSpPr>
        <p:spPr>
          <a:xfrm xmlns:a="http://schemas.openxmlformats.org/drawingml/2006/main">
            <a:off x="628650" y="2314575"/>
            <a:ext cx="3714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05938"/>
                </a:solidFill>
                <a:latin typeface="Arial"/>
                <a:ea typeface="Arial"/>
                <a:cs typeface="Arial"/>
              </a:defRPr>
            </a:pPr>
            <a:r>
              <a:rPr sz="2025" b="1">
                <a:solidFill>
                  <a:srgbClr val="205938"/>
                </a:solidFill>
                <a:latin typeface="Arial"/>
                <a:ea typeface="Arial"/>
                <a:cs typeface="Arial"/>
              </a:rPr>
              <a:t>Company materials</a:t>
            </a:r>
          </a:p>
        </p:txBody>
      </p:sp>
      <p:sp>
        <p:nvSpPr>
          <p:cNvPr id="6" name="YardMatch partner pitch, September 2026&#10;Product po">
            <a:extLst xmlns:a="http://schemas.openxmlformats.org/drawingml/2006/main">
              <a:ext uri="{FF2B5EF4-FFF2-40B4-BE49-F238E27FC236}">
                <a16:creationId xmlns:a16="http://schemas.microsoft.com/office/drawing/2014/main" id="{FE4C66B7-26B3-4EE7-A011-CC8376FA37E8}"/>
              </a:ext>
            </a:extLst>
          </p:cNvPr>
          <p:cNvSpPr>
            <a:spLocks xmlns:a="http://schemas.openxmlformats.org/drawingml/2006/main" noGrp="1"/>
          </p:cNvSpPr>
          <p:nvPr/>
        </p:nvSpPr>
        <p:spPr>
          <a:xfrm xmlns:a="http://schemas.openxmlformats.org/drawingml/2006/main">
            <a:off x="628650" y="2800350"/>
            <a:ext cx="108775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4281D"/>
                </a:solidFill>
                <a:latin typeface="Arial"/>
                <a:ea typeface="Arial"/>
                <a:cs typeface="Arial"/>
              </a:defRPr>
            </a:pPr>
            <a:r>
              <a:rPr sz="1725" b="0">
                <a:solidFill>
                  <a:srgbClr val="14281D"/>
                </a:solidFill>
                <a:latin typeface="Arial"/>
                <a:ea typeface="Arial"/>
                <a:cs typeface="Arial"/>
              </a:rPr>
              <a:t>YardMatch partner pitch, September 2026</a:t>
            </a:r>
          </a:p>
          <a:p xmlns:a="http://schemas.openxmlformats.org/drawingml/2006/main">
            <a:pPr algn="l">
              <a:defRPr sz="1725" b="0">
                <a:solidFill>
                  <a:srgbClr val="14281D"/>
                </a:solidFill>
                <a:latin typeface="Arial"/>
                <a:ea typeface="Arial"/>
                <a:cs typeface="Arial"/>
              </a:defRPr>
            </a:pPr>
            <a:r>
              <a:rPr sz="1725" b="0">
                <a:solidFill>
                  <a:srgbClr val="14281D"/>
                </a:solidFill>
                <a:latin typeface="Arial"/>
                <a:ea typeface="Arial"/>
                <a:cs typeface="Arial"/>
              </a:rPr>
              <a:t>Product positioning, role concepts, $45 finder fee and welcome offer</a:t>
            </a:r>
          </a:p>
          <a:p xmlns:a="http://schemas.openxmlformats.org/drawingml/2006/main">
            <a:pPr algn="l">
              <a:defRPr sz="1725" b="0">
                <a:solidFill>
                  <a:srgbClr val="14281D"/>
                </a:solidFill>
                <a:latin typeface="Arial"/>
                <a:ea typeface="Arial"/>
                <a:cs typeface="Arial"/>
              </a:defRPr>
            </a:pPr>
            <a:r>
              <a:rPr sz="1725" b="0">
                <a:solidFill>
                  <a:srgbClr val="14281D"/>
                </a:solidFill>
                <a:latin typeface="Arial"/>
                <a:ea typeface="Arial"/>
                <a:cs typeface="Arial"/>
              </a:rPr>
              <a:t>Repository roadmap and engineering status for local product progress</a:t>
            </a:r>
          </a:p>
        </p:txBody>
      </p:sp>
      <p:sp>
        <p:nvSpPr>
          <p:cNvPr id="7" name="External sources">
            <a:extLst xmlns:a="http://schemas.openxmlformats.org/drawingml/2006/main">
              <a:ext uri="{FF2B5EF4-FFF2-40B4-BE49-F238E27FC236}">
                <a16:creationId xmlns:a16="http://schemas.microsoft.com/office/drawing/2014/main" id="{8585977A-6BA3-4B96-BE96-BF7C29BB9E86}"/>
              </a:ext>
            </a:extLst>
          </p:cNvPr>
          <p:cNvSpPr>
            <a:spLocks xmlns:a="http://schemas.openxmlformats.org/drawingml/2006/main" noGrp="1"/>
          </p:cNvSpPr>
          <p:nvPr/>
        </p:nvSpPr>
        <p:spPr>
          <a:xfrm xmlns:a="http://schemas.openxmlformats.org/drawingml/2006/main">
            <a:off x="628650" y="3876675"/>
            <a:ext cx="3714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05938"/>
                </a:solidFill>
                <a:latin typeface="Arial"/>
                <a:ea typeface="Arial"/>
                <a:cs typeface="Arial"/>
              </a:defRPr>
            </a:pPr>
            <a:r>
              <a:rPr sz="2025" b="1">
                <a:solidFill>
                  <a:srgbClr val="205938"/>
                </a:solidFill>
                <a:latin typeface="Arial"/>
                <a:ea typeface="Arial"/>
                <a:cs typeface="Arial"/>
              </a:rPr>
              <a:t>External sources</a:t>
            </a:r>
          </a:p>
        </p:txBody>
      </p:sp>
      <p:sp>
        <p:nvSpPr>
          <p:cNvPr id="8" name="Stripe Payments pricing">
            <a:extLst xmlns:a="http://schemas.openxmlformats.org/drawingml/2006/main">
              <a:ext uri="{FF2B5EF4-FFF2-40B4-BE49-F238E27FC236}">
                <a16:creationId xmlns:a16="http://schemas.microsoft.com/office/drawing/2014/main" id="{CE1C3A04-93AA-42B7-843C-D883AA7733FC}"/>
              </a:ext>
            </a:extLst>
          </p:cNvPr>
          <p:cNvSpPr>
            <a:spLocks xmlns:a="http://schemas.openxmlformats.org/drawingml/2006/main" noGrp="1"/>
          </p:cNvSpPr>
          <p:nvPr/>
        </p:nvSpPr>
        <p:spPr>
          <a:xfrm xmlns:a="http://schemas.openxmlformats.org/drawingml/2006/main">
            <a:off x="628650" y="4352925"/>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205938"/>
                </a:solidFill>
                <a:latin typeface="Arial"/>
                <a:ea typeface="Arial"/>
                <a:cs typeface="Arial"/>
              </a:defRPr>
            </a:pPr>
            <a:r>
              <a:rPr sz="1575" b="0">
                <a:solidFill>
                  <a:srgbClr val="205938"/>
                </a:solidFill>
                <a:latin typeface="Arial"/>
                <a:ea typeface="Arial"/>
                <a:cs typeface="Arial"/>
                <a:hlinkClick xmlns:r="http://schemas.openxmlformats.org/officeDocument/2006/relationships" r:id="R382900885a3e4179"/>
              </a:rPr>
              <a:t>Stripe Payments pricing</a:t>
            </a:r>
          </a:p>
        </p:txBody>
      </p:sp>
      <p:sp>
        <p:nvSpPr>
          <p:cNvPr id="9" name="Stripe Connect pricing">
            <a:extLst xmlns:a="http://schemas.openxmlformats.org/drawingml/2006/main">
              <a:ext uri="{FF2B5EF4-FFF2-40B4-BE49-F238E27FC236}">
                <a16:creationId xmlns:a16="http://schemas.microsoft.com/office/drawing/2014/main" id="{BB78B1C6-A41B-449D-9D25-EE87758852A2}"/>
              </a:ext>
            </a:extLst>
          </p:cNvPr>
          <p:cNvSpPr>
            <a:spLocks xmlns:a="http://schemas.openxmlformats.org/drawingml/2006/main" noGrp="1"/>
          </p:cNvSpPr>
          <p:nvPr/>
        </p:nvSpPr>
        <p:spPr>
          <a:xfrm xmlns:a="http://schemas.openxmlformats.org/drawingml/2006/main">
            <a:off x="628650" y="4629150"/>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205938"/>
                </a:solidFill>
                <a:latin typeface="Arial"/>
                <a:ea typeface="Arial"/>
                <a:cs typeface="Arial"/>
              </a:defRPr>
            </a:pPr>
            <a:r>
              <a:rPr sz="1575" b="0">
                <a:solidFill>
                  <a:srgbClr val="205938"/>
                </a:solidFill>
                <a:latin typeface="Arial"/>
                <a:ea typeface="Arial"/>
                <a:cs typeface="Arial"/>
                <a:hlinkClick xmlns:r="http://schemas.openxmlformats.org/officeDocument/2006/relationships" r:id="Rff487f3edc014d5d"/>
              </a:rPr>
              <a:t>Stripe Connect pricing</a:t>
            </a:r>
          </a:p>
        </p:txBody>
      </p:sp>
      <p:sp>
        <p:nvSpPr>
          <p:cNvPr id="10" name="Stripe Financial Connections pricing">
            <a:extLst xmlns:a="http://schemas.openxmlformats.org/drawingml/2006/main">
              <a:ext uri="{FF2B5EF4-FFF2-40B4-BE49-F238E27FC236}">
                <a16:creationId xmlns:a16="http://schemas.microsoft.com/office/drawing/2014/main" id="{64C534D1-55C7-41B5-92DB-0ECBB615956A}"/>
              </a:ext>
            </a:extLst>
          </p:cNvPr>
          <p:cNvSpPr>
            <a:spLocks xmlns:a="http://schemas.openxmlformats.org/drawingml/2006/main" noGrp="1"/>
          </p:cNvSpPr>
          <p:nvPr/>
        </p:nvSpPr>
        <p:spPr>
          <a:xfrm xmlns:a="http://schemas.openxmlformats.org/drawingml/2006/main">
            <a:off x="628650" y="4905375"/>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205938"/>
                </a:solidFill>
                <a:latin typeface="Arial"/>
                <a:ea typeface="Arial"/>
                <a:cs typeface="Arial"/>
              </a:defRPr>
            </a:pPr>
            <a:r>
              <a:rPr sz="1575" b="0">
                <a:solidFill>
                  <a:srgbClr val="205938"/>
                </a:solidFill>
                <a:latin typeface="Arial"/>
                <a:ea typeface="Arial"/>
                <a:cs typeface="Arial"/>
                <a:hlinkClick xmlns:r="http://schemas.openxmlformats.org/officeDocument/2006/relationships" r:id="Rc7c33fc50bbf4fdb"/>
              </a:rPr>
              <a:t>Stripe Financial Connections pricing</a:t>
            </a:r>
          </a:p>
        </p:txBody>
      </p:sp>
      <p:sp>
        <p:nvSpPr>
          <p:cNvPr id="11" name="Zocdoc: Understanding pricing and billing">
            <a:extLst xmlns:a="http://schemas.openxmlformats.org/drawingml/2006/main">
              <a:ext uri="{FF2B5EF4-FFF2-40B4-BE49-F238E27FC236}">
                <a16:creationId xmlns:a16="http://schemas.microsoft.com/office/drawing/2014/main" id="{C9548E22-80FA-47CB-8C0C-1AA7A31663A5}"/>
              </a:ext>
            </a:extLst>
          </p:cNvPr>
          <p:cNvSpPr>
            <a:spLocks xmlns:a="http://schemas.openxmlformats.org/drawingml/2006/main" noGrp="1"/>
          </p:cNvSpPr>
          <p:nvPr/>
        </p:nvSpPr>
        <p:spPr>
          <a:xfrm xmlns:a="http://schemas.openxmlformats.org/drawingml/2006/main">
            <a:off x="628650" y="5181600"/>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205938"/>
                </a:solidFill>
                <a:latin typeface="Arial"/>
                <a:ea typeface="Arial"/>
                <a:cs typeface="Arial"/>
              </a:defRPr>
            </a:pPr>
            <a:r>
              <a:rPr sz="1575" b="0">
                <a:solidFill>
                  <a:srgbClr val="205938"/>
                </a:solidFill>
                <a:latin typeface="Arial"/>
                <a:ea typeface="Arial"/>
                <a:cs typeface="Arial"/>
                <a:hlinkClick xmlns:r="http://schemas.openxmlformats.org/officeDocument/2006/relationships" r:id="R696f72ea94c04930"/>
              </a:rPr>
              <a:t>Zocdoc: Understanding pricing and billing</a:t>
            </a:r>
          </a:p>
        </p:txBody>
      </p:sp>
      <p:sp>
        <p:nvSpPr>
          <p:cNvPr id="12" name="US Census QuickFacts: Barnegat, 2020-2024">
            <a:extLst xmlns:a="http://schemas.openxmlformats.org/drawingml/2006/main">
              <a:ext uri="{FF2B5EF4-FFF2-40B4-BE49-F238E27FC236}">
                <a16:creationId xmlns:a16="http://schemas.microsoft.com/office/drawing/2014/main" id="{DE2DDCD4-BC9B-4C44-AFBD-F66D7EA4D050}"/>
              </a:ext>
            </a:extLst>
          </p:cNvPr>
          <p:cNvSpPr>
            <a:spLocks xmlns:a="http://schemas.openxmlformats.org/drawingml/2006/main" noGrp="1"/>
          </p:cNvSpPr>
          <p:nvPr/>
        </p:nvSpPr>
        <p:spPr>
          <a:xfrm xmlns:a="http://schemas.openxmlformats.org/drawingml/2006/main">
            <a:off x="628650" y="5457825"/>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205938"/>
                </a:solidFill>
                <a:latin typeface="Arial"/>
                <a:ea typeface="Arial"/>
                <a:cs typeface="Arial"/>
              </a:defRPr>
            </a:pPr>
            <a:r>
              <a:rPr sz="1575" b="0">
                <a:solidFill>
                  <a:srgbClr val="205938"/>
                </a:solidFill>
                <a:latin typeface="Arial"/>
                <a:ea typeface="Arial"/>
                <a:cs typeface="Arial"/>
                <a:hlinkClick xmlns:r="http://schemas.openxmlformats.org/officeDocument/2006/relationships" r:id="R3d44fd8133aa4f76"/>
              </a:rPr>
              <a:t>US Census QuickFacts: Barnegat, 2020-2024</a:t>
            </a:r>
          </a:p>
        </p:txBody>
      </p:sp>
      <p:sp>
        <p:nvSpPr>
          <p:cNvPr id="13" name="External references are linked. Full citations are">
            <a:extLst xmlns:a="http://schemas.openxmlformats.org/drawingml/2006/main">
              <a:ext uri="{FF2B5EF4-FFF2-40B4-BE49-F238E27FC236}">
                <a16:creationId xmlns:a16="http://schemas.microsoft.com/office/drawing/2014/main" id="{DA164B47-DB9D-4F45-A9F5-8DD13AA83A74}"/>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External references are linked. Full citations are also in PowerPoint notes. Growth, costs, financing terms and exit values are assumptions. No historical financial statements were supplied.</a:t>
            </a:r>
          </a:p>
        </p:txBody>
      </p:sp>
    </p:spTree>
    <p:extLst>
      <p:ext uri="{BB962C8B-B14F-4D97-AF65-F5344CB8AC3E}">
        <p14:creationId xmlns:p14="http://schemas.microsoft.com/office/powerpoint/2010/main" val="186369648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2026-09-20T18:07:54.1160000Z</dcterms:created>
  <dcterms:modified xsi:type="dcterms:W3CDTF">2026-09-20T18:07:54.1160000Z</dcterms:modified>
</coreProperties>
</file>