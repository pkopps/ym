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aa21916edd4808" /><Relationship Type="http://schemas.openxmlformats.org/officeDocument/2006/relationships/extended-properties" Target="/docProps/app.xml" Id="R91227fab607b4b1d" /><Relationship Type="http://schemas.openxmlformats.org/officeDocument/2006/relationships/officeDocument" Target="/ppt/presentation.xml" Id="Rfa47fe24acf84276" /></Relationships>
</file>

<file path=ppt/presentation.xml><?xml version="1.0" encoding="utf-8"?>
<p:presentation xmlns:p="http://schemas.openxmlformats.org/presentationml/2006/main">
  <p:sldMasterIdLst>
    <p:sldMasterId xmlns:r="http://schemas.openxmlformats.org/officeDocument/2006/relationships" id="2147483648" r:id="Rc2b149384c564f2d"/>
  </p:sldMasterIdLst>
  <p:notesMasterIdLst>
    <p:notesMasterId xmlns:r="http://schemas.openxmlformats.org/officeDocument/2006/relationships" r:id="R7de8a72d1d2e4537"/>
  </p:notesMasterIdLst>
  <p:sldIdLst>
    <p:sldId xmlns:r="http://schemas.openxmlformats.org/officeDocument/2006/relationships" id="256" r:id="Rc6f55a40623e45d2"/>
    <p:sldId xmlns:r="http://schemas.openxmlformats.org/officeDocument/2006/relationships" id="257" r:id="R812be2af68fe48b1"/>
    <p:sldId xmlns:r="http://schemas.openxmlformats.org/officeDocument/2006/relationships" id="258" r:id="Rb2527738d8364772"/>
    <p:sldId xmlns:r="http://schemas.openxmlformats.org/officeDocument/2006/relationships" id="259" r:id="R6d3691a9e8b14b65"/>
    <p:sldId xmlns:r="http://schemas.openxmlformats.org/officeDocument/2006/relationships" id="260" r:id="R9a89b09287bc4f40"/>
    <p:sldId xmlns:r="http://schemas.openxmlformats.org/officeDocument/2006/relationships" id="261" r:id="R6fb68d1e27c34b51"/>
    <p:sldId xmlns:r="http://schemas.openxmlformats.org/officeDocument/2006/relationships" id="262" r:id="Rd536ca7c0db04a8f"/>
    <p:sldId xmlns:r="http://schemas.openxmlformats.org/officeDocument/2006/relationships" id="263" r:id="R98c0307996e44b5c"/>
    <p:sldId xmlns:r="http://schemas.openxmlformats.org/officeDocument/2006/relationships" id="264" r:id="R132e1c4922614dee"/>
    <p:sldId xmlns:r="http://schemas.openxmlformats.org/officeDocument/2006/relationships" id="265" r:id="Re9f4794eeb7442be"/>
    <p:sldId xmlns:r="http://schemas.openxmlformats.org/officeDocument/2006/relationships" id="266" r:id="Raf5e542b96d74ed9"/>
    <p:sldId xmlns:r="http://schemas.openxmlformats.org/officeDocument/2006/relationships" id="267" r:id="Ref92a23766bd4a65"/>
    <p:sldId xmlns:r="http://schemas.openxmlformats.org/officeDocument/2006/relationships" id="268" r:id="R06492427b629410a"/>
    <p:sldId xmlns:r="http://schemas.openxmlformats.org/officeDocument/2006/relationships" id="269" r:id="R4826a1ee66b844e6"/>
    <p:sldId xmlns:r="http://schemas.openxmlformats.org/officeDocument/2006/relationships" id="270" r:id="Rd4563c4b7e1b41d4"/>
    <p:sldId xmlns:r="http://schemas.openxmlformats.org/officeDocument/2006/relationships" id="271" r:id="R32b0e1a54b9145b1"/>
    <p:sldId xmlns:r="http://schemas.openxmlformats.org/officeDocument/2006/relationships" id="272" r:id="R49ee66596e364d5c"/>
    <p:sldId xmlns:r="http://schemas.openxmlformats.org/officeDocument/2006/relationships" id="273" r:id="R697bcfc9d12d4970"/>
    <p:sldId xmlns:r="http://schemas.openxmlformats.org/officeDocument/2006/relationships" id="274" r:id="R7f1c16e743fb4b14"/>
    <p:sldId xmlns:r="http://schemas.openxmlformats.org/officeDocument/2006/relationships" id="275" r:id="R13e0be1229434766"/>
    <p:sldId xmlns:r="http://schemas.openxmlformats.org/officeDocument/2006/relationships" id="276" r:id="R8f44d872f7b84e27"/>
    <p:sldId xmlns:r="http://schemas.openxmlformats.org/officeDocument/2006/relationships" id="277" r:id="R34edb72fd27a47e1"/>
    <p:sldId xmlns:r="http://schemas.openxmlformats.org/officeDocument/2006/relationships" id="278" r:id="Rd26f81aeba164443"/>
    <p:sldId xmlns:r="http://schemas.openxmlformats.org/officeDocument/2006/relationships" id="279" r:id="R4c2cb052c9d34826"/>
    <p:sldId xmlns:r="http://schemas.openxmlformats.org/officeDocument/2006/relationships" id="280" r:id="R6d6fc726759e4a25"/>
    <p:sldId xmlns:r="http://schemas.openxmlformats.org/officeDocument/2006/relationships" id="281" r:id="Rabe2a308472943b1"/>
    <p:sldId xmlns:r="http://schemas.openxmlformats.org/officeDocument/2006/relationships" id="282" r:id="R5543a8d08ee54cdd"/>
    <p:sldId xmlns:r="http://schemas.openxmlformats.org/officeDocument/2006/relationships" id="283" r:id="Rf48d5decd30c4abc"/>
    <p:sldId xmlns:r="http://schemas.openxmlformats.org/officeDocument/2006/relationships" id="284" r:id="R5dee7a91a7d14f91"/>
    <p:sldId xmlns:r="http://schemas.openxmlformats.org/officeDocument/2006/relationships" id="285" r:id="R083f5277345342da"/>
    <p:sldId xmlns:r="http://schemas.openxmlformats.org/officeDocument/2006/relationships" id="286" r:id="R31dde50070764e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6d5585d0bc46ed" /><Relationship Type="http://schemas.openxmlformats.org/officeDocument/2006/relationships/slideMaster" Target="/ppt/slideMasters/slideMaster1.xml" Id="Rc2b149384c564f2d" /><Relationship Type="http://schemas.openxmlformats.org/officeDocument/2006/relationships/notesMaster" Target="/ppt/notesMasters/notesMaster1.xml" Id="R7de8a72d1d2e4537" /><Relationship Type="http://schemas.openxmlformats.org/officeDocument/2006/relationships/presProps" Target="/ppt/presProps.xml" Id="Ree0df3bc9d734bd5" /><Relationship Type="http://schemas.openxmlformats.org/officeDocument/2006/relationships/tableStyles" Target="/ppt/tableStyles.xml" Id="R1854dabf96524bfc" /><Relationship Type="http://schemas.openxmlformats.org/officeDocument/2006/relationships/slide" Target="/ppt/slides/slide1.xml" Id="Rc6f55a40623e45d2" /><Relationship Type="http://schemas.openxmlformats.org/officeDocument/2006/relationships/slide" Target="/ppt/slides/slide2.xml" Id="R812be2af68fe48b1" /><Relationship Type="http://schemas.openxmlformats.org/officeDocument/2006/relationships/slide" Target="/ppt/slides/slide3.xml" Id="Rb2527738d8364772" /><Relationship Type="http://schemas.openxmlformats.org/officeDocument/2006/relationships/slide" Target="/ppt/slides/slide4.xml" Id="R6d3691a9e8b14b65" /><Relationship Type="http://schemas.openxmlformats.org/officeDocument/2006/relationships/slide" Target="/ppt/slides/slide5.xml" Id="R9a89b09287bc4f40" /><Relationship Type="http://schemas.openxmlformats.org/officeDocument/2006/relationships/slide" Target="/ppt/slides/slide6.xml" Id="R6fb68d1e27c34b51" /><Relationship Type="http://schemas.openxmlformats.org/officeDocument/2006/relationships/slide" Target="/ppt/slides/slide7.xml" Id="Rd536ca7c0db04a8f" /><Relationship Type="http://schemas.openxmlformats.org/officeDocument/2006/relationships/slide" Target="/ppt/slides/slide8.xml" Id="R98c0307996e44b5c" /><Relationship Type="http://schemas.openxmlformats.org/officeDocument/2006/relationships/slide" Target="/ppt/slides/slide9.xml" Id="R132e1c4922614dee" /><Relationship Type="http://schemas.openxmlformats.org/officeDocument/2006/relationships/slide" Target="/ppt/slides/slide10.xml" Id="Re9f4794eeb7442be" /><Relationship Type="http://schemas.openxmlformats.org/officeDocument/2006/relationships/slide" Target="/ppt/slides/slide11.xml" Id="Raf5e542b96d74ed9" /><Relationship Type="http://schemas.openxmlformats.org/officeDocument/2006/relationships/slide" Target="/ppt/slides/slide12.xml" Id="Ref92a23766bd4a65" /><Relationship Type="http://schemas.openxmlformats.org/officeDocument/2006/relationships/slide" Target="/ppt/slides/slide13.xml" Id="R06492427b629410a" /><Relationship Type="http://schemas.openxmlformats.org/officeDocument/2006/relationships/slide" Target="/ppt/slides/slide14.xml" Id="R4826a1ee66b844e6" /><Relationship Type="http://schemas.openxmlformats.org/officeDocument/2006/relationships/slide" Target="/ppt/slides/slide15.xml" Id="Rd4563c4b7e1b41d4" /><Relationship Type="http://schemas.openxmlformats.org/officeDocument/2006/relationships/slide" Target="/ppt/slides/slide16.xml" Id="R32b0e1a54b9145b1" /><Relationship Type="http://schemas.openxmlformats.org/officeDocument/2006/relationships/slide" Target="/ppt/slides/slide17.xml" Id="R49ee66596e364d5c" /><Relationship Type="http://schemas.openxmlformats.org/officeDocument/2006/relationships/slide" Target="/ppt/slides/slide18.xml" Id="R697bcfc9d12d4970" /><Relationship Type="http://schemas.openxmlformats.org/officeDocument/2006/relationships/slide" Target="/ppt/slides/slide19.xml" Id="R7f1c16e743fb4b14" /><Relationship Type="http://schemas.openxmlformats.org/officeDocument/2006/relationships/slide" Target="/ppt/slides/slide20.xml" Id="R13e0be1229434766" /><Relationship Type="http://schemas.openxmlformats.org/officeDocument/2006/relationships/slide" Target="/ppt/slides/slide21.xml" Id="R8f44d872f7b84e27" /><Relationship Type="http://schemas.openxmlformats.org/officeDocument/2006/relationships/slide" Target="/ppt/slides/slide22.xml" Id="R34edb72fd27a47e1" /><Relationship Type="http://schemas.openxmlformats.org/officeDocument/2006/relationships/slide" Target="/ppt/slides/slide23.xml" Id="Rd26f81aeba164443" /><Relationship Type="http://schemas.openxmlformats.org/officeDocument/2006/relationships/slide" Target="/ppt/slides/slide24.xml" Id="R4c2cb052c9d34826" /><Relationship Type="http://schemas.openxmlformats.org/officeDocument/2006/relationships/slide" Target="/ppt/slides/slide25.xml" Id="R6d6fc726759e4a25" /><Relationship Type="http://schemas.openxmlformats.org/officeDocument/2006/relationships/slide" Target="/ppt/slides/slide26.xml" Id="Rabe2a308472943b1" /><Relationship Type="http://schemas.openxmlformats.org/officeDocument/2006/relationships/slide" Target="/ppt/slides/slide27.xml" Id="R5543a8d08ee54cdd" /><Relationship Type="http://schemas.openxmlformats.org/officeDocument/2006/relationships/slide" Target="/ppt/slides/slide28.xml" Id="Rf48d5decd30c4abc" /><Relationship Type="http://schemas.openxmlformats.org/officeDocument/2006/relationships/slide" Target="/ppt/slides/slide29.xml" Id="R5dee7a91a7d14f91" /><Relationship Type="http://schemas.openxmlformats.org/officeDocument/2006/relationships/slide" Target="/ppt/slides/slide30.xml" Id="R083f5277345342da" /><Relationship Type="http://schemas.openxmlformats.org/officeDocument/2006/relationships/slide" Target="/ppt/slides/slide31.xml" Id="R31dde50070764e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29ebcc672940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3cf057c8c1460c" /><Relationship Type="http://schemas.openxmlformats.org/officeDocument/2006/relationships/notesMaster" Target="/ppt/notesMasters/notesMaster1.xml" Id="Reb42e1462d9844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34898a1d5c4554" /><Relationship Type="http://schemas.openxmlformats.org/officeDocument/2006/relationships/notesMaster" Target="/ppt/notesMasters/notesMaster1.xml" Id="R7a98518e399a4f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ef8c4c730049f7" /><Relationship Type="http://schemas.openxmlformats.org/officeDocument/2006/relationships/notesMaster" Target="/ppt/notesMasters/notesMaster1.xml" Id="R0842aa15aa3145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db492480e74cdb" /><Relationship Type="http://schemas.openxmlformats.org/officeDocument/2006/relationships/notesMaster" Target="/ppt/notesMasters/notesMaster1.xml" Id="R4ef237e9545245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82284b346c427a" /><Relationship Type="http://schemas.openxmlformats.org/officeDocument/2006/relationships/notesMaster" Target="/ppt/notesMasters/notesMaster1.xml" Id="Rc83c09b563b043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7a6c76ecec4628" /><Relationship Type="http://schemas.openxmlformats.org/officeDocument/2006/relationships/notesMaster" Target="/ppt/notesMasters/notesMaster1.xml" Id="R143034264c854d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04530b62844af5" /><Relationship Type="http://schemas.openxmlformats.org/officeDocument/2006/relationships/notesMaster" Target="/ppt/notesMasters/notesMaster1.xml" Id="R4503ac927d1a49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d38372256e4cf8" /><Relationship Type="http://schemas.openxmlformats.org/officeDocument/2006/relationships/notesMaster" Target="/ppt/notesMasters/notesMaster1.xml" Id="R646b20918c1a41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5067c8762b4180" /><Relationship Type="http://schemas.openxmlformats.org/officeDocument/2006/relationships/notesMaster" Target="/ppt/notesMasters/notesMaster1.xml" Id="R848c9a262da049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1d62ac59ad44a0" /><Relationship Type="http://schemas.openxmlformats.org/officeDocument/2006/relationships/notesMaster" Target="/ppt/notesMasters/notesMaster1.xml" Id="Raef7e6cb6d9246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b70a36f0b24f4e" /><Relationship Type="http://schemas.openxmlformats.org/officeDocument/2006/relationships/notesMaster" Target="/ppt/notesMasters/notesMaster1.xml" Id="R821e76678bb34b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ede7c9683d407c" /><Relationship Type="http://schemas.openxmlformats.org/officeDocument/2006/relationships/notesMaster" Target="/ppt/notesMasters/notesMaster1.xml" Id="R44c4b89991fb4c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762132dc394246" /><Relationship Type="http://schemas.openxmlformats.org/officeDocument/2006/relationships/notesMaster" Target="/ppt/notesMasters/notesMaster1.xml" Id="Rcf5388c1640747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f10a5fa01f4f93" /><Relationship Type="http://schemas.openxmlformats.org/officeDocument/2006/relationships/notesMaster" Target="/ppt/notesMasters/notesMaster1.xml" Id="Red116ba2354d42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0de38d40834ad2" /><Relationship Type="http://schemas.openxmlformats.org/officeDocument/2006/relationships/notesMaster" Target="/ppt/notesMasters/notesMaster1.xml" Id="R7997556ff3fc41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221288d0b747b9" /><Relationship Type="http://schemas.openxmlformats.org/officeDocument/2006/relationships/notesMaster" Target="/ppt/notesMasters/notesMaster1.xml" Id="R356f83c8f1ec43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07c6a27c144f5d" /><Relationship Type="http://schemas.openxmlformats.org/officeDocument/2006/relationships/notesMaster" Target="/ppt/notesMasters/notesMaster1.xml" Id="R42c94c5a099d48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093f9f6ee04155" /><Relationship Type="http://schemas.openxmlformats.org/officeDocument/2006/relationships/notesMaster" Target="/ppt/notesMasters/notesMaster1.xml" Id="R542a8f5f8ede45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85d3528ec3465e" /><Relationship Type="http://schemas.openxmlformats.org/officeDocument/2006/relationships/notesMaster" Target="/ppt/notesMasters/notesMaster1.xml" Id="Rf3c620f58e6a47a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0b801a0d0d4b6e" /><Relationship Type="http://schemas.openxmlformats.org/officeDocument/2006/relationships/notesMaster" Target="/ppt/notesMasters/notesMaster1.xml" Id="R72c27bf2b8f5478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ed67bc153664805" /><Relationship Type="http://schemas.openxmlformats.org/officeDocument/2006/relationships/notesMaster" Target="/ppt/notesMasters/notesMaster1.xml" Id="Rbaaff18d56184f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81aee934fd543bf" /><Relationship Type="http://schemas.openxmlformats.org/officeDocument/2006/relationships/notesMaster" Target="/ppt/notesMasters/notesMaster1.xml" Id="R647c299207d8471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2088a85b2684ec1" /><Relationship Type="http://schemas.openxmlformats.org/officeDocument/2006/relationships/notesMaster" Target="/ppt/notesMasters/notesMaster1.xml" Id="Rdc0c7c44504b4e1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4473ef3188443a8" /><Relationship Type="http://schemas.openxmlformats.org/officeDocument/2006/relationships/notesMaster" Target="/ppt/notesMasters/notesMaster1.xml" Id="R59400be7a9e246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89478b407d4f9a" /><Relationship Type="http://schemas.openxmlformats.org/officeDocument/2006/relationships/notesMaster" Target="/ppt/notesMasters/notesMaster1.xml" Id="R75c8043ba804403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d03fb5536944fd" /><Relationship Type="http://schemas.openxmlformats.org/officeDocument/2006/relationships/notesMaster" Target="/ppt/notesMasters/notesMaster1.xml" Id="R309bc46ffa1749b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ed22eca6a9d43e0" /><Relationship Type="http://schemas.openxmlformats.org/officeDocument/2006/relationships/notesMaster" Target="/ppt/notesMasters/notesMaster1.xml" Id="Rdd0af190894b4d5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ed896121f244cd5" /><Relationship Type="http://schemas.openxmlformats.org/officeDocument/2006/relationships/notesMaster" Target="/ppt/notesMasters/notesMaster1.xml" Id="R9cbdcd2c349246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59b3a30e8a40d6" /><Relationship Type="http://schemas.openxmlformats.org/officeDocument/2006/relationships/notesMaster" Target="/ppt/notesMasters/notesMaster1.xml" Id="R86f80cb16b424a8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3aaa737e504242" /><Relationship Type="http://schemas.openxmlformats.org/officeDocument/2006/relationships/notesMaster" Target="/ppt/notesMasters/notesMaster1.xml" Id="Rbdb403a7f9d94a1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12d3c534dd443d4" /><Relationship Type="http://schemas.openxmlformats.org/officeDocument/2006/relationships/notesMaster" Target="/ppt/notesMasters/notesMaster1.xml" Id="R7e0d2b7a1697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This is proposed investor-model pricing, not a live product change. $45 after the first completed paid service in each new relationship; first-client welcome waiver remains. Recurring platform fee is MAX($2.99,1% of service bill), plus actual card/ACH processing. YardMatch absorbs Connect account/payout, bank verification, support and loss allowances.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Standard US card rate 2.9% + $0.30. ACH 0.8% capped at $5. Platform fee max($2.99,1% of job price).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Neighborhood multipliers 1.00 / 1.15 / 1.30, with 2027 shares 70% / 25% / 5% and 2033 shares 55% / 35% / 10%. Property multipliers 1.00 / 1.35 / 1.80, shares 70% / 25% / 5% in 2027 and 60% / 30% / 10% in 2033. Independent distributions compound. Maintenance mix ends 45% basic / 40% bundled / 15% expanded. Project frequency reaches 1.00 cleanup and 0.08 larger project. Same ACH, completion and capture rates across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Pro-only adoption 30%, Teams adoption 12%, nine paid months, using 5,415.075 partial-year weighted providers. Subscription net revenue after 2% credits/noncollection. Sponsorship: 12% provider participation, 27% first-job eligibility, 30% sponsored selection, capped by budget. No incremental households or GMV assumed. Subscription launch 2028, $120k build, annual fixed costs start $60k grow 35%; sponsorship launch 2030, $50k build, annual costs start $30k grow 30%. Variable delivery, card processing and 0.7% Billing fees also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per-transaction MAX($2.99,1% of price).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20,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a1ce1af6da45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186bd4f05d4bba" /><Relationship Type="http://schemas.openxmlformats.org/officeDocument/2006/relationships/slideLayout" Target="/ppt/slideLayouts/slideLayout1.xml" Id="R61ed591f37464e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ed591f37464e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88d3900a0a4052" /><Relationship Type="http://schemas.openxmlformats.org/officeDocument/2006/relationships/image" Target="/ppt/media/image.png" Id="R060a4778edd2419b" /><Relationship Type="http://schemas.openxmlformats.org/officeDocument/2006/relationships/notesSlide" Target="/ppt/notesSlides/notesSlide1.xml" Id="R956e9ba311bc43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d7e59bece54d9d" /><Relationship Type="http://schemas.openxmlformats.org/officeDocument/2006/relationships/notesSlide" Target="/ppt/notesSlides/notesSlide2.xml" Id="R6669f597c4544b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31d730ebd045f5" /><Relationship Type="http://schemas.openxmlformats.org/officeDocument/2006/relationships/notesSlide" Target="/ppt/notesSlides/notesSlide3.xml" Id="R87ba2c8f53c34f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0bebe7e75943e8" /><Relationship Type="http://schemas.openxmlformats.org/officeDocument/2006/relationships/image" Target="/ppt/media/image2.png" Id="Rc02c87bd92ad4140" /><Relationship Type="http://schemas.openxmlformats.org/officeDocument/2006/relationships/notesSlide" Target="/ppt/notesSlides/notesSlide4.xml" Id="Ra0852a80f0db4f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bc5ec4ece94d8c" /><Relationship Type="http://schemas.openxmlformats.org/officeDocument/2006/relationships/image" Target="/ppt/media/image3.png" Id="R0eb740fbb1094b59" /><Relationship Type="http://schemas.openxmlformats.org/officeDocument/2006/relationships/notesSlide" Target="/ppt/notesSlides/notesSlide5.xml" Id="Rb4fe00f031d042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e9b52321e14852" /><Relationship Type="http://schemas.openxmlformats.org/officeDocument/2006/relationships/notesSlide" Target="/ppt/notesSlides/notesSlide6.xml" Id="Rc9c3abe2782646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5c32f681e24c11" /><Relationship Type="http://schemas.openxmlformats.org/officeDocument/2006/relationships/notesSlide" Target="/ppt/notesSlides/notesSlide7.xml" Id="Rb4db600afb2344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eb99dc35ec44bb" /><Relationship Type="http://schemas.openxmlformats.org/officeDocument/2006/relationships/notesSlide" Target="/ppt/notesSlides/notesSlide8.xml" Id="R7a76f56cb0b34e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ed06856f464af2" /><Relationship Type="http://schemas.openxmlformats.org/officeDocument/2006/relationships/notesSlide" Target="/ppt/notesSlides/notesSlide9.xml" Id="Rc5b928d96dd842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334bb563f448c6" /><Relationship Type="http://schemas.openxmlformats.org/officeDocument/2006/relationships/notesSlide" Target="/ppt/notesSlides/notesSlide10.xml" Id="R75da4cbe00eb45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ac9d246e9e04ded" /><Relationship Type="http://schemas.openxmlformats.org/officeDocument/2006/relationships/notesSlide" Target="/ppt/notesSlides/notesSlide11.xml" Id="R9e8e5728718040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4c006d84a4443d" /><Relationship Type="http://schemas.openxmlformats.org/officeDocument/2006/relationships/notesSlide" Target="/ppt/notesSlides/notesSlide12.xml" Id="Rcc6b07764b5a4e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fd08ca4ebc407b" /><Relationship Type="http://schemas.openxmlformats.org/officeDocument/2006/relationships/notesSlide" Target="/ppt/notesSlides/notesSlide13.xml" Id="R78c6593dfa0b40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a3b76a80f66456f" /><Relationship Type="http://schemas.openxmlformats.org/officeDocument/2006/relationships/notesSlide" Target="/ppt/notesSlides/notesSlide14.xml" Id="R8526add0118040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6ee098d0ae34875" /><Relationship Type="http://schemas.openxmlformats.org/officeDocument/2006/relationships/notesSlide" Target="/ppt/notesSlides/notesSlide15.xml" Id="R1107ba588fb44e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4a6c52f1c149ac" /><Relationship Type="http://schemas.openxmlformats.org/officeDocument/2006/relationships/notesSlide" Target="/ppt/notesSlides/notesSlide16.xml" Id="R0dcaa11318e545a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79ccb1e3a8409f" /><Relationship Type="http://schemas.openxmlformats.org/officeDocument/2006/relationships/notesSlide" Target="/ppt/notesSlides/notesSlide17.xml" Id="R03b40ae27b874c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2e376cd9b0c4227" /><Relationship Type="http://schemas.openxmlformats.org/officeDocument/2006/relationships/notesSlide" Target="/ppt/notesSlides/notesSlide18.xml" Id="R9c14a18b70b246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18de0a7748841ac" /><Relationship Type="http://schemas.openxmlformats.org/officeDocument/2006/relationships/notesSlide" Target="/ppt/notesSlides/notesSlide19.xml" Id="R36bead59b5f4408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724190e5a6e46cd" /><Relationship Type="http://schemas.openxmlformats.org/officeDocument/2006/relationships/notesSlide" Target="/ppt/notesSlides/notesSlide20.xml" Id="R56a62e90d6ab46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ed953c7ef9e4df4" /><Relationship Type="http://schemas.openxmlformats.org/officeDocument/2006/relationships/chart" Target="/ppt/slides/charts/chart1.xml" Id="R6a8b6860545a48f6" /><Relationship Type="http://schemas.openxmlformats.org/officeDocument/2006/relationships/notesSlide" Target="/ppt/notesSlides/notesSlide21.xml" Id="Rb0d58edb746345f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b88f26138da4763" /><Relationship Type="http://schemas.openxmlformats.org/officeDocument/2006/relationships/notesSlide" Target="/ppt/notesSlides/notesSlide22.xml" Id="R028175f993ee41e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0125a91489440e2" /><Relationship Type="http://schemas.openxmlformats.org/officeDocument/2006/relationships/notesSlide" Target="/ppt/notesSlides/notesSlide23.xml" Id="Ree0ceeb701e541b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2e6f91955374c2d" /><Relationship Type="http://schemas.openxmlformats.org/officeDocument/2006/relationships/notesSlide" Target="/ppt/notesSlides/notesSlide24.xml" Id="R6c12e1a226ab49a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c751e23afef4886" /><Relationship Type="http://schemas.openxmlformats.org/officeDocument/2006/relationships/notesSlide" Target="/ppt/notesSlides/notesSlide25.xml" Id="Rb18f5eca26554e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0671f768dd14761" /><Relationship Type="http://schemas.openxmlformats.org/officeDocument/2006/relationships/notesSlide" Target="/ppt/notesSlides/notesSlide26.xml" Id="R97095ef956a9425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bdbf063edbb4805" /><Relationship Type="http://schemas.openxmlformats.org/officeDocument/2006/relationships/notesSlide" Target="/ppt/notesSlides/notesSlide27.xml" Id="Rb28697387104467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f95f1d82d35465e" /><Relationship Type="http://schemas.openxmlformats.org/officeDocument/2006/relationships/notesSlide" Target="/ppt/notesSlides/notesSlide28.xml" Id="R679705884391458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ce2e92678c344d5" /><Relationship Type="http://schemas.openxmlformats.org/officeDocument/2006/relationships/notesSlide" Target="/ppt/notesSlides/notesSlide29.xml" Id="R1bca3f3084884ed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7b2eb2e69384a97" /><Relationship Type="http://schemas.openxmlformats.org/officeDocument/2006/relationships/notesSlide" Target="/ppt/notesSlides/notesSlide30.xml" Id="R08e9a5ab30d5470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10a483636df405a" /><Relationship Type="http://schemas.openxmlformats.org/officeDocument/2006/relationships/hyperlink" Target="https://stripe.com/pricing" TargetMode="External" Id="Rc53dea94146147b4" /><Relationship Type="http://schemas.openxmlformats.org/officeDocument/2006/relationships/hyperlink" Target="https://stripe.com/connect/pricing" TargetMode="External" Id="R210b3b447a794552" /><Relationship Type="http://schemas.openxmlformats.org/officeDocument/2006/relationships/hyperlink" Target="https://stripe.com/financial-connections" TargetMode="External" Id="R70f27759800a4067" /><Relationship Type="http://schemas.openxmlformats.org/officeDocument/2006/relationships/hyperlink" Target="https://www.zocdoc.com/provider-help/en/articles/10859404-understanding-zocdoc-pricing-and-billing" TargetMode="External" Id="Raa0d3b985cdf4867" /><Relationship Type="http://schemas.openxmlformats.org/officeDocument/2006/relationships/hyperlink" Target="https://www.zocdoc.com/about/understanding-your-bill/" TargetMode="External" Id="R31d7703e0d5647fe" /><Relationship Type="http://schemas.openxmlformats.org/officeDocument/2006/relationships/hyperlink" Target="https://usa.visa.com/support/small-business/regulations-fees.html" TargetMode="External" Id="Rd7c2e58a04fd4b30" /><Relationship Type="http://schemas.openxmlformats.org/officeDocument/2006/relationships/hyperlink" Target="https://www.frbservices.org/resources/fees/ach-2026" TargetMode="External" Id="R0560bdddcbf54f97" /><Relationship Type="http://schemas.openxmlformats.org/officeDocument/2006/relationships/hyperlink" Target="https://www.pcisecuritystandards.org/standards/pci-dss/" TargetMode="External" Id="R325cd659788848d1" /><Relationship Type="http://schemas.openxmlformats.org/officeDocument/2006/relationships/hyperlink" Target="https://www.census.gov/quickfacts/fact/table/barnegattownshipoceancountynewjersey/SBO010223" TargetMode="External" Id="R95a9214187e646db" /><Relationship Type="http://schemas.openxmlformats.org/officeDocument/2006/relationships/hyperlink" Target="https://www.getjobber.com/pricing/" TargetMode="External" Id="Rec2ecc359ec34b56" /><Relationship Type="http://schemas.openxmlformats.org/officeDocument/2006/relationships/hyperlink" Target="https://www.zocdoc.com/provider-help/en/articles/8709753-how-much-does-sponsored-results-cost" TargetMode="External" Id="R36826c47f5864088" /><Relationship Type="http://schemas.openxmlformats.org/officeDocument/2006/relationships/hyperlink" Target="https://stripe.com/billing/pricing" TargetMode="External" Id="Rc07ba6b4fb34460d" /><Relationship Type="http://schemas.openxmlformats.org/officeDocument/2006/relationships/notesSlide" Target="/ppt/notesSlides/notesSlide31.xml" Id="R64d93b5e00f6457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0.013315</c:v>
                </c:pt>
                <c:pt idx="1">
                  <c:v>0.085891</c:v>
                </c:pt>
                <c:pt idx="2">
                  <c:v>0.359094</c:v>
                </c:pt>
                <c:pt idx="3">
                  <c:v>1.156601</c:v>
                </c:pt>
                <c:pt idx="4">
                  <c:v>3.001035</c:v>
                </c:pt>
                <c:pt idx="5">
                  <c:v>6.422378</c:v>
                </c:pt>
                <c:pt idx="6">
                  <c:v>11.92146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65514F05-C5F2-44DF-AFF5-B931D9A8784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93A76426-4227-49EA-BDB0-CC2DC4941D4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60a4778edd2419b"/>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5E323570-84DD-48A2-A0EC-AA72CE45FD9C}"/>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F8033299-CD6A-4CBB-9FB0-571C59319635}"/>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DA2F0C7C-F9E9-42CF-B1B6-AD86B42C50A3}"/>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521294498"/>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01A9E190-1D81-4CA6-9EC8-0905C576F25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4C6DA809-EDDA-4C03-A261-1408A9761E1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80A62650-FE66-4A96-8491-087BD6B0D81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8F9B6FAC-517F-454D-B5B2-0B87FC78269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635DB098-7E47-4CF3-8A48-59EB85197239}"/>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ECF3BAC1-58D6-43CA-86F7-92FF0AEA6342}"/>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F68A717E-F053-4A66-836A-528D8473B542}"/>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F34BAB06-7C1B-41E2-8EF4-0C8CB6CA3D9E}"/>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32A46A61-5C90-4B1F-8F4D-5C5A2B5E3D82}"/>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A $45 finder fee and size-aware service fee can fu">
            <a:extLst xmlns:a="http://schemas.openxmlformats.org/drawingml/2006/main">
              <a:ext uri="{FF2B5EF4-FFF2-40B4-BE49-F238E27FC236}">
                <a16:creationId xmlns:a16="http://schemas.microsoft.com/office/drawing/2014/main" id="{08D710AF-668C-450A-BD7D-6EAE89C4469E}"/>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 $45 finder fee and size-aware service fee can fund ongoing care. Providers also cover payment processing at cost. A pilot must validate acceptance and retention.</a:t>
            </a:r>
          </a:p>
        </p:txBody>
      </p:sp>
      <p:sp>
        <p:nvSpPr>
          <p:cNvPr id="11" name="Investment hypothesis. Core forecasts use finder a">
            <a:extLst xmlns:a="http://schemas.openxmlformats.org/drawingml/2006/main">
              <a:ext uri="{FF2B5EF4-FFF2-40B4-BE49-F238E27FC236}">
                <a16:creationId xmlns:a16="http://schemas.microsoft.com/office/drawing/2014/main" id="{AB9834E8-8DFB-49CD-B6D2-8FE8F45A069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Core forecasts use finder and service fees. Optional provider subscriptions and sponsorship appear as separate expansion cases.</a:t>
            </a:r>
          </a:p>
        </p:txBody>
      </p:sp>
    </p:spTree>
    <p:extLst>
      <p:ext uri="{BB962C8B-B14F-4D97-AF65-F5344CB8AC3E}">
        <p14:creationId xmlns:p14="http://schemas.microsoft.com/office/powerpoint/2010/main" val="1899812125"/>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1A81BEC9-7B99-4DE8-8037-2786DC6203E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943CB94E-DB32-4EAB-BC82-E57FC9AFA26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273A0D8F-E5C5-4C5D-AFF9-3C1D807EE7C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D1A765A7-2A9E-4913-B5CC-35CF1317178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D6B25331-AF96-44BD-9E8F-73489C0A603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981396136"/>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3BB048E9-158A-44B5-9C05-C5E3C1656F3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DF79C983-8C53-44BD-A1F2-B1AA51FB072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095C45A4-B361-43E9-AE70-F4B47B9A42F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9206F2CF-B19C-493E-A7A5-47B8C28E5B4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02c87bd92ad4140"/>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D8C05A8D-F897-4788-864C-1A16D54BBAA8}"/>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EB225872-1318-4685-A278-3510FCD06BD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307597068"/>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52AC942D-FBF2-48FE-8D6C-171885840C7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FFFBC260-AA43-46D8-859D-D043106E445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687CB5DE-0286-497A-AF3A-43AC7BC9526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3854A6C9-8B3E-4708-A9B0-593FC5E215E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eb740fbb1094b59"/>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F1591B8B-8BC1-433C-968B-29570B062E48}"/>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248B3691-53E5-4D2A-84A6-12C6BA82181C}"/>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41CA1CA3-5437-4C77-B1E3-5021C47D370E}"/>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5A4F3713-589D-4571-93F2-73133EA4B061}"/>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E82DA8E3-DE74-4F98-9A6A-F47F1DC0BF3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170997507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Keep the finder fee. Repair the recurring fee.">
            <a:extLst xmlns:a="http://schemas.openxmlformats.org/drawingml/2006/main">
              <a:ext uri="{FF2B5EF4-FFF2-40B4-BE49-F238E27FC236}">
                <a16:creationId xmlns:a16="http://schemas.microsoft.com/office/drawing/2014/main" id="{87118E35-23AD-4303-8918-C3557CEFDB8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Keep the finder fee. Repair the recurring fee.</a:t>
            </a:r>
          </a:p>
        </p:txBody>
      </p:sp>
      <p:sp>
        <p:nvSpPr>
          <p:cNvPr id="2" name="Recommendation for the launch pilot. All charges a">
            <a:extLst xmlns:a="http://schemas.openxmlformats.org/drawingml/2006/main">
              <a:ext uri="{FF2B5EF4-FFF2-40B4-BE49-F238E27FC236}">
                <a16:creationId xmlns:a16="http://schemas.microsoft.com/office/drawing/2014/main" id="{6A41B470-5E33-4E8A-B3BC-F1F64B2A481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Recommendation for the launch pilot. All charges are paid by the provider.</a:t>
            </a:r>
          </a:p>
        </p:txBody>
      </p:sp>
      <p:sp>
        <p:nvSpPr>
          <p:cNvPr id="3" name="YardMatch">
            <a:extLst xmlns:a="http://schemas.openxmlformats.org/drawingml/2006/main">
              <a:ext uri="{FF2B5EF4-FFF2-40B4-BE49-F238E27FC236}">
                <a16:creationId xmlns:a16="http://schemas.microsoft.com/office/drawing/2014/main" id="{61E5EDC1-8403-4781-B835-5338FA5A681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8A287AB0-9248-4A61-9B1B-0B239B4D0F5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B8509248-547B-4D87-9DD2-A3CBAA1E6389}"/>
              </a:ext>
            </a:extLst>
          </p:cNvPr>
          <p:cNvSpPr>
            <a:spLocks xmlns:a="http://schemas.openxmlformats.org/drawingml/2006/main" noGrp="1"/>
          </p:cNvSpPr>
          <p:nvPr/>
        </p:nvSpPr>
        <p:spPr>
          <a:xfrm xmlns:a="http://schemas.openxmlformats.org/drawingml/2006/main">
            <a:off x="647700" y="23241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205938"/>
                </a:solidFill>
                <a:latin typeface="Arial"/>
                <a:ea typeface="Arial"/>
                <a:cs typeface="Arial"/>
              </a:defRPr>
            </a:pPr>
            <a:r>
              <a:rPr sz="5250" b="1">
                <a:solidFill>
                  <a:srgbClr val="205938"/>
                </a:solidFill>
                <a:latin typeface="Arial"/>
                <a:ea typeface="Arial"/>
                <a:cs typeface="Arial"/>
              </a:rPr>
              <a:t>$45</a:t>
            </a:r>
          </a:p>
        </p:txBody>
      </p:sp>
      <p:sp>
        <p:nvSpPr>
          <p:cNvPr id="6" name="Once per new customer/provider pair,&#10;after the fir">
            <a:extLst xmlns:a="http://schemas.openxmlformats.org/drawingml/2006/main">
              <a:ext uri="{FF2B5EF4-FFF2-40B4-BE49-F238E27FC236}">
                <a16:creationId xmlns:a16="http://schemas.microsoft.com/office/drawing/2014/main" id="{EFCF5BDB-139B-494A-BD8E-E40DB05D0758}"/>
              </a:ext>
            </a:extLst>
          </p:cNvPr>
          <p:cNvSpPr>
            <a:spLocks xmlns:a="http://schemas.openxmlformats.org/drawingml/2006/main" noGrp="1"/>
          </p:cNvSpPr>
          <p:nvPr/>
        </p:nvSpPr>
        <p:spPr>
          <a:xfrm xmlns:a="http://schemas.openxmlformats.org/drawingml/2006/main">
            <a:off x="647700" y="3238500"/>
            <a:ext cx="4829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Once per new customer/provider pair,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after the first paid completed job</a:t>
            </a:r>
          </a:p>
        </p:txBody>
      </p:sp>
      <p:sp>
        <p:nvSpPr>
          <p:cNvPr id="7" name="$2.99 minimum">
            <a:extLst xmlns:a="http://schemas.openxmlformats.org/drawingml/2006/main">
              <a:ext uri="{FF2B5EF4-FFF2-40B4-BE49-F238E27FC236}">
                <a16:creationId xmlns:a16="http://schemas.microsoft.com/office/drawing/2014/main" id="{759FA490-BA19-4697-8328-D13151138640}"/>
              </a:ext>
            </a:extLst>
          </p:cNvPr>
          <p:cNvSpPr>
            <a:spLocks xmlns:a="http://schemas.openxmlformats.org/drawingml/2006/main" noGrp="1"/>
          </p:cNvSpPr>
          <p:nvPr/>
        </p:nvSpPr>
        <p:spPr>
          <a:xfrm xmlns:a="http://schemas.openxmlformats.org/drawingml/2006/main">
            <a:off x="6391275" y="23241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205938"/>
                </a:solidFill>
                <a:latin typeface="Arial"/>
                <a:ea typeface="Arial"/>
                <a:cs typeface="Arial"/>
              </a:defRPr>
            </a:pPr>
            <a:r>
              <a:rPr sz="3975" b="1">
                <a:solidFill>
                  <a:srgbClr val="205938"/>
                </a:solidFill>
                <a:latin typeface="Arial"/>
                <a:ea typeface="Arial"/>
                <a:cs typeface="Arial"/>
              </a:rPr>
              <a:t>$2.99 minimum</a:t>
            </a:r>
          </a:p>
        </p:txBody>
      </p:sp>
      <p:sp>
        <p:nvSpPr>
          <p:cNvPr id="8" name="Or 1% of the service bill, if higher,&#10;plus actual ">
            <a:extLst xmlns:a="http://schemas.openxmlformats.org/drawingml/2006/main">
              <a:ext uri="{FF2B5EF4-FFF2-40B4-BE49-F238E27FC236}">
                <a16:creationId xmlns:a16="http://schemas.microsoft.com/office/drawing/2014/main" id="{4661A3FA-300C-4BDF-9EE8-EA7277C88D8D}"/>
              </a:ext>
            </a:extLst>
          </p:cNvPr>
          <p:cNvSpPr>
            <a:spLocks xmlns:a="http://schemas.openxmlformats.org/drawingml/2006/main" noGrp="1"/>
          </p:cNvSpPr>
          <p:nvPr/>
        </p:nvSpPr>
        <p:spPr>
          <a:xfrm xmlns:a="http://schemas.openxmlformats.org/drawingml/2006/main">
            <a:off x="6391275" y="32385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Or 1% of the service bill, if higher,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plus actual card / ACH processing</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card-paid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$9.97</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$54.97</a:t>
                      </a:r>
                    </a:p>
                  </a:txBody>
                  <a:tcPr marL="91440" marR="91440" marT="45720" marB="45720" anchor="ctr">
                    <a:solidFill>
                      <a:srgbClr val="E8EDDF"/>
                    </a:solidFill>
                  </a:tcPr>
                </a:tc>
              </a:tr>
            </a:tbl>
          </a:graphicData>
        </a:graphic>
      </p:graphicFrame>
      <p:sp>
        <p:nvSpPr>
          <p:cNvPr id="10" name="Keep the first-client finder-fee waiver. A $45 acq">
            <a:extLst xmlns:a="http://schemas.openxmlformats.org/drawingml/2006/main">
              <a:ext uri="{FF2B5EF4-FFF2-40B4-BE49-F238E27FC236}">
                <a16:creationId xmlns:a16="http://schemas.microsoft.com/office/drawing/2014/main" id="{8A8C50EA-7E2A-481E-970A-D2A337ECD1C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Keep the first-client finder-fee waiver. A $45 acquisition charge is already substantial on a $60 first visit; validate season-long value before increasing it. No customer surcharge modeled.</a:t>
            </a:r>
          </a:p>
        </p:txBody>
      </p:sp>
    </p:spTree>
    <p:extLst>
      <p:ext uri="{BB962C8B-B14F-4D97-AF65-F5344CB8AC3E}">
        <p14:creationId xmlns:p14="http://schemas.microsoft.com/office/powerpoint/2010/main" val="672607487"/>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9E6D95B1-2B94-443B-B5C8-2FA0D309F5E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22266553-03EC-4C00-AC51-D735491D420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F0CAD777-4409-4E2D-A94D-31D11AFE62C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9E6BA743-E633-4A00-94DC-2AA29359C0A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ED469648-FB5E-4965-B93F-860522BD3612}"/>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8A22B0E6-3A36-4A5E-800D-865766650D97}"/>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AC4F4210-2D4E-4553-99C9-BBE54F5543B7}"/>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82C00417-A214-4758-B285-01BE45A460F8}"/>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$45 is earned after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CC3B369B-F8F5-46D5-BB51-3982D6BD519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69862727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BB3DADCA-B002-4594-9D32-4CD10936833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70F1CA18-0B6D-4314-84EF-1EB8CDA8A39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AC4C38D9-D746-4A57-90D2-45F9CC2E8F8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DEB9E248-9A7B-439C-9FA1-8B3D5C27981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F8DDBACF-407F-4D4C-A216-7CE232042D2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002055283"/>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D18447D7-8EC7-4499-AD1F-E41A815B734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1DB4CB63-43EF-4F8D-9C93-B4B7EC6F7FB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04895026-D611-4EBD-BC31-93D351F3434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65E1400D-CC75-4CB2-8969-A46FF961835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2190750"/>
                <a:gridCol w="1809750"/>
                <a:gridCol w="2095500"/>
                <a:gridCol w="2095500"/>
              </a:tblGrid>
              <a:tr h="519113">
                <a:tc>
                  <a:txBody>
                    <a:bodyPr lIns="114300" tIns="76200" rIns="114300" bIns="76200">
                      <a:noAutofit/>
                    </a:bodyPr>
                    <a:lstStyle/>
                    <a:p>
                      <a:pPr algn="l"/>
                      <a:r>
                        <a:rPr sz="1800"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Platform fee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$3.47</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$6.19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$3.79</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$5.40</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$39.30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$15.00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$97.80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$30.00</a:t>
                      </a:r>
                    </a:p>
                  </a:txBody>
                  <a:tcPr marL="91440" marR="91440" marT="45720" marB="45720" anchor="ctr">
                    <a:solidFill>
                      <a:srgbClr val="FFFFFF"/>
                    </a:solidFill>
                  </a:tcPr>
                </a:tc>
              </a:tr>
            </a:tbl>
          </a:graphicData>
        </a:graphic>
      </p:graphicFrame>
      <p:sp>
        <p:nvSpPr>
          <p:cNvPr id="6" name="$2.04">
            <a:extLst xmlns:a="http://schemas.openxmlformats.org/drawingml/2006/main">
              <a:ext uri="{FF2B5EF4-FFF2-40B4-BE49-F238E27FC236}">
                <a16:creationId xmlns:a16="http://schemas.microsoft.com/office/drawing/2014/main" id="{BA58EF4A-16C1-4A51-8BAB-622C67388BD4}"/>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$2.04</a:t>
            </a:r>
          </a:p>
        </p:txBody>
      </p:sp>
      <p:sp>
        <p:nvSpPr>
          <p:cNvPr id="7" name="Average repeat contribution in the 2031 base mix">
            <a:extLst xmlns:a="http://schemas.openxmlformats.org/drawingml/2006/main">
              <a:ext uri="{FF2B5EF4-FFF2-40B4-BE49-F238E27FC236}">
                <a16:creationId xmlns:a16="http://schemas.microsoft.com/office/drawing/2014/main" id="{021D7499-0539-4A65-AE4F-19B66F43F6C7}"/>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Recurring platform pricing changes above $299. A b">
            <a:extLst xmlns:a="http://schemas.openxmlformats.org/drawingml/2006/main">
              <a:ext uri="{FF2B5EF4-FFF2-40B4-BE49-F238E27FC236}">
                <a16:creationId xmlns:a16="http://schemas.microsoft.com/office/drawing/2014/main" id="{6C778B59-EE3F-4128-A2C3-F0DF28A72E3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Recurring platform pricing changes above $299. A bundle on one invoice counts once. Processing recovery is excluded from net platform revenue. Fees still require provider acceptance testing.</a:t>
            </a:r>
          </a:p>
        </p:txBody>
      </p:sp>
    </p:spTree>
    <p:extLst>
      <p:ext uri="{BB962C8B-B14F-4D97-AF65-F5344CB8AC3E}">
        <p14:creationId xmlns:p14="http://schemas.microsoft.com/office/powerpoint/2010/main" val="94444501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DB1BA124-D9E6-443F-A75F-CF25A506D19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3F585E7D-D4ED-418D-87BD-3CCA84FFE4E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6A8CF6F2-4C85-4532-93B0-A8487385110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8A3C3F9B-F31C-4B72-A3E8-8CE03D81F1B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71851BB2-B504-41B8-B181-72803A2BA91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146207766"/>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8A8A4784-FC8B-4117-B894-B8DA9519EAD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Mix shifts, larger properties and 3% annual price ">
            <a:extLst xmlns:a="http://schemas.openxmlformats.org/drawingml/2006/main">
              <a:ext uri="{FF2B5EF4-FFF2-40B4-BE49-F238E27FC236}">
                <a16:creationId xmlns:a16="http://schemas.microsoft.com/office/drawing/2014/main" id="{B5BEB0F3-709D-4F0F-A01B-A2D83F3766C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Mix shifts, larger properties and 3% annual price escalation lift the weighted average over time.</a:t>
            </a:r>
          </a:p>
        </p:txBody>
      </p:sp>
      <p:sp>
        <p:nvSpPr>
          <p:cNvPr id="3" name="YardMatch">
            <a:extLst xmlns:a="http://schemas.openxmlformats.org/drawingml/2006/main">
              <a:ext uri="{FF2B5EF4-FFF2-40B4-BE49-F238E27FC236}">
                <a16:creationId xmlns:a16="http://schemas.microsoft.com/office/drawing/2014/main" id="{8E645852-685B-4CCC-B9D7-B84B94F4395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FCC02543-4C55-4AAF-8540-00FDD918EAE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504ACB00-8D60-4D5A-BDE8-7CF0A90B9538}"/>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32225A94-4CD9-47E6-95D3-E76BC398DD33}"/>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04E47B9A-B747-4D28-AFA4-E13C99A74B02}"/>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B068DF18-CCD7-46D6-A413-519E321DA292}"/>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$87.22</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$102.84</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$121.00</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$96.64</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$118.00</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$142.41</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5B6728EA-A343-4099-A8C1-60C7A523F5F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Mix and pricing assumptions are editable in the workbook.</a:t>
            </a:r>
          </a:p>
        </p:txBody>
      </p:sp>
    </p:spTree>
    <p:extLst>
      <p:ext uri="{BB962C8B-B14F-4D97-AF65-F5344CB8AC3E}">
        <p14:creationId xmlns:p14="http://schemas.microsoft.com/office/powerpoint/2010/main" val="619029287"/>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036EA4FE-561B-4DDD-9D0D-069845CEA35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585ACF6F-2054-47C7-821E-6C29E6DCDDF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9CBA8A21-3A0F-4BC3-96B9-3C67B5ABFB3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DB820D87-6949-4773-84CC-972546A7C2A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sp>
        <p:nvSpPr>
          <p:cNvPr id="5" name="10,265">
            <a:extLst xmlns:a="http://schemas.openxmlformats.org/drawingml/2006/main">
              <a:ext uri="{FF2B5EF4-FFF2-40B4-BE49-F238E27FC236}">
                <a16:creationId xmlns:a16="http://schemas.microsoft.com/office/drawing/2014/main" id="{86D9F83D-677E-475D-85AD-6BF22A65A723}"/>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098A1D86-3603-4279-A5FC-3C988E12573E}"/>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9B45BA4F-B6F1-4EA5-8669-2219713EB73E}"/>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9E315B59-CB1A-41F6-B24F-1FD4A8A60E0C}"/>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1B268B28-0F21-4C34-A4AE-E034B5C5CFCF}"/>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F91ECF28-395F-493F-A5B8-01E9341622EE}"/>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AAE36973-B7C4-4687-9925-10B1396BC0B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1042599460"/>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48C076AA-5C83-43A0-8C41-F8C214E9ACA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EDFCEF68-B6FF-40EE-85B8-FDA243729CE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66C306C3-2F13-490F-A596-DC50E4AF8C1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8EDD8E47-8E0F-4657-9F3D-F7BCDD9D83C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sp>
        <p:nvSpPr>
          <p:cNvPr id="5" name="1. Concentrated provider launch">
            <a:extLst xmlns:a="http://schemas.openxmlformats.org/drawingml/2006/main">
              <a:ext uri="{FF2B5EF4-FFF2-40B4-BE49-F238E27FC236}">
                <a16:creationId xmlns:a16="http://schemas.microsoft.com/office/drawing/2014/main" id="{C367CE17-3CED-4B24-9903-DC256C1C18A7}"/>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66C11907-A851-4389-80FD-396824E3CB8B}"/>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48968528-5752-4E76-9686-4F51C89ECB7C}"/>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FEE9C688-CFED-4793-A6AB-BD4C0FFEE11B}"/>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DF818790-4BFD-448F-877F-F577033A6C66}"/>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228A409A-80DB-4289-977C-94212C69D77D}"/>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B0DA681F-3C1C-40F3-9BE0-4D5961D4AC39}"/>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1282A746-EEC1-434C-B3E7-63518193AB35}"/>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598685554"/>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10C4480C-BD75-4696-B859-39222E4C5AE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53CBFD0F-5C0C-444F-8F2E-7F607798494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EE50B77E-CAB7-4378-B059-5B2402CC6BC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57A47D01-AD95-442C-A3AB-B0832D2B8A5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sp>
        <p:nvSpPr>
          <p:cNvPr id="5" name="Product foundation">
            <a:extLst xmlns:a="http://schemas.openxmlformats.org/drawingml/2006/main">
              <a:ext uri="{FF2B5EF4-FFF2-40B4-BE49-F238E27FC236}">
                <a16:creationId xmlns:a16="http://schemas.microsoft.com/office/drawing/2014/main" id="{A0BF0C6D-09FC-4A3C-8C5D-C7787BA9070A}"/>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B71ADEAE-C9F3-48A1-9CD8-C13FAD2F5F9E}"/>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39BE96CC-5797-4D1B-A481-B4611B9ADD03}"/>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E79FF01F-01C7-4253-A554-CA3F2233FCFA}"/>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1983BB71-3B90-4477-B7B2-96E9A5C159A5}"/>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E78B8A71-5211-4551-B17A-BEFAE44187F8}"/>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99B5C225-46FE-4918-8158-0E6BC98D9BE5}"/>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1650C48E-60C9-4E41-B43A-44791F19629C}"/>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1454903189"/>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399248F5-6DD5-4F9D-8E75-5368267451A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72D8A223-1E5F-43EC-8DEC-00AE6180C06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3D05404B-32C5-44D5-AA0E-CFDC59BB3A4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F3D473F5-D8C9-40D3-812B-BB0D291A5B9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44F82D70-B239-401F-B020-7771BC46FD1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Core forecasts exclude optional provider products. Those expansion cases do not add extra finder fees for the same relationship.</a:t>
            </a:r>
          </a:p>
        </p:txBody>
      </p:sp>
    </p:spTree>
    <p:extLst>
      <p:ext uri="{BB962C8B-B14F-4D97-AF65-F5344CB8AC3E}">
        <p14:creationId xmlns:p14="http://schemas.microsoft.com/office/powerpoint/2010/main" val="1837658672"/>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 subscriptions add a software business">
            <a:extLst xmlns:a="http://schemas.openxmlformats.org/drawingml/2006/main">
              <a:ext uri="{FF2B5EF4-FFF2-40B4-BE49-F238E27FC236}">
                <a16:creationId xmlns:a16="http://schemas.microsoft.com/office/drawing/2014/main" id="{894A7965-A0BC-4A3E-BF7A-1405E0ACF20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 subscriptions add a software business</a:t>
            </a:r>
          </a:p>
        </p:txBody>
      </p:sp>
      <p:sp>
        <p:nvSpPr>
          <p:cNvPr id="2" name="Proposed monthly prices for optional features. Tra">
            <a:extLst xmlns:a="http://schemas.openxmlformats.org/drawingml/2006/main">
              <a:ext uri="{FF2B5EF4-FFF2-40B4-BE49-F238E27FC236}">
                <a16:creationId xmlns:a16="http://schemas.microsoft.com/office/drawing/2014/main" id="{43E27A79-0590-4634-BFF8-C5C8844E8E2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monthly prices for optional features. Transaction fees still apply.</a:t>
            </a:r>
          </a:p>
        </p:txBody>
      </p:sp>
      <p:sp>
        <p:nvSpPr>
          <p:cNvPr id="3" name="YardMatch">
            <a:extLst xmlns:a="http://schemas.openxmlformats.org/drawingml/2006/main">
              <a:ext uri="{FF2B5EF4-FFF2-40B4-BE49-F238E27FC236}">
                <a16:creationId xmlns:a16="http://schemas.microsoft.com/office/drawing/2014/main" id="{998D8928-EA4D-4BD2-8780-6578BC25614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C563DDD9-83A4-4F44-814A-E1CE9044CC5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Booking, job details, crew assignments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Job margin reports, quote follow-ups and advanced business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Timesheet approvals / exports, labor budgets and crew utilization</a:t>
                      </a:r>
                    </a:p>
                  </a:txBody>
                  <a:tcPr marL="91440" marR="91440" marT="45720" marB="45720" anchor="ctr">
                    <a:solidFill>
                      <a:srgbClr val="FFFFFF"/>
                    </a:solidFill>
                  </a:tcPr>
                </a:tc>
              </a:tr>
            </a:tbl>
          </a:graphicData>
        </a:graphic>
      </p:graphicFrame>
      <p:sp>
        <p:nvSpPr>
          <p:cNvPr id="6" name="Pro and Teams are mutually exclusive. Core service">
            <a:extLst xmlns:a="http://schemas.openxmlformats.org/drawingml/2006/main">
              <a:ext uri="{FF2B5EF4-FFF2-40B4-BE49-F238E27FC236}">
                <a16:creationId xmlns:a16="http://schemas.microsoft.com/office/drawing/2014/main" id="{28F1F83D-DAAF-4417-B251-7580DB9D149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Core service delivery remains accessible. The optional model allows nine paid months per year and makes no assumed retention or customer-acquisition improvement.</a:t>
            </a:r>
          </a:p>
        </p:txBody>
      </p:sp>
    </p:spTree>
    <p:extLst>
      <p:ext uri="{BB962C8B-B14F-4D97-AF65-F5344CB8AC3E}">
        <p14:creationId xmlns:p14="http://schemas.microsoft.com/office/powerpoint/2010/main" val="1542197059"/>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tools have a business buyer">
            <a:extLst xmlns:a="http://schemas.openxmlformats.org/drawingml/2006/main">
              <a:ext uri="{FF2B5EF4-FFF2-40B4-BE49-F238E27FC236}">
                <a16:creationId xmlns:a16="http://schemas.microsoft.com/office/drawing/2014/main" id="{B53BFAB8-D70E-4FBA-9EEF-0E21F3D9F51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tools have a business buyer</a:t>
            </a:r>
          </a:p>
        </p:txBody>
      </p:sp>
      <p:sp>
        <p:nvSpPr>
          <p:cNvPr id="2" name="Landscaping businesses pay for advanced team tools">
            <a:extLst xmlns:a="http://schemas.openxmlformats.org/drawingml/2006/main">
              <a:ext uri="{FF2B5EF4-FFF2-40B4-BE49-F238E27FC236}">
                <a16:creationId xmlns:a16="http://schemas.microsoft.com/office/drawing/2014/main" id="{E659C4D2-44D0-4CEC-A73D-ACFB9B69BEA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Landscaping businesses pay for advanced team tools. Individual crew members pay $0.</a:t>
            </a:r>
          </a:p>
        </p:txBody>
      </p:sp>
      <p:sp>
        <p:nvSpPr>
          <p:cNvPr id="3" name="YardMatch">
            <a:extLst xmlns:a="http://schemas.openxmlformats.org/drawingml/2006/main">
              <a:ext uri="{FF2B5EF4-FFF2-40B4-BE49-F238E27FC236}">
                <a16:creationId xmlns:a16="http://schemas.microsoft.com/office/drawing/2014/main" id="{4A731AAE-5A38-402B-AF33-09481DDA1E0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D0B0FB8A-774B-4EDA-A6A5-85881BCDD92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Value for the business owner">
            <a:extLst xmlns:a="http://schemas.openxmlformats.org/drawingml/2006/main">
              <a:ext uri="{FF2B5EF4-FFF2-40B4-BE49-F238E27FC236}">
                <a16:creationId xmlns:a16="http://schemas.microsoft.com/office/drawing/2014/main" id="{A8F24B49-1ADD-4748-AAB9-0789364F6533}"/>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Connect approved time to labor budgets. Compare cr">
            <a:extLst xmlns:a="http://schemas.openxmlformats.org/drawingml/2006/main">
              <a:ext uri="{FF2B5EF4-FFF2-40B4-BE49-F238E27FC236}">
                <a16:creationId xmlns:a16="http://schemas.microsoft.com/office/drawing/2014/main" id="{4C5CEE07-5E1F-4C28-ABBF-95126A3C8FFE}"/>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Connect approved time to labor budgets. Compare crew utilization and job margin. Export records to existing payroll software.</a:t>
            </a:r>
          </a:p>
        </p:txBody>
      </p:sp>
      <p:sp>
        <p:nvSpPr>
          <p:cNvPr id="7" name="Access for the crew member">
            <a:extLst xmlns:a="http://schemas.openxmlformats.org/drawingml/2006/main">
              <a:ext uri="{FF2B5EF4-FFF2-40B4-BE49-F238E27FC236}">
                <a16:creationId xmlns:a16="http://schemas.microsoft.com/office/drawing/2014/main" id="{791106C2-47EB-40A5-AB26-CFD3B32FDE01}"/>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View assignments, communicate about the job and su">
            <a:extLst xmlns:a="http://schemas.openxmlformats.org/drawingml/2006/main">
              <a:ext uri="{FF2B5EF4-FFF2-40B4-BE49-F238E27FC236}">
                <a16:creationId xmlns:a16="http://schemas.microsoft.com/office/drawing/2014/main" id="{D2E82E4A-93A5-487B-BAB4-2B9E379F678C}"/>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View assignments, communicate about the job and submit essential service records through the core product.</a:t>
            </a:r>
          </a:p>
        </p:txBody>
      </p:sp>
      <p:sp>
        <p:nvSpPr>
          <p:cNvPr id="9" name="A $99 Teams plan includes the $49 Pro features">
            <a:extLst xmlns:a="http://schemas.openxmlformats.org/drawingml/2006/main">
              <a:ext uri="{FF2B5EF4-FFF2-40B4-BE49-F238E27FC236}">
                <a16:creationId xmlns:a16="http://schemas.microsoft.com/office/drawing/2014/main" id="{1E06ECAB-8245-4044-8247-74BED779C0E1}"/>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Later options include employer-funded recruiting o">
            <a:extLst xmlns:a="http://schemas.openxmlformats.org/drawingml/2006/main">
              <a:ext uri="{FF2B5EF4-FFF2-40B4-BE49-F238E27FC236}">
                <a16:creationId xmlns:a16="http://schemas.microsoft.com/office/drawing/2014/main" id="{2940E4CF-3ACE-4311-9A54-2172BDF92165}"/>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Later options include employer-funded recruiting or optional training partnerships. Neither contributes revenue to this forecast.</a:t>
            </a:r>
          </a:p>
        </p:txBody>
      </p:sp>
      <p:sp>
        <p:nvSpPr>
          <p:cNvPr id="11" name="Basic coordination supports completion and retenti">
            <a:extLst xmlns:a="http://schemas.openxmlformats.org/drawingml/2006/main">
              <a:ext uri="{FF2B5EF4-FFF2-40B4-BE49-F238E27FC236}">
                <a16:creationId xmlns:a16="http://schemas.microsoft.com/office/drawing/2014/main" id="{E0424291-D81C-4BC7-A2B2-1F88B79D3DD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105540512"/>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3A3D442A-19AB-4369-91DD-DF978D037F0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B6A3AA29-EC6E-4AC9-9DDF-B69F122063B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74D9C88F-57C0-4357-985B-3ACACE675B8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A79DF147-DDA3-4ED0-98A0-936DA371A40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45 finder fee and recurr">
            <a:extLst xmlns:a="http://schemas.openxmlformats.org/drawingml/2006/main">
              <a:ext uri="{FF2B5EF4-FFF2-40B4-BE49-F238E27FC236}">
                <a16:creationId xmlns:a16="http://schemas.microsoft.com/office/drawing/2014/main" id="{54C3D73D-B186-43BC-8272-1779D9E2C33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$45 finder fee and recurring charges.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1661689724"/>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Optional products add value after they reach scale">
            <a:extLst xmlns:a="http://schemas.openxmlformats.org/drawingml/2006/main">
              <a:ext uri="{FF2B5EF4-FFF2-40B4-BE49-F238E27FC236}">
                <a16:creationId xmlns:a16="http://schemas.microsoft.com/office/drawing/2014/main" id="{D2FBF163-DA93-4F2C-8CB8-D47C35E1FE1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Optional products add value after they reach scale</a:t>
            </a:r>
          </a:p>
        </p:txBody>
      </p:sp>
      <p:sp>
        <p:nvSpPr>
          <p:cNvPr id="2" name="Illustrative 2033 results using the same base hous">
            <a:extLst xmlns:a="http://schemas.openxmlformats.org/drawingml/2006/main">
              <a:ext uri="{FF2B5EF4-FFF2-40B4-BE49-F238E27FC236}">
                <a16:creationId xmlns:a16="http://schemas.microsoft.com/office/drawing/2014/main" id="{4B725BB3-E2E9-4C9F-9FF4-BF60963E4A4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using the same base household and provider volumes. Stripe remains in place.</a:t>
            </a:r>
          </a:p>
        </p:txBody>
      </p:sp>
      <p:sp>
        <p:nvSpPr>
          <p:cNvPr id="3" name="YardMatch">
            <a:extLst xmlns:a="http://schemas.openxmlformats.org/drawingml/2006/main">
              <a:ext uri="{FF2B5EF4-FFF2-40B4-BE49-F238E27FC236}">
                <a16:creationId xmlns:a16="http://schemas.microsoft.com/office/drawing/2014/main" id="{DAAE2098-24AE-4AC0-9013-DF6D1E3329C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B01AD7C3-8DA8-4F01-BD41-DD4B87BC9EE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52070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Core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Subscriptions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520700">
                <a:tc>
                  <a:txBody>
                    <a:bodyPr lIns="114300" tIns="76200" rIns="114300" bIns="76200">
                      <a:noAutofit/>
                    </a:bodyPr>
                    <a:lstStyle/>
                    <a:p>
                      <a:pPr algn="l"/>
                      <a:r>
                        <a:rPr sz="1725" b="0">
                          <a:solidFill>
                            <a:srgbClr val="14281D"/>
                          </a:solidFill>
                          <a:latin typeface="Arial"/>
                          <a:ea typeface="Arial"/>
                          <a:cs typeface="Arial"/>
                        </a:rPr>
                        <a:t>Optional annual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$1.27m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$1.46m</a:t>
                      </a:r>
                    </a:p>
                  </a:txBody>
                  <a:tcPr marL="91440" marR="91440" marT="45720" marB="45720" anchor="ctr">
                    <a:solidFill>
                      <a:srgbClr val="FFFFFF"/>
                    </a:solidFill>
                  </a:tcPr>
                </a:tc>
              </a:tr>
              <a:tr h="52070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$18.95m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$20.22m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$20.41m</a:t>
                      </a:r>
                    </a:p>
                  </a:txBody>
                  <a:tcPr marL="91440" marR="91440" marT="45720" marB="45720" anchor="ctr">
                    <a:solidFill>
                      <a:srgbClr val="F7F5EF"/>
                    </a:solidFill>
                  </a:tcPr>
                </a:tc>
              </a:tr>
              <a:tr h="52070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$4.31m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$5.09m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$5.19m</a:t>
                      </a:r>
                    </a:p>
                  </a:txBody>
                  <a:tcPr marL="91440" marR="91440" marT="45720" marB="45720" anchor="ctr">
                    <a:solidFill>
                      <a:srgbClr val="E8EDDF"/>
                    </a:solidFill>
                  </a:tcPr>
                </a:tc>
              </a:tr>
              <a:tr h="52070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$3.13m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$3.72m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$3.79m</a:t>
                      </a:r>
                    </a:p>
                  </a:txBody>
                  <a:tcPr marL="91440" marR="91440" marT="45720" marB="45720" anchor="ctr">
                    <a:solidFill>
                      <a:srgbClr val="E8EDDF"/>
                    </a:solidFill>
                  </a:tcPr>
                </a:tc>
              </a:tr>
              <a:tr h="520700">
                <a:tc>
                  <a:txBody>
                    <a:bodyPr lIns="114300" tIns="76200" rIns="114300" bIns="76200">
                      <a:noAutofit/>
                    </a:bodyPr>
                    <a:lstStyle/>
                    <a:p>
                      <a:pPr algn="l"/>
                      <a:r>
                        <a:rPr sz="1725"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2032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2032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2032</a:t>
                      </a:r>
                    </a:p>
                  </a:txBody>
                  <a:tcPr marL="91440" marR="91440" marT="45720" marB="45720" anchor="ctr">
                    <a:solidFill>
                      <a:srgbClr val="FFFFFF"/>
                    </a:solidFill>
                  </a:tcPr>
                </a:tc>
              </a:tr>
            </a:tbl>
          </a:graphicData>
        </a:graphic>
      </p:graphicFrame>
      <p:sp>
        <p:nvSpPr>
          <p:cNvPr id="6" name="Final column includes both subscriptions and spons">
            <a:extLst xmlns:a="http://schemas.openxmlformats.org/drawingml/2006/main">
              <a:ext uri="{FF2B5EF4-FFF2-40B4-BE49-F238E27FC236}">
                <a16:creationId xmlns:a16="http://schemas.microsoft.com/office/drawing/2014/main" id="{BCAA3BDB-F5F2-4F52-8B3C-7A2BD4DA0EC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Final column includes both subscriptions and sponsorship. Together they add $875,453 of 2033 EBITDA after incremental costs. Early spending still increases cash needs. Adoption is unvalidated.</a:t>
            </a:r>
          </a:p>
        </p:txBody>
      </p:sp>
    </p:spTree>
    <p:extLst>
      <p:ext uri="{BB962C8B-B14F-4D97-AF65-F5344CB8AC3E}">
        <p14:creationId xmlns:p14="http://schemas.microsoft.com/office/powerpoint/2010/main" val="122302660"/>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forecast makes the assumptions visible">
            <a:extLst xmlns:a="http://schemas.openxmlformats.org/drawingml/2006/main">
              <a:ext uri="{FF2B5EF4-FFF2-40B4-BE49-F238E27FC236}">
                <a16:creationId xmlns:a16="http://schemas.microsoft.com/office/drawing/2014/main" id="{29C69715-D87A-42D5-B4CE-A9EA6F0F631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forecast makes the assumptions visible</a:t>
            </a:r>
          </a:p>
        </p:txBody>
      </p:sp>
      <p:sp>
        <p:nvSpPr>
          <p:cNvPr id="2" name="2027-2033 calendar years. Optional subscriptions a">
            <a:extLst xmlns:a="http://schemas.openxmlformats.org/drawingml/2006/main">
              <a:ext uri="{FF2B5EF4-FFF2-40B4-BE49-F238E27FC236}">
                <a16:creationId xmlns:a16="http://schemas.microsoft.com/office/drawing/2014/main" id="{E29BF078-B90E-4872-BC8A-D18BA296AC2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Optional subscriptions and sponsorship are excluded from these core cases.</a:t>
            </a:r>
          </a:p>
        </p:txBody>
      </p:sp>
      <p:sp>
        <p:nvSpPr>
          <p:cNvPr id="3" name="YardMatch">
            <a:extLst xmlns:a="http://schemas.openxmlformats.org/drawingml/2006/main">
              <a:ext uri="{FF2B5EF4-FFF2-40B4-BE49-F238E27FC236}">
                <a16:creationId xmlns:a16="http://schemas.microsoft.com/office/drawing/2014/main" id="{A1850CE7-0F90-44F7-B00C-9975D189814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C839E3A4-06CC-4901-BF93-2D9A934C7C4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E1D92529-74AA-4B16-B9E3-B9E83A97178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36 staff. Downside prices are 15% higher. All cases use the recommended $45 finder fee and recurring fee plus processing.</a:t>
            </a:r>
          </a:p>
        </p:txBody>
      </p:sp>
    </p:spTree>
    <p:extLst>
      <p:ext uri="{BB962C8B-B14F-4D97-AF65-F5344CB8AC3E}">
        <p14:creationId xmlns:p14="http://schemas.microsoft.com/office/powerpoint/2010/main" val="1417682528"/>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9.0m in 2033">
            <a:extLst xmlns:a="http://schemas.openxmlformats.org/drawingml/2006/main">
              <a:ext uri="{FF2B5EF4-FFF2-40B4-BE49-F238E27FC236}">
                <a16:creationId xmlns:a16="http://schemas.microsoft.com/office/drawing/2014/main" id="{443C9FC9-62DE-419E-BB2D-EA559DCFB90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$19.0m in 2033</a:t>
            </a:r>
          </a:p>
        </p:txBody>
      </p:sp>
      <p:sp>
        <p:nvSpPr>
          <p:cNvPr id="2" name="Net marketplace revenue, US$ millions. Finder fees">
            <a:extLst xmlns:a="http://schemas.openxmlformats.org/drawingml/2006/main">
              <a:ext uri="{FF2B5EF4-FFF2-40B4-BE49-F238E27FC236}">
                <a16:creationId xmlns:a16="http://schemas.microsoft.com/office/drawing/2014/main" id="{9536D52E-A38E-48E8-88E6-11092478068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6D4FD1A8-0413-417C-BBDF-7A6F8D9D4DC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C07D6F83-7508-47F3-A429-DF93FF007D2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6a8b6860545a48f6"/>
          </a:graphicData>
        </a:graphic>
      </p:graphicFrame>
      <p:sp>
        <p:nvSpPr>
          <p:cNvPr id="6" name="Base 2033: 292,448 year-end paying households, 3.8">
            <a:extLst xmlns:a="http://schemas.openxmlformats.org/drawingml/2006/main">
              <a:ext uri="{FF2B5EF4-FFF2-40B4-BE49-F238E27FC236}">
                <a16:creationId xmlns:a16="http://schemas.microsoft.com/office/drawing/2014/main" id="{747BB75E-931D-4958-A52A-EBF7301D661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3.83m paid jobs and $545.3m GMV. Revenue excludes GMV and processing passed through at cost.</a:t>
            </a:r>
          </a:p>
        </p:txBody>
      </p:sp>
    </p:spTree>
    <p:extLst>
      <p:ext uri="{BB962C8B-B14F-4D97-AF65-F5344CB8AC3E}">
        <p14:creationId xmlns:p14="http://schemas.microsoft.com/office/powerpoint/2010/main" val="96887980"/>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base turns profitable in 2032">
            <a:extLst xmlns:a="http://schemas.openxmlformats.org/drawingml/2006/main">
              <a:ext uri="{FF2B5EF4-FFF2-40B4-BE49-F238E27FC236}">
                <a16:creationId xmlns:a16="http://schemas.microsoft.com/office/drawing/2014/main" id="{57E6C5EC-C512-4912-ADBC-8BEB9032B97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base turns profitable in 2032</a:t>
            </a:r>
          </a:p>
        </p:txBody>
      </p:sp>
      <p:sp>
        <p:nvSpPr>
          <p:cNvPr id="2" name="US$ millions. Recommended pricing; Stripe retained">
            <a:extLst xmlns:a="http://schemas.openxmlformats.org/drawingml/2006/main">
              <a:ext uri="{FF2B5EF4-FFF2-40B4-BE49-F238E27FC236}">
                <a16:creationId xmlns:a16="http://schemas.microsoft.com/office/drawing/2014/main" id="{8B66B295-19F9-4541-9B7F-F7123ADA493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7238744B-90A6-42D5-BF34-3B40C7D3A55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3D9B060D-B8D0-45BC-A0BB-80357D44591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$2.25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$5.42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$10.81</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$18.95</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$1.86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$4.36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$8.51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$14.56</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$1.48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$4.31</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$4.18</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$3.13</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($0.97)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$0.41</a:t>
                      </a:r>
                    </a:p>
                  </a:txBody>
                  <a:tcPr marL="91440" marR="91440" marT="45720" marB="45720" anchor="ctr">
                    <a:solidFill>
                      <a:srgbClr val="F7F5EF"/>
                    </a:solidFill>
                  </a:tcPr>
                </a:tc>
              </a:tr>
            </a:tbl>
          </a:graphicData>
        </a:graphic>
      </p:graphicFrame>
      <p:sp>
        <p:nvSpPr>
          <p:cNvPr id="6" name="2033 net income proxy: $3.13m. Free cash flow: $0.">
            <a:extLst xmlns:a="http://schemas.openxmlformats.org/drawingml/2006/main">
              <a:ext uri="{FF2B5EF4-FFF2-40B4-BE49-F238E27FC236}">
                <a16:creationId xmlns:a16="http://schemas.microsoft.com/office/drawing/2014/main" id="{AC1B0B90-73F0-47D2-9FDE-B222832F4D9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$3.13m. Free cash flow: $0.41m. Annual cash remains negative through 2032 because growth also funds equipment and the risk reserve.</a:t>
            </a:r>
          </a:p>
        </p:txBody>
      </p:sp>
    </p:spTree>
    <p:extLst>
      <p:ext uri="{BB962C8B-B14F-4D97-AF65-F5344CB8AC3E}">
        <p14:creationId xmlns:p14="http://schemas.microsoft.com/office/powerpoint/2010/main" val="1412818186"/>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50B8017A-E22C-445F-A3ED-619FE2F760A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1B37859B-7C79-4BFF-A4CA-60B3BAC7DFC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8B65F72D-9025-47F7-BD3C-128DC2F1E3F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6D004F97-D124-491D-90A6-8BB4D221C39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$1.21m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$5.42m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$9.57m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($1.24)m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($0.22)m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$1.88m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$3.55m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$18.95m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$39.11m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($1.77)m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$3.13m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$10.91m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2032</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Positive EBITDA arrives in 2031 in the upside and ">
            <a:extLst xmlns:a="http://schemas.openxmlformats.org/drawingml/2006/main">
              <a:ext uri="{FF2B5EF4-FFF2-40B4-BE49-F238E27FC236}">
                <a16:creationId xmlns:a16="http://schemas.microsoft.com/office/drawing/2014/main" id="{24FA1A78-B06E-4FB6-B4D2-450102B2328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Positive EBITDA arrives in 2031 in the upside and 2032 in the base; the downside remains negative through 2033. Provider fee acceptance and paid retention are critical.</a:t>
            </a:r>
          </a:p>
        </p:txBody>
      </p:sp>
    </p:spTree>
    <p:extLst>
      <p:ext uri="{BB962C8B-B14F-4D97-AF65-F5344CB8AC3E}">
        <p14:creationId xmlns:p14="http://schemas.microsoft.com/office/powerpoint/2010/main" val="784684030"/>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6084650E-AE90-4598-AB36-74E6A3C2091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09AC688B-A6CB-42B9-B0EB-0D5E32C75B4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025CF478-7133-4ABF-8F9E-ADADC9711AB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4345E278-F086-4E76-9CEE-8BD726A2DEF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$69,306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($199,578)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$1,012,853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$462,147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75983029-E101-47EE-942E-C60D0842C8E0}"/>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61EE8B68-D637-41D0-9B59-D9F51325339D}"/>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4.80m">
            <a:extLst xmlns:a="http://schemas.openxmlformats.org/drawingml/2006/main">
              <a:ext uri="{FF2B5EF4-FFF2-40B4-BE49-F238E27FC236}">
                <a16:creationId xmlns:a16="http://schemas.microsoft.com/office/drawing/2014/main" id="{450057AA-3FF7-419F-9F4A-5EC9FDCE735D}"/>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$4.80m</a:t>
            </a:r>
          </a:p>
        </p:txBody>
      </p:sp>
      <p:sp>
        <p:nvSpPr>
          <p:cNvPr id="9" name="Peak cumulative cash deficit before financing unde">
            <a:extLst xmlns:a="http://schemas.openxmlformats.org/drawingml/2006/main">
              <a:ext uri="{FF2B5EF4-FFF2-40B4-BE49-F238E27FC236}">
                <a16:creationId xmlns:a16="http://schemas.microsoft.com/office/drawing/2014/main" id="{8A7758A4-92FC-4686-BDC2-0240332D6303}"/>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2.74m 2033 fixed-cost buffer gives $7.">
            <a:extLst xmlns:a="http://schemas.openxmlformats.org/drawingml/2006/main">
              <a:ext uri="{FF2B5EF4-FFF2-40B4-BE49-F238E27FC236}">
                <a16:creationId xmlns:a16="http://schemas.microsoft.com/office/drawing/2014/main" id="{ED30CA6B-3026-4393-A5C6-DB2871B4620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$2.74m 2033 fixed-cost buffer gives $7.54m, before financing fees. The $1.5m round is an initial pilot illustration; follow-on capital would be needed.</a:t>
            </a:r>
          </a:p>
        </p:txBody>
      </p:sp>
    </p:spTree>
    <p:extLst>
      <p:ext uri="{BB962C8B-B14F-4D97-AF65-F5344CB8AC3E}">
        <p14:creationId xmlns:p14="http://schemas.microsoft.com/office/powerpoint/2010/main" val="31444470"/>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EA2A67B6-A05F-4152-8B0E-0A0B34633F2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6823CE2D-47BA-4C7E-B3F2-009497AB063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643B17F4-D031-44A1-80D0-139B29F6CE9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C3224B32-2BAE-4FB0-8174-1418D9F49F3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7723F5A1-E634-4785-926A-AC7FB0F711FA}"/>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A8A6FD5B-9146-4393-AB5B-92AF5492193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1883491773"/>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BF8D4C54-8AE7-4F49-BB0F-F9AF84BFDA3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F4B61298-CCEC-4072-A6F3-044ACEB4A65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FEABED1B-E58C-4F23-85E1-78DED06B026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DE35255E-8590-4EBA-832C-DFCED19E249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$3.12m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$3.12m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$496,092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$506,221</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($983,236)</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($640,005)</a:t>
                      </a:r>
                    </a:p>
                  </a:txBody>
                  <a:tcPr marL="91440" marR="91440" marT="45720" marB="45720" anchor="ctr">
                    <a:solidFill>
                      <a:srgbClr val="E8EDDF"/>
                    </a:solidFill>
                  </a:tcPr>
                </a:tc>
              </a:tr>
            </a:tbl>
          </a:graphicData>
        </a:graphic>
      </p:graphicFrame>
      <p:sp>
        <p:nvSpPr>
          <p:cNvPr id="6" name="Annual retained savings first cover run costs in 2">
            <a:extLst xmlns:a="http://schemas.openxmlformats.org/drawingml/2006/main">
              <a:ext uri="{FF2B5EF4-FFF2-40B4-BE49-F238E27FC236}">
                <a16:creationId xmlns:a16="http://schemas.microsoft.com/office/drawing/2014/main" id="{3AA2A695-0B06-4ED6-8FC8-0D7735BAE5E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Annual retained savings first cover run costs in 2032; neither option recovers the full investment by 2033. Gate a build on quoted costs and payback, not a calendar date.</a:t>
            </a:r>
          </a:p>
        </p:txBody>
      </p:sp>
    </p:spTree>
    <p:extLst>
      <p:ext uri="{BB962C8B-B14F-4D97-AF65-F5344CB8AC3E}">
        <p14:creationId xmlns:p14="http://schemas.microsoft.com/office/powerpoint/2010/main" val="509158879"/>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4216AA22-8D2E-4ED9-824F-BC380D92100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1C01FC50-6502-4682-A8B7-E236BE166BA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2EEEAC63-BA6F-4695-B7CB-649A8922F97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949E2960-2A4F-4B27-883F-C028B7DA805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777D8C16-6A01-41FB-B8BE-2E810835CAA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1095186526"/>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DC12E15A-9B24-4AC9-AB51-832C86C15D5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523C89D6-3485-4C8F-9AA2-3EC75238474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893D364E-52DD-45A2-8825-E913C14FE58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6CC34DBB-B191-4765-85B7-8DA7020022D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8C794E52-473D-4984-8259-27DEB2E44ADE}"/>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5072BB6D-8323-412C-BBF4-82E3413B543E}"/>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0E8D6B2C-6F92-4F8D-B681-2AAB2084D531}"/>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3642CBAE-805F-475C-81B2-0FA00DEE9324}"/>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431424D9-FA27-46AD-8A93-78797EF9875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585607419"/>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E84BF447-2C49-4742-9513-B2A7116BABF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F9F958FD-D2A5-4E6B-A2CC-E44EC335696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C5FD10AF-3605-4763-88A0-D9185CD68CF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DA9326B0-E892-4F49-A799-22C2245E9F7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paying households and measured second-season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Cash CAC of $50 or less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D0C631C1-A0DC-4D86-9FE5-E2320DFECEB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243463898"/>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49B45A3E-C3B3-489D-9FA7-DE2935EDC07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8AD14A59-578F-4D14-98B6-7CE07E8F71D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FF63AA0C-0B5A-46E8-8EF2-9B1D188975E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EE164A7B-C885-4723-B75A-D68682C64C6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sp>
        <p:nvSpPr>
          <p:cNvPr id="5" name="Households and paid visits">
            <a:extLst xmlns:a="http://schemas.openxmlformats.org/drawingml/2006/main">
              <a:ext uri="{FF2B5EF4-FFF2-40B4-BE49-F238E27FC236}">
                <a16:creationId xmlns:a16="http://schemas.microsoft.com/office/drawing/2014/main" id="{0023F30E-A878-4737-866A-156E5CEE8C7E}"/>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0A122667-C0B9-4348-BB1F-E73415C39F8B}"/>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DF3478FA-5782-4911-A60B-798848B02B86}"/>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2.04 per repeat job aft">
            <a:extLst xmlns:a="http://schemas.openxmlformats.org/drawingml/2006/main">
              <a:ext uri="{FF2B5EF4-FFF2-40B4-BE49-F238E27FC236}">
                <a16:creationId xmlns:a16="http://schemas.microsoft.com/office/drawing/2014/main" id="{685B8A27-05F5-403D-9686-9128A05FBAB1}"/>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$2.04 per repeat job after variable costs. Processing is recovered at cost; acquisition and fixed overhead remain separate.</a:t>
            </a:r>
          </a:p>
        </p:txBody>
      </p:sp>
      <p:sp>
        <p:nvSpPr>
          <p:cNvPr id="9" name="Profit and cash">
            <a:extLst xmlns:a="http://schemas.openxmlformats.org/drawingml/2006/main">
              <a:ext uri="{FF2B5EF4-FFF2-40B4-BE49-F238E27FC236}">
                <a16:creationId xmlns:a16="http://schemas.microsoft.com/office/drawing/2014/main" id="{3F90489D-BD43-4120-9AD1-454384FCFB5C}"/>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455CA28B-8AEC-4EA4-8AF9-81C1B854598B}"/>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674F4C7D-24A0-4F26-86A8-A5C9E411AE20}"/>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46 of five-year contri">
            <a:extLst xmlns:a="http://schemas.openxmlformats.org/drawingml/2006/main">
              <a:ext uri="{FF2B5EF4-FFF2-40B4-BE49-F238E27FC236}">
                <a16:creationId xmlns:a16="http://schemas.microsoft.com/office/drawing/2014/main" id="{E5F01FB4-194D-4023-9221-2B52A1956C77}"/>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$146 of five-year contribution versus $35 CAC, or 4.2x. This assumes retention and unchanged cohort economics.</a:t>
            </a:r>
          </a:p>
        </p:txBody>
      </p:sp>
    </p:spTree>
    <p:extLst>
      <p:ext uri="{BB962C8B-B14F-4D97-AF65-F5344CB8AC3E}">
        <p14:creationId xmlns:p14="http://schemas.microsoft.com/office/powerpoint/2010/main" val="2127232932"/>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8E063336-CA46-402A-9B71-334BC231D38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EE78A98A-062E-48D0-BE97-CC2048D543E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4D548749-57C1-4E56-BFD2-B7EABD78B6D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875FCBC6-E1EA-44EF-97C8-49D2A3A022C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sp>
        <p:nvSpPr>
          <p:cNvPr id="5" name="Company materials">
            <a:extLst xmlns:a="http://schemas.openxmlformats.org/drawingml/2006/main">
              <a:ext uri="{FF2B5EF4-FFF2-40B4-BE49-F238E27FC236}">
                <a16:creationId xmlns:a16="http://schemas.microsoft.com/office/drawing/2014/main" id="{C4E488D5-4D93-4D4C-9AB1-4CD0FFE54678}"/>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670A72A3-B6FD-4717-8704-4B8EBD6705CA}"/>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79D7E920-86DA-4CD6-95C2-3BCAF3D1244B}"/>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69ED095D-F6B6-42A2-92F3-2171587D02B6}"/>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c53dea94146147b4"/>
              </a:rPr>
              <a:t>Stripe Payments pricing</a:t>
            </a:r>
          </a:p>
        </p:txBody>
      </p:sp>
      <p:sp>
        <p:nvSpPr>
          <p:cNvPr id="9" name="Stripe Connect pricing">
            <a:extLst xmlns:a="http://schemas.openxmlformats.org/drawingml/2006/main">
              <a:ext uri="{FF2B5EF4-FFF2-40B4-BE49-F238E27FC236}">
                <a16:creationId xmlns:a16="http://schemas.microsoft.com/office/drawing/2014/main" id="{BC07376C-7FC5-45CE-A5CB-2F1CA23E3A35}"/>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210b3b447a794552"/>
              </a:rPr>
              <a:t>Stripe Connect pricing</a:t>
            </a:r>
          </a:p>
        </p:txBody>
      </p:sp>
      <p:sp>
        <p:nvSpPr>
          <p:cNvPr id="10" name="Stripe Financial Connections">
            <a:extLst xmlns:a="http://schemas.openxmlformats.org/drawingml/2006/main">
              <a:ext uri="{FF2B5EF4-FFF2-40B4-BE49-F238E27FC236}">
                <a16:creationId xmlns:a16="http://schemas.microsoft.com/office/drawing/2014/main" id="{35CCDB6A-D2B2-4982-9785-8FB148B5D671}"/>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70f27759800a4067"/>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D448CF2F-090E-47D7-A9C4-197F6B2E9D20}"/>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aa0d3b985cdf4867"/>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1A6F5EEF-F060-486F-B67A-CD1BFFD495DC}"/>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31d7703e0d5647fe"/>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0F527F6F-72CB-45A8-899C-3A777ABA6116}"/>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d7c2e58a04fd4b30"/>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21A85A34-0ED4-4FAC-ADF5-B57C55EBDA29}"/>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560bdddcbf54f97"/>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E8647C1A-947D-46CC-B9CF-61773EB54616}"/>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325cd659788848d1"/>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EF5DD111-A752-4C13-B296-22F44F416CA9}"/>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5a9214187e646db"/>
              </a:rPr>
              <a:t>Census QuickFacts: Barnegat</a:t>
            </a:r>
          </a:p>
        </p:txBody>
      </p:sp>
      <p:sp>
        <p:nvSpPr>
          <p:cNvPr id="17" name="Jobber: software pricing">
            <a:extLst xmlns:a="http://schemas.openxmlformats.org/drawingml/2006/main">
              <a:ext uri="{FF2B5EF4-FFF2-40B4-BE49-F238E27FC236}">
                <a16:creationId xmlns:a16="http://schemas.microsoft.com/office/drawing/2014/main" id="{0AA83B7C-D98F-4CC7-9249-C5FCA9FA48D3}"/>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ec2ecc359ec34b56"/>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AD57AE77-0644-4961-8CCC-3545F0A4B441}"/>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36826c47f5864088"/>
              </a:rPr>
              <a:t>Zocdoc: Sponsored Results cost</a:t>
            </a:r>
          </a:p>
        </p:txBody>
      </p:sp>
      <p:sp>
        <p:nvSpPr>
          <p:cNvPr id="19" name="Stripe Billing pricing">
            <a:extLst xmlns:a="http://schemas.openxmlformats.org/drawingml/2006/main">
              <a:ext uri="{FF2B5EF4-FFF2-40B4-BE49-F238E27FC236}">
                <a16:creationId xmlns:a16="http://schemas.microsoft.com/office/drawing/2014/main" id="{983D033B-5F81-4651-B54D-4F42F55ED116}"/>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c07ba6b4fb34460d"/>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3F54F57E-9672-492E-8C78-E73A7251640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930758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2026-09-20T23:30:45.6630000Z</dcterms:created>
  <dcterms:modified xsi:type="dcterms:W3CDTF">2026-09-20T23:30:45.6630000Z</dcterms:modified>
</coreProperties>
</file>