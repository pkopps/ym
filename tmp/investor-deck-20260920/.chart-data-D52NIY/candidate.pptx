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bbb7ce1e1e472d" /><Relationship Type="http://schemas.openxmlformats.org/officeDocument/2006/relationships/extended-properties" Target="/docProps/app.xml" Id="R78c0125705ed4165" /><Relationship Type="http://schemas.openxmlformats.org/officeDocument/2006/relationships/officeDocument" Target="/ppt/presentation.xml" Id="R7141558034d447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f4e448f884e97"/>
  </p:sldMasterIdLst>
  <p:notesMasterIdLst>
    <p:notesMasterId xmlns:r="http://schemas.openxmlformats.org/officeDocument/2006/relationships" r:id="Rc1ba42e838424020"/>
  </p:notesMasterIdLst>
  <p:sldIdLst>
    <p:sldId xmlns:r="http://schemas.openxmlformats.org/officeDocument/2006/relationships" id="256" r:id="R74d8f3ac97564ae4"/>
    <p:sldId xmlns:r="http://schemas.openxmlformats.org/officeDocument/2006/relationships" id="257" r:id="R076a787d5aef443c"/>
    <p:sldId xmlns:r="http://schemas.openxmlformats.org/officeDocument/2006/relationships" id="258" r:id="R677b8135e0e74084"/>
    <p:sldId xmlns:r="http://schemas.openxmlformats.org/officeDocument/2006/relationships" id="259" r:id="R76598138cf844d36"/>
    <p:sldId xmlns:r="http://schemas.openxmlformats.org/officeDocument/2006/relationships" id="260" r:id="R2bbb24a23ef24c9e"/>
    <p:sldId xmlns:r="http://schemas.openxmlformats.org/officeDocument/2006/relationships" id="261" r:id="R52774298239c4231"/>
    <p:sldId xmlns:r="http://schemas.openxmlformats.org/officeDocument/2006/relationships" id="262" r:id="Rcfed1f8428fb4ca5"/>
    <p:sldId xmlns:r="http://schemas.openxmlformats.org/officeDocument/2006/relationships" id="263" r:id="R3330069b7b4b4eb5"/>
    <p:sldId xmlns:r="http://schemas.openxmlformats.org/officeDocument/2006/relationships" id="264" r:id="Ree104e5b9b5d4ec5"/>
    <p:sldId xmlns:r="http://schemas.openxmlformats.org/officeDocument/2006/relationships" id="265" r:id="R4fea008693a54e2e"/>
    <p:sldId xmlns:r="http://schemas.openxmlformats.org/officeDocument/2006/relationships" id="266" r:id="R032cbfa159bd4a02"/>
    <p:sldId xmlns:r="http://schemas.openxmlformats.org/officeDocument/2006/relationships" id="267" r:id="Rf619c356c80946fe"/>
    <p:sldId xmlns:r="http://schemas.openxmlformats.org/officeDocument/2006/relationships" id="268" r:id="R9f95da58af6a409d"/>
    <p:sldId xmlns:r="http://schemas.openxmlformats.org/officeDocument/2006/relationships" id="269" r:id="R62fbb925db2b4525"/>
    <p:sldId xmlns:r="http://schemas.openxmlformats.org/officeDocument/2006/relationships" id="270" r:id="R69218a647fc840fd"/>
    <p:sldId xmlns:r="http://schemas.openxmlformats.org/officeDocument/2006/relationships" id="271" r:id="R67e580b1532a40ca"/>
    <p:sldId xmlns:r="http://schemas.openxmlformats.org/officeDocument/2006/relationships" id="272" r:id="R3fc2850940eb4d4d"/>
    <p:sldId xmlns:r="http://schemas.openxmlformats.org/officeDocument/2006/relationships" id="273" r:id="R071e0e2c8d904a44"/>
    <p:sldId xmlns:r="http://schemas.openxmlformats.org/officeDocument/2006/relationships" id="274" r:id="R36d0deb197d44133"/>
    <p:sldId xmlns:r="http://schemas.openxmlformats.org/officeDocument/2006/relationships" id="275" r:id="Re8ec23cb421f4ee0"/>
    <p:sldId xmlns:r="http://schemas.openxmlformats.org/officeDocument/2006/relationships" id="276" r:id="Ref8305e89e10494d"/>
    <p:sldId xmlns:r="http://schemas.openxmlformats.org/officeDocument/2006/relationships" id="277" r:id="R3436e5fab7c04351"/>
    <p:sldId xmlns:r="http://schemas.openxmlformats.org/officeDocument/2006/relationships" id="278" r:id="R57951eeb65224281"/>
    <p:sldId xmlns:r="http://schemas.openxmlformats.org/officeDocument/2006/relationships" id="279" r:id="R9fb094e44d8744c0"/>
    <p:sldId xmlns:r="http://schemas.openxmlformats.org/officeDocument/2006/relationships" id="280" r:id="Rde2fcc5cdee248c8"/>
    <p:sldId xmlns:r="http://schemas.openxmlformats.org/officeDocument/2006/relationships" id="281" r:id="R87843b5febb948ff"/>
    <p:sldId xmlns:r="http://schemas.openxmlformats.org/officeDocument/2006/relationships" id="282" r:id="R2584f0cf1a8b46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02b7d5f62c4aeb" /><Relationship Type="http://schemas.openxmlformats.org/officeDocument/2006/relationships/slideMaster" Target="/ppt/slideMasters/slideMaster1.xml" Id="R1b9f4e448f884e97" /><Relationship Type="http://schemas.openxmlformats.org/officeDocument/2006/relationships/notesMaster" Target="/ppt/notesMasters/notesMaster1.xml" Id="Rc1ba42e838424020" /><Relationship Type="http://schemas.openxmlformats.org/officeDocument/2006/relationships/presProps" Target="/ppt/presProps.xml" Id="R75e3545824d74257" /><Relationship Type="http://schemas.openxmlformats.org/officeDocument/2006/relationships/tableStyles" Target="/ppt/tableStyles.xml" Id="R953cb16cdffd4eeb" /><Relationship Type="http://schemas.openxmlformats.org/officeDocument/2006/relationships/slide" Target="/ppt/slides/slide1.xml" Id="R74d8f3ac97564ae4" /><Relationship Type="http://schemas.openxmlformats.org/officeDocument/2006/relationships/slide" Target="/ppt/slides/slide2.xml" Id="R076a787d5aef443c" /><Relationship Type="http://schemas.openxmlformats.org/officeDocument/2006/relationships/slide" Target="/ppt/slides/slide3.xml" Id="R677b8135e0e74084" /><Relationship Type="http://schemas.openxmlformats.org/officeDocument/2006/relationships/slide" Target="/ppt/slides/slide4.xml" Id="R76598138cf844d36" /><Relationship Type="http://schemas.openxmlformats.org/officeDocument/2006/relationships/slide" Target="/ppt/slides/slide5.xml" Id="R2bbb24a23ef24c9e" /><Relationship Type="http://schemas.openxmlformats.org/officeDocument/2006/relationships/slide" Target="/ppt/slides/slide6.xml" Id="R52774298239c4231" /><Relationship Type="http://schemas.openxmlformats.org/officeDocument/2006/relationships/slide" Target="/ppt/slides/slide7.xml" Id="Rcfed1f8428fb4ca5" /><Relationship Type="http://schemas.openxmlformats.org/officeDocument/2006/relationships/slide" Target="/ppt/slides/slide8.xml" Id="R3330069b7b4b4eb5" /><Relationship Type="http://schemas.openxmlformats.org/officeDocument/2006/relationships/slide" Target="/ppt/slides/slide9.xml" Id="Ree104e5b9b5d4ec5" /><Relationship Type="http://schemas.openxmlformats.org/officeDocument/2006/relationships/slide" Target="/ppt/slides/slide10.xml" Id="R4fea008693a54e2e" /><Relationship Type="http://schemas.openxmlformats.org/officeDocument/2006/relationships/slide" Target="/ppt/slides/slide11.xml" Id="R032cbfa159bd4a02" /><Relationship Type="http://schemas.openxmlformats.org/officeDocument/2006/relationships/slide" Target="/ppt/slides/slide12.xml" Id="Rf619c356c80946fe" /><Relationship Type="http://schemas.openxmlformats.org/officeDocument/2006/relationships/slide" Target="/ppt/slides/slide13.xml" Id="R9f95da58af6a409d" /><Relationship Type="http://schemas.openxmlformats.org/officeDocument/2006/relationships/slide" Target="/ppt/slides/slide14.xml" Id="R62fbb925db2b4525" /><Relationship Type="http://schemas.openxmlformats.org/officeDocument/2006/relationships/slide" Target="/ppt/slides/slide15.xml" Id="R69218a647fc840fd" /><Relationship Type="http://schemas.openxmlformats.org/officeDocument/2006/relationships/slide" Target="/ppt/slides/slide16.xml" Id="R67e580b1532a40ca" /><Relationship Type="http://schemas.openxmlformats.org/officeDocument/2006/relationships/slide" Target="/ppt/slides/slide17.xml" Id="R3fc2850940eb4d4d" /><Relationship Type="http://schemas.openxmlformats.org/officeDocument/2006/relationships/slide" Target="/ppt/slides/slide18.xml" Id="R071e0e2c8d904a44" /><Relationship Type="http://schemas.openxmlformats.org/officeDocument/2006/relationships/slide" Target="/ppt/slides/slide19.xml" Id="R36d0deb197d44133" /><Relationship Type="http://schemas.openxmlformats.org/officeDocument/2006/relationships/slide" Target="/ppt/slides/slide20.xml" Id="Re8ec23cb421f4ee0" /><Relationship Type="http://schemas.openxmlformats.org/officeDocument/2006/relationships/slide" Target="/ppt/slides/slide21.xml" Id="Ref8305e89e10494d" /><Relationship Type="http://schemas.openxmlformats.org/officeDocument/2006/relationships/slide" Target="/ppt/slides/slide22.xml" Id="R3436e5fab7c04351" /><Relationship Type="http://schemas.openxmlformats.org/officeDocument/2006/relationships/slide" Target="/ppt/slides/slide23.xml" Id="R57951eeb65224281" /><Relationship Type="http://schemas.openxmlformats.org/officeDocument/2006/relationships/slide" Target="/ppt/slides/slide24.xml" Id="R9fb094e44d8744c0" /><Relationship Type="http://schemas.openxmlformats.org/officeDocument/2006/relationships/slide" Target="/ppt/slides/slide25.xml" Id="Rde2fcc5cdee248c8" /><Relationship Type="http://schemas.openxmlformats.org/officeDocument/2006/relationships/slide" Target="/ppt/slides/slide26.xml" Id="R87843b5febb948ff" /><Relationship Type="http://schemas.openxmlformats.org/officeDocument/2006/relationships/slide" Target="/ppt/slides/slide27.xml" Id="R2584f0cf1a8b46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1cc70e34e44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4c5eeb75224bee" /><Relationship Type="http://schemas.openxmlformats.org/officeDocument/2006/relationships/notesMaster" Target="/ppt/notesMasters/notesMaster1.xml" Id="R618149c54be8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2be28b730346af" /><Relationship Type="http://schemas.openxmlformats.org/officeDocument/2006/relationships/notesMaster" Target="/ppt/notesMasters/notesMaster1.xml" Id="Rc2689d9d08a140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871349e79c4ee3" /><Relationship Type="http://schemas.openxmlformats.org/officeDocument/2006/relationships/notesMaster" Target="/ppt/notesMasters/notesMaster1.xml" Id="Rdde2fa236ffc47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6c52f27be9430e" /><Relationship Type="http://schemas.openxmlformats.org/officeDocument/2006/relationships/notesMaster" Target="/ppt/notesMasters/notesMaster1.xml" Id="R073bf2ef285740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278e1245cc492b" /><Relationship Type="http://schemas.openxmlformats.org/officeDocument/2006/relationships/notesMaster" Target="/ppt/notesMasters/notesMaster1.xml" Id="Rb92abfcbd6a2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6f5cb2096242b7" /><Relationship Type="http://schemas.openxmlformats.org/officeDocument/2006/relationships/notesMaster" Target="/ppt/notesMasters/notesMaster1.xml" Id="R1b6d017103964f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46f2b0ef414b10" /><Relationship Type="http://schemas.openxmlformats.org/officeDocument/2006/relationships/notesMaster" Target="/ppt/notesMasters/notesMaster1.xml" Id="Ra5efa1fd3d9f49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22ef09cbf44e24" /><Relationship Type="http://schemas.openxmlformats.org/officeDocument/2006/relationships/notesMaster" Target="/ppt/notesMasters/notesMaster1.xml" Id="Rf9e3270239b842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54c62457364189" /><Relationship Type="http://schemas.openxmlformats.org/officeDocument/2006/relationships/notesMaster" Target="/ppt/notesMasters/notesMaster1.xml" Id="Rbfc810a29cb249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856898975c4d02" /><Relationship Type="http://schemas.openxmlformats.org/officeDocument/2006/relationships/notesMaster" Target="/ppt/notesMasters/notesMaster1.xml" Id="Ra48465c060fc48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b04824fbc440ed" /><Relationship Type="http://schemas.openxmlformats.org/officeDocument/2006/relationships/notesMaster" Target="/ppt/notesMasters/notesMaster1.xml" Id="R51c2f2c8081d41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a2f531f63a4a12" /><Relationship Type="http://schemas.openxmlformats.org/officeDocument/2006/relationships/notesMaster" Target="/ppt/notesMasters/notesMaster1.xml" Id="R592531da43c142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8940fc5c434547" /><Relationship Type="http://schemas.openxmlformats.org/officeDocument/2006/relationships/notesMaster" Target="/ppt/notesMasters/notesMaster1.xml" Id="Rd98585f3aae042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4918e38c414327" /><Relationship Type="http://schemas.openxmlformats.org/officeDocument/2006/relationships/notesMaster" Target="/ppt/notesMasters/notesMaster1.xml" Id="R49b5393dbad44b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6c07b3889b4419" /><Relationship Type="http://schemas.openxmlformats.org/officeDocument/2006/relationships/notesMaster" Target="/ppt/notesMasters/notesMaster1.xml" Id="R7355e8772a8048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52a268e9df4f01" /><Relationship Type="http://schemas.openxmlformats.org/officeDocument/2006/relationships/notesMaster" Target="/ppt/notesMasters/notesMaster1.xml" Id="Rde7ffa21131841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4c37a6d1c2431a" /><Relationship Type="http://schemas.openxmlformats.org/officeDocument/2006/relationships/notesMaster" Target="/ppt/notesMasters/notesMaster1.xml" Id="Ra1df387abfda4e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278ad43af04155" /><Relationship Type="http://schemas.openxmlformats.org/officeDocument/2006/relationships/notesMaster" Target="/ppt/notesMasters/notesMaster1.xml" Id="R3cd3cf70b4ef4f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a8013ddeef4d9b" /><Relationship Type="http://schemas.openxmlformats.org/officeDocument/2006/relationships/notesMaster" Target="/ppt/notesMasters/notesMaster1.xml" Id="Ra2913b3b830741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019ed5072e48d6" /><Relationship Type="http://schemas.openxmlformats.org/officeDocument/2006/relationships/notesMaster" Target="/ppt/notesMasters/notesMaster1.xml" Id="R652ef7e875c743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f792eb657640a3" /><Relationship Type="http://schemas.openxmlformats.org/officeDocument/2006/relationships/notesMaster" Target="/ppt/notesMasters/notesMaster1.xml" Id="R0da4a25659734d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a407fd34244975" /><Relationship Type="http://schemas.openxmlformats.org/officeDocument/2006/relationships/notesMaster" Target="/ppt/notesMasters/notesMaster1.xml" Id="R339e88c4db6f42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a7a98d56684309" /><Relationship Type="http://schemas.openxmlformats.org/officeDocument/2006/relationships/notesMaster" Target="/ppt/notesMasters/notesMaster1.xml" Id="Rb6fa47f26fd3417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8f2f10e4634780" /><Relationship Type="http://schemas.openxmlformats.org/officeDocument/2006/relationships/notesMaster" Target="/ppt/notesMasters/notesMaster1.xml" Id="R8c71cbe8f9df49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ee20a686124783" /><Relationship Type="http://schemas.openxmlformats.org/officeDocument/2006/relationships/notesMaster" Target="/ppt/notesMasters/notesMaster1.xml" Id="Rb689eaffbb9049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b8714f6c594ff1" /><Relationship Type="http://schemas.openxmlformats.org/officeDocument/2006/relationships/notesMaster" Target="/ppt/notesMasters/notesMaster1.xml" Id="Rced61d8918a34cd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08cd238bcf40aa" /><Relationship Type="http://schemas.openxmlformats.org/officeDocument/2006/relationships/notesMaster" Target="/ppt/notesMasters/notesMaster1.xml" Id="Rcdfba3ebfe4f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 discussion draft. September 27, 2026. Source: YardMatch-Barnegat-Partner-Pitch.pdf, September 2026. Product illustrations and sample data are conceptual, not commercial traction.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Customer and provider problems are product hypotheses that require launch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Map is conceptual. No measured route savings or density effect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checked September 20, 2026: https://www.zocdoc.com/provider-help/en/articles/10859404-understanding-zocdoc-pricing-and-billing and https://www.zocdoc.com/about/understanding-your-bill/ . Public information confirms variable discovery fees and paid add-ons; exact provider quotes control.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Proposed gates are operating targets, not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Use-of-funds allocation is illustrative and is not a forecast line-item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Proposed validation gates, not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Sources checked September 20, 2026: https://www.zocdoc.com/provider-help/en/articles/10859404-understanding-zocdoc-pricing-and-billing and https://www.zocdoc.com/about/understanding-your-bill/ . Public information confirms variable discovery fees and paid add-ons; exact provider quotes control. 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198293bb346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866d18c694251" /><Relationship Type="http://schemas.openxmlformats.org/officeDocument/2006/relationships/slideLayout" Target="/ppt/slideLayouts/slideLayout1.xml" Id="R460c3050590b4c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0c3050590b4c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d80752f9d4bac" /><Relationship Type="http://schemas.openxmlformats.org/officeDocument/2006/relationships/image" Target="/ppt/media/image.png" Id="R5adacea6d8b24279" /><Relationship Type="http://schemas.openxmlformats.org/officeDocument/2006/relationships/notesSlide" Target="/ppt/notesSlides/notesSlide1.xml" Id="R747880b6c2a740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0e7a764f74ae0" /><Relationship Type="http://schemas.openxmlformats.org/officeDocument/2006/relationships/notesSlide" Target="/ppt/notesSlides/notesSlide2.xml" Id="Rdc772dcc39c9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02fef41424da8" /><Relationship Type="http://schemas.openxmlformats.org/officeDocument/2006/relationships/notesSlide" Target="/ppt/notesSlides/notesSlide3.xml" Id="R99a5fad50ea1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135b1c2624bb3" /><Relationship Type="http://schemas.openxmlformats.org/officeDocument/2006/relationships/image" Target="/ppt/media/image2.png" Id="R0b6771cd431c45c0" /><Relationship Type="http://schemas.openxmlformats.org/officeDocument/2006/relationships/notesSlide" Target="/ppt/notesSlides/notesSlide4.xml" Id="R681e67efbb2b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77190a7de4ed9" /><Relationship Type="http://schemas.openxmlformats.org/officeDocument/2006/relationships/image" Target="/ppt/media/image3.png" Id="Re01480bd97b44656" /><Relationship Type="http://schemas.openxmlformats.org/officeDocument/2006/relationships/notesSlide" Target="/ppt/notesSlides/notesSlide5.xml" Id="Rf326e9ca79cf4f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d5bcd8ebe4fb1" /><Relationship Type="http://schemas.openxmlformats.org/officeDocument/2006/relationships/notesSlide" Target="/ppt/notesSlides/notesSlide6.xml" Id="R524c5266e05740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c1630058c4718" /><Relationship Type="http://schemas.openxmlformats.org/officeDocument/2006/relationships/notesSlide" Target="/ppt/notesSlides/notesSlide7.xml" Id="R1c3dc02c24fc4b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1904fcde6424c" /><Relationship Type="http://schemas.openxmlformats.org/officeDocument/2006/relationships/notesSlide" Target="/ppt/notesSlides/notesSlide8.xml" Id="Rc86e488c9dde44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6ff1043f94d1f" /><Relationship Type="http://schemas.openxmlformats.org/officeDocument/2006/relationships/notesSlide" Target="/ppt/notesSlides/notesSlide9.xml" Id="R730a13d23af343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03a1f0b9d4236" /><Relationship Type="http://schemas.openxmlformats.org/officeDocument/2006/relationships/notesSlide" Target="/ppt/notesSlides/notesSlide10.xml" Id="R2eca60e8e0e447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a0fb68c6d4613" /><Relationship Type="http://schemas.openxmlformats.org/officeDocument/2006/relationships/notesSlide" Target="/ppt/notesSlides/notesSlide11.xml" Id="R6ab3acc31df241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19af7423a4157" /><Relationship Type="http://schemas.openxmlformats.org/officeDocument/2006/relationships/notesSlide" Target="/ppt/notesSlides/notesSlide12.xml" Id="R03c473849cfa4f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d8d19ed044d4a" /><Relationship Type="http://schemas.openxmlformats.org/officeDocument/2006/relationships/notesSlide" Target="/ppt/notesSlides/notesSlide13.xml" Id="R89dc57b5c09b49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3bc75fc664841" /><Relationship Type="http://schemas.openxmlformats.org/officeDocument/2006/relationships/notesSlide" Target="/ppt/notesSlides/notesSlide14.xml" Id="R4e44d40761e546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99a99fd77437f" /><Relationship Type="http://schemas.openxmlformats.org/officeDocument/2006/relationships/chart" Target="/ppt/slides/charts/chart1.xml" Id="R1cad31a3b1494528" /><Relationship Type="http://schemas.openxmlformats.org/officeDocument/2006/relationships/notesSlide" Target="/ppt/notesSlides/notesSlide15.xml" Id="Raf5b8d3b95c648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3ca862ee544d4" /><Relationship Type="http://schemas.openxmlformats.org/officeDocument/2006/relationships/chart" Target="/ppt/slides/charts/chart2.xml" Id="R14759f0c42314934" /><Relationship Type="http://schemas.openxmlformats.org/officeDocument/2006/relationships/notesSlide" Target="/ppt/notesSlides/notesSlide16.xml" Id="Ra953d234eb9d42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f3da344904cca" /><Relationship Type="http://schemas.openxmlformats.org/officeDocument/2006/relationships/notesSlide" Target="/ppt/notesSlides/notesSlide17.xml" Id="R5b1acc1d4eaf4c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9e617e30d43ec" /><Relationship Type="http://schemas.openxmlformats.org/officeDocument/2006/relationships/notesSlide" Target="/ppt/notesSlides/notesSlide18.xml" Id="Rf62985a8e51744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63e398344c6f" /><Relationship Type="http://schemas.openxmlformats.org/officeDocument/2006/relationships/notesSlide" Target="/ppt/notesSlides/notesSlide19.xml" Id="Rf88b83af425542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20f46ba2c4a06" /><Relationship Type="http://schemas.openxmlformats.org/officeDocument/2006/relationships/notesSlide" Target="/ppt/notesSlides/notesSlide20.xml" Id="Re8aab669302142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4f17fb2804745" /><Relationship Type="http://schemas.openxmlformats.org/officeDocument/2006/relationships/notesSlide" Target="/ppt/notesSlides/notesSlide21.xml" Id="Raaa209de03a843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6d7ab6de448ff" /><Relationship Type="http://schemas.openxmlformats.org/officeDocument/2006/relationships/notesSlide" Target="/ppt/notesSlides/notesSlide22.xml" Id="Rb41cc25097d840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fe385e8c498a" /><Relationship Type="http://schemas.openxmlformats.org/officeDocument/2006/relationships/notesSlide" Target="/ppt/notesSlides/notesSlide23.xml" Id="R0febcdb7d27f42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9109422c641ef" /><Relationship Type="http://schemas.openxmlformats.org/officeDocument/2006/relationships/notesSlide" Target="/ppt/notesSlides/notesSlide24.xml" Id="R028afaea91c045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9ed763f83457d" /><Relationship Type="http://schemas.openxmlformats.org/officeDocument/2006/relationships/hyperlink" Target="https://www.zocdoc.com/provider-help/en/articles/10859404-understanding-zocdoc-pricing-and-billing" TargetMode="External" Id="R7034a8ab922746d1" /><Relationship Type="http://schemas.openxmlformats.org/officeDocument/2006/relationships/hyperlink" Target="https://www.zocdoc.com/about/understanding-your-bill/" TargetMode="External" Id="R826b2ea4439848d6" /><Relationship Type="http://schemas.openxmlformats.org/officeDocument/2006/relationships/hyperlink" Target="https://www.zocdoc.com/provider-help/en/articles/8709753-how-much-does-sponsored-results-cost" TargetMode="External" Id="R1b0c6785d9f745d9" /><Relationship Type="http://schemas.openxmlformats.org/officeDocument/2006/relationships/hyperlink" Target="https://www.getjobber.com/pricing/" TargetMode="External" Id="R8481e0c127614924" /><Relationship Type="http://schemas.openxmlformats.org/officeDocument/2006/relationships/hyperlink" Target="https://stripe.com/billing/pricing" TargetMode="External" Id="Rcbe6167fc799441a" /><Relationship Type="http://schemas.openxmlformats.org/officeDocument/2006/relationships/hyperlink" Target="https://www.census.gov/quickfacts/fact/table/barnegattownshipoceancountynewjersey/PST045225" TargetMode="External" Id="R2023181ab308427c" /><Relationship Type="http://schemas.openxmlformats.org/officeDocument/2006/relationships/notesSlide" Target="/ppt/notesSlides/notesSlide25.xml" Id="R7531f1a01b5a41e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379482b884ea7" /><Relationship Type="http://schemas.openxmlformats.org/officeDocument/2006/relationships/hyperlink" Target="https://www.census.gov/quickfacts/fact/table/barnegattownshipoceancountynewjersey/PST045225" TargetMode="External" Id="R790937f8059a4ce8" /><Relationship Type="http://schemas.openxmlformats.org/officeDocument/2006/relationships/hyperlink" Target="https://www.census.gov/quickfacts/fact/table/staffordtownshipoceancountynewjersey/PST045225" TargetMode="External" Id="Rcde2cf0cdd62458e" /><Relationship Type="http://schemas.openxmlformats.org/officeDocument/2006/relationships/hyperlink" Target="https://www.census.gov/quickfacts/fact/table/laceytownshipoceancountynewjersey/PST045225" TargetMode="External" Id="R0cee7e7c692f48ea" /><Relationship Type="http://schemas.openxmlformats.org/officeDocument/2006/relationships/hyperlink" Target="https://www.census.gov/quickfacts/fact/table/oceantownshipoceancountynewjersey/PST045225" TargetMode="External" Id="Rab31ec0e0b734511" /><Relationship Type="http://schemas.openxmlformats.org/officeDocument/2006/relationships/hyperlink" Target="https://www.census.gov/quickfacts/fact/table/berkeleytownshipoceancountynewjersey/PST045225" TargetMode="External" Id="R2c065873efde46cc" /><Relationship Type="http://schemas.openxmlformats.org/officeDocument/2006/relationships/hyperlink" Target="https://www.census.gov/quickfacts/fact/table/tomsrivertownshipoceancountynewjersey/PST045225" TargetMode="External" Id="Raece6163c97e4483" /><Relationship Type="http://schemas.openxmlformats.org/officeDocument/2006/relationships/hyperlink" Target="https://www.census.gov/quickfacts/fact/table/bricktownshipoceancountynewjersey/PST045225" TargetMode="External" Id="Rd0d29f9a94874379" /><Relationship Type="http://schemas.openxmlformats.org/officeDocument/2006/relationships/notesSlide" Target="/ppt/notesSlides/notesSlide26.xml" Id="R2ec830188045439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afed28a004231" /><Relationship Type="http://schemas.openxmlformats.org/officeDocument/2006/relationships/hyperlink" Target="https://www.census.gov/quickfacts/fact/table/jacksontownshipoceancountynewjersey/PST045225" TargetMode="External" Id="R8f272d5d183b471f" /><Relationship Type="http://schemas.openxmlformats.org/officeDocument/2006/relationships/hyperlink" Target="https://www.census.gov/quickfacts/fact/table/howelltownshipmonmouthcountynewjersey/PST045225" TargetMode="External" Id="R0a2e352a5efd4394" /><Relationship Type="http://schemas.openxmlformats.org/officeDocument/2006/relationships/hyperlink" Target="https://www.census.gov/quickfacts/fact/table/walltownshipmonmouthcountynewjersey/PST045225" TargetMode="External" Id="R32ba16b0f74340ae" /><Relationship Type="http://schemas.openxmlformats.org/officeDocument/2006/relationships/hyperlink" Target="https://www.census.gov/quickfacts/fact/table/middletowntownshipmonmouthcountynewjersey/PST045225" TargetMode="External" Id="Ree96e1b19373409d" /><Relationship Type="http://schemas.openxmlformats.org/officeDocument/2006/relationships/hyperlink" Target="https://www.census.gov/quickfacts/fact/table/holmdeltownshipmonmouthcountynewjersey/PST045225" TargetMode="External" Id="R3ee28e7612404322" /><Relationship Type="http://schemas.openxmlformats.org/officeDocument/2006/relationships/hyperlink" Target="https://www.census.gov/quickfacts/fact/table/coltsnecktownshipmonmouthcountynewjersey/PST045225" TargetMode="External" Id="Re39dea1328714204" /><Relationship Type="http://schemas.openxmlformats.org/officeDocument/2006/relationships/hyperlink" Target="https://www.census.gov/quickfacts/fact/table/rumsonboroughnewjersey/PST045225" TargetMode="External" Id="Rdb24e6201a9c4fca" /><Relationship Type="http://schemas.openxmlformats.org/officeDocument/2006/relationships/notesSlide" Target="/ppt/notesSlides/notesSlide27.xml" Id="R60c07951433949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Active households (000s)</c:v>
          </c:tx>
          <c:spPr>
            <a:solidFill xmlns:a="http://schemas.openxmlformats.org/drawingml/2006/main">
              <a:srgbClr val="205938"/>
            </a:solidFill>
            <a:ln xmlns:a="http://schemas.openxmlformats.org/drawingml/2006/main" w="28575">
              <a:solidFill>
                <a:srgbClr val="205938"/>
              </a:solidFill>
            </a:ln>
          </c:spPr>
          <c:marker>
            <c:symbol val="none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0.24</c:v>
                </c:pt>
                <c:pt idx="1">
                  <c:v>1.75</c:v>
                </c:pt>
                <c:pt idx="2">
                  <c:v>8.16</c:v>
                </c:pt>
                <c:pt idx="3">
                  <c:v>26.6</c:v>
                </c:pt>
                <c:pt idx="4">
                  <c:v>72.9</c:v>
                </c:pt>
                <c:pt idx="5">
                  <c:v>178.85</c:v>
                </c:pt>
                <c:pt idx="6">
                  <c:v>380</c:v>
                </c:pt>
              </c:numCache>
            </c:numRef>
          </c:val>
        </c:ser>
        <c:ser>
          <c:idx val="1"/>
          <c:order val="1"/>
          <c:tx>
            <c:v>Active providers (000s)</c:v>
          </c:tx>
          <c:spPr>
            <a:solidFill xmlns:a="http://schemas.openxmlformats.org/drawingml/2006/main">
              <a:srgbClr val="C39245"/>
            </a:solidFill>
            <a:ln xmlns:a="http://schemas.openxmlformats.org/drawingml/2006/main" w="28575">
              <a:solidFill>
                <a:srgbClr val="C39245"/>
              </a:solidFill>
            </a:ln>
          </c:spPr>
          <c:marker>
            <c:symbol val="none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0.006</c:v>
                </c:pt>
                <c:pt idx="1">
                  <c:v>0.044</c:v>
                </c:pt>
                <c:pt idx="2">
                  <c:v>0.204</c:v>
                </c:pt>
                <c:pt idx="3">
                  <c:v>0.665</c:v>
                </c:pt>
                <c:pt idx="4">
                  <c:v>1.823</c:v>
                </c:pt>
                <c:pt idx="5">
                  <c:v>4.472</c:v>
                </c:pt>
                <c:pt idx="6">
                  <c:v>9.5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ED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81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Finder fees</c:v>
          </c:tx>
          <c:spPr>
            <a:solidFill xmlns:a="http://schemas.openxmlformats.org/drawingml/2006/main">
              <a:srgbClr val="8EAA79"/>
            </a:solidFill>
          </c:spPr>
          <c:cat>
            <c:numRef>
              <c:f>'Chart Data'!$A$2:$A$8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Data'!$B$2:$B$8</c:f>
              <c:numCache>
                <c:formatCode>$0</c:formatCode>
                <c:ptCount val="7"/>
                <c:pt idx="0">
                  <c:v>0.021352</c:v>
                </c:pt>
                <c:pt idx="1">
                  <c:v>0.140808</c:v>
                </c:pt>
                <c:pt idx="2">
                  <c:v>0.609632</c:v>
                </c:pt>
                <c:pt idx="3">
                  <c:v>1.801604</c:v>
                </c:pt>
                <c:pt idx="4">
                  <c:v>4.595555</c:v>
                </c:pt>
                <c:pt idx="5">
                  <c:v>10.731689</c:v>
                </c:pt>
                <c:pt idx="6">
                  <c:v>21.098934</c:v>
                </c:pt>
              </c:numCache>
            </c:numRef>
          </c:val>
        </c:ser>
        <c:ser>
          <c:idx val="1"/>
          <c:order val="1"/>
          <c:tx>
            <c:v>Pro and Teams</c:v>
          </c:tx>
          <c:spPr>
            <a:solidFill xmlns:a="http://schemas.openxmlformats.org/drawingml/2006/main">
              <a:srgbClr val="205938"/>
            </a:solidFill>
          </c:spPr>
          <c:cat>
            <c:numRef>
              <c:f>'Chart Data'!$C$2:$C$8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Data'!$D$2:$D$8</c:f>
              <c:numCache>
                <c:formatCode>$0</c:formatCode>
                <c:ptCount val="7"/>
                <c:pt idx="0">
                  <c:v>0</c:v>
                </c:pt>
                <c:pt idx="1">
                  <c:v>0.002272</c:v>
                </c:pt>
                <c:pt idx="2">
                  <c:v>0.01956</c:v>
                </c:pt>
                <c:pt idx="3">
                  <c:v>0.104364</c:v>
                </c:pt>
                <c:pt idx="4">
                  <c:v>0.387163</c:v>
                </c:pt>
                <c:pt idx="5">
                  <c:v>1.185417</c:v>
                </c:pt>
                <c:pt idx="6">
                  <c:v>3.081516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ED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5"/>
              </a:solidFill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81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ardMatch">
            <a:extLst xmlns:a="http://schemas.openxmlformats.org/drawingml/2006/main">
              <a:ext uri="{FF2B5EF4-FFF2-40B4-BE49-F238E27FC236}">
                <a16:creationId xmlns:a16="http://schemas.microsoft.com/office/drawing/2014/main" id="{3F176923-B590-44B9-A160-FDCD009D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705F60A0-08D3-4981-AF9D-308E4B6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acea6d8b24279"/>
          <a:stretch xmlns:a="http://schemas.openxmlformats.org/drawingml/2006/main"/>
        </p:blipFill>
        <p:spPr>
          <a:xfrm xmlns:a="http://schemas.openxmlformats.org/drawingml/2006/main">
            <a:off x="552450" y="433388"/>
            <a:ext cx="4714875" cy="1571625"/>
          </a:xfrm>
          <a:prstGeom xmlns:a="http://schemas.openxmlformats.org/drawingml/2006/main" prst="rect">
            <a:avLst/>
          </a:prstGeom>
        </p:spPr>
      </p:pic>
      <p:sp>
        <p:nvSpPr>
          <p:cNvPr id="4" name="Investing in YardMatch">
            <a:extLst xmlns:a="http://schemas.openxmlformats.org/drawingml/2006/main">
              <a:ext uri="{FF2B5EF4-FFF2-40B4-BE49-F238E27FC236}">
                <a16:creationId xmlns:a16="http://schemas.microsoft.com/office/drawing/2014/main" id="{F3AE6190-939B-4DAB-AE17-FDF17ED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572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Investing in YardMatch</a:t>
            </a:r>
          </a:p>
        </p:txBody>
      </p:sp>
      <p:sp>
        <p:nvSpPr>
          <p:cNvPr id="5" name="A national managed marketplace for lawn and proper">
            <a:extLst xmlns:a="http://schemas.openxmlformats.org/drawingml/2006/main">
              <a:ext uri="{FF2B5EF4-FFF2-40B4-BE49-F238E27FC236}">
                <a16:creationId xmlns:a16="http://schemas.microsoft.com/office/drawing/2014/main" id="{2EFBFF1E-E565-4641-813B-F15D0C2F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national managed marketplace for lawn and property care</a:t>
            </a:r>
          </a:p>
        </p:txBody>
      </p:sp>
      <p:sp>
        <p:nvSpPr>
          <p:cNvPr id="6" name="Investor discussion draft&#10;September 2026">
            <a:extLst xmlns:a="http://schemas.openxmlformats.org/drawingml/2006/main">
              <a:ext uri="{FF2B5EF4-FFF2-40B4-BE49-F238E27FC236}">
                <a16:creationId xmlns:a16="http://schemas.microsoft.com/office/drawing/2014/main" id="{24C7BD78-A7D5-4104-B427-9B06274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Investor discussion draft</a:t>
            </a:r>
          </a:p>
          <a:p xmlns:a="http://schemas.openxmlformats.org/drawingml/2006/main">
            <a:pPr algn="l">
              <a:defRPr sz="15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03342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investment thesis">
            <a:extLst xmlns:a="http://schemas.openxmlformats.org/drawingml/2006/main">
              <a:ext uri="{FF2B5EF4-FFF2-40B4-BE49-F238E27FC236}">
                <a16:creationId xmlns:a16="http://schemas.microsoft.com/office/drawing/2014/main" id="{E151CDEA-FA4C-4827-8964-EE54BDB9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investment thesis</a:t>
            </a:r>
          </a:p>
        </p:txBody>
      </p:sp>
      <p:sp>
        <p:nvSpPr>
          <p:cNvPr id="2" name="Build local liquidity town by town, then compound ">
            <a:extLst xmlns:a="http://schemas.openxmlformats.org/drawingml/2006/main">
              <a:ext uri="{FF2B5EF4-FFF2-40B4-BE49-F238E27FC236}">
                <a16:creationId xmlns:a16="http://schemas.microsoft.com/office/drawing/2014/main" id="{08EDE8FB-83B5-4119-A0BB-AB9B836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Build local liquidity town by town, then compound the playbook across the country.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9D1C0D9-8A10-46BF-9489-2AA6F87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CBE9C85A-3595-468D-AAF7-7A32BAE8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cquire valuable relationships">
            <a:extLst xmlns:a="http://schemas.openxmlformats.org/drawingml/2006/main">
              <a:ext uri="{FF2B5EF4-FFF2-40B4-BE49-F238E27FC236}">
                <a16:creationId xmlns:a16="http://schemas.microsoft.com/office/drawing/2014/main" id="{14BB485B-F51F-46D3-A19D-23FB126B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Acquire valuable relationships</a:t>
            </a:r>
          </a:p>
        </p:txBody>
      </p:sp>
      <p:sp>
        <p:nvSpPr>
          <p:cNvPr id="6" name="A provider pays once when YardMatch delivers a new">
            <a:extLst xmlns:a="http://schemas.openxmlformats.org/drawingml/2006/main">
              <a:ext uri="{FF2B5EF4-FFF2-40B4-BE49-F238E27FC236}">
                <a16:creationId xmlns:a16="http://schemas.microsoft.com/office/drawing/2014/main" id="{8270AD62-47AD-48C4-82FD-A909CDE0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provider pays once when YardMatch delivers a new customer and the first paid job is completed.</a:t>
            </a:r>
          </a:p>
        </p:txBody>
      </p:sp>
      <p:sp>
        <p:nvSpPr>
          <p:cNvPr id="7" name="Monetize the provider workflow">
            <a:extLst xmlns:a="http://schemas.openxmlformats.org/drawingml/2006/main">
              <a:ext uri="{FF2B5EF4-FFF2-40B4-BE49-F238E27FC236}">
                <a16:creationId xmlns:a16="http://schemas.microsoft.com/office/drawing/2014/main" id="{F13E0808-B888-4091-8F28-B5A9507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Monetize the provider workflow</a:t>
            </a:r>
          </a:p>
        </p:txBody>
      </p:sp>
      <p:sp>
        <p:nvSpPr>
          <p:cNvPr id="8" name="Pro and Teams help the business recruit crews, sch">
            <a:extLst xmlns:a="http://schemas.openxmlformats.org/drawingml/2006/main">
              <a:ext uri="{FF2B5EF4-FFF2-40B4-BE49-F238E27FC236}">
                <a16:creationId xmlns:a16="http://schemas.microsoft.com/office/drawing/2014/main" id="{AFDCB0FC-003E-4632-BEEB-0E220BCD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 and Teams help the business recruit crews, schedule work and serve the added demand.</a:t>
            </a:r>
          </a:p>
        </p:txBody>
      </p:sp>
      <p:sp>
        <p:nvSpPr>
          <p:cNvPr id="9" name="Protect provider margins">
            <a:extLst xmlns:a="http://schemas.openxmlformats.org/drawingml/2006/main">
              <a:ext uri="{FF2B5EF4-FFF2-40B4-BE49-F238E27FC236}">
                <a16:creationId xmlns:a16="http://schemas.microsoft.com/office/drawing/2014/main" id="{C643B97D-79BA-4B90-818D-6D46BE0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Protect provider margins</a:t>
            </a:r>
          </a:p>
        </p:txBody>
      </p:sp>
      <p:sp>
        <p:nvSpPr>
          <p:cNvPr id="10" name="Customers pay providers directly. YardMatch takes ">
            <a:extLst xmlns:a="http://schemas.openxmlformats.org/drawingml/2006/main">
              <a:ext uri="{FF2B5EF4-FFF2-40B4-BE49-F238E27FC236}">
                <a16:creationId xmlns:a16="http://schemas.microsoft.com/office/drawing/2014/main" id="{3E8C8D6E-FC68-4933-A6E1-24AC419B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Customers pay providers directly. YardMatch takes no percentage from repeat service revenue.</a:t>
            </a:r>
          </a:p>
        </p:txBody>
      </p:sp>
      <p:sp>
        <p:nvSpPr>
          <p:cNvPr id="11" name="Scale by service-area cohorts">
            <a:extLst xmlns:a="http://schemas.openxmlformats.org/drawingml/2006/main">
              <a:ext uri="{FF2B5EF4-FFF2-40B4-BE49-F238E27FC236}">
                <a16:creationId xmlns:a16="http://schemas.microsoft.com/office/drawing/2014/main" id="{EC7CCD36-D4D6-437D-A0F0-EECD29A0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Scale by service-area cohorts</a:t>
            </a:r>
          </a:p>
        </p:txBody>
      </p:sp>
      <p:sp>
        <p:nvSpPr>
          <p:cNvPr id="12" name="Each town or suburban cluster advances only after ">
            <a:extLst xmlns:a="http://schemas.openxmlformats.org/drawingml/2006/main">
              <a:ext uri="{FF2B5EF4-FFF2-40B4-BE49-F238E27FC236}">
                <a16:creationId xmlns:a16="http://schemas.microsoft.com/office/drawing/2014/main" id="{4D62D628-E636-4950-A33F-693C1AEA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Each town or suburban cluster advances only after supply, retention and contribution gates are met.</a:t>
            </a:r>
          </a:p>
        </p:txBody>
      </p:sp>
    </p:spTree>
    <p:extLst>
      <p:ext uri="{BB962C8B-B14F-4D97-AF65-F5344CB8AC3E}">
        <p14:creationId xmlns:p14="http://schemas.microsoft.com/office/powerpoint/2010/main" val="586577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ocal property care is still fragmented">
            <a:extLst xmlns:a="http://schemas.openxmlformats.org/drawingml/2006/main">
              <a:ext uri="{FF2B5EF4-FFF2-40B4-BE49-F238E27FC236}">
                <a16:creationId xmlns:a16="http://schemas.microsoft.com/office/drawing/2014/main" id="{4B55C109-370F-4FC5-A492-C5D3D242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Local property care is still fragmented</a:t>
            </a:r>
          </a:p>
        </p:txBody>
      </p:sp>
      <p:sp>
        <p:nvSpPr>
          <p:cNvPr id="2" name="Customers need confidence; providers need demand t">
            <a:extLst xmlns:a="http://schemas.openxmlformats.org/drawingml/2006/main">
              <a:ext uri="{FF2B5EF4-FFF2-40B4-BE49-F238E27FC236}">
                <a16:creationId xmlns:a16="http://schemas.microsoft.com/office/drawing/2014/main" id="{A66AB191-3C54-441A-9C00-27E6246B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Customers need confidence; providers need demand that fits the route.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3EDEDDC4-5597-4607-8B98-306B32F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A0C0092B-6759-4AF1-BFD4-64DAF3B0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476625"/>
                <a:gridCol w="4162425"/>
              </a:tblGrid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friction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Provider friction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YardMatch response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Finding a reliable available business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Winning good customers efficiently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One recommendation and curated backups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Knowing whether the crew will arrive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Coordinating schedules and crews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Shared job details and arrival status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Getting the next visit handled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Turning demand into repeat routes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Rebooking, records and issue resolution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recommendation-first experience stays central:">
            <a:extLst xmlns:a="http://schemas.openxmlformats.org/drawingml/2006/main">
              <a:ext uri="{FF2B5EF4-FFF2-40B4-BE49-F238E27FC236}">
                <a16:creationId xmlns:a16="http://schemas.microsoft.com/office/drawing/2014/main" id="{2322568F-85F0-4629-9482-2D8847FD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recommendation-first experience stays central: service, timing and property come first; YardMatch recommends the fit.</a:t>
            </a:r>
          </a:p>
        </p:txBody>
      </p:sp>
    </p:spTree>
    <p:extLst>
      <p:ext uri="{BB962C8B-B14F-4D97-AF65-F5344CB8AC3E}">
        <p14:creationId xmlns:p14="http://schemas.microsoft.com/office/powerpoint/2010/main" val="1125360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ne service experience across three roles">
            <a:extLst xmlns:a="http://schemas.openxmlformats.org/drawingml/2006/main">
              <a:ext uri="{FF2B5EF4-FFF2-40B4-BE49-F238E27FC236}">
                <a16:creationId xmlns:a16="http://schemas.microsoft.com/office/drawing/2014/main" id="{1B246D75-3051-493E-B873-8BDA1AE4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One service experience across three roles</a:t>
            </a:r>
          </a:p>
        </p:txBody>
      </p:sp>
      <p:sp>
        <p:nvSpPr>
          <p:cNvPr id="2" name="Customer, provider and crew share the same job whi">
            <a:extLst xmlns:a="http://schemas.openxmlformats.org/drawingml/2006/main">
              <a:ext uri="{FF2B5EF4-FFF2-40B4-BE49-F238E27FC236}">
                <a16:creationId xmlns:a16="http://schemas.microsoft.com/office/drawing/2014/main" id="{446CF283-C0D9-48F2-ACD8-004C41B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Customer, provider and crew share the same job while each sees the information needed for the role.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A427138-D29C-496A-84C0-B96580F1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E64B4E59-07D9-4096-A3D6-CD7D2B4C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771cd431c45c0"/>
          <a:stretch xmlns:a="http://schemas.openxmlformats.org/drawingml/2006/main"/>
        </p:blipFill>
        <p:spPr>
          <a:xfrm xmlns:a="http://schemas.openxmlformats.org/drawingml/2006/main">
            <a:off x="5086350" y="2266950"/>
            <a:ext cx="5314950" cy="3543300"/>
          </a:xfrm>
          <a:prstGeom xmlns:a="http://schemas.openxmlformats.org/drawingml/2006/main" prst="rect">
            <a:avLst/>
          </a:prstGeom>
        </p:spPr>
      </p:pic>
      <p:sp>
        <p:nvSpPr>
          <p:cNvPr id="6" name="Customer&#10;Book and follow the visit&#10;&#10;Provider&#10;Sched">
            <a:extLst xmlns:a="http://schemas.openxmlformats.org/drawingml/2006/main">
              <a:ext uri="{FF2B5EF4-FFF2-40B4-BE49-F238E27FC236}">
                <a16:creationId xmlns:a16="http://schemas.microsoft.com/office/drawing/2014/main" id="{155B5587-530F-4080-8EA2-10CEE4D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319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Book and follow the visit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Provider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Schedule and assign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Crew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Know the place and task</a:t>
            </a:r>
          </a:p>
        </p:txBody>
      </p:sp>
      <p:sp>
        <p:nvSpPr>
          <p:cNvPr id="7" name="Illustrative product concepts from the partner pit">
            <a:extLst xmlns:a="http://schemas.openxmlformats.org/drawingml/2006/main">
              <a:ext uri="{FF2B5EF4-FFF2-40B4-BE49-F238E27FC236}">
                <a16:creationId xmlns:a16="http://schemas.microsoft.com/office/drawing/2014/main" id="{6DC15FF8-379B-4CA5-8D5B-9CFB8524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Illustrative product concepts from the partner pitch. They do not show live customers, revenue or app-store availability.</a:t>
            </a:r>
          </a:p>
        </p:txBody>
      </p:sp>
    </p:spTree>
    <p:extLst>
      <p:ext uri="{BB962C8B-B14F-4D97-AF65-F5344CB8AC3E}">
        <p14:creationId xmlns:p14="http://schemas.microsoft.com/office/powerpoint/2010/main" val="2064618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ocal density improves the marketplace">
            <a:extLst xmlns:a="http://schemas.openxmlformats.org/drawingml/2006/main">
              <a:ext uri="{FF2B5EF4-FFF2-40B4-BE49-F238E27FC236}">
                <a16:creationId xmlns:a16="http://schemas.microsoft.com/office/drawing/2014/main" id="{7508AFC8-3B80-45F0-BA7F-B7C28187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Local density improves the marketplace</a:t>
            </a:r>
          </a:p>
        </p:txBody>
      </p:sp>
      <p:sp>
        <p:nvSpPr>
          <p:cNvPr id="2" name="A concentrated launch can fit provider routes and ">
            <a:extLst xmlns:a="http://schemas.openxmlformats.org/drawingml/2006/main">
              <a:ext uri="{FF2B5EF4-FFF2-40B4-BE49-F238E27FC236}">
                <a16:creationId xmlns:a16="http://schemas.microsoft.com/office/drawing/2014/main" id="{A4432D5F-4D10-417B-8501-E9BFB0B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concentrated launch can fit provider routes and make each acquired relationship more valuable.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665DD9B-7C30-4E20-BEA4-C1064CCB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1B3E2DDE-690A-4ADA-A238-EA290C8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480bd97b44656"/>
          <a:stretch xmlns:a="http://schemas.openxmlformats.org/drawingml/2006/main"/>
        </p:blipFill>
        <p:spPr>
          <a:xfrm xmlns:a="http://schemas.openxmlformats.org/drawingml/2006/main">
            <a:off x="1441899" y="2362200"/>
            <a:ext cx="5669652" cy="3190875"/>
          </a:xfrm>
          <a:prstGeom xmlns:a="http://schemas.openxmlformats.org/drawingml/2006/main" prst="rect">
            <a:avLst/>
          </a:prstGeom>
        </p:spPr>
      </p:pic>
      <p:sp>
        <p:nvSpPr>
          <p:cNvPr id="6" name="For providers">
            <a:extLst xmlns:a="http://schemas.openxmlformats.org/drawingml/2006/main">
              <a:ext uri="{FF2B5EF4-FFF2-40B4-BE49-F238E27FC236}">
                <a16:creationId xmlns:a16="http://schemas.microsoft.com/office/drawing/2014/main" id="{FD381AF9-28E6-4186-BF5E-50F93F64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For providers</a:t>
            </a:r>
          </a:p>
        </p:txBody>
      </p:sp>
      <p:sp>
        <p:nvSpPr>
          <p:cNvPr id="7" name="Qualified demand, route fit and tools to add worke">
            <a:extLst xmlns:a="http://schemas.openxmlformats.org/drawingml/2006/main">
              <a:ext uri="{FF2B5EF4-FFF2-40B4-BE49-F238E27FC236}">
                <a16:creationId xmlns:a16="http://schemas.microsoft.com/office/drawing/2014/main" id="{8778712F-40B7-4DEB-B60B-B25A26D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86075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Qualified demand, route fit and tools to add workers when growth creates a capacity need.</a:t>
            </a:r>
          </a:p>
        </p:txBody>
      </p:sp>
      <p:sp>
        <p:nvSpPr>
          <p:cNvPr id="8" name="For customers">
            <a:extLst xmlns:a="http://schemas.openxmlformats.org/drawingml/2006/main">
              <a:ext uri="{FF2B5EF4-FFF2-40B4-BE49-F238E27FC236}">
                <a16:creationId xmlns:a16="http://schemas.microsoft.com/office/drawing/2014/main" id="{6435A163-BB76-4D1E-B5CF-29D3B277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For customers</a:t>
            </a:r>
          </a:p>
        </p:txBody>
      </p:sp>
      <p:sp>
        <p:nvSpPr>
          <p:cNvPr id="9" name="A managed recommendation, dependable service histo">
            <a:extLst xmlns:a="http://schemas.openxmlformats.org/drawingml/2006/main">
              <a:ext uri="{FF2B5EF4-FFF2-40B4-BE49-F238E27FC236}">
                <a16:creationId xmlns:a16="http://schemas.microsoft.com/office/drawing/2014/main" id="{7B4DA943-8896-45FD-A05D-D0495218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managed recommendation, dependable service history and a consistent way to rebook.</a:t>
            </a:r>
          </a:p>
        </p:txBody>
      </p:sp>
    </p:spTree>
    <p:extLst>
      <p:ext uri="{BB962C8B-B14F-4D97-AF65-F5344CB8AC3E}">
        <p14:creationId xmlns:p14="http://schemas.microsoft.com/office/powerpoint/2010/main" val="313304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wo revenue streams align with provider value">
            <a:extLst xmlns:a="http://schemas.openxmlformats.org/drawingml/2006/main">
              <a:ext uri="{FF2B5EF4-FFF2-40B4-BE49-F238E27FC236}">
                <a16:creationId xmlns:a16="http://schemas.microsoft.com/office/drawing/2014/main" id="{034E3422-1E3C-4CC4-9D6D-88B6EDE7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Two revenue streams align with provider value</a:t>
            </a:r>
          </a:p>
        </p:txBody>
      </p:sp>
      <p:sp>
        <p:nvSpPr>
          <p:cNvPr id="2" name="The model charges for customer acquisition and opt">
            <a:extLst xmlns:a="http://schemas.openxmlformats.org/drawingml/2006/main">
              <a:ext uri="{FF2B5EF4-FFF2-40B4-BE49-F238E27FC236}">
                <a16:creationId xmlns:a16="http://schemas.microsoft.com/office/drawing/2014/main" id="{34F229F2-A93C-432C-B035-8673A814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model charges for customer acquisition and optional operating software.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39B7980A-FC5A-4717-B2D2-C74B053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B53D9731-6458-4A0D-B657-B370962B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2152650"/>
                <a:gridCol w="5238750"/>
              </a:tblGrid>
              <a:tr h="5730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stream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When it is earned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730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Typical-property finder fee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30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Large-property finder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730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Very-large-property finder fee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30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 subscription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$49 / month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Recruiting, scheduling, history, estimates and routes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5730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Teams subscription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$99 / month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Multi-crew permissions, labor costing and utilization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The first finder fee is waived for each new provid">
            <a:extLst xmlns:a="http://schemas.openxmlformats.org/drawingml/2006/main">
              <a:ext uri="{FF2B5EF4-FFF2-40B4-BE49-F238E27FC236}">
                <a16:creationId xmlns:a16="http://schemas.microsoft.com/office/drawing/2014/main" id="{EC06E5E5-7563-4692-976B-FAFE1E4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first finder fee is waived for each new provider. Pro and Teams are optional; crew members pay nothing. Subscription status does not influence matching rank.</a:t>
            </a:r>
          </a:p>
        </p:txBody>
      </p:sp>
    </p:spTree>
    <p:extLst>
      <p:ext uri="{BB962C8B-B14F-4D97-AF65-F5344CB8AC3E}">
        <p14:creationId xmlns:p14="http://schemas.microsoft.com/office/powerpoint/2010/main" val="1588692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cdoc supports the acquisition-fee logic">
            <a:extLst xmlns:a="http://schemas.openxmlformats.org/drawingml/2006/main">
              <a:ext uri="{FF2B5EF4-FFF2-40B4-BE49-F238E27FC236}">
                <a16:creationId xmlns:a16="http://schemas.microsoft.com/office/drawing/2014/main" id="{24BC2C70-81BB-4588-AB4F-32C3A9AA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Zocdoc supports the acquisition-fee logic</a:t>
            </a:r>
          </a:p>
        </p:txBody>
      </p:sp>
      <p:sp>
        <p:nvSpPr>
          <p:cNvPr id="2" name="The analogy is customer discovery, not the healthc">
            <a:extLst xmlns:a="http://schemas.openxmlformats.org/drawingml/2006/main">
              <a:ext uri="{FF2B5EF4-FFF2-40B4-BE49-F238E27FC236}">
                <a16:creationId xmlns:a16="http://schemas.microsoft.com/office/drawing/2014/main" id="{D718785F-D80C-4A5F-9FF3-D358F8E0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analogy is customer discovery, not the healthcare payment flow.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50F11F0-0138-43E8-A985-78CB78C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F7B3C4AF-555C-4A78-9787-4291724B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4210050"/>
                <a:gridCol w="4552950"/>
              </a:tblGrid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Zocdoc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YardMatch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Charge event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Qualifying new-patient discovery booking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pair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 with same provider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No new discovery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No new finder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How service is paid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Patient / insurer pays practice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pays provider directly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Additional monetization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Sponsored and practice products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Pro, Teams and later sponsored backups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A homeowner may use fewer providers than a patient">
            <a:extLst xmlns:a="http://schemas.openxmlformats.org/drawingml/2006/main">
              <a:ext uri="{FF2B5EF4-FFF2-40B4-BE49-F238E27FC236}">
                <a16:creationId xmlns:a16="http://schemas.microsoft.com/office/drawing/2014/main" id="{BCC21E48-20D7-486D-AC11-50396446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homeowner may use fewer providers than a patient uses doctors. YardMatch therefore pairs finder fees with provider software rather than relying on repeat transaction fees.</a:t>
            </a:r>
          </a:p>
        </p:txBody>
      </p:sp>
    </p:spTree>
    <p:extLst>
      <p:ext uri="{BB962C8B-B14F-4D97-AF65-F5344CB8AC3E}">
        <p14:creationId xmlns:p14="http://schemas.microsoft.com/office/powerpoint/2010/main" val="185913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YardMatch stays outside the service-payment flow">
            <a:extLst xmlns:a="http://schemas.openxmlformats.org/drawingml/2006/main">
              <a:ext uri="{FF2B5EF4-FFF2-40B4-BE49-F238E27FC236}">
                <a16:creationId xmlns:a16="http://schemas.microsoft.com/office/drawing/2014/main" id="{B4406BC5-E6CB-40AA-87C9-BD61D88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YardMatch stays outside the service-payment flow</a:t>
            </a:r>
          </a:p>
        </p:txBody>
      </p:sp>
      <p:sp>
        <p:nvSpPr>
          <p:cNvPr id="2" name="Removing payment processing simplifies the model a">
            <a:extLst xmlns:a="http://schemas.openxmlformats.org/drawingml/2006/main">
              <a:ext uri="{FF2B5EF4-FFF2-40B4-BE49-F238E27FC236}">
                <a16:creationId xmlns:a16="http://schemas.microsoft.com/office/drawing/2014/main" id="{6AB8897B-AC61-472B-B058-09C4ADA6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Removing payment processing simplifies the model and preserves provider economics.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D8442896-646A-4A41-892E-C3986F09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1D5D1C41-68D6-4467-9548-D3D7558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$0">
            <a:extLst xmlns:a="http://schemas.openxmlformats.org/drawingml/2006/main">
              <a:ext uri="{FF2B5EF4-FFF2-40B4-BE49-F238E27FC236}">
                <a16:creationId xmlns:a16="http://schemas.microsoft.com/office/drawing/2014/main" id="{077F9566-DD7F-46AD-99B7-B2323AB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6" name="YardMatch recurring service fee">
            <a:extLst xmlns:a="http://schemas.openxmlformats.org/drawingml/2006/main">
              <a:ext uri="{FF2B5EF4-FFF2-40B4-BE49-F238E27FC236}">
                <a16:creationId xmlns:a16="http://schemas.microsoft.com/office/drawing/2014/main" id="{586706D7-63FF-4AEF-9741-85FA2176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YardMatch recurring service fee</a:t>
            </a:r>
          </a:p>
        </p:txBody>
      </p:sp>
      <p:sp>
        <p:nvSpPr>
          <p:cNvPr id="7" name="$0">
            <a:extLst xmlns:a="http://schemas.openxmlformats.org/drawingml/2006/main">
              <a:ext uri="{FF2B5EF4-FFF2-40B4-BE49-F238E27FC236}">
                <a16:creationId xmlns:a16="http://schemas.microsoft.com/office/drawing/2014/main" id="{E6636793-8928-4CA7-A4EB-F286081F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8" name="Customer service funds handled by YardMatch">
            <a:extLst xmlns:a="http://schemas.openxmlformats.org/drawingml/2006/main">
              <a:ext uri="{FF2B5EF4-FFF2-40B4-BE49-F238E27FC236}">
                <a16:creationId xmlns:a16="http://schemas.microsoft.com/office/drawing/2014/main" id="{60B3B702-A29F-47FD-9E55-EF10134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 service funds handled by YardMatch</a:t>
            </a:r>
          </a:p>
        </p:txBody>
      </p:sp>
      <p:sp>
        <p:nvSpPr>
          <p:cNvPr id="9" name="$0">
            <a:extLst xmlns:a="http://schemas.openxmlformats.org/drawingml/2006/main">
              <a:ext uri="{FF2B5EF4-FFF2-40B4-BE49-F238E27FC236}">
                <a16:creationId xmlns:a16="http://schemas.microsoft.com/office/drawing/2014/main" id="{6F807833-F1EF-4B06-BC17-E68C42DA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10" name="Crew-member fee">
            <a:extLst xmlns:a="http://schemas.openxmlformats.org/drawingml/2006/main">
              <a:ext uri="{FF2B5EF4-FFF2-40B4-BE49-F238E27FC236}">
                <a16:creationId xmlns:a16="http://schemas.microsoft.com/office/drawing/2014/main" id="{0C9A7965-65AA-4EED-852B-4C2643D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Crew-member fee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4095750"/>
          <a:ext xmlns:a="http://schemas.openxmlformats.org/drawingml/2006/main" cx="109728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095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YardMatch records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provider controls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095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Booking, service scope and scheduled 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Cash, check or the provider’s existing payment method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Completion status and service history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billing, collections and tax treatment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eligibility and subscription 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Crew payroll, equipment and operating margin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YardMatch separately bills providers for finder fe">
            <a:extLst xmlns:a="http://schemas.openxmlformats.org/drawingml/2006/main">
              <a:ext uri="{FF2B5EF4-FFF2-40B4-BE49-F238E27FC236}">
                <a16:creationId xmlns:a16="http://schemas.microsoft.com/office/drawing/2014/main" id="{FDD2BA06-2F3C-4924-927C-7E783761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 separately bills providers for finder fees and subscriptions. The forecast has no Stripe Connect, payout, chargeback reserve or proprietary payment-engine cost.</a:t>
            </a:r>
          </a:p>
        </p:txBody>
      </p:sp>
    </p:spTree>
    <p:extLst>
      <p:ext uri="{BB962C8B-B14F-4D97-AF65-F5344CB8AC3E}">
        <p14:creationId xmlns:p14="http://schemas.microsoft.com/office/powerpoint/2010/main" val="1731377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$60 mowing is the floor, not the average job">
            <a:extLst xmlns:a="http://schemas.openxmlformats.org/drawingml/2006/main">
              <a:ext uri="{FF2B5EF4-FFF2-40B4-BE49-F238E27FC236}">
                <a16:creationId xmlns:a16="http://schemas.microsoft.com/office/drawing/2014/main" id="{28296DA9-B6F9-4052-8AF1-F117BBD7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$60 mowing is the floor, not the average job</a:t>
            </a:r>
          </a:p>
        </p:txBody>
      </p:sp>
      <p:sp>
        <p:nvSpPr>
          <p:cNvPr id="2" name="Service mix, neighborhood, property size and proje">
            <a:extLst xmlns:a="http://schemas.openxmlformats.org/drawingml/2006/main">
              <a:ext uri="{FF2B5EF4-FFF2-40B4-BE49-F238E27FC236}">
                <a16:creationId xmlns:a16="http://schemas.microsoft.com/office/drawing/2014/main" id="{78DEF709-D9BC-4618-A1EB-1BA72CDD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Service mix, neighborhood, property size and project work expand provider gross booking value.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4961CC25-06C6-4C9D-AEDD-B6506A0C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2B4EB200-9B80-4C2B-83BE-309665DD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286000"/>
                <a:gridCol w="3448050"/>
              </a:tblGrid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2027 starting price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Scheduled jobs / full-season household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Basic mowing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12.00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Mowing + edging / trimming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$85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6.00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Expanded maintenance bundle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Mulch / seasonal cleanup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Tree / larger property project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0.03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national forecast uses the detailed New Jersey">
            <a:extLst xmlns:a="http://schemas.openxmlformats.org/drawingml/2006/main">
              <a:ext uri="{FF2B5EF4-FFF2-40B4-BE49-F238E27FC236}">
                <a16:creationId xmlns:a16="http://schemas.microsoft.com/office/drawing/2014/main" id="{D05D2E79-7012-4386-BFB3-CB733ED4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national forecast uses the detailed New Jersey mix as a planning proxy. 2033 weighted average ticket: $139. Customer funds remain provider gross booking value, not YardMatch revenue.</a:t>
            </a:r>
          </a:p>
        </p:txBody>
      </p:sp>
    </p:spTree>
    <p:extLst>
      <p:ext uri="{BB962C8B-B14F-4D97-AF65-F5344CB8AC3E}">
        <p14:creationId xmlns:p14="http://schemas.microsoft.com/office/powerpoint/2010/main" val="2111389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rnegat is the proving ground">
            <a:extLst xmlns:a="http://schemas.openxmlformats.org/drawingml/2006/main">
              <a:ext uri="{FF2B5EF4-FFF2-40B4-BE49-F238E27FC236}">
                <a16:creationId xmlns:a16="http://schemas.microsoft.com/office/drawing/2014/main" id="{CFF12C5B-2260-41EF-B777-220D79F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Barnegat is the proving ground</a:t>
            </a:r>
          </a:p>
        </p:txBody>
      </p:sp>
      <p:sp>
        <p:nvSpPr>
          <p:cNvPr id="2" name="The pilot converts a known local denominator into ">
            <a:extLst xmlns:a="http://schemas.openxmlformats.org/drawingml/2006/main">
              <a:ext uri="{FF2B5EF4-FFF2-40B4-BE49-F238E27FC236}">
                <a16:creationId xmlns:a16="http://schemas.microsoft.com/office/drawing/2014/main" id="{AE2EC324-4666-425A-A6AF-1871CA89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pilot converts a known local denominator into measurable launch evidence.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58CFD6AE-8F14-4EDB-9EA6-CF79DE9D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C40F75F9-155D-424A-8AAB-FB27D0B9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876550"/>
              </a:tblGrid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Barnegat launch funnel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Census occupied households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Owner-occupied estimate: 88%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9,033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Assumed lawn-care eligibility: 75%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6,775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Assumed propensity to hire: 45%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3,049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 active YardMatch households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The 240-household launch target is a planning assu">
            <a:extLst xmlns:a="http://schemas.openxmlformats.org/drawingml/2006/main">
              <a:ext uri="{FF2B5EF4-FFF2-40B4-BE49-F238E27FC236}">
                <a16:creationId xmlns:a16="http://schemas.microsoft.com/office/drawing/2014/main" id="{29FDBA33-01CB-4E94-8CAB-770D75C5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240-household launch target is a planning assumption, bounded by provider capacity. No signed provider commitments or measured outsourcing propensity are claimed.</a:t>
            </a:r>
          </a:p>
        </p:txBody>
      </p:sp>
    </p:spTree>
    <p:extLst>
      <p:ext uri="{BB962C8B-B14F-4D97-AF65-F5344CB8AC3E}">
        <p14:creationId xmlns:p14="http://schemas.microsoft.com/office/powerpoint/2010/main" val="1589981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he destination is national">
            <a:extLst xmlns:a="http://schemas.openxmlformats.org/drawingml/2006/main">
              <a:ext uri="{FF2B5EF4-FFF2-40B4-BE49-F238E27FC236}">
                <a16:creationId xmlns:a16="http://schemas.microsoft.com/office/drawing/2014/main" id="{D422DE7D-A1C0-4159-B9C6-12B8E3C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destination is national</a:t>
            </a:r>
          </a:p>
        </p:txBody>
      </p:sp>
      <p:sp>
        <p:nvSpPr>
          <p:cNvPr id="2" name="The base case expands from one New Jersey service ">
            <a:extLst xmlns:a="http://schemas.openxmlformats.org/drawingml/2006/main">
              <a:ext uri="{FF2B5EF4-FFF2-40B4-BE49-F238E27FC236}">
                <a16:creationId xmlns:a16="http://schemas.microsoft.com/office/drawing/2014/main" id="{554224DC-F8FE-4390-AF01-D233CC9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base case expands from one New Jersey service area to a broad U.S. footprint by 2033.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D0D72A2-A8FF-4C67-AB20-B0154DD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7CCC2E09-CA31-4C4C-9D2F-C245797F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750">
            <a:extLst xmlns:a="http://schemas.openxmlformats.org/drawingml/2006/main">
              <a:ext uri="{FF2B5EF4-FFF2-40B4-BE49-F238E27FC236}">
                <a16:creationId xmlns:a16="http://schemas.microsoft.com/office/drawing/2014/main" id="{99104FE5-EF26-46F3-B7C2-D69C8CE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750</a:t>
            </a:r>
          </a:p>
        </p:txBody>
      </p:sp>
      <p:sp>
        <p:nvSpPr>
          <p:cNvPr id="6" name="active service areas">
            <a:extLst xmlns:a="http://schemas.openxmlformats.org/drawingml/2006/main">
              <a:ext uri="{FF2B5EF4-FFF2-40B4-BE49-F238E27FC236}">
                <a16:creationId xmlns:a16="http://schemas.microsoft.com/office/drawing/2014/main" id="{DB24AEC2-91F6-48DB-A686-2A63BEE6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active service areas</a:t>
            </a:r>
          </a:p>
        </p:txBody>
      </p:sp>
      <p:sp>
        <p:nvSpPr>
          <p:cNvPr id="7" name="40">
            <a:extLst xmlns:a="http://schemas.openxmlformats.org/drawingml/2006/main">
              <a:ext uri="{FF2B5EF4-FFF2-40B4-BE49-F238E27FC236}">
                <a16:creationId xmlns:a16="http://schemas.microsoft.com/office/drawing/2014/main" id="{01881918-D5F6-46EB-8256-8C086816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8" name="states">
            <a:extLst xmlns:a="http://schemas.openxmlformats.org/drawingml/2006/main">
              <a:ext uri="{FF2B5EF4-FFF2-40B4-BE49-F238E27FC236}">
                <a16:creationId xmlns:a16="http://schemas.microsoft.com/office/drawing/2014/main" id="{9D4AB55C-3FBF-481B-84AD-B5C1094F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5277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9" name="50">
            <a:extLst xmlns:a="http://schemas.openxmlformats.org/drawingml/2006/main">
              <a:ext uri="{FF2B5EF4-FFF2-40B4-BE49-F238E27FC236}">
                <a16:creationId xmlns:a16="http://schemas.microsoft.com/office/drawing/2014/main" id="{BE42301E-F914-4434-B0E2-5734003E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50</a:t>
            </a:r>
          </a:p>
        </p:txBody>
      </p:sp>
      <p:sp>
        <p:nvSpPr>
          <p:cNvPr id="10" name="metro clusters">
            <a:extLst xmlns:a="http://schemas.openxmlformats.org/drawingml/2006/main">
              <a:ext uri="{FF2B5EF4-FFF2-40B4-BE49-F238E27FC236}">
                <a16:creationId xmlns:a16="http://schemas.microsoft.com/office/drawing/2014/main" id="{D0D6C501-3B83-4EB9-A3D2-1EB64B5B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2775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metro clusters</a:t>
            </a:r>
          </a:p>
        </p:txBody>
      </p:sp>
      <p:sp>
        <p:nvSpPr>
          <p:cNvPr id="11" name="380,000">
            <a:extLst xmlns:a="http://schemas.openxmlformats.org/drawingml/2006/main">
              <a:ext uri="{FF2B5EF4-FFF2-40B4-BE49-F238E27FC236}">
                <a16:creationId xmlns:a16="http://schemas.microsoft.com/office/drawing/2014/main" id="{2CAEE9B5-AB70-4195-B7A2-B206600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380,000</a:t>
            </a:r>
          </a:p>
        </p:txBody>
      </p:sp>
      <p:sp>
        <p:nvSpPr>
          <p:cNvPr id="12" name="active households">
            <a:extLst xmlns:a="http://schemas.openxmlformats.org/drawingml/2006/main">
              <a:ext uri="{FF2B5EF4-FFF2-40B4-BE49-F238E27FC236}">
                <a16:creationId xmlns:a16="http://schemas.microsoft.com/office/drawing/2014/main" id="{AE1ADB03-8411-476A-86D6-6FC5A7FF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527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active households</a:t>
            </a:r>
          </a:p>
        </p:txBody>
      </p:sp>
      <p:sp>
        <p:nvSpPr>
          <p:cNvPr id="13" name="A service area can be one municipality, several ne">
            <a:extLst xmlns:a="http://schemas.openxmlformats.org/drawingml/2006/main">
              <a:ext uri="{FF2B5EF4-FFF2-40B4-BE49-F238E27FC236}">
                <a16:creationId xmlns:a16="http://schemas.microsoft.com/office/drawing/2014/main" id="{D59F78B4-E7B1-40D7-90ED-C2DB3C80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service area can be one municipality, several neighboring small towns, or a suburban neighborhood group.</a:t>
            </a:r>
          </a:p>
        </p:txBody>
      </p:sp>
      <p:sp>
        <p:nvSpPr>
          <p:cNvPr id="14" name="The schedule is a gated operating plan. Missing re">
            <a:extLst xmlns:a="http://schemas.openxmlformats.org/drawingml/2006/main">
              <a:ext uri="{FF2B5EF4-FFF2-40B4-BE49-F238E27FC236}">
                <a16:creationId xmlns:a16="http://schemas.microsoft.com/office/drawing/2014/main" id="{99F7FA02-63EE-423F-B913-3F96030F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The schedule is a gated operating plan. Missing retention, supply or contribution thresholds delays the next cohort.</a:t>
            </a:r>
          </a:p>
        </p:txBody>
      </p:sp>
    </p:spTree>
    <p:extLst>
      <p:ext uri="{BB962C8B-B14F-4D97-AF65-F5344CB8AC3E}">
        <p14:creationId xmlns:p14="http://schemas.microsoft.com/office/powerpoint/2010/main" val="8758607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onal expansion accelerates in cohorts">
            <a:extLst xmlns:a="http://schemas.openxmlformats.org/drawingml/2006/main">
              <a:ext uri="{FF2B5EF4-FFF2-40B4-BE49-F238E27FC236}">
                <a16:creationId xmlns:a16="http://schemas.microsoft.com/office/drawing/2014/main" id="{5F786525-764C-4782-A581-C996CE01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National expansion accelerates in cohorts</a:t>
            </a:r>
          </a:p>
        </p:txBody>
      </p:sp>
      <p:sp>
        <p:nvSpPr>
          <p:cNvPr id="2" name="The base case reaches multiple states in 2029 and ">
            <a:extLst xmlns:a="http://schemas.openxmlformats.org/drawingml/2006/main">
              <a:ext uri="{FF2B5EF4-FFF2-40B4-BE49-F238E27FC236}">
                <a16:creationId xmlns:a16="http://schemas.microsoft.com/office/drawing/2014/main" id="{2C7C1B1F-5804-4097-9974-45799FB5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base case reaches multiple states in 2029 and 40 states by 2033.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53013CB7-0A91-4256-9474-4CD56CD3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383EDAA1-608C-4B30-B785-2285813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476500"/>
                <a:gridCol w="1714500"/>
                <a:gridCol w="2476500"/>
                <a:gridCol w="2686050"/>
              </a:tblGrid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service areas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Metro clusters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areas launched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Base footprint: 1, 6, 25, 70, 175, 400 and 750 ser">
            <a:extLst xmlns:a="http://schemas.openxmlformats.org/drawingml/2006/main">
              <a:ext uri="{FF2B5EF4-FFF2-40B4-BE49-F238E27FC236}">
                <a16:creationId xmlns:a16="http://schemas.microsoft.com/office/drawing/2014/main" id="{2EACE59E-4FF2-4100-9467-FFF6BFC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Base footprint: 1, 6, 25, 70, 175, 400 and 750 service areas. Downside reaches 400 areas / 25 states; upside reaches 1,200 areas / 48 states.</a:t>
            </a:r>
          </a:p>
        </p:txBody>
      </p:sp>
    </p:spTree>
    <p:extLst>
      <p:ext uri="{BB962C8B-B14F-4D97-AF65-F5344CB8AC3E}">
        <p14:creationId xmlns:p14="http://schemas.microsoft.com/office/powerpoint/2010/main" val="3604794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 market needs several seasons to mature">
            <a:extLst xmlns:a="http://schemas.openxmlformats.org/drawingml/2006/main">
              <a:ext uri="{FF2B5EF4-FFF2-40B4-BE49-F238E27FC236}">
                <a16:creationId xmlns:a16="http://schemas.microsoft.com/office/drawing/2014/main" id="{2BDE3C2D-8769-4B8D-AE6C-B04D27CB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 market needs several seasons to mature</a:t>
            </a:r>
          </a:p>
        </p:txBody>
      </p:sp>
      <p:sp>
        <p:nvSpPr>
          <p:cNvPr id="2" name="The model separates launch speed from household de">
            <a:extLst xmlns:a="http://schemas.openxmlformats.org/drawingml/2006/main">
              <a:ext uri="{FF2B5EF4-FFF2-40B4-BE49-F238E27FC236}">
                <a16:creationId xmlns:a16="http://schemas.microsoft.com/office/drawing/2014/main" id="{55E2AF1A-9C4A-4B0A-B4F4-A75228C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model separates launch speed from household density inside each service area.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8C7CCD4-1F27-4E30-BC02-9A3C227D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72109165-67AF-42E6-9C5C-0E66A678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00350"/>
                <a:gridCol w="5791200"/>
              </a:tblGrid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Service-area age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households / area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must be proven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Supply, first-job completion and fee acceptance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Second-season retention and route density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Repeatable acquisition and local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1,100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capacity and Pro conversion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5+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1,300–1,550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Durable density and metro-level operating leverage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A service area does not reach maturity in one year">
            <a:extLst xmlns:a="http://schemas.openxmlformats.org/drawingml/2006/main">
              <a:ext uri="{FF2B5EF4-FFF2-40B4-BE49-F238E27FC236}">
                <a16:creationId xmlns:a16="http://schemas.microsoft.com/office/drawing/2014/main" id="{92C3E001-133F-4C68-9072-B0AD26FC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service area does not reach maturity in one year. New cohorts create heavy acquisition and launch spending even while older cohorts become more productive.</a:t>
            </a:r>
          </a:p>
        </p:txBody>
      </p:sp>
    </p:spTree>
    <p:extLst>
      <p:ext uri="{BB962C8B-B14F-4D97-AF65-F5344CB8AC3E}">
        <p14:creationId xmlns:p14="http://schemas.microsoft.com/office/powerpoint/2010/main" val="6029283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ery new cohort passes the same launch gates">
            <a:extLst xmlns:a="http://schemas.openxmlformats.org/drawingml/2006/main">
              <a:ext uri="{FF2B5EF4-FFF2-40B4-BE49-F238E27FC236}">
                <a16:creationId xmlns:a16="http://schemas.microsoft.com/office/drawing/2014/main" id="{4D970AEE-E08E-4954-9E5C-034C7ABE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Every new cohort passes the same launch gates</a:t>
            </a:r>
          </a:p>
        </p:txBody>
      </p:sp>
      <p:sp>
        <p:nvSpPr>
          <p:cNvPr id="2" name="Town-by-town execution protects the recommendation">
            <a:extLst xmlns:a="http://schemas.openxmlformats.org/drawingml/2006/main">
              <a:ext uri="{FF2B5EF4-FFF2-40B4-BE49-F238E27FC236}">
                <a16:creationId xmlns:a16="http://schemas.microsoft.com/office/drawing/2014/main" id="{498B0220-F4C8-42CD-8332-FBBD1D8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Town-by-town execution protects the recommendation quality and provider experience.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33678F6C-4D4B-474A-8C2B-7931E684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EC078FAA-0019-4728-8776-1E6C8CC0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before expanding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Verified providers cover the service types, geography and seasonal capacity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Demand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Local CAC and booking conversion support the next marketing tranche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Reliability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Completion, arrival and issue-resolution standards hold under 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Homeowners return the next season and providers stay active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Economics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acceptance and contribution cover local growth spending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xpansion can move to adjacent municipalities fast">
            <a:extLst xmlns:a="http://schemas.openxmlformats.org/drawingml/2006/main">
              <a:ext uri="{FF2B5EF4-FFF2-40B4-BE49-F238E27FC236}">
                <a16:creationId xmlns:a16="http://schemas.microsoft.com/office/drawing/2014/main" id="{B04CDFC8-0DE5-4F20-8C10-D2AC4028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Expansion can move to adjacent municipalities faster when the same provider base and marketing channels carry across the boundary.</a:t>
            </a:r>
          </a:p>
        </p:txBody>
      </p:sp>
    </p:spTree>
    <p:extLst>
      <p:ext uri="{BB962C8B-B14F-4D97-AF65-F5344CB8AC3E}">
        <p14:creationId xmlns:p14="http://schemas.microsoft.com/office/powerpoint/2010/main" val="20637602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horts create a national marketplace by 2033">
            <a:extLst xmlns:a="http://schemas.openxmlformats.org/drawingml/2006/main">
              <a:ext uri="{FF2B5EF4-FFF2-40B4-BE49-F238E27FC236}">
                <a16:creationId xmlns:a16="http://schemas.microsoft.com/office/drawing/2014/main" id="{1D024CB3-D539-4722-B5C0-09D43889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Cohorts create a national marketplace by 2033</a:t>
            </a:r>
          </a:p>
        </p:txBody>
      </p:sp>
      <p:sp>
        <p:nvSpPr>
          <p:cNvPr id="2" name="Base case operational scale. Gross booking value i">
            <a:extLst xmlns:a="http://schemas.openxmlformats.org/drawingml/2006/main">
              <a:ext uri="{FF2B5EF4-FFF2-40B4-BE49-F238E27FC236}">
                <a16:creationId xmlns:a16="http://schemas.microsoft.com/office/drawing/2014/main" id="{905731F6-6C84-4EC7-901F-A4401523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Base case operational scale. Gross booking value is paid directly to providers.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4509D44B-FB19-4491-8F04-7962A38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1427DFCC-1D36-4199-A4C8-E7ACE07E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74295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ad31a3b1494528"/>
          </a:graphicData>
        </a:graphic>
      </p:graphicFrame>
      <p:sp>
        <p:nvSpPr>
          <p:cNvPr id="6" name="380,000">
            <a:extLst xmlns:a="http://schemas.openxmlformats.org/drawingml/2006/main">
              <a:ext uri="{FF2B5EF4-FFF2-40B4-BE49-F238E27FC236}">
                <a16:creationId xmlns:a16="http://schemas.microsoft.com/office/drawing/2014/main" id="{27B6F389-7BA7-421B-89CD-B49ED42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380,000</a:t>
            </a:r>
          </a:p>
        </p:txBody>
      </p:sp>
      <p:sp>
        <p:nvSpPr>
          <p:cNvPr id="7" name="2033 active households">
            <a:extLst xmlns:a="http://schemas.openxmlformats.org/drawingml/2006/main">
              <a:ext uri="{FF2B5EF4-FFF2-40B4-BE49-F238E27FC236}">
                <a16:creationId xmlns:a16="http://schemas.microsoft.com/office/drawing/2014/main" id="{718771F9-5A71-4940-AD85-2F482558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active households</a:t>
            </a:r>
          </a:p>
        </p:txBody>
      </p:sp>
      <p:sp>
        <p:nvSpPr>
          <p:cNvPr id="8" name="9,500">
            <a:extLst xmlns:a="http://schemas.openxmlformats.org/drawingml/2006/main">
              <a:ext uri="{FF2B5EF4-FFF2-40B4-BE49-F238E27FC236}">
                <a16:creationId xmlns:a16="http://schemas.microsoft.com/office/drawing/2014/main" id="{2AC47B5F-CE10-4F1F-A8D0-B9242825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9,500</a:t>
            </a:r>
          </a:p>
        </p:txBody>
      </p:sp>
      <p:sp>
        <p:nvSpPr>
          <p:cNvPr id="9" name="2033 active providers">
            <a:extLst xmlns:a="http://schemas.openxmlformats.org/drawingml/2006/main">
              <a:ext uri="{FF2B5EF4-FFF2-40B4-BE49-F238E27FC236}">
                <a16:creationId xmlns:a16="http://schemas.microsoft.com/office/drawing/2014/main" id="{6901E75B-44D6-4CE8-9F70-0862B22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active providers</a:t>
            </a:r>
          </a:p>
        </p:txBody>
      </p:sp>
      <p:sp>
        <p:nvSpPr>
          <p:cNvPr id="10" name="$653.8m">
            <a:extLst xmlns:a="http://schemas.openxmlformats.org/drawingml/2006/main">
              <a:ext uri="{FF2B5EF4-FFF2-40B4-BE49-F238E27FC236}">
                <a16:creationId xmlns:a16="http://schemas.microsoft.com/office/drawing/2014/main" id="{C9C59DCF-192F-4345-A113-7B67DEA2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$653.8m</a:t>
            </a:r>
          </a:p>
        </p:txBody>
      </p:sp>
      <p:sp>
        <p:nvSpPr>
          <p:cNvPr id="11" name="2033 provider gross booking value">
            <a:extLst xmlns:a="http://schemas.openxmlformats.org/drawingml/2006/main">
              <a:ext uri="{FF2B5EF4-FFF2-40B4-BE49-F238E27FC236}">
                <a16:creationId xmlns:a16="http://schemas.microsoft.com/office/drawing/2014/main" id="{C9D9C287-B2A5-445D-98BB-E4C782D9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provider gross booking value</a:t>
            </a:r>
          </a:p>
        </p:txBody>
      </p:sp>
    </p:spTree>
    <p:extLst>
      <p:ext uri="{BB962C8B-B14F-4D97-AF65-F5344CB8AC3E}">
        <p14:creationId xmlns:p14="http://schemas.microsoft.com/office/powerpoint/2010/main" val="21363392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venue reaches $24.2m in 2033">
            <a:extLst xmlns:a="http://schemas.openxmlformats.org/drawingml/2006/main">
              <a:ext uri="{FF2B5EF4-FFF2-40B4-BE49-F238E27FC236}">
                <a16:creationId xmlns:a16="http://schemas.microsoft.com/office/drawing/2014/main" id="{951D7B45-72B6-4ADF-85D9-2DE3EF4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Revenue reaches $24.2m in 2033</a:t>
            </a:r>
          </a:p>
        </p:txBody>
      </p:sp>
      <p:sp>
        <p:nvSpPr>
          <p:cNvPr id="2" name="Finder fees fund customer acquisition; provider su">
            <a:extLst xmlns:a="http://schemas.openxmlformats.org/drawingml/2006/main">
              <a:ext uri="{FF2B5EF4-FFF2-40B4-BE49-F238E27FC236}">
                <a16:creationId xmlns:a16="http://schemas.microsoft.com/office/drawing/2014/main" id="{75DF61B2-EEBF-4876-8DF8-FE9AB4A3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Finder fees fund customer acquisition; provider subscriptions add recurring company revenue.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61445A79-B34B-4701-95CD-98BEE9BC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56B85DED-D4DD-4332-B41A-B3F73E84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759f0c42314934"/>
          </a:graphicData>
        </a:graphic>
      </p:graphicFrame>
      <p:sp>
        <p:nvSpPr>
          <p:cNvPr id="6" name="2033: $21.1m finder-fee revenue plus $3.1m net sub">
            <a:extLst xmlns:a="http://schemas.openxmlformats.org/drawingml/2006/main">
              <a:ext uri="{FF2B5EF4-FFF2-40B4-BE49-F238E27FC236}">
                <a16:creationId xmlns:a16="http://schemas.microsoft.com/office/drawing/2014/main" id="{7BB34114-A2E9-4993-95C4-E2589916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2033: $21.1m finder-fee revenue plus $3.1m net subscription revenue. YardMatch revenue equals 3.7% of provider gross booking value.</a:t>
            </a:r>
          </a:p>
        </p:txBody>
      </p:sp>
    </p:spTree>
    <p:extLst>
      <p:ext uri="{BB962C8B-B14F-4D97-AF65-F5344CB8AC3E}">
        <p14:creationId xmlns:p14="http://schemas.microsoft.com/office/powerpoint/2010/main" val="644107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national base case earns operating leverage">
            <a:extLst xmlns:a="http://schemas.openxmlformats.org/drawingml/2006/main">
              <a:ext uri="{FF2B5EF4-FFF2-40B4-BE49-F238E27FC236}">
                <a16:creationId xmlns:a16="http://schemas.microsoft.com/office/drawing/2014/main" id="{5F6668DA-7E67-42EF-95FA-65179FF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national base case earns operating leverage</a:t>
            </a:r>
          </a:p>
        </p:txBody>
      </p:sp>
      <p:sp>
        <p:nvSpPr>
          <p:cNvPr id="2" name="2033 EBITDA bridge. US$ millions.">
            <a:extLst xmlns:a="http://schemas.openxmlformats.org/drawingml/2006/main">
              <a:ext uri="{FF2B5EF4-FFF2-40B4-BE49-F238E27FC236}">
                <a16:creationId xmlns:a16="http://schemas.microsoft.com/office/drawing/2014/main" id="{22F812B0-A1C3-4633-AF8A-C03783E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 EBITDA bridge. US$ millions.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DF41CD16-6A52-4E0F-9680-C024A49D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CC8284CD-EF36-402F-A74B-5ECB05B3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733800"/>
              </a:tblGrid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2033 base bridge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$21.1m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Net Pro and Teams revenue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$3.1m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Cost of 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($1.7)m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and provider acquisition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($7.5)m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Payroll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($6.6)m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Corporate + local operations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($4.8)m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 operating expense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($0.1)m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EBITDA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$3.4m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2033 net income proxy: $2.4m. The model includes 6">
            <a:extLst xmlns:a="http://schemas.openxmlformats.org/drawingml/2006/main">
              <a:ext uri="{FF2B5EF4-FFF2-40B4-BE49-F238E27FC236}">
                <a16:creationId xmlns:a16="http://schemas.microsoft.com/office/drawing/2014/main" id="{B7E96C1A-C9F9-4CC0-9CA0-5783D66A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 net income proxy: $2.4m. The model includes 60 paid employees and $4.3m of that year’s service-area launch, coverage and regional operating spend.</a:t>
            </a:r>
          </a:p>
        </p:txBody>
      </p:sp>
    </p:spTree>
    <p:extLst>
      <p:ext uri="{BB962C8B-B14F-4D97-AF65-F5344CB8AC3E}">
        <p14:creationId xmlns:p14="http://schemas.microsoft.com/office/powerpoint/2010/main" val="19754647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se EBITDA turns positive in 2033">
            <a:extLst xmlns:a="http://schemas.openxmlformats.org/drawingml/2006/main">
              <a:ext uri="{FF2B5EF4-FFF2-40B4-BE49-F238E27FC236}">
                <a16:creationId xmlns:a16="http://schemas.microsoft.com/office/drawing/2014/main" id="{8D4668BD-DE55-4328-9F08-4AB221A2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Base EBITDA turns positive in 2033</a:t>
            </a:r>
          </a:p>
        </p:txBody>
      </p:sp>
      <p:sp>
        <p:nvSpPr>
          <p:cNvPr id="2" name="Scenario outcomes reflect different rollout speeds">
            <a:extLst xmlns:a="http://schemas.openxmlformats.org/drawingml/2006/main">
              <a:ext uri="{FF2B5EF4-FFF2-40B4-BE49-F238E27FC236}">
                <a16:creationId xmlns:a16="http://schemas.microsoft.com/office/drawing/2014/main" id="{25C7A7A1-076A-4D1D-8379-2450BA36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Scenario outcomes reflect different rollout speeds, CAC, staffing and overhead.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8D19A63F-E273-4225-BDE3-BC1A707F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C42FD868-998D-440B-99CB-985EAF3C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476500"/>
                <a:gridCol w="2476500"/>
                <a:gridCol w="2495550"/>
              </a:tblGrid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2033 result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Downside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Upside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Service areas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$13.9m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$24.2m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$38.2m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EBITDA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($0.8)m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$3.4m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$9.3m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Net income proxy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($1.0)m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$2.4m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$6.8m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positive EBITDA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After 2033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The downside remains EBITDA-negative in 2033. The ">
            <a:extLst xmlns:a="http://schemas.openxmlformats.org/drawingml/2006/main">
              <a:ext uri="{FF2B5EF4-FFF2-40B4-BE49-F238E27FC236}">
                <a16:creationId xmlns:a16="http://schemas.microsoft.com/office/drawing/2014/main" id="{A76B0A46-50F7-4360-82F3-A4AEA27D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downside remains EBITDA-negative in 2033. The base becomes positive in 2033, while the upside reaches profitability in 2032. Rollout speed alone does not remove execution risk.</a:t>
            </a:r>
          </a:p>
        </p:txBody>
      </p:sp>
    </p:spTree>
    <p:extLst>
      <p:ext uri="{BB962C8B-B14F-4D97-AF65-F5344CB8AC3E}">
        <p14:creationId xmlns:p14="http://schemas.microsoft.com/office/powerpoint/2010/main" val="4541700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model requires staged capital before break-eve">
            <a:extLst xmlns:a="http://schemas.openxmlformats.org/drawingml/2006/main">
              <a:ext uri="{FF2B5EF4-FFF2-40B4-BE49-F238E27FC236}">
                <a16:creationId xmlns:a16="http://schemas.microsoft.com/office/drawing/2014/main" id="{942802B5-B5A8-4D4A-BC7D-C427F766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model requires staged capital before break-even</a:t>
            </a:r>
          </a:p>
        </p:txBody>
      </p:sp>
      <p:sp>
        <p:nvSpPr>
          <p:cNvPr id="2" name="The initial round funds proof; later rounds fund n">
            <a:extLst xmlns:a="http://schemas.openxmlformats.org/drawingml/2006/main">
              <a:ext uri="{FF2B5EF4-FFF2-40B4-BE49-F238E27FC236}">
                <a16:creationId xmlns:a16="http://schemas.microsoft.com/office/drawing/2014/main" id="{1B6A88C4-56B2-4A31-B6F4-50E7E991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initial round funds proof; later rounds fund national acceleration.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DFE13CB-9FA1-4D32-BE2C-C7F4543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05C869A2-9F3E-462E-8432-E4E8F090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$5.6m">
            <a:extLst xmlns:a="http://schemas.openxmlformats.org/drawingml/2006/main">
              <a:ext uri="{FF2B5EF4-FFF2-40B4-BE49-F238E27FC236}">
                <a16:creationId xmlns:a16="http://schemas.microsoft.com/office/drawing/2014/main" id="{ED216E79-C15F-4E7C-8AFC-89FEA004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$5.6m</a:t>
            </a:r>
          </a:p>
        </p:txBody>
      </p:sp>
      <p:sp>
        <p:nvSpPr>
          <p:cNvPr id="6" name="peak cumulative funding deficit">
            <a:extLst xmlns:a="http://schemas.openxmlformats.org/drawingml/2006/main">
              <a:ext uri="{FF2B5EF4-FFF2-40B4-BE49-F238E27FC236}">
                <a16:creationId xmlns:a16="http://schemas.microsoft.com/office/drawing/2014/main" id="{F7B5779D-B07D-49AE-85E4-D997D18E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peak cumulative funding deficit</a:t>
            </a:r>
          </a:p>
        </p:txBody>
      </p:sp>
      <p:sp>
        <p:nvSpPr>
          <p:cNvPr id="7" name="$11.4m">
            <a:extLst xmlns:a="http://schemas.openxmlformats.org/drawingml/2006/main">
              <a:ext uri="{FF2B5EF4-FFF2-40B4-BE49-F238E27FC236}">
                <a16:creationId xmlns:a16="http://schemas.microsoft.com/office/drawing/2014/main" id="{084AE77E-E714-44B9-B61C-6FE2458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907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$11.4m</a:t>
            </a:r>
          </a:p>
        </p:txBody>
      </p:sp>
      <p:sp>
        <p:nvSpPr>
          <p:cNvPr id="8" name="capital need through 2033 incl. six-month buffer">
            <a:extLst xmlns:a="http://schemas.openxmlformats.org/drawingml/2006/main">
              <a:ext uri="{FF2B5EF4-FFF2-40B4-BE49-F238E27FC236}">
                <a16:creationId xmlns:a16="http://schemas.microsoft.com/office/drawing/2014/main" id="{49A509C8-C3C8-4FF5-8CE2-3F5C8FF3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861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capital need through 2033 incl. six-month buffer</a:t>
            </a:r>
          </a:p>
        </p:txBody>
      </p:sp>
      <p:sp>
        <p:nvSpPr>
          <p:cNvPr id="9" name="$2.3m">
            <a:extLst xmlns:a="http://schemas.openxmlformats.org/drawingml/2006/main">
              <a:ext uri="{FF2B5EF4-FFF2-40B4-BE49-F238E27FC236}">
                <a16:creationId xmlns:a16="http://schemas.microsoft.com/office/drawing/2014/main" id="{266CC191-2C5D-4856-B880-B1510690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$2.3m</a:t>
            </a:r>
          </a:p>
        </p:txBody>
      </p:sp>
      <p:sp>
        <p:nvSpPr>
          <p:cNvPr id="10" name="2033 free cash flow before financing">
            <a:extLst xmlns:a="http://schemas.openxmlformats.org/drawingml/2006/main">
              <a:ext uri="{FF2B5EF4-FFF2-40B4-BE49-F238E27FC236}">
                <a16:creationId xmlns:a16="http://schemas.microsoft.com/office/drawing/2014/main" id="{404332F3-8E66-4D09-A019-B8BA761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free cash flow before financing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4095750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financing view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$1.5m initial round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Validate Barnegat, adjacent NJ cohorts and provider pricing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Follow-on capital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Fund metro replication, staffing and household acquisition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Operating cash generation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Begins after base EBITDA turns positive in 2033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he workbook assumes only the initial $1.5m financ">
            <a:extLst xmlns:a="http://schemas.openxmlformats.org/drawingml/2006/main">
              <a:ext uri="{FF2B5EF4-FFF2-40B4-BE49-F238E27FC236}">
                <a16:creationId xmlns:a16="http://schemas.microsoft.com/office/drawing/2014/main" id="{438B55A5-81B0-47CA-97A5-16BDAD7E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workbook assumes only the initial $1.5m financing in the cash balance. The capital-need metric adds six months of fixed-cost buffer to the peak cumulative deficit; actual round timing requires a monthly plan.</a:t>
            </a:r>
          </a:p>
        </p:txBody>
      </p:sp>
    </p:spTree>
    <p:extLst>
      <p:ext uri="{BB962C8B-B14F-4D97-AF65-F5344CB8AC3E}">
        <p14:creationId xmlns:p14="http://schemas.microsoft.com/office/powerpoint/2010/main" val="6700665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team scales with the footprint">
            <a:extLst xmlns:a="http://schemas.openxmlformats.org/drawingml/2006/main">
              <a:ext uri="{FF2B5EF4-FFF2-40B4-BE49-F238E27FC236}">
                <a16:creationId xmlns:a16="http://schemas.microsoft.com/office/drawing/2014/main" id="{D6C8232B-FE22-459B-A84B-EE280D17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team scales with the footprint</a:t>
            </a:r>
          </a:p>
        </p:txBody>
      </p:sp>
      <p:sp>
        <p:nvSpPr>
          <p:cNvPr id="2" name="A remote company still needs product, growth, mark">
            <a:extLst xmlns:a="http://schemas.openxmlformats.org/drawingml/2006/main">
              <a:ext uri="{FF2B5EF4-FFF2-40B4-BE49-F238E27FC236}">
                <a16:creationId xmlns:a16="http://schemas.microsoft.com/office/drawing/2014/main" id="{5911A9AE-6895-4E0B-92C5-2205734C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remote company still needs product, growth, marketplace and regional operating capacity.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A6F90EC4-E5F6-40F3-9372-4E1F3B31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90317E58-4279-4A59-9B96-37BA7D0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2047875"/>
                <a:gridCol w="2047875"/>
                <a:gridCol w="2914650"/>
                <a:gridCol w="2476500"/>
              </a:tblGrid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Paid employees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areas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Payroll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$0.3m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1,750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$0.5m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8,160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$0.8m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26,600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$1.6m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72,900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$2.7m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178,850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$4.3m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380,000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$6.6m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Fully remote: no office rent, facilities or utilit">
            <a:extLst xmlns:a="http://schemas.openxmlformats.org/drawingml/2006/main">
              <a:ext uri="{FF2B5EF4-FFF2-40B4-BE49-F238E27FC236}">
                <a16:creationId xmlns:a16="http://schemas.microsoft.com/office/drawing/2014/main" id="{C3C74C4D-423E-4C1E-9A08-8B22EE48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Fully remote: no office rent, facilities or utilities. Payroll uses an average fully loaded cost rising from $100,000 in 2027 to $110,000 in 2033.</a:t>
            </a:r>
          </a:p>
        </p:txBody>
      </p:sp>
    </p:spTree>
    <p:extLst>
      <p:ext uri="{BB962C8B-B14F-4D97-AF65-F5344CB8AC3E}">
        <p14:creationId xmlns:p14="http://schemas.microsoft.com/office/powerpoint/2010/main" val="15802887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wnership starts at 70% / 30%, then dilutes">
            <a:extLst xmlns:a="http://schemas.openxmlformats.org/drawingml/2006/main">
              <a:ext uri="{FF2B5EF4-FFF2-40B4-BE49-F238E27FC236}">
                <a16:creationId xmlns:a16="http://schemas.microsoft.com/office/drawing/2014/main" id="{6F6D69D6-DFE0-4E30-8E2D-9700B59A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Ownership starts at 70% / 30%, then dilutes</a:t>
            </a:r>
          </a:p>
        </p:txBody>
      </p:sp>
      <p:sp>
        <p:nvSpPr>
          <p:cNvPr id="2" name="Illustrative priced rounds show how new capital af">
            <a:extLst xmlns:a="http://schemas.openxmlformats.org/drawingml/2006/main">
              <a:ext uri="{FF2B5EF4-FFF2-40B4-BE49-F238E27FC236}">
                <a16:creationId xmlns:a16="http://schemas.microsoft.com/office/drawing/2014/main" id="{85A10419-E7A8-4E3D-A808-AD8B969A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Illustrative priced rounds show how new capital affects every existing owner.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D6260595-A7FB-448F-8C6D-C9E567D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935750C2-8DE3-4471-AAB5-94A9CEC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533650"/>
                <a:gridCol w="2533650"/>
              </a:tblGrid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financing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20% round 1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20% round 2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56.0%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44.8%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Other initial owners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19.2%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Round 1 investors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16.0%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Round 2 investors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 1 illustrates $1.5m for 20%, implying $6.0m ">
            <a:extLst xmlns:a="http://schemas.openxmlformats.org/drawingml/2006/main">
              <a:ext uri="{FF2B5EF4-FFF2-40B4-BE49-F238E27FC236}">
                <a16:creationId xmlns:a16="http://schemas.microsoft.com/office/drawing/2014/main" id="{4509F31B-026D-41BD-BBC3-A23E565C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Round 1 illustrates $1.5m for 20%, implying $6.0m pre-money and $7.5m post-money. These are discussion assumptions, not an agreed valuation or term sheet.</a:t>
            </a:r>
          </a:p>
        </p:txBody>
      </p:sp>
    </p:spTree>
    <p:extLst>
      <p:ext uri="{BB962C8B-B14F-4D97-AF65-F5344CB8AC3E}">
        <p14:creationId xmlns:p14="http://schemas.microsoft.com/office/powerpoint/2010/main" val="14332232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pital buys a repeatable national launch system">
            <a:extLst xmlns:a="http://schemas.openxmlformats.org/drawingml/2006/main">
              <a:ext uri="{FF2B5EF4-FFF2-40B4-BE49-F238E27FC236}">
                <a16:creationId xmlns:a16="http://schemas.microsoft.com/office/drawing/2014/main" id="{B0616A23-9002-4950-ACEF-476949EE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Capital buys a repeatable national launch system</a:t>
            </a:r>
          </a:p>
        </p:txBody>
      </p:sp>
      <p:sp>
        <p:nvSpPr>
          <p:cNvPr id="2" name="The first dollars reduce uncertainty before the co">
            <a:extLst xmlns:a="http://schemas.openxmlformats.org/drawingml/2006/main">
              <a:ext uri="{FF2B5EF4-FFF2-40B4-BE49-F238E27FC236}">
                <a16:creationId xmlns:a16="http://schemas.microsoft.com/office/drawing/2014/main" id="{9C16A831-9569-465A-8435-7C49307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first dollars reduce uncertainty before the company accelerates.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D21AC906-997E-4C5A-826B-C35DE81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3988C83F-191B-410D-B37D-1F67F2E3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money proves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Marketplace liquidity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Enough verified supply and homeowner demand in each launch cohort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Product reliability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Recommendation, booking, scheduling, crew workflow and service history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Acquisition playbook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Repeatable local channels with CAC that improves as the network grows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monetization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Acceptance of finder tiers and conversion to Pro / Teams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Operating controls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Support, quality, local launch and auditable marketplace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 payment engine is outside the plan. Capital is d">
            <a:extLst xmlns:a="http://schemas.openxmlformats.org/drawingml/2006/main">
              <a:ext uri="{FF2B5EF4-FFF2-40B4-BE49-F238E27FC236}">
                <a16:creationId xmlns:a16="http://schemas.microsoft.com/office/drawing/2014/main" id="{6379163C-A844-4391-8DC0-983DA982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payment engine is outside the plan. Capital is directed to demand, supply, product reliability and provider software.</a:t>
            </a:r>
          </a:p>
        </p:txBody>
      </p:sp>
    </p:spTree>
    <p:extLst>
      <p:ext uri="{BB962C8B-B14F-4D97-AF65-F5344CB8AC3E}">
        <p14:creationId xmlns:p14="http://schemas.microsoft.com/office/powerpoint/2010/main" val="12561596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next round should be earned with cohort eviden">
            <a:extLst xmlns:a="http://schemas.openxmlformats.org/drawingml/2006/main">
              <a:ext uri="{FF2B5EF4-FFF2-40B4-BE49-F238E27FC236}">
                <a16:creationId xmlns:a16="http://schemas.microsoft.com/office/drawing/2014/main" id="{858B1464-CF89-4EDD-BAB2-030B6CB6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next round should be earned with cohort evidence</a:t>
            </a:r>
          </a:p>
        </p:txBody>
      </p:sp>
      <p:sp>
        <p:nvSpPr>
          <p:cNvPr id="2" name="Investors should see that the Barnegat result can ">
            <a:extLst xmlns:a="http://schemas.openxmlformats.org/drawingml/2006/main">
              <a:ext uri="{FF2B5EF4-FFF2-40B4-BE49-F238E27FC236}">
                <a16:creationId xmlns:a16="http://schemas.microsoft.com/office/drawing/2014/main" id="{35845225-FDF2-40B6-9013-7DAF022F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Investors should see that the Barnegat result can be reproduced in the next markets.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FCD0D8A5-3E2E-4B2E-BA39-9327453A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63411BEA-6445-4D33-8F8C-404D5DDA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proof point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Demand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 active launch households and measurable booking conversion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Second-season homeowner and provider 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Pricing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acceptance across $75 / $110 / $150 property tiers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Providers use recruiting and workflow tools as customer demand rises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Replication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The same economics hold in adjacent service areas and a second metro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national forecast is credible only if early co">
            <a:extLst xmlns:a="http://schemas.openxmlformats.org/drawingml/2006/main">
              <a:ext uri="{FF2B5EF4-FFF2-40B4-BE49-F238E27FC236}">
                <a16:creationId xmlns:a16="http://schemas.microsoft.com/office/drawing/2014/main" id="{52A52EFB-C09B-413E-AD3C-F453E58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national forecast is credible only if early cohorts prove these inputs. Expansion pauses when quality, retention, supply or contribution misses the gate.</a:t>
            </a:r>
          </a:p>
        </p:txBody>
      </p:sp>
    </p:spTree>
    <p:extLst>
      <p:ext uri="{BB962C8B-B14F-4D97-AF65-F5344CB8AC3E}">
        <p14:creationId xmlns:p14="http://schemas.microsoft.com/office/powerpoint/2010/main" val="5343953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model makes the major risks visible">
            <a:extLst xmlns:a="http://schemas.openxmlformats.org/drawingml/2006/main">
              <a:ext uri="{FF2B5EF4-FFF2-40B4-BE49-F238E27FC236}">
                <a16:creationId xmlns:a16="http://schemas.microsoft.com/office/drawing/2014/main" id="{21264701-EF49-4ADA-B065-85DC8536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model makes the major risks visible</a:t>
            </a:r>
          </a:p>
        </p:txBody>
      </p:sp>
      <p:sp>
        <p:nvSpPr>
          <p:cNvPr id="2" name="The upside is large because the plan is ambitious;">
            <a:extLst xmlns:a="http://schemas.openxmlformats.org/drawingml/2006/main">
              <a:ext uri="{FF2B5EF4-FFF2-40B4-BE49-F238E27FC236}">
                <a16:creationId xmlns:a16="http://schemas.microsoft.com/office/drawing/2014/main" id="{447CA4FA-9D08-4996-8879-F6A235E6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upside is large because the plan is ambitious; the assumptions require evidence.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FD0968F3-2644-464C-B1FD-D88EAF8B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2C867A73-0CED-48BF-A50D-B80E0A4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8067675"/>
              </a:tblGrid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model assumes / how to manage it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Launch velocity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350 new service areas in 2033; use cohort gates and adjacent-market reuse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fee acceptance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One-time finder fee follows a completed paid job; validate tier thresholds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Off-platform behavior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Software and service history must keep the relationship useful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 adoption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60% Pro / Teams share by 2033; recruiting is the key wedge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Seasonality and cash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Staged rounds and a six-month fixed-cost buffer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Service quality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Curated supply, backup providers and auditable operations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9089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ources and basis">
            <a:extLst xmlns:a="http://schemas.openxmlformats.org/drawingml/2006/main">
              <a:ext uri="{FF2B5EF4-FFF2-40B4-BE49-F238E27FC236}">
                <a16:creationId xmlns:a16="http://schemas.microsoft.com/office/drawing/2014/main" id="{478C4F17-9886-4667-AF67-35CB53FA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Sources and basis</a:t>
            </a:r>
          </a:p>
        </p:txBody>
      </p:sp>
      <p:sp>
        <p:nvSpPr>
          <p:cNvPr id="2" name="Prepared September 27, 2026. Financial projections">
            <a:extLst xmlns:a="http://schemas.openxmlformats.org/drawingml/2006/main">
              <a:ext uri="{FF2B5EF4-FFF2-40B4-BE49-F238E27FC236}">
                <a16:creationId xmlns:a16="http://schemas.microsoft.com/office/drawing/2014/main" id="{5032AD32-8C2D-456B-BB73-5D3CF6FA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Prepared September 27, 2026. Financial projections use explicit planning assumptions.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E798141A-A75A-459E-B756-08AB53DC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5">
            <a:extLst xmlns:a="http://schemas.openxmlformats.org/drawingml/2006/main">
              <a:ext uri="{FF2B5EF4-FFF2-40B4-BE49-F238E27FC236}">
                <a16:creationId xmlns:a16="http://schemas.microsoft.com/office/drawing/2014/main" id="{B9A2EE33-1FBB-4365-B3EF-2DF5539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Company materials">
            <a:extLst xmlns:a="http://schemas.openxmlformats.org/drawingml/2006/main">
              <a:ext uri="{FF2B5EF4-FFF2-40B4-BE49-F238E27FC236}">
                <a16:creationId xmlns:a16="http://schemas.microsoft.com/office/drawing/2014/main" id="{6029A9F2-7F5A-4BA1-AE28-908E000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Company materials</a:t>
            </a:r>
          </a:p>
        </p:txBody>
      </p:sp>
      <p:sp>
        <p:nvSpPr>
          <p:cNvPr id="6" name="YardMatch partner pitch, September 2026&#10;Product po">
            <a:extLst xmlns:a="http://schemas.openxmlformats.org/drawingml/2006/main">
              <a:ext uri="{FF2B5EF4-FFF2-40B4-BE49-F238E27FC236}">
                <a16:creationId xmlns:a16="http://schemas.microsoft.com/office/drawing/2014/main" id="{AC736AAA-E724-4F3F-BEDF-37DC175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YardMatch partner pitch, September 2026</a:t>
            </a:r>
          </a:p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Product positioning, role concepts and welcome offer</a:t>
            </a:r>
          </a:p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Companion formula-driven investor workbook</a:t>
            </a:r>
          </a:p>
        </p:txBody>
      </p:sp>
      <p:sp>
        <p:nvSpPr>
          <p:cNvPr id="7" name="External references">
            <a:extLst xmlns:a="http://schemas.openxmlformats.org/drawingml/2006/main">
              <a:ext uri="{FF2B5EF4-FFF2-40B4-BE49-F238E27FC236}">
                <a16:creationId xmlns:a16="http://schemas.microsoft.com/office/drawing/2014/main" id="{DE270159-66F7-4780-979D-8C6E99B3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External references</a:t>
            </a:r>
          </a:p>
        </p:txBody>
      </p:sp>
      <p:sp>
        <p:nvSpPr>
          <p:cNvPr id="8" name="Zocdoc: current pricing help">
            <a:extLst xmlns:a="http://schemas.openxmlformats.org/drawingml/2006/main">
              <a:ext uri="{FF2B5EF4-FFF2-40B4-BE49-F238E27FC236}">
                <a16:creationId xmlns:a16="http://schemas.microsoft.com/office/drawing/2014/main" id="{738991BC-708C-4639-8562-0EBDDE69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7034a8ab922746d1"/>
              </a:rPr>
              <a:t>Zocdoc: current pricing help</a:t>
            </a:r>
          </a:p>
        </p:txBody>
      </p:sp>
      <p:sp>
        <p:nvSpPr>
          <p:cNvPr id="9" name="Zocdoc: published booking-fee range">
            <a:extLst xmlns:a="http://schemas.openxmlformats.org/drawingml/2006/main">
              <a:ext uri="{FF2B5EF4-FFF2-40B4-BE49-F238E27FC236}">
                <a16:creationId xmlns:a16="http://schemas.microsoft.com/office/drawing/2014/main" id="{CB224B22-E9E3-43AC-B56D-C97A1B7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826b2ea4439848d6"/>
              </a:rPr>
              <a:t>Zocdoc: published booking-fee range</a:t>
            </a:r>
          </a:p>
        </p:txBody>
      </p:sp>
      <p:sp>
        <p:nvSpPr>
          <p:cNvPr id="10" name="Zocdoc: Sponsored Results">
            <a:extLst xmlns:a="http://schemas.openxmlformats.org/drawingml/2006/main">
              <a:ext uri="{FF2B5EF4-FFF2-40B4-BE49-F238E27FC236}">
                <a16:creationId xmlns:a16="http://schemas.microsoft.com/office/drawing/2014/main" id="{8C7E5B4D-E776-4E19-A003-FFE2B88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1b0c6785d9f745d9"/>
              </a:rPr>
              <a:t>Zocdoc: Sponsored Results</a:t>
            </a:r>
          </a:p>
        </p:txBody>
      </p:sp>
      <p:sp>
        <p:nvSpPr>
          <p:cNvPr id="11" name="Jobber pricing reference">
            <a:extLst xmlns:a="http://schemas.openxmlformats.org/drawingml/2006/main">
              <a:ext uri="{FF2B5EF4-FFF2-40B4-BE49-F238E27FC236}">
                <a16:creationId xmlns:a16="http://schemas.microsoft.com/office/drawing/2014/main" id="{DDA8977A-FE74-418C-8B63-2976565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8481e0c127614924"/>
              </a:rPr>
              <a:t>Jobber pricing reference</a:t>
            </a:r>
          </a:p>
        </p:txBody>
      </p:sp>
      <p:sp>
        <p:nvSpPr>
          <p:cNvPr id="12" name="Stripe Billing pricing">
            <a:extLst xmlns:a="http://schemas.openxmlformats.org/drawingml/2006/main">
              <a:ext uri="{FF2B5EF4-FFF2-40B4-BE49-F238E27FC236}">
                <a16:creationId xmlns:a16="http://schemas.microsoft.com/office/drawing/2014/main" id="{87F84AA2-8040-4E8E-9C22-E388B8EA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cbe6167fc799441a"/>
              </a:rPr>
              <a:t>Stripe Billing pricing</a:t>
            </a:r>
          </a:p>
        </p:txBody>
      </p:sp>
      <p:sp>
        <p:nvSpPr>
          <p:cNvPr id="13" name="Census QuickFacts: Barnegat">
            <a:extLst xmlns:a="http://schemas.openxmlformats.org/drawingml/2006/main">
              <a:ext uri="{FF2B5EF4-FFF2-40B4-BE49-F238E27FC236}">
                <a16:creationId xmlns:a16="http://schemas.microsoft.com/office/drawing/2014/main" id="{50C4676E-7C17-48D2-9A1B-083E5967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244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2023181ab308427c"/>
              </a:rPr>
              <a:t>Census QuickFacts: Barnegat</a:t>
            </a:r>
          </a:p>
        </p:txBody>
      </p:sp>
      <p:sp>
        <p:nvSpPr>
          <p:cNvPr id="14" name="External references are linked and cited in PowerP">
            <a:extLst xmlns:a="http://schemas.openxmlformats.org/drawingml/2006/main">
              <a:ext uri="{FF2B5EF4-FFF2-40B4-BE49-F238E27FC236}">
                <a16:creationId xmlns:a16="http://schemas.microsoft.com/office/drawing/2014/main" id="{AEF3BAC8-40BC-44A2-9F86-D5CA8F5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External references are linked and cited in PowerPoint notes. National footprint, adoption, CAC, staffing, prices, financing terms and outcomes are YardMatch assumptions.</a:t>
            </a:r>
          </a:p>
        </p:txBody>
      </p:sp>
    </p:spTree>
    <p:extLst>
      <p:ext uri="{BB962C8B-B14F-4D97-AF65-F5344CB8AC3E}">
        <p14:creationId xmlns:p14="http://schemas.microsoft.com/office/powerpoint/2010/main" val="7722279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: New Jersey launch evidence">
            <a:extLst xmlns:a="http://schemas.openxmlformats.org/drawingml/2006/main">
              <a:ext uri="{FF2B5EF4-FFF2-40B4-BE49-F238E27FC236}">
                <a16:creationId xmlns:a16="http://schemas.microsoft.com/office/drawing/2014/main" id="{D9F72619-E201-48DF-8BC6-A213CDD6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Appendix: New Jersey launch evidence</a:t>
            </a:r>
          </a:p>
        </p:txBody>
      </p:sp>
      <p:sp>
        <p:nvSpPr>
          <p:cNvPr id="2" name="Named municipal inputs 1–7 support the pilot layer">
            <a:extLst xmlns:a="http://schemas.openxmlformats.org/drawingml/2006/main">
              <a:ext uri="{FF2B5EF4-FFF2-40B4-BE49-F238E27FC236}">
                <a16:creationId xmlns:a16="http://schemas.microsoft.com/office/drawing/2014/main" id="{891C88E2-FFC7-4A54-9720-C3E97173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Named municipal inputs 1–7 support the pilot layer; national cohorts drive the consolidated forecast.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44DB04F-09EC-4522-812B-C04F305F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3FF99E01-EF15-4E53-A502-9E0FE0B7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4350"/>
                <a:gridCol w="2047875"/>
                <a:gridCol w="2047875"/>
                <a:gridCol w="2552700"/>
              </a:tblGrid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Municipality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 share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income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790937f8059a4ce8"/>
                        </a:rPr>
                        <a:t>Barnegat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$91,540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cde2cf0cdd62458e"/>
                        </a:rPr>
                        <a:t>Stafford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12,007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90.3%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$117,612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cee7e7c692f48ea"/>
                        </a:rPr>
                        <a:t>Lacey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11,338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$102,624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b31ec0e0b734511"/>
                        </a:rPr>
                        <a:t>Ocean / Waretown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3,908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$100,524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2c065873efde46cc"/>
                        </a:rPr>
                        <a:t>Berkeley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21,950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$66,008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ece6163c97e4483"/>
                        </a:rPr>
                        <a:t>Toms River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38,047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82.1%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$99,547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0d29f9a94874379"/>
                        </a:rPr>
                        <a:t>Brick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30,289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82.2%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$106,130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awn eligibility, outsourcing, lot size, price pre">
            <a:extLst xmlns:a="http://schemas.openxmlformats.org/drawingml/2006/main">
              <a:ext uri="{FF2B5EF4-FFF2-40B4-BE49-F238E27FC236}">
                <a16:creationId xmlns:a16="http://schemas.microsoft.com/office/drawing/2014/main" id="{ECB1463E-D285-4D53-B48A-785F4609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Lawn eligibility, outsourcing, lot size, price premiums, launch timing and provider capacity are planning assumptions, not Census findings.</a:t>
            </a:r>
          </a:p>
        </p:txBody>
      </p:sp>
    </p:spTree>
    <p:extLst>
      <p:ext uri="{BB962C8B-B14F-4D97-AF65-F5344CB8AC3E}">
        <p14:creationId xmlns:p14="http://schemas.microsoft.com/office/powerpoint/2010/main" val="18683999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: New Jersey launch evidence">
            <a:extLst xmlns:a="http://schemas.openxmlformats.org/drawingml/2006/main">
              <a:ext uri="{FF2B5EF4-FFF2-40B4-BE49-F238E27FC236}">
                <a16:creationId xmlns:a16="http://schemas.microsoft.com/office/drawing/2014/main" id="{A555B131-249A-4172-965B-261154D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Appendix: New Jersey launch evidence</a:t>
            </a:r>
          </a:p>
        </p:txBody>
      </p:sp>
      <p:sp>
        <p:nvSpPr>
          <p:cNvPr id="2" name="Named municipal inputs 8–14 support the pilot laye">
            <a:extLst xmlns:a="http://schemas.openxmlformats.org/drawingml/2006/main">
              <a:ext uri="{FF2B5EF4-FFF2-40B4-BE49-F238E27FC236}">
                <a16:creationId xmlns:a16="http://schemas.microsoft.com/office/drawing/2014/main" id="{67F1F2AE-E8D3-4E2D-A3CB-E3BB821A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Named municipal inputs 8–14 support the pilot layer; national cohorts drive the consolidated forecast.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D7DA6696-8EAB-4DD2-9D1E-915E124B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C3D0A1AE-A697-4CAC-A727-BC0FEDF6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4350"/>
                <a:gridCol w="2047875"/>
                <a:gridCol w="2047875"/>
                <a:gridCol w="2552700"/>
              </a:tblGrid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Municipality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 share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income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8f272d5d183b471f"/>
                        </a:rPr>
                        <a:t>Jackson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20,633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87.0%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$115,511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a2e352a5efd4394"/>
                        </a:rPr>
                        <a:t>Howell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19,134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88.8%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$134,854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32ba16b0f74340ae"/>
                        </a:rPr>
                        <a:t>Wall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10,124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83.4%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$142,768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ee96e1b19373409d"/>
                        </a:rPr>
                        <a:t>Middletown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25,211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85.7%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$141,810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3ee28e7612404322"/>
                        </a:rPr>
                        <a:t>Holmdel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6,429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91.6%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$165,013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e39dea1328714204"/>
                        </a:rPr>
                        <a:t>Colts Neck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3,610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94.3%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$199,573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b24e6201a9c4fca"/>
                        </a:rPr>
                        <a:t>Rumson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2,451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$250,000+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awn eligibility, outsourcing, lot size, price pre">
            <a:extLst xmlns:a="http://schemas.openxmlformats.org/drawingml/2006/main">
              <a:ext uri="{FF2B5EF4-FFF2-40B4-BE49-F238E27FC236}">
                <a16:creationId xmlns:a16="http://schemas.microsoft.com/office/drawing/2014/main" id="{5502C21B-DF14-494A-A35A-8994E9F5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Lawn eligibility, outsourcing, lot size, price premiums, launch timing and provider capacity are planning assumptions, not Census findings.</a:t>
            </a:r>
          </a:p>
        </p:txBody>
      </p:sp>
    </p:spTree>
    <p:extLst>
      <p:ext uri="{BB962C8B-B14F-4D97-AF65-F5344CB8AC3E}">
        <p14:creationId xmlns:p14="http://schemas.microsoft.com/office/powerpoint/2010/main" val="175170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2026-09-28T00:05:33.8840000Z</dcterms:created>
  <dcterms:modified xsi:type="dcterms:W3CDTF">2026-09-28T00:05:33.8840000Z</dcterms:modified>
</coreProperties>
</file>