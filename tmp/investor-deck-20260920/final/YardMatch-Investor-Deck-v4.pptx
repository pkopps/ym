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27da2dcec424916" /><Relationship Type="http://schemas.openxmlformats.org/officeDocument/2006/relationships/extended-properties" Target="/docProps/app.xml" Id="Redc626becffa4553" /><Relationship Type="http://schemas.openxmlformats.org/officeDocument/2006/relationships/officeDocument" Target="/ppt/presentation.xml" Id="Rca89565436e4401b" /></Relationships>
</file>

<file path=ppt/presentation.xml><?xml version="1.0" encoding="utf-8"?>
<p:presentation xmlns:p="http://schemas.openxmlformats.org/presentationml/2006/main">
  <p:sldMasterIdLst>
    <p:sldMasterId xmlns:r="http://schemas.openxmlformats.org/officeDocument/2006/relationships" id="2147483648" r:id="R97215ee57e9a421b"/>
  </p:sldMasterIdLst>
  <p:notesMasterIdLst>
    <p:notesMasterId xmlns:r="http://schemas.openxmlformats.org/officeDocument/2006/relationships" r:id="R737c7b19e1ca4038"/>
  </p:notesMasterIdLst>
  <p:sldIdLst>
    <p:sldId xmlns:r="http://schemas.openxmlformats.org/officeDocument/2006/relationships" id="256" r:id="R10c21765033b400b"/>
    <p:sldId xmlns:r="http://schemas.openxmlformats.org/officeDocument/2006/relationships" id="257" r:id="R41c70c4d07144276"/>
    <p:sldId xmlns:r="http://schemas.openxmlformats.org/officeDocument/2006/relationships" id="258" r:id="Ra3e24fc599754a0f"/>
    <p:sldId xmlns:r="http://schemas.openxmlformats.org/officeDocument/2006/relationships" id="259" r:id="R443b55f52b0d40e5"/>
    <p:sldId xmlns:r="http://schemas.openxmlformats.org/officeDocument/2006/relationships" id="260" r:id="R12c2d552fccd4814"/>
    <p:sldId xmlns:r="http://schemas.openxmlformats.org/officeDocument/2006/relationships" id="261" r:id="R85474e29626c4c48"/>
    <p:sldId xmlns:r="http://schemas.openxmlformats.org/officeDocument/2006/relationships" id="262" r:id="Raae514c74bba486e"/>
    <p:sldId xmlns:r="http://schemas.openxmlformats.org/officeDocument/2006/relationships" id="263" r:id="R41b711cb899a43ff"/>
    <p:sldId xmlns:r="http://schemas.openxmlformats.org/officeDocument/2006/relationships" id="264" r:id="Rd24c5dab30604cd9"/>
    <p:sldId xmlns:r="http://schemas.openxmlformats.org/officeDocument/2006/relationships" id="265" r:id="Rd3b5741a74934ac1"/>
    <p:sldId xmlns:r="http://schemas.openxmlformats.org/officeDocument/2006/relationships" id="266" r:id="Rb3308330561c493c"/>
    <p:sldId xmlns:r="http://schemas.openxmlformats.org/officeDocument/2006/relationships" id="267" r:id="Rb0d103d5d649497f"/>
    <p:sldId xmlns:r="http://schemas.openxmlformats.org/officeDocument/2006/relationships" id="268" r:id="R1713d8a0d4794887"/>
    <p:sldId xmlns:r="http://schemas.openxmlformats.org/officeDocument/2006/relationships" id="269" r:id="R03ab49a4ca1146c7"/>
    <p:sldId xmlns:r="http://schemas.openxmlformats.org/officeDocument/2006/relationships" id="270" r:id="Rd0e3e1cb5c894faa"/>
    <p:sldId xmlns:r="http://schemas.openxmlformats.org/officeDocument/2006/relationships" id="271" r:id="R002852f32632449e"/>
    <p:sldId xmlns:r="http://schemas.openxmlformats.org/officeDocument/2006/relationships" id="272" r:id="R8665d20081074330"/>
    <p:sldId xmlns:r="http://schemas.openxmlformats.org/officeDocument/2006/relationships" id="273" r:id="R487ce8f49c5a4e33"/>
    <p:sldId xmlns:r="http://schemas.openxmlformats.org/officeDocument/2006/relationships" id="274" r:id="Rf7e16198d7154be9"/>
    <p:sldId xmlns:r="http://schemas.openxmlformats.org/officeDocument/2006/relationships" id="275" r:id="R86130ab0b3504183"/>
    <p:sldId xmlns:r="http://schemas.openxmlformats.org/officeDocument/2006/relationships" id="276" r:id="R907c2d3a8c3946ff"/>
    <p:sldId xmlns:r="http://schemas.openxmlformats.org/officeDocument/2006/relationships" id="277" r:id="R0e01564d40494543"/>
    <p:sldId xmlns:r="http://schemas.openxmlformats.org/officeDocument/2006/relationships" id="278" r:id="R85e5e66d0b814ed1"/>
    <p:sldId xmlns:r="http://schemas.openxmlformats.org/officeDocument/2006/relationships" id="279" r:id="Rf4606e24683948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2e84e3bdef4eea" /><Relationship Type="http://schemas.openxmlformats.org/officeDocument/2006/relationships/slideMaster" Target="/ppt/slideMasters/slideMaster1.xml" Id="R97215ee57e9a421b" /><Relationship Type="http://schemas.openxmlformats.org/officeDocument/2006/relationships/notesMaster" Target="/ppt/notesMasters/notesMaster1.xml" Id="R737c7b19e1ca4038" /><Relationship Type="http://schemas.openxmlformats.org/officeDocument/2006/relationships/presProps" Target="/ppt/presProps.xml" Id="R3d098224df33455d" /><Relationship Type="http://schemas.openxmlformats.org/officeDocument/2006/relationships/tableStyles" Target="/ppt/tableStyles.xml" Id="R6c3c5d8bebfb4a7d" /><Relationship Type="http://schemas.openxmlformats.org/officeDocument/2006/relationships/slide" Target="/ppt/slides/slide1.xml" Id="R10c21765033b400b" /><Relationship Type="http://schemas.openxmlformats.org/officeDocument/2006/relationships/slide" Target="/ppt/slides/slide2.xml" Id="R41c70c4d07144276" /><Relationship Type="http://schemas.openxmlformats.org/officeDocument/2006/relationships/slide" Target="/ppt/slides/slide3.xml" Id="Ra3e24fc599754a0f" /><Relationship Type="http://schemas.openxmlformats.org/officeDocument/2006/relationships/slide" Target="/ppt/slides/slide4.xml" Id="R443b55f52b0d40e5" /><Relationship Type="http://schemas.openxmlformats.org/officeDocument/2006/relationships/slide" Target="/ppt/slides/slide5.xml" Id="R12c2d552fccd4814" /><Relationship Type="http://schemas.openxmlformats.org/officeDocument/2006/relationships/slide" Target="/ppt/slides/slide6.xml" Id="R85474e29626c4c48" /><Relationship Type="http://schemas.openxmlformats.org/officeDocument/2006/relationships/slide" Target="/ppt/slides/slide7.xml" Id="Raae514c74bba486e" /><Relationship Type="http://schemas.openxmlformats.org/officeDocument/2006/relationships/slide" Target="/ppt/slides/slide8.xml" Id="R41b711cb899a43ff" /><Relationship Type="http://schemas.openxmlformats.org/officeDocument/2006/relationships/slide" Target="/ppt/slides/slide9.xml" Id="Rd24c5dab30604cd9" /><Relationship Type="http://schemas.openxmlformats.org/officeDocument/2006/relationships/slide" Target="/ppt/slides/slide10.xml" Id="Rd3b5741a74934ac1" /><Relationship Type="http://schemas.openxmlformats.org/officeDocument/2006/relationships/slide" Target="/ppt/slides/slide11.xml" Id="Rb3308330561c493c" /><Relationship Type="http://schemas.openxmlformats.org/officeDocument/2006/relationships/slide" Target="/ppt/slides/slide12.xml" Id="Rb0d103d5d649497f" /><Relationship Type="http://schemas.openxmlformats.org/officeDocument/2006/relationships/slide" Target="/ppt/slides/slide13.xml" Id="R1713d8a0d4794887" /><Relationship Type="http://schemas.openxmlformats.org/officeDocument/2006/relationships/slide" Target="/ppt/slides/slide14.xml" Id="R03ab49a4ca1146c7" /><Relationship Type="http://schemas.openxmlformats.org/officeDocument/2006/relationships/slide" Target="/ppt/slides/slide15.xml" Id="Rd0e3e1cb5c894faa" /><Relationship Type="http://schemas.openxmlformats.org/officeDocument/2006/relationships/slide" Target="/ppt/slides/slide16.xml" Id="R002852f32632449e" /><Relationship Type="http://schemas.openxmlformats.org/officeDocument/2006/relationships/slide" Target="/ppt/slides/slide17.xml" Id="R8665d20081074330" /><Relationship Type="http://schemas.openxmlformats.org/officeDocument/2006/relationships/slide" Target="/ppt/slides/slide18.xml" Id="R487ce8f49c5a4e33" /><Relationship Type="http://schemas.openxmlformats.org/officeDocument/2006/relationships/slide" Target="/ppt/slides/slide19.xml" Id="Rf7e16198d7154be9" /><Relationship Type="http://schemas.openxmlformats.org/officeDocument/2006/relationships/slide" Target="/ppt/slides/slide20.xml" Id="R86130ab0b3504183" /><Relationship Type="http://schemas.openxmlformats.org/officeDocument/2006/relationships/slide" Target="/ppt/slides/slide21.xml" Id="R907c2d3a8c3946ff" /><Relationship Type="http://schemas.openxmlformats.org/officeDocument/2006/relationships/slide" Target="/ppt/slides/slide22.xml" Id="R0e01564d40494543" /><Relationship Type="http://schemas.openxmlformats.org/officeDocument/2006/relationships/slide" Target="/ppt/slides/slide23.xml" Id="R85e5e66d0b814ed1" /><Relationship Type="http://schemas.openxmlformats.org/officeDocument/2006/relationships/slide" Target="/ppt/slides/slide24.xml" Id="Rf4606e24683948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870e73f5284a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049963e4eb4a56" /><Relationship Type="http://schemas.openxmlformats.org/officeDocument/2006/relationships/notesMaster" Target="/ppt/notesMasters/notesMaster1.xml" Id="R4897ceaf070348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a66dbd59554102" /><Relationship Type="http://schemas.openxmlformats.org/officeDocument/2006/relationships/notesMaster" Target="/ppt/notesMasters/notesMaster1.xml" Id="Rc20e07c194de4c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eca464838b4528" /><Relationship Type="http://schemas.openxmlformats.org/officeDocument/2006/relationships/notesMaster" Target="/ppt/notesMasters/notesMaster1.xml" Id="Ra050afd4a1b44b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372049c0114481" /><Relationship Type="http://schemas.openxmlformats.org/officeDocument/2006/relationships/notesMaster" Target="/ppt/notesMasters/notesMaster1.xml" Id="R8e012fcb841949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fedc0342954296" /><Relationship Type="http://schemas.openxmlformats.org/officeDocument/2006/relationships/notesMaster" Target="/ppt/notesMasters/notesMaster1.xml" Id="R0829b071cd444c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6190b0aaab4563" /><Relationship Type="http://schemas.openxmlformats.org/officeDocument/2006/relationships/notesMaster" Target="/ppt/notesMasters/notesMaster1.xml" Id="R20fc3ef19c754c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4197e576364995" /><Relationship Type="http://schemas.openxmlformats.org/officeDocument/2006/relationships/notesMaster" Target="/ppt/notesMasters/notesMaster1.xml" Id="Ra10af69721e84f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9e3746bda6489f" /><Relationship Type="http://schemas.openxmlformats.org/officeDocument/2006/relationships/notesMaster" Target="/ppt/notesMasters/notesMaster1.xml" Id="R244a7573401045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1ea51bd38b42d4" /><Relationship Type="http://schemas.openxmlformats.org/officeDocument/2006/relationships/notesMaster" Target="/ppt/notesMasters/notesMaster1.xml" Id="Rd175abcde1a140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b6984a06b24510" /><Relationship Type="http://schemas.openxmlformats.org/officeDocument/2006/relationships/notesMaster" Target="/ppt/notesMasters/notesMaster1.xml" Id="R80727daf2aac43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f376b9da774050" /><Relationship Type="http://schemas.openxmlformats.org/officeDocument/2006/relationships/notesMaster" Target="/ppt/notesMasters/notesMaster1.xml" Id="Re5d51e9ddaad4b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f3ce7250cf44ef" /><Relationship Type="http://schemas.openxmlformats.org/officeDocument/2006/relationships/notesMaster" Target="/ppt/notesMasters/notesMaster1.xml" Id="R4509836aeac140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9283f1a0a942d8" /><Relationship Type="http://schemas.openxmlformats.org/officeDocument/2006/relationships/notesMaster" Target="/ppt/notesMasters/notesMaster1.xml" Id="Ra9580077463e40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990a9110bc4a15" /><Relationship Type="http://schemas.openxmlformats.org/officeDocument/2006/relationships/notesMaster" Target="/ppt/notesMasters/notesMaster1.xml" Id="R372dbdd841d148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a78aa4754c43fa" /><Relationship Type="http://schemas.openxmlformats.org/officeDocument/2006/relationships/notesMaster" Target="/ppt/notesMasters/notesMaster1.xml" Id="R9689bd369a444b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391fc2128b4cb5" /><Relationship Type="http://schemas.openxmlformats.org/officeDocument/2006/relationships/notesMaster" Target="/ppt/notesMasters/notesMaster1.xml" Id="R51f483b6ce8544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f5b10aebcc24874" /><Relationship Type="http://schemas.openxmlformats.org/officeDocument/2006/relationships/notesMaster" Target="/ppt/notesMasters/notesMaster1.xml" Id="R786338fdb4904f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d9ebb2b3d344a62" /><Relationship Type="http://schemas.openxmlformats.org/officeDocument/2006/relationships/notesMaster" Target="/ppt/notesMasters/notesMaster1.xml" Id="R9508668e9e1241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5b979025ec84360" /><Relationship Type="http://schemas.openxmlformats.org/officeDocument/2006/relationships/notesMaster" Target="/ppt/notesMasters/notesMaster1.xml" Id="Rafb8af201c7a485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d5f148861945c9" /><Relationship Type="http://schemas.openxmlformats.org/officeDocument/2006/relationships/notesMaster" Target="/ppt/notesMasters/notesMaster1.xml" Id="R1fd6e5d1438b4d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54f1894a8724e6d" /><Relationship Type="http://schemas.openxmlformats.org/officeDocument/2006/relationships/notesMaster" Target="/ppt/notesMasters/notesMaster1.xml" Id="R5f6edda88085412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5e4e6f84bce44e1" /><Relationship Type="http://schemas.openxmlformats.org/officeDocument/2006/relationships/notesMaster" Target="/ppt/notesMasters/notesMaster1.xml" Id="Rf21a334c79b44f6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2b9ec09272440f6" /><Relationship Type="http://schemas.openxmlformats.org/officeDocument/2006/relationships/notesMaster" Target="/ppt/notesMasters/notesMaster1.xml" Id="R81c9123c60204b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1433a1650d8480f" /><Relationship Type="http://schemas.openxmlformats.org/officeDocument/2006/relationships/notesMaster" Target="/ppt/notesMasters/notesMaster1.xml" Id="R59cef4ab197c4e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Patrick instructions September 20, 2026: provider pays $2.99 per completed service. Source: YardMatch-Investor-Model.xlsx, assumptions and formula-driven Operating model, prepared September 20, 2026. All 2027-2033 figures are illustrative forecasts, not actuals or promises. US dollars. No commercial actuals supplied. $45 once per new relationship. One welcome finder-fee waiver per new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Uses 2031 Base volume to allocate account and payout-count costs. Includes payout volume fees, support, infrastructure and loss allowance. ACH cap applied per transaction. No first-job finder fee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Neighborhood multipliers 1.00 / 1.15 / 1.30, with 2027 shares 70% / 25% / 5% and 2033 shares 55% / 35% / 10%. Property multipliers 1.00 / 1.35 / 1.80, shares 70% / 25% / 5% in 2027 and 60% / 30% / 10% in 2033. Independent distributions compound. Maintenance mix ends 45% basic / 40% bundled / 15% expanded. Project frequency reaches 1.00 cleanup and 0.08 larger project. Same ACH, completion and capture rates across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completed paid jobs * $2.99.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repair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4dbc8ab5084a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52fe6ec69a4251" /><Relationship Type="http://schemas.openxmlformats.org/officeDocument/2006/relationships/slideLayout" Target="/ppt/slideLayouts/slideLayout1.xml" Id="R307e59d47bc34c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7e59d47bc34c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c7de4eb8c245f7" /><Relationship Type="http://schemas.openxmlformats.org/officeDocument/2006/relationships/image" Target="/ppt/media/image.png" Id="R2ec2ffaa31934810" /><Relationship Type="http://schemas.openxmlformats.org/officeDocument/2006/relationships/notesSlide" Target="/ppt/notesSlides/notesSlide1.xml" Id="Rbf12b0789fb34e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c9fe29a9544c02" /><Relationship Type="http://schemas.openxmlformats.org/officeDocument/2006/relationships/notesSlide" Target="/ppt/notesSlides/notesSlide2.xml" Id="Rfddcc1f68cbf47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d1cdb099e5444e" /><Relationship Type="http://schemas.openxmlformats.org/officeDocument/2006/relationships/notesSlide" Target="/ppt/notesSlides/notesSlide3.xml" Id="Rc4c0355786cc48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d73c6eaa3c438d" /><Relationship Type="http://schemas.openxmlformats.org/officeDocument/2006/relationships/image" Target="/ppt/media/image2.png" Id="R551f76f91049487d" /><Relationship Type="http://schemas.openxmlformats.org/officeDocument/2006/relationships/notesSlide" Target="/ppt/notesSlides/notesSlide4.xml" Id="Ra4271e3780d842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8be083b1b94de3" /><Relationship Type="http://schemas.openxmlformats.org/officeDocument/2006/relationships/image" Target="/ppt/media/image3.png" Id="R6f4d552fe7044573" /><Relationship Type="http://schemas.openxmlformats.org/officeDocument/2006/relationships/notesSlide" Target="/ppt/notesSlides/notesSlide5.xml" Id="Rb39b4be8131247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6a3b61970b45ff" /><Relationship Type="http://schemas.openxmlformats.org/officeDocument/2006/relationships/notesSlide" Target="/ppt/notesSlides/notesSlide6.xml" Id="Rb0542b81378243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9351ea204d4cba" /><Relationship Type="http://schemas.openxmlformats.org/officeDocument/2006/relationships/notesSlide" Target="/ppt/notesSlides/notesSlide7.xml" Id="Rcf05ad3288ab41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c0c0af1b304703" /><Relationship Type="http://schemas.openxmlformats.org/officeDocument/2006/relationships/notesSlide" Target="/ppt/notesSlides/notesSlide8.xml" Id="R11fa543be05846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fe6b5156c34fda" /><Relationship Type="http://schemas.openxmlformats.org/officeDocument/2006/relationships/notesSlide" Target="/ppt/notesSlides/notesSlide9.xml" Id="Rcdf2830efa0747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1e306b7e354c28" /><Relationship Type="http://schemas.openxmlformats.org/officeDocument/2006/relationships/notesSlide" Target="/ppt/notesSlides/notesSlide10.xml" Id="Rf13b7aa5da3f4d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b4f5993c9ee4478" /><Relationship Type="http://schemas.openxmlformats.org/officeDocument/2006/relationships/notesSlide" Target="/ppt/notesSlides/notesSlide11.xml" Id="R5effe3873e9246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973ea56f5148b2" /><Relationship Type="http://schemas.openxmlformats.org/officeDocument/2006/relationships/notesSlide" Target="/ppt/notesSlides/notesSlide12.xml" Id="Rc0e81a0913424e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c3c4533276b45f8" /><Relationship Type="http://schemas.openxmlformats.org/officeDocument/2006/relationships/notesSlide" Target="/ppt/notesSlides/notesSlide13.xml" Id="R947942061b4b46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4e6436829346ee" /><Relationship Type="http://schemas.openxmlformats.org/officeDocument/2006/relationships/notesSlide" Target="/ppt/notesSlides/notesSlide14.xml" Id="R66e02ca29f7a42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d0dbd842a284770" /><Relationship Type="http://schemas.openxmlformats.org/officeDocument/2006/relationships/notesSlide" Target="/ppt/notesSlides/notesSlide15.xml" Id="R898ede45c40d49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e52eede6c34a8d" /><Relationship Type="http://schemas.openxmlformats.org/officeDocument/2006/relationships/chart" Target="/ppt/slides/charts/chart1.xml" Id="Rbee9c7290f5a4c2f" /><Relationship Type="http://schemas.openxmlformats.org/officeDocument/2006/relationships/notesSlide" Target="/ppt/notesSlides/notesSlide16.xml" Id="R14433de386054e9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b6b5fa544d74b67" /><Relationship Type="http://schemas.openxmlformats.org/officeDocument/2006/relationships/notesSlide" Target="/ppt/notesSlides/notesSlide17.xml" Id="R667e7a807bae49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595a251fc2343cc" /><Relationship Type="http://schemas.openxmlformats.org/officeDocument/2006/relationships/notesSlide" Target="/ppt/notesSlides/notesSlide18.xml" Id="R48113584320947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4ea14241b0740fb" /><Relationship Type="http://schemas.openxmlformats.org/officeDocument/2006/relationships/notesSlide" Target="/ppt/notesSlides/notesSlide19.xml" Id="R7dd3349988e443a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2071924e4354f85" /><Relationship Type="http://schemas.openxmlformats.org/officeDocument/2006/relationships/notesSlide" Target="/ppt/notesSlides/notesSlide20.xml" Id="R38218d5019914e2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47760ccb1a24005" /><Relationship Type="http://schemas.openxmlformats.org/officeDocument/2006/relationships/notesSlide" Target="/ppt/notesSlides/notesSlide21.xml" Id="R5ac0a2f55faf4f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78b250e4def4f0b" /><Relationship Type="http://schemas.openxmlformats.org/officeDocument/2006/relationships/notesSlide" Target="/ppt/notesSlides/notesSlide22.xml" Id="R9e640970e15b46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da540a6d8464f4a" /><Relationship Type="http://schemas.openxmlformats.org/officeDocument/2006/relationships/notesSlide" Target="/ppt/notesSlides/notesSlide23.xml" Id="R7bd161d32217415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5ef8c4a6e1d4c75" /><Relationship Type="http://schemas.openxmlformats.org/officeDocument/2006/relationships/hyperlink" Target="https://stripe.com/pricing" TargetMode="External" Id="R380efc4c907442a0" /><Relationship Type="http://schemas.openxmlformats.org/officeDocument/2006/relationships/hyperlink" Target="https://stripe.com/connect/pricing" TargetMode="External" Id="R7dbddfb307ca4328" /><Relationship Type="http://schemas.openxmlformats.org/officeDocument/2006/relationships/hyperlink" Target="https://stripe.com/financial-connections" TargetMode="External" Id="Rfeff4990010940d5" /><Relationship Type="http://schemas.openxmlformats.org/officeDocument/2006/relationships/hyperlink" Target="https://www.zocdoc.com/provider-help/en/articles/10859404-understanding-zocdoc-pricing-and-billing" TargetMode="External" Id="R24d22075c0d04bbb" /><Relationship Type="http://schemas.openxmlformats.org/officeDocument/2006/relationships/hyperlink" Target="https://www.census.gov/quickfacts/fact/table/barnegattownshipoceancountynewjersey/SBO010223" TargetMode="External" Id="R2d85daf95b4a4a21" /><Relationship Type="http://schemas.openxmlformats.org/officeDocument/2006/relationships/notesSlide" Target="/ppt/notesSlides/notesSlide24.xml" Id="R2bd5638558ce40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0.013185</c:v>
                </c:pt>
                <c:pt idx="1">
                  <c:v>0.084711</c:v>
                </c:pt>
                <c:pt idx="2">
                  <c:v>0.352604</c:v>
                </c:pt>
                <c:pt idx="3">
                  <c:v>1.129864</c:v>
                </c:pt>
                <c:pt idx="4">
                  <c:v>2.91481</c:v>
                </c:pt>
                <c:pt idx="5">
                  <c:v>6.205359</c:v>
                </c:pt>
                <c:pt idx="6">
                  <c:v>11.448809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E6374DEE-5209-44A4-9CDF-C7B66066DAD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EA14B9C5-F9A3-4D49-893D-79E855FF7F2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ec2ffaa31934810"/>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27F97A73-F1A0-4D3F-9497-094DF0BC37DA}"/>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12F459BF-5CD6-47CE-A998-21DE10257CF3}"/>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F8BCD375-8BEA-4180-9D98-7F1BB81C221A}"/>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40241082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737AA991-7BAE-4DB1-A063-39118C151D8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27C7FB6E-03AF-4E05-A099-7BCA3867728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510463E7-87F5-4884-B4DA-58CD76405A9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DA4965B2-9ADB-4EA3-BA9C-6AA5B84C6F3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2A830614-3363-4613-BD07-706CC790EBA3}"/>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F84B4D7F-EDBA-442D-9A07-BB0809462892}"/>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0A77AA5E-6214-4A44-832A-865BB8779EEF}"/>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ACCC4170-40A6-4FCD-AB84-406FF4002CD8}"/>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1A3164EC-8A5E-447E-8913-E610720EE24B}"/>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The broader service mix exposes a pricing gap at $">
            <a:extLst xmlns:a="http://schemas.openxmlformats.org/drawingml/2006/main">
              <a:ext uri="{FF2B5EF4-FFF2-40B4-BE49-F238E27FC236}">
                <a16:creationId xmlns:a16="http://schemas.microsoft.com/office/drawing/2014/main" id="{5F96E01E-C2CA-4163-9DE3-690DB8ED9CA7}"/>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The broader service mix exposes a pricing gap at $2.99. A local pilot must validate contribution before the company funds expansion.</a:t>
            </a:r>
          </a:p>
        </p:txBody>
      </p:sp>
      <p:sp>
        <p:nvSpPr>
          <p:cNvPr id="11" name="Investment hypothesis. The model does not assume s">
            <a:extLst xmlns:a="http://schemas.openxmlformats.org/drawingml/2006/main">
              <a:ext uri="{FF2B5EF4-FFF2-40B4-BE49-F238E27FC236}">
                <a16:creationId xmlns:a16="http://schemas.microsoft.com/office/drawing/2014/main" id="{4EFF9B36-D9A8-41D3-8CBB-309344A623B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model does not assume subscriptions, advertising or repeated finder fees from the same relationship.</a:t>
            </a:r>
          </a:p>
        </p:txBody>
      </p:sp>
    </p:spTree>
    <p:extLst>
      <p:ext uri="{BB962C8B-B14F-4D97-AF65-F5344CB8AC3E}">
        <p14:creationId xmlns:p14="http://schemas.microsoft.com/office/powerpoint/2010/main" val="1356463884"/>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A849B13C-18DC-4A6A-896E-015F73C770F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59F0C12F-6883-4DDF-9D7A-A5C2DA62AFA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BB2225D0-DA10-4B57-A569-2C9C8841ADE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F431B409-D26A-4BB4-A561-F308C1F3847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6B9A7CF6-CD42-4C92-B660-3D7C3249C52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29181325"/>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E157FD1F-AF46-4C71-BEC9-285D33E163B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355EDFBE-4DD0-47DD-B563-49798B00E93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5F85E30C-C5A6-41BE-82CF-C474D195759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70DE2D73-3D79-4676-89FC-2C9B119BA05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51f76f91049487d"/>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2942F3E6-42D9-4F21-A1BF-C5D35A14C253}"/>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970D60DF-5268-4B63-8758-FBA554C9943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13578166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9D224C41-69CE-49F2-A574-F7849D97989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00DDC382-485F-4486-BE19-9843CD0325F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8D4474EA-511F-4700-8096-DA1F3A584B9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26D5D8A3-2C6E-41AC-8E33-25660DAE5A6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f4d552fe7044573"/>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73A40AD6-E047-4EFC-BDFC-4B8E41A1C504}"/>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8D4F5689-2BB7-4FC1-BCE2-DA09B84987FA}"/>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8E5B4480-090A-42EF-BFC2-5307A4FF85CD}"/>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53F828EB-9C88-4E84-B4D8-0EF969F6E489}"/>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8E758176-4B4D-45B0-A858-CD7C7AD568F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82455600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 finder fee plus $2.99 for every paid service">
            <a:extLst xmlns:a="http://schemas.openxmlformats.org/drawingml/2006/main">
              <a:ext uri="{FF2B5EF4-FFF2-40B4-BE49-F238E27FC236}">
                <a16:creationId xmlns:a16="http://schemas.microsoft.com/office/drawing/2014/main" id="{70D2672A-41A1-481E-95CA-45EBBCE4629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finder fee plus $2.99 for every paid service</a:t>
            </a:r>
          </a:p>
        </p:txBody>
      </p:sp>
      <p:sp>
        <p:nvSpPr>
          <p:cNvPr id="2" name="Providers pay both fees. YardMatch covers modeled ">
            <a:extLst xmlns:a="http://schemas.openxmlformats.org/drawingml/2006/main">
              <a:ext uri="{FF2B5EF4-FFF2-40B4-BE49-F238E27FC236}">
                <a16:creationId xmlns:a16="http://schemas.microsoft.com/office/drawing/2014/main" id="{1E2C082A-AD36-448F-84CB-8D55D6EF12B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Providers pay both fees. YardMatch covers modeled processing costs.</a:t>
            </a:r>
          </a:p>
        </p:txBody>
      </p:sp>
      <p:sp>
        <p:nvSpPr>
          <p:cNvPr id="3" name="YardMatch">
            <a:extLst xmlns:a="http://schemas.openxmlformats.org/drawingml/2006/main">
              <a:ext uri="{FF2B5EF4-FFF2-40B4-BE49-F238E27FC236}">
                <a16:creationId xmlns:a16="http://schemas.microsoft.com/office/drawing/2014/main" id="{1EA05237-8090-4BD4-8DD1-4B0C7613773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559A7123-9237-42B5-AF2B-03E49A0C470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698E4FDD-CEFA-4975-9CBC-E1BB6ADEB1BA}"/>
              </a:ext>
            </a:extLst>
          </p:cNvPr>
          <p:cNvSpPr>
            <a:spLocks xmlns:a="http://schemas.openxmlformats.org/drawingml/2006/main" noGrp="1"/>
          </p:cNvSpPr>
          <p:nvPr/>
        </p:nvSpPr>
        <p:spPr>
          <a:xfrm xmlns:a="http://schemas.openxmlformats.org/drawingml/2006/main">
            <a:off x="647700" y="23241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$45</a:t>
            </a:r>
          </a:p>
        </p:txBody>
      </p:sp>
      <p:sp>
        <p:nvSpPr>
          <p:cNvPr id="6" name="Once per new customer/provider pairing,&#10;after the ">
            <a:extLst xmlns:a="http://schemas.openxmlformats.org/drawingml/2006/main">
              <a:ext uri="{FF2B5EF4-FFF2-40B4-BE49-F238E27FC236}">
                <a16:creationId xmlns:a16="http://schemas.microsoft.com/office/drawing/2014/main" id="{FB82AA2A-BD9C-4147-8124-1B41E03FF998}"/>
              </a:ext>
            </a:extLst>
          </p:cNvPr>
          <p:cNvSpPr>
            <a:spLocks xmlns:a="http://schemas.openxmlformats.org/drawingml/2006/main" noGrp="1"/>
          </p:cNvSpPr>
          <p:nvPr/>
        </p:nvSpPr>
        <p:spPr>
          <a:xfrm xmlns:a="http://schemas.openxmlformats.org/drawingml/2006/main">
            <a:off x="647700"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Once per new customer/provider pairing,</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after the first paid completed job</a:t>
            </a:r>
          </a:p>
        </p:txBody>
      </p:sp>
      <p:sp>
        <p:nvSpPr>
          <p:cNvPr id="7" name="$2.99">
            <a:extLst xmlns:a="http://schemas.openxmlformats.org/drawingml/2006/main">
              <a:ext uri="{FF2B5EF4-FFF2-40B4-BE49-F238E27FC236}">
                <a16:creationId xmlns:a16="http://schemas.microsoft.com/office/drawing/2014/main" id="{F98AD3C6-E8C5-409D-A060-AB15CB62B3BB}"/>
              </a:ext>
            </a:extLst>
          </p:cNvPr>
          <p:cNvSpPr>
            <a:spLocks xmlns:a="http://schemas.openxmlformats.org/drawingml/2006/main" noGrp="1"/>
          </p:cNvSpPr>
          <p:nvPr/>
        </p:nvSpPr>
        <p:spPr>
          <a:xfrm xmlns:a="http://schemas.openxmlformats.org/drawingml/2006/main">
            <a:off x="6391275" y="232410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$2.99</a:t>
            </a:r>
          </a:p>
        </p:txBody>
      </p:sp>
      <p:sp>
        <p:nvSpPr>
          <p:cNvPr id="8" name="On every paid completed service,&#10;including repeat ">
            <a:extLst xmlns:a="http://schemas.openxmlformats.org/drawingml/2006/main">
              <a:ext uri="{FF2B5EF4-FFF2-40B4-BE49-F238E27FC236}">
                <a16:creationId xmlns:a16="http://schemas.microsoft.com/office/drawing/2014/main" id="{B833F527-9CD3-45FB-8F59-F2796488FF00}"/>
              </a:ext>
            </a:extLst>
          </p:cNvPr>
          <p:cNvSpPr>
            <a:spLocks xmlns:a="http://schemas.openxmlformats.org/drawingml/2006/main" noGrp="1"/>
          </p:cNvSpPr>
          <p:nvPr/>
        </p:nvSpPr>
        <p:spPr>
          <a:xfrm xmlns:a="http://schemas.openxmlformats.org/drawingml/2006/main">
            <a:off x="6391275"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 every paid completed service,</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including repeat visits</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$12.01</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$57.01</a:t>
                      </a:r>
                    </a:p>
                  </a:txBody>
                  <a:tcPr marL="91440" marR="91440" marT="45720" marB="45720" anchor="ctr">
                    <a:solidFill>
                      <a:srgbClr val="E8EDDF"/>
                    </a:solidFill>
                  </a:tcPr>
                </a:tc>
              </a:tr>
            </a:tbl>
          </a:graphicData>
        </a:graphic>
      </p:graphicFrame>
      <p:sp>
        <p:nvSpPr>
          <p:cNvPr id="10" name="Welcome offer waives the first $45 finder fee for ">
            <a:extLst xmlns:a="http://schemas.openxmlformats.org/drawingml/2006/main">
              <a:ext uri="{FF2B5EF4-FFF2-40B4-BE49-F238E27FC236}">
                <a16:creationId xmlns:a16="http://schemas.microsoft.com/office/drawing/2014/main" id="{A07B74B7-8819-4F86-963F-1BFFC6AF2F6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Welcome offer waives the first $45 finder fee for a new provider. It does not waive the $2.99 service fee. No customer surcharge modeled.</a:t>
            </a:r>
          </a:p>
        </p:txBody>
      </p:sp>
    </p:spTree>
    <p:extLst>
      <p:ext uri="{BB962C8B-B14F-4D97-AF65-F5344CB8AC3E}">
        <p14:creationId xmlns:p14="http://schemas.microsoft.com/office/powerpoint/2010/main" val="229351166"/>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5792A474-1A36-4E91-8C6E-A7E1F4A284C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E466F999-57CB-41F8-B336-7BBE136862D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6887442D-B762-4240-829A-140EEE24994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DD77E17D-8DCB-40E7-B8F0-D56264C10B2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$2.99 service fee applies.</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C4C619F1-2A91-442E-AFAF-C92A3BF9284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743929014"/>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Larger jobs increase costs under a flat fee">
            <a:extLst xmlns:a="http://schemas.openxmlformats.org/drawingml/2006/main">
              <a:ext uri="{FF2B5EF4-FFF2-40B4-BE49-F238E27FC236}">
                <a16:creationId xmlns:a16="http://schemas.microsoft.com/office/drawing/2014/main" id="{E08CE0CC-D197-4D50-B7EF-D871E4DB51B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Larger jobs increase costs under a flat fee</a:t>
            </a:r>
          </a:p>
        </p:txBody>
      </p:sp>
      <p:sp>
        <p:nvSpPr>
          <p:cNvPr id="2" name="Repeat contribution after processing and variable ">
            <a:extLst xmlns:a="http://schemas.openxmlformats.org/drawingml/2006/main">
              <a:ext uri="{FF2B5EF4-FFF2-40B4-BE49-F238E27FC236}">
                <a16:creationId xmlns:a16="http://schemas.microsoft.com/office/drawing/2014/main" id="{9A1A4E15-0219-412E-BAA5-27D952AD1CA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Repeat contribution after processing and variable costs, before acquisition and fixed overhead.</a:t>
            </a:r>
          </a:p>
        </p:txBody>
      </p:sp>
      <p:sp>
        <p:nvSpPr>
          <p:cNvPr id="3" name="YardMatch">
            <a:extLst xmlns:a="http://schemas.openxmlformats.org/drawingml/2006/main">
              <a:ext uri="{FF2B5EF4-FFF2-40B4-BE49-F238E27FC236}">
                <a16:creationId xmlns:a16="http://schemas.microsoft.com/office/drawing/2014/main" id="{D83444DD-6B9A-451B-AE55-E4514EABE4A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25E695E6-E3C3-44E3-A681-C6C305EB171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4" name=""/>
          <p:cNvGraphicFramePr/>
          <p:nvPr/>
        </p:nvGraphicFramePr>
        <p:xfrm>
          <a:off xmlns:a="http://schemas.openxmlformats.org/drawingml/2006/main" x="609600" y="2381250"/>
          <a:ext xmlns:a="http://schemas.openxmlformats.org/drawingml/2006/main" cx="8191500" cy="2876550"/>
        </p:xfrm>
        <a:graphic xmlns:a="http://schemas.openxmlformats.org/drawingml/2006/main">
          <a:graphicData uri="http://schemas.openxmlformats.org/drawingml/2006/table">
            <a:tbl>
              <a:tblPr/>
              <a:tblGrid>
                <a:gridCol w="2952750"/>
                <a:gridCol w="2619375"/>
                <a:gridCol w="2619375"/>
              </a:tblGrid>
              <a:tr h="575310">
                <a:tc>
                  <a:txBody>
                    <a:bodyPr lIns="114300" tIns="76200" rIns="114300" bIns="76200">
                      <a:noAutofit/>
                    </a:bodyPr>
                    <a:lstStyle/>
                    <a:p>
                      <a:pPr algn="l"/>
                      <a:r>
                        <a:rPr sz="1950" b="1">
                          <a:solidFill>
                            <a:srgbClr val="FFFFFF"/>
                          </a:solidFill>
                          <a:latin typeface="Arial"/>
                          <a:ea typeface="Arial"/>
                          <a:cs typeface="Arial"/>
                        </a:rPr>
                        <a:t>Completed service price</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Card contribution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ACH contribution</a:t>
                      </a:r>
                    </a:p>
                  </a:txBody>
                  <a:tcPr marL="91440" marR="91440" marT="45720" marB="45720" anchor="ctr">
                    <a:solidFill>
                      <a:srgbClr val="205938"/>
                    </a:solidFill>
                  </a:tcPr>
                </a:tc>
              </a:tr>
              <a:tr h="575310">
                <a:tc>
                  <a:txBody>
                    <a:bodyPr lIns="114300" tIns="76200" rIns="114300" bIns="76200">
                      <a:noAutofit/>
                    </a:bodyPr>
                    <a:lstStyle/>
                    <a:p>
                      <a:pPr algn="l"/>
                      <a:r>
                        <a:rPr sz="195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$0.20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$1.76</a:t>
                      </a:r>
                    </a:p>
                  </a:txBody>
                  <a:tcPr marL="91440" marR="91440" marT="45720" marB="45720" anchor="ctr">
                    <a:solidFill>
                      <a:srgbClr val="FFFFFF"/>
                    </a:solidFill>
                  </a:tcPr>
                </a:tc>
              </a:tr>
              <a:tr h="575310">
                <a:tc>
                  <a:txBody>
                    <a:bodyPr lIns="114300" tIns="76200" rIns="114300" bIns="76200">
                      <a:noAutofit/>
                    </a:bodyPr>
                    <a:lstStyle/>
                    <a:p>
                      <a:pPr algn="l"/>
                      <a:r>
                        <a:rPr sz="195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($1.14)</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$1.26</a:t>
                      </a:r>
                    </a:p>
                  </a:txBody>
                  <a:tcPr marL="91440" marR="91440" marT="45720" marB="45720" anchor="ctr">
                    <a:solidFill>
                      <a:srgbClr val="F7F5EF"/>
                    </a:solidFill>
                  </a:tcPr>
                </a:tc>
              </a:tr>
              <a:tr h="575310">
                <a:tc>
                  <a:txBody>
                    <a:bodyPr lIns="114300" tIns="76200" rIns="114300" bIns="76200">
                      <a:noAutofit/>
                    </a:bodyPr>
                    <a:lstStyle/>
                    <a:p>
                      <a:pPr algn="l"/>
                      <a:r>
                        <a:rPr sz="1950" b="0">
                          <a:solidFill>
                            <a:srgbClr val="14281D"/>
                          </a:solidFill>
                          <a:latin typeface="Arial"/>
                          <a:ea typeface="Arial"/>
                          <a:cs typeface="Arial"/>
                        </a:rPr>
                        <a:t>$250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($6.16)</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($0.61)</a:t>
                      </a:r>
                    </a:p>
                  </a:txBody>
                  <a:tcPr marL="91440" marR="91440" marT="45720" marB="45720" anchor="ctr">
                    <a:solidFill>
                      <a:srgbClr val="FFFFFF"/>
                    </a:solidFill>
                  </a:tcPr>
                </a:tc>
              </a:tr>
              <a:tr h="575310">
                <a:tc>
                  <a:txBody>
                    <a:bodyPr lIns="114300" tIns="76200" rIns="114300" bIns="76200">
                      <a:noAutofit/>
                    </a:bodyPr>
                    <a:lstStyle/>
                    <a:p>
                      <a:pPr algn="l"/>
                      <a:r>
                        <a:rPr sz="195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($31.29)</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($6.99)</a:t>
                      </a:r>
                    </a:p>
                  </a:txBody>
                  <a:tcPr marL="91440" marR="91440" marT="45720" marB="45720" anchor="ctr">
                    <a:solidFill>
                      <a:srgbClr val="F7F5EF"/>
                    </a:solidFill>
                  </a:tcPr>
                </a:tc>
              </a:tr>
            </a:tbl>
          </a:graphicData>
        </a:graphic>
      </p:graphicFrame>
      <p:sp>
        <p:nvSpPr>
          <p:cNvPr id="6" name="($0.52)">
            <a:extLst xmlns:a="http://schemas.openxmlformats.org/drawingml/2006/main">
              <a:ext uri="{FF2B5EF4-FFF2-40B4-BE49-F238E27FC236}">
                <a16:creationId xmlns:a16="http://schemas.microsoft.com/office/drawing/2014/main" id="{1BACD5C7-A545-48D3-A0BB-D3FA440840C4}"/>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A24D3E"/>
                </a:solidFill>
                <a:latin typeface="Arial"/>
                <a:ea typeface="Arial"/>
                <a:cs typeface="Arial"/>
              </a:defRPr>
            </a:pPr>
            <a:r>
              <a:rPr sz="3600" b="1">
                <a:solidFill>
                  <a:srgbClr val="A24D3E"/>
                </a:solidFill>
                <a:latin typeface="Arial"/>
                <a:ea typeface="Arial"/>
                <a:cs typeface="Arial"/>
              </a:rPr>
              <a:t>($0.52)</a:t>
            </a:r>
          </a:p>
        </p:txBody>
      </p:sp>
      <p:sp>
        <p:nvSpPr>
          <p:cNvPr id="7" name="Average repeat contribution in the 2031 base mix">
            <a:extLst xmlns:a="http://schemas.openxmlformats.org/drawingml/2006/main">
              <a:ext uri="{FF2B5EF4-FFF2-40B4-BE49-F238E27FC236}">
                <a16:creationId xmlns:a16="http://schemas.microsoft.com/office/drawing/2014/main" id="{B216C761-A757-44ED-B9EC-D13EEA73E51A}"/>
              </a:ext>
            </a:extLst>
          </p:cNvPr>
          <p:cNvSpPr>
            <a:spLocks xmlns:a="http://schemas.openxmlformats.org/drawingml/2006/main" noGrp="1"/>
          </p:cNvSpPr>
          <p:nvPr/>
        </p:nvSpPr>
        <p:spPr>
          <a:xfrm xmlns:a="http://schemas.openxmlformats.org/drawingml/2006/main">
            <a:off x="9191625" y="3295650"/>
            <a:ext cx="233362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A larger bill does not increase the $2.99 fee">
            <a:extLst xmlns:a="http://schemas.openxmlformats.org/drawingml/2006/main">
              <a:ext uri="{FF2B5EF4-FFF2-40B4-BE49-F238E27FC236}">
                <a16:creationId xmlns:a16="http://schemas.microsoft.com/office/drawing/2014/main" id="{703673CC-9216-4BC4-88A2-B0B2EA29D4C0}"/>
              </a:ext>
            </a:extLst>
          </p:cNvPr>
          <p:cNvSpPr>
            <a:spLocks xmlns:a="http://schemas.openxmlformats.org/drawingml/2006/main" noGrp="1"/>
          </p:cNvSpPr>
          <p:nvPr/>
        </p:nvSpPr>
        <p:spPr>
          <a:xfrm xmlns:a="http://schemas.openxmlformats.org/drawingml/2006/main">
            <a:off x="628650" y="5419725"/>
            <a:ext cx="10848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24D3E"/>
                </a:solidFill>
                <a:latin typeface="Arial"/>
                <a:ea typeface="Arial"/>
                <a:cs typeface="Arial"/>
              </a:defRPr>
            </a:pPr>
            <a:r>
              <a:rPr sz="2175" b="1">
                <a:solidFill>
                  <a:srgbClr val="A24D3E"/>
                </a:solidFill>
                <a:latin typeface="Arial"/>
                <a:ea typeface="Arial"/>
                <a:cs typeface="Arial"/>
              </a:rPr>
              <a:t>A larger bill does not increase the $2.99 fee</a:t>
            </a:r>
          </a:p>
        </p:txBody>
      </p:sp>
      <p:sp>
        <p:nvSpPr>
          <p:cNvPr id="9" name="ACH reduces payment costs, but does not make every">
            <a:extLst xmlns:a="http://schemas.openxmlformats.org/drawingml/2006/main">
              <a:ext uri="{FF2B5EF4-FFF2-40B4-BE49-F238E27FC236}">
                <a16:creationId xmlns:a16="http://schemas.microsoft.com/office/drawing/2014/main" id="{6486462A-BD19-4891-AD72-4EFC32D6BF1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ACH reduces payment costs, but does not make every large job profitable. Figures exclude initial bank-link setup. Processing and payout costs use the full service bill.</a:t>
            </a:r>
          </a:p>
        </p:txBody>
      </p:sp>
    </p:spTree>
    <p:extLst>
      <p:ext uri="{BB962C8B-B14F-4D97-AF65-F5344CB8AC3E}">
        <p14:creationId xmlns:p14="http://schemas.microsoft.com/office/powerpoint/2010/main" val="109841288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F381CDAF-212B-499C-8B1B-5382B0751C0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E0072C11-C05F-453C-A2C0-371B5E88FBC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B8E78C32-DAD2-46F2-A6A6-2576D086084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CBEF06C9-0574-43BF-8111-3387F939FAD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AF062244-9280-4032-8E56-47B99D89265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add $2.99, with no extra finder fee for the same provider.</a:t>
            </a:r>
          </a:p>
        </p:txBody>
      </p:sp>
    </p:spTree>
    <p:extLst>
      <p:ext uri="{BB962C8B-B14F-4D97-AF65-F5344CB8AC3E}">
        <p14:creationId xmlns:p14="http://schemas.microsoft.com/office/powerpoint/2010/main" val="284179564"/>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B85E848E-B7F1-49AD-9A0F-05872EB2553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Mix shifts, larger properties and 3% annual price ">
            <a:extLst xmlns:a="http://schemas.openxmlformats.org/drawingml/2006/main">
              <a:ext uri="{FF2B5EF4-FFF2-40B4-BE49-F238E27FC236}">
                <a16:creationId xmlns:a16="http://schemas.microsoft.com/office/drawing/2014/main" id="{53C01992-CFB1-4B3B-B06A-EAD35080FCE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Mix shifts, larger properties and 3% annual price escalation lift the weighted average over time.</a:t>
            </a:r>
          </a:p>
        </p:txBody>
      </p:sp>
      <p:sp>
        <p:nvSpPr>
          <p:cNvPr id="3" name="YardMatch">
            <a:extLst xmlns:a="http://schemas.openxmlformats.org/drawingml/2006/main">
              <a:ext uri="{FF2B5EF4-FFF2-40B4-BE49-F238E27FC236}">
                <a16:creationId xmlns:a16="http://schemas.microsoft.com/office/drawing/2014/main" id="{6EBC039F-1DE3-4D87-BD5F-A31D304E700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0B516E13-AFB9-4D1D-B953-3709F0562F2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sp>
        <p:nvSpPr>
          <p:cNvPr id="5" name="Neighborhood">
            <a:extLst xmlns:a="http://schemas.openxmlformats.org/drawingml/2006/main">
              <a:ext uri="{FF2B5EF4-FFF2-40B4-BE49-F238E27FC236}">
                <a16:creationId xmlns:a16="http://schemas.microsoft.com/office/drawing/2014/main" id="{618FABDA-3DED-4BFD-A3E8-C24DEF8E82BA}"/>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35E99F27-BE59-42DF-96FE-EBE149E21503}"/>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9CAC5E01-B8FD-4B13-9142-BFDC0A0686CE}"/>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E80D97E3-32A1-4274-B8A9-B25CFA4A8F63}"/>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$87.22</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$102.84</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$121.00</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$96.64</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$118.00</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$142.41</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69DFDED9-2C7B-4F99-A2F6-973A4944622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Mix and pricing assumptions are editable in the workbook.</a:t>
            </a:r>
          </a:p>
        </p:txBody>
      </p:sp>
    </p:spTree>
    <p:extLst>
      <p:ext uri="{BB962C8B-B14F-4D97-AF65-F5344CB8AC3E}">
        <p14:creationId xmlns:p14="http://schemas.microsoft.com/office/powerpoint/2010/main" val="1147230763"/>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3826B0E9-7160-4FA2-8B2E-F1F2605858D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C401CA4B-644A-4B15-A5B2-4711AD935D2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17CEE666-6ECF-4BAB-BF58-BF7522A3BE7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80E0254F-C023-485A-A16A-9629F8EFBA9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10,265">
            <a:extLst xmlns:a="http://schemas.openxmlformats.org/drawingml/2006/main">
              <a:ext uri="{FF2B5EF4-FFF2-40B4-BE49-F238E27FC236}">
                <a16:creationId xmlns:a16="http://schemas.microsoft.com/office/drawing/2014/main" id="{7D11EE05-5339-4F75-A691-BAE389304D52}"/>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DF8700D7-760F-4B50-99B7-1B47CC955C51}"/>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F35D6FB4-A778-467D-B18F-C7956CFDA89E}"/>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B4E541E3-0C90-4628-A4B6-3DC3A7050E47}"/>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C0D8850D-298C-407A-8AB2-8F127DE3B7D1}"/>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E2B8DE40-344D-4414-9A5B-0326359E1128}"/>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1F0A9ABD-013E-43AF-90F8-DA0F56E7483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777428981"/>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BF941089-3D2C-43B5-9D7D-241482F4C68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331AA3DF-CE58-4F95-B73D-18059E41FE0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59B96877-A433-4D86-90B0-51ADB5980DF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EC359C22-2FCF-4565-BC39-8F7F9B05D62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sp>
        <p:nvSpPr>
          <p:cNvPr id="5" name="1. Concentrated provider launch">
            <a:extLst xmlns:a="http://schemas.openxmlformats.org/drawingml/2006/main">
              <a:ext uri="{FF2B5EF4-FFF2-40B4-BE49-F238E27FC236}">
                <a16:creationId xmlns:a16="http://schemas.microsoft.com/office/drawing/2014/main" id="{611A3C06-9452-4BD7-B84B-11CABC9AE566}"/>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8834DF88-43EA-439E-8F33-1D0C5CBD6638}"/>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DDC601AE-001E-47F2-811B-2A6A9D0FDF5B}"/>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E14A3A46-12BA-46F6-B069-E4E51EFF8B85}"/>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5FD73067-A35E-4DD0-919B-840B55E08870}"/>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2D43514A-E96F-49B6-A06A-7E639C33E2E2}"/>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F8134F38-EC96-48EF-9B93-0F2A040F1BB9}"/>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FE9B8DEE-28D0-44A2-9E54-8F056D00733E}"/>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692747910"/>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130DAAB1-0C70-4EEC-A203-A74D3182978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CD67C268-8095-431D-9879-EC8ACA7CE1C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DD5B8B1F-EECC-4B2A-BDA7-9FFDCA2965F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9E99846B-C230-473B-BA68-C230871FB52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sp>
        <p:nvSpPr>
          <p:cNvPr id="5" name="Product foundation">
            <a:extLst xmlns:a="http://schemas.openxmlformats.org/drawingml/2006/main">
              <a:ext uri="{FF2B5EF4-FFF2-40B4-BE49-F238E27FC236}">
                <a16:creationId xmlns:a16="http://schemas.microsoft.com/office/drawing/2014/main" id="{1CE3773B-E8D0-467C-B35D-E26169FACD4E}"/>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5C143276-042C-48A7-AA8B-090B26194092}"/>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A1D4A9A7-4CA6-4E31-B9F9-1C069B1F056A}"/>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AB7A0F62-F4C7-49C6-B7EE-E11083397095}"/>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9B11C218-6D7A-4895-96DE-1430B9E66901}"/>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C254D39F-F28E-444D-A678-73BD48AD5C8D}"/>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EAF617F6-B52B-4B47-BD5E-FC2E9FFD7245}"/>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CEC7DAD4-802A-4D5C-88D8-C20AB153BCEC}"/>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803024209"/>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01A23800-C92E-4AB5-9166-422BEDCFCB6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0197EA0B-E73D-4989-BCD7-E9A5F898F4D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DC213A03-A54E-4F84-BE39-B0C3715ACD5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905E8042-CB19-4001-A129-A2CC704EE10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A9315274-DE46-4498-9FAF-5C3C6B8264A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It assumes no subscription, advertising, recruiting revenue or additional finder fees from those projects.</a:t>
            </a:r>
          </a:p>
        </p:txBody>
      </p:sp>
    </p:spTree>
    <p:extLst>
      <p:ext uri="{BB962C8B-B14F-4D97-AF65-F5344CB8AC3E}">
        <p14:creationId xmlns:p14="http://schemas.microsoft.com/office/powerpoint/2010/main" val="199438618"/>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forecast makes the assumptions visible">
            <a:extLst xmlns:a="http://schemas.openxmlformats.org/drawingml/2006/main">
              <a:ext uri="{FF2B5EF4-FFF2-40B4-BE49-F238E27FC236}">
                <a16:creationId xmlns:a16="http://schemas.microsoft.com/office/drawing/2014/main" id="{75119BED-CD98-4150-AD85-3941E9C869B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forecast makes the assumptions visible</a:t>
            </a:r>
          </a:p>
        </p:txBody>
      </p:sp>
      <p:sp>
        <p:nvSpPr>
          <p:cNvPr id="2" name="2027-2033 calendar years. No historical operating ">
            <a:extLst xmlns:a="http://schemas.openxmlformats.org/drawingml/2006/main">
              <a:ext uri="{FF2B5EF4-FFF2-40B4-BE49-F238E27FC236}">
                <a16:creationId xmlns:a16="http://schemas.microsoft.com/office/drawing/2014/main" id="{403750F9-3CCB-47D1-A65F-6C765764975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No historical operating results are implied.</a:t>
            </a:r>
          </a:p>
        </p:txBody>
      </p:sp>
      <p:sp>
        <p:nvSpPr>
          <p:cNvPr id="3" name="YardMatch">
            <a:extLst xmlns:a="http://schemas.openxmlformats.org/drawingml/2006/main">
              <a:ext uri="{FF2B5EF4-FFF2-40B4-BE49-F238E27FC236}">
                <a16:creationId xmlns:a16="http://schemas.microsoft.com/office/drawing/2014/main" id="{D4EB1ADE-47BB-42BA-A5E0-64EF8CE7983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8174ABDF-4733-4F40-985A-A82F173AAE0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D153906E-B043-4409-A5EB-340A78AD466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36 staff. Downside prices are 15% higher. All cases keep $45 plus $2.99 fees.</a:t>
            </a:r>
          </a:p>
        </p:txBody>
      </p:sp>
    </p:spTree>
    <p:extLst>
      <p:ext uri="{BB962C8B-B14F-4D97-AF65-F5344CB8AC3E}">
        <p14:creationId xmlns:p14="http://schemas.microsoft.com/office/powerpoint/2010/main" val="1505784827"/>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8.5m in 2033">
            <a:extLst xmlns:a="http://schemas.openxmlformats.org/drawingml/2006/main">
              <a:ext uri="{FF2B5EF4-FFF2-40B4-BE49-F238E27FC236}">
                <a16:creationId xmlns:a16="http://schemas.microsoft.com/office/drawing/2014/main" id="{20106669-E75D-4A8C-B74E-0126FE97D30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$18.5m in 2033</a:t>
            </a:r>
          </a:p>
        </p:txBody>
      </p:sp>
      <p:sp>
        <p:nvSpPr>
          <p:cNvPr id="2" name="Net marketplace revenue, US$ millions. Finder fees">
            <a:extLst xmlns:a="http://schemas.openxmlformats.org/drawingml/2006/main">
              <a:ext uri="{FF2B5EF4-FFF2-40B4-BE49-F238E27FC236}">
                <a16:creationId xmlns:a16="http://schemas.microsoft.com/office/drawing/2014/main" id="{A8297509-9348-4CCE-90DD-5480540CAEB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232F6AC8-4F3D-4A89-8CB2-9F385EC01EB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85409299-BC35-4F2A-B648-70946B55C8F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bee9c7290f5a4c2f"/>
          </a:graphicData>
        </a:graphic>
      </p:graphicFrame>
      <p:sp>
        <p:nvSpPr>
          <p:cNvPr id="6" name="Base 2033: 292,448 year-end paying households, 3.8">
            <a:extLst xmlns:a="http://schemas.openxmlformats.org/drawingml/2006/main">
              <a:ext uri="{FF2B5EF4-FFF2-40B4-BE49-F238E27FC236}">
                <a16:creationId xmlns:a16="http://schemas.microsoft.com/office/drawing/2014/main" id="{6375D89A-3331-43B5-9AA0-3A4C62529D8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3.83m paid jobs and $545.3m GMV. Larger prices lift GMV. Extra completed jobs lift fee revenue.</a:t>
            </a:r>
          </a:p>
        </p:txBody>
      </p:sp>
    </p:spTree>
    <p:extLst>
      <p:ext uri="{BB962C8B-B14F-4D97-AF65-F5344CB8AC3E}">
        <p14:creationId xmlns:p14="http://schemas.microsoft.com/office/powerpoint/2010/main" val="1092533666"/>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vised base remains loss-making">
            <a:extLst xmlns:a="http://schemas.openxmlformats.org/drawingml/2006/main">
              <a:ext uri="{FF2B5EF4-FFF2-40B4-BE49-F238E27FC236}">
                <a16:creationId xmlns:a16="http://schemas.microsoft.com/office/drawing/2014/main" id="{3FA453DA-E4C8-4119-B2EC-BB22B37FC43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revised base remains loss-making</a:t>
            </a:r>
          </a:p>
        </p:txBody>
      </p:sp>
      <p:sp>
        <p:nvSpPr>
          <p:cNvPr id="2" name="US$ millions. The broader job mix exposes the cost">
            <a:extLst xmlns:a="http://schemas.openxmlformats.org/drawingml/2006/main">
              <a:ext uri="{FF2B5EF4-FFF2-40B4-BE49-F238E27FC236}">
                <a16:creationId xmlns:a16="http://schemas.microsoft.com/office/drawing/2014/main" id="{1A3BF1B7-609A-4E93-86BE-D61BF2A71C8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The broader job mix exposes the cost of retaining a flat $2.99 service fee.</a:t>
            </a:r>
          </a:p>
        </p:txBody>
      </p:sp>
      <p:sp>
        <p:nvSpPr>
          <p:cNvPr id="3" name="YardMatch">
            <a:extLst xmlns:a="http://schemas.openxmlformats.org/drawingml/2006/main">
              <a:ext uri="{FF2B5EF4-FFF2-40B4-BE49-F238E27FC236}">
                <a16:creationId xmlns:a16="http://schemas.microsoft.com/office/drawing/2014/main" id="{C2EE32E7-25EE-4246-866F-C95564A52CB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68C13D14-0079-4A8E-ABDA-67AFEC5CB6E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$2.23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$5.33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$10.60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$18.48</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$1.86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$3.18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$4.73</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($1.15)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($1.83)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($2.72)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($3.85)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($5.52)</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($1.87)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($2.78)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($3.94)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($5.65)</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($1.18)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($1.87)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($2.78)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($3.94)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($5.65)</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($2.20)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($3.59)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($5.53)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($8.37)</a:t>
                      </a:r>
                    </a:p>
                  </a:txBody>
                  <a:tcPr marL="91440" marR="91440" marT="45720" marB="45720" anchor="ctr">
                    <a:solidFill>
                      <a:srgbClr val="F7F5EF"/>
                    </a:solidFill>
                  </a:tcPr>
                </a:tc>
              </a:tr>
            </a:tbl>
          </a:graphicData>
        </a:graphic>
      </p:graphicFrame>
      <p:sp>
        <p:nvSpPr>
          <p:cNvPr id="6" name="2033 net loss is $5.65m; cash use is $8.37m. Reven">
            <a:extLst xmlns:a="http://schemas.openxmlformats.org/drawingml/2006/main">
              <a:ext uri="{FF2B5EF4-FFF2-40B4-BE49-F238E27FC236}">
                <a16:creationId xmlns:a16="http://schemas.microsoft.com/office/drawing/2014/main" id="{FF5261B5-9CF9-4EBF-9054-62F120E254E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loss is $5.65m; cash use is $8.37m. Revenue growth does not fix negative repeat contribution. Pricing or payment-cost responsibility must improve before scaling.</a:t>
            </a:r>
          </a:p>
        </p:txBody>
      </p:sp>
    </p:spTree>
    <p:extLst>
      <p:ext uri="{BB962C8B-B14F-4D97-AF65-F5344CB8AC3E}">
        <p14:creationId xmlns:p14="http://schemas.microsoft.com/office/powerpoint/2010/main" val="1058524276"/>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7E45438A-71D2-4639-B4BA-49C7E2BCAA5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rovider pricing. Ret">
            <a:extLst xmlns:a="http://schemas.openxmlformats.org/drawingml/2006/main">
              <a:ext uri="{FF2B5EF4-FFF2-40B4-BE49-F238E27FC236}">
                <a16:creationId xmlns:a16="http://schemas.microsoft.com/office/drawing/2014/main" id="{CFD6DA39-8F6D-41FD-8D22-F919DF144A6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provider pricing.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26DB5A16-52EE-4814-B233-0C71C8DBD7B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EF51DAC0-AAA2-49E4-8249-C91FF8B1E23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$1.19m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$5.33m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$9.43m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($2.02)m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($2.72)m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($1.78)m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$3.44m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$18.48m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$38.21m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($4.37)m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($5.65)m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($2.85)m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None of these cases reaches positive EBITDA by 203">
            <a:extLst xmlns:a="http://schemas.openxmlformats.org/drawingml/2006/main">
              <a:ext uri="{FF2B5EF4-FFF2-40B4-BE49-F238E27FC236}">
                <a16:creationId xmlns:a16="http://schemas.microsoft.com/office/drawing/2014/main" id="{99802521-07D3-4C9D-9A58-E16DD258CBC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None of these cases reaches positive EBITDA by 2033. More ACH use helps, but fee economics still need improvement before expansion is financially supported.</a:t>
            </a:r>
          </a:p>
        </p:txBody>
      </p:sp>
    </p:spTree>
    <p:extLst>
      <p:ext uri="{BB962C8B-B14F-4D97-AF65-F5344CB8AC3E}">
        <p14:creationId xmlns:p14="http://schemas.microsoft.com/office/powerpoint/2010/main" val="1936293401"/>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3F9DB70B-6F4A-49BC-83C6-5C5CAAD292F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9AB1172B-3BC8-4517-8892-30FCFDA1C3B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CD5B4FBC-55C9-4C2C-82FD-9C5F1A6D19A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B0F896A4-A55A-4B5A-AE7E-2687E7732CD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$69,306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($105,960)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$1,106,471</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$368,529</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4453F246-23D3-4F31-99BA-54BF1BEA4950}"/>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Repair repeat economics before financing expansion">
            <a:extLst xmlns:a="http://schemas.openxmlformats.org/drawingml/2006/main">
              <a:ext uri="{FF2B5EF4-FFF2-40B4-BE49-F238E27FC236}">
                <a16:creationId xmlns:a16="http://schemas.microsoft.com/office/drawing/2014/main" id="{3B204C9A-F834-4A28-A276-AF27C7D9B7A5}"/>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Repair repeat economics before financing expansion.</a:t>
            </a:r>
          </a:p>
        </p:txBody>
      </p:sp>
      <p:sp>
        <p:nvSpPr>
          <p:cNvPr id="8" name="$22.09m">
            <a:extLst xmlns:a="http://schemas.openxmlformats.org/drawingml/2006/main">
              <a:ext uri="{FF2B5EF4-FFF2-40B4-BE49-F238E27FC236}">
                <a16:creationId xmlns:a16="http://schemas.microsoft.com/office/drawing/2014/main" id="{D8586ADA-6628-4201-BBF3-F1085D99ABCA}"/>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$22.09m</a:t>
            </a:r>
          </a:p>
        </p:txBody>
      </p:sp>
      <p:sp>
        <p:nvSpPr>
          <p:cNvPr id="9" name="Cash deficit through 2033 if growth continues with">
            <a:extLst xmlns:a="http://schemas.openxmlformats.org/drawingml/2006/main">
              <a:ext uri="{FF2B5EF4-FFF2-40B4-BE49-F238E27FC236}">
                <a16:creationId xmlns:a16="http://schemas.microsoft.com/office/drawing/2014/main" id="{FED89F1F-6F6F-4CC9-A0AB-3DB5E7977A2C}"/>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Cash deficit through 2033 if growth continues without fixing pricing.</a:t>
            </a:r>
          </a:p>
        </p:txBody>
      </p:sp>
      <p:sp>
        <p:nvSpPr>
          <p:cNvPr id="10" name="Including the $2.74m buffer implies $24.83m. This ">
            <a:extLst xmlns:a="http://schemas.openxmlformats.org/drawingml/2006/main">
              <a:ext uri="{FF2B5EF4-FFF2-40B4-BE49-F238E27FC236}">
                <a16:creationId xmlns:a16="http://schemas.microsoft.com/office/drawing/2014/main" id="{687E4F00-F474-4E0F-AF84-BE674C0E6E5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Including the $2.74m buffer implies $24.83m. This is an unrepaired forecast, not a recommended raise. The illustrative $1.5m pilot round and valuation remain unapproved.</a:t>
            </a:r>
          </a:p>
        </p:txBody>
      </p:sp>
    </p:spTree>
    <p:extLst>
      <p:ext uri="{BB962C8B-B14F-4D97-AF65-F5344CB8AC3E}">
        <p14:creationId xmlns:p14="http://schemas.microsoft.com/office/powerpoint/2010/main" val="1690550096"/>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F4735179-FC03-47B9-8870-C5CF6E7C870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FCF2BCC2-C93E-42E8-871E-2B632E08658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35DAE4F1-B6AD-4B94-8732-B333553BA9E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AD5D380B-91D2-403A-AAF8-9F7C203B284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22E5A611-2EF2-4DE6-96D2-29B359C86B4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825870156"/>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8183AFD6-17C3-4C0F-972C-C11C8E05883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726848D1-89E2-4A96-BEBA-60553EC3829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419000DB-E214-4796-8702-58D4D4A41CA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9FB5C40A-7135-4F36-B868-B1C99EF8932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B31D628E-4A3C-4E35-9AC9-655FBF8FD2E8}"/>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0565EEE3-DE52-4E32-A5B2-59AB7EB2C6B3}"/>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8B8A470E-0636-4449-B5AD-A59BA8E218B5}"/>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79AB7769-7DDF-49AA-B2AD-53F973906E3E}"/>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B8F85084-75E2-4311-974D-39726F1AF48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455964573"/>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52E85BDA-836A-4D8A-B7A0-3F344FF3288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F2546399-8297-4C15-96B4-4D6CB44C062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0394258D-74CC-4662-BDB2-471B3E8D155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58ED2955-03C8-4ABF-98E0-253F4B27DCF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paying households and measured second-season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visits continue with a $2.99 provider fee</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Cash CAC of $50 or less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B5006F6E-71EF-4317-976A-017F9889C41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658107024"/>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02DA690D-0E3A-4E4B-B797-397AEB6ACB8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76093BF1-E6CF-4AEB-978F-BA29478825B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C079FC6B-B804-49A2-A681-113966F49A0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400EB62F-99D8-4CA8-B9E7-25D122128BB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sp>
        <p:nvSpPr>
          <p:cNvPr id="5" name="Households and paid visits">
            <a:extLst xmlns:a="http://schemas.openxmlformats.org/drawingml/2006/main">
              <a:ext uri="{FF2B5EF4-FFF2-40B4-BE49-F238E27FC236}">
                <a16:creationId xmlns:a16="http://schemas.microsoft.com/office/drawing/2014/main" id="{7D277C1C-A265-4DE5-B6F4-209FCBAF9B77}"/>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8BB45255-FADC-4102-9593-8439BC9CAD05}"/>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The fee gap">
            <a:extLst xmlns:a="http://schemas.openxmlformats.org/drawingml/2006/main">
              <a:ext uri="{FF2B5EF4-FFF2-40B4-BE49-F238E27FC236}">
                <a16:creationId xmlns:a16="http://schemas.microsoft.com/office/drawing/2014/main" id="{12EEDC6D-A745-4548-9BAB-122E2AB5C21E}"/>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The fee gap</a:t>
            </a:r>
          </a:p>
        </p:txBody>
      </p:sp>
      <p:sp>
        <p:nvSpPr>
          <p:cNvPr id="8" name="The 2031 base mix needs about $3.51 per service to">
            <a:extLst xmlns:a="http://schemas.openxmlformats.org/drawingml/2006/main">
              <a:ext uri="{FF2B5EF4-FFF2-40B4-BE49-F238E27FC236}">
                <a16:creationId xmlns:a16="http://schemas.microsoft.com/office/drawing/2014/main" id="{2F6AEAE2-908E-4D22-B7DD-B69F3B2B4740}"/>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needs about $3.51 per service to cover variable costs, before acquisition and fixed overhead. $2.99 remains the modeled fee.</a:t>
            </a:r>
          </a:p>
        </p:txBody>
      </p:sp>
      <p:sp>
        <p:nvSpPr>
          <p:cNvPr id="9" name="Profit and cash">
            <a:extLst xmlns:a="http://schemas.openxmlformats.org/drawingml/2006/main">
              <a:ext uri="{FF2B5EF4-FFF2-40B4-BE49-F238E27FC236}">
                <a16:creationId xmlns:a16="http://schemas.microsoft.com/office/drawing/2014/main" id="{112EC787-8809-49AC-B835-BF7194BB9368}"/>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73D3AF4F-DD2E-4994-906C-41C66C836B7A}"/>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12395997-12ED-4C5C-A9EB-AD35EFEBF5D1}"/>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4 of five-year contrib">
            <a:extLst xmlns:a="http://schemas.openxmlformats.org/drawingml/2006/main">
              <a:ext uri="{FF2B5EF4-FFF2-40B4-BE49-F238E27FC236}">
                <a16:creationId xmlns:a16="http://schemas.microsoft.com/office/drawing/2014/main" id="{C11B2822-15AD-4815-8470-351737D1B49A}"/>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$14 of five-year contribution versus $35 CAC, or 0.4x. The assumed repeat losses undermine retention value.</a:t>
            </a:r>
          </a:p>
        </p:txBody>
      </p:sp>
    </p:spTree>
    <p:extLst>
      <p:ext uri="{BB962C8B-B14F-4D97-AF65-F5344CB8AC3E}">
        <p14:creationId xmlns:p14="http://schemas.microsoft.com/office/powerpoint/2010/main" val="1455941469"/>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ources and basis">
            <a:extLst xmlns:a="http://schemas.openxmlformats.org/drawingml/2006/main">
              <a:ext uri="{FF2B5EF4-FFF2-40B4-BE49-F238E27FC236}">
                <a16:creationId xmlns:a16="http://schemas.microsoft.com/office/drawing/2014/main" id="{1EDFE934-C7B8-40E6-BACB-5A9E17A0688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66AAC915-1B11-4DE9-B284-F8A704C0863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8F13FDAB-37C7-40DA-8A20-17EAC328287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7F293D5A-49E4-4669-9E13-0A6A3BAA042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sp>
        <p:nvSpPr>
          <p:cNvPr id="5" name="Company materials">
            <a:extLst xmlns:a="http://schemas.openxmlformats.org/drawingml/2006/main">
              <a:ext uri="{FF2B5EF4-FFF2-40B4-BE49-F238E27FC236}">
                <a16:creationId xmlns:a16="http://schemas.microsoft.com/office/drawing/2014/main" id="{EB69FFAB-B6B7-4162-8906-8CB2D62C9EE9}"/>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4DB4242B-472D-4074-9524-2B7CF70C5C3D}"/>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0C32212B-C7CA-416D-A0CC-9B030B44EF06}"/>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E6D48EC3-B775-42D1-AE69-7470D5384BF8}"/>
              </a:ext>
            </a:extLst>
          </p:cNvPr>
          <p:cNvSpPr>
            <a:spLocks xmlns:a="http://schemas.openxmlformats.org/drawingml/2006/main" noGrp="1"/>
          </p:cNvSpPr>
          <p:nvPr/>
        </p:nvSpPr>
        <p:spPr>
          <a:xfrm xmlns:a="http://schemas.openxmlformats.org/drawingml/2006/main">
            <a:off x="628650" y="43529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380efc4c907442a0"/>
              </a:rPr>
              <a:t>Stripe Payments pricing</a:t>
            </a:r>
          </a:p>
        </p:txBody>
      </p:sp>
      <p:sp>
        <p:nvSpPr>
          <p:cNvPr id="9" name="Stripe Connect pricing">
            <a:extLst xmlns:a="http://schemas.openxmlformats.org/drawingml/2006/main">
              <a:ext uri="{FF2B5EF4-FFF2-40B4-BE49-F238E27FC236}">
                <a16:creationId xmlns:a16="http://schemas.microsoft.com/office/drawing/2014/main" id="{D5EFBA30-F287-49F6-BF80-DCC56A41AE2E}"/>
              </a:ext>
            </a:extLst>
          </p:cNvPr>
          <p:cNvSpPr>
            <a:spLocks xmlns:a="http://schemas.openxmlformats.org/drawingml/2006/main" noGrp="1"/>
          </p:cNvSpPr>
          <p:nvPr/>
        </p:nvSpPr>
        <p:spPr>
          <a:xfrm xmlns:a="http://schemas.openxmlformats.org/drawingml/2006/main">
            <a:off x="628650" y="46291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7dbddfb307ca4328"/>
              </a:rPr>
              <a:t>Stripe Connect pricing</a:t>
            </a:r>
          </a:p>
        </p:txBody>
      </p:sp>
      <p:sp>
        <p:nvSpPr>
          <p:cNvPr id="10" name="Stripe Financial Connections pricing">
            <a:extLst xmlns:a="http://schemas.openxmlformats.org/drawingml/2006/main">
              <a:ext uri="{FF2B5EF4-FFF2-40B4-BE49-F238E27FC236}">
                <a16:creationId xmlns:a16="http://schemas.microsoft.com/office/drawing/2014/main" id="{D3CD979C-FBE5-45C5-A762-3F8CF6E3A8B6}"/>
              </a:ext>
            </a:extLst>
          </p:cNvPr>
          <p:cNvSpPr>
            <a:spLocks xmlns:a="http://schemas.openxmlformats.org/drawingml/2006/main" noGrp="1"/>
          </p:cNvSpPr>
          <p:nvPr/>
        </p:nvSpPr>
        <p:spPr>
          <a:xfrm xmlns:a="http://schemas.openxmlformats.org/drawingml/2006/main">
            <a:off x="628650" y="490537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feff4990010940d5"/>
              </a:rPr>
              <a:t>Stripe Financial Connections pricing</a:t>
            </a:r>
          </a:p>
        </p:txBody>
      </p:sp>
      <p:sp>
        <p:nvSpPr>
          <p:cNvPr id="11" name="Zocdoc: Understanding pricing and billing">
            <a:extLst xmlns:a="http://schemas.openxmlformats.org/drawingml/2006/main">
              <a:ext uri="{FF2B5EF4-FFF2-40B4-BE49-F238E27FC236}">
                <a16:creationId xmlns:a16="http://schemas.microsoft.com/office/drawing/2014/main" id="{805B15C8-D761-4E5A-A6AE-7CFD38961E0C}"/>
              </a:ext>
            </a:extLst>
          </p:cNvPr>
          <p:cNvSpPr>
            <a:spLocks xmlns:a="http://schemas.openxmlformats.org/drawingml/2006/main" noGrp="1"/>
          </p:cNvSpPr>
          <p:nvPr/>
        </p:nvSpPr>
        <p:spPr>
          <a:xfrm xmlns:a="http://schemas.openxmlformats.org/drawingml/2006/main">
            <a:off x="628650" y="518160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24d22075c0d04bbb"/>
              </a:rPr>
              <a:t>Zocdoc: Understanding pricing and billing</a:t>
            </a:r>
          </a:p>
        </p:txBody>
      </p:sp>
      <p:sp>
        <p:nvSpPr>
          <p:cNvPr id="12" name="US Census QuickFacts: Barnegat, 2020-2024">
            <a:extLst xmlns:a="http://schemas.openxmlformats.org/drawingml/2006/main">
              <a:ext uri="{FF2B5EF4-FFF2-40B4-BE49-F238E27FC236}">
                <a16:creationId xmlns:a16="http://schemas.microsoft.com/office/drawing/2014/main" id="{4869516A-E84F-4C08-B8AD-4C2E3D3095FF}"/>
              </a:ext>
            </a:extLst>
          </p:cNvPr>
          <p:cNvSpPr>
            <a:spLocks xmlns:a="http://schemas.openxmlformats.org/drawingml/2006/main" noGrp="1"/>
          </p:cNvSpPr>
          <p:nvPr/>
        </p:nvSpPr>
        <p:spPr>
          <a:xfrm xmlns:a="http://schemas.openxmlformats.org/drawingml/2006/main">
            <a:off x="628650" y="54578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2d85daf95b4a4a21"/>
              </a:rPr>
              <a:t>US Census QuickFacts: Barnegat, 2020-2024</a:t>
            </a:r>
          </a:p>
        </p:txBody>
      </p:sp>
      <p:sp>
        <p:nvSpPr>
          <p:cNvPr id="13" name="External references are linked. Full citations are">
            <a:extLst xmlns:a="http://schemas.openxmlformats.org/drawingml/2006/main">
              <a:ext uri="{FF2B5EF4-FFF2-40B4-BE49-F238E27FC236}">
                <a16:creationId xmlns:a16="http://schemas.microsoft.com/office/drawing/2014/main" id="{B4536ED5-8BFD-44F6-A771-599C2AB8166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6860821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2026-09-20T22:58:06.6280000Z</dcterms:created>
  <dcterms:modified xsi:type="dcterms:W3CDTF">2026-09-20T22:58:06.6280000Z</dcterms:modified>
</coreProperties>
</file>