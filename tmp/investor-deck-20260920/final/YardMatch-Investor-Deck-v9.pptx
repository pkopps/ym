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c5e239e19449d8" /><Relationship Type="http://schemas.openxmlformats.org/officeDocument/2006/relationships/extended-properties" Target="/docProps/app.xml" Id="Re96a967355f54fcd" /><Relationship Type="http://schemas.openxmlformats.org/officeDocument/2006/relationships/officeDocument" Target="/ppt/presentation.xml" Id="R3174d034c7c74125" /></Relationships>
</file>

<file path=ppt/presentation.xml><?xml version="1.0" encoding="utf-8"?>
<p:presentation xmlns:p="http://schemas.openxmlformats.org/presentationml/2006/main">
  <p:sldMasterIdLst>
    <p:sldMasterId xmlns:r="http://schemas.openxmlformats.org/officeDocument/2006/relationships" id="2147483648" r:id="R6d88ab051f4b4008"/>
  </p:sldMasterIdLst>
  <p:notesMasterIdLst>
    <p:notesMasterId xmlns:r="http://schemas.openxmlformats.org/officeDocument/2006/relationships" r:id="Rbda9c0d4caed445a"/>
  </p:notesMasterIdLst>
  <p:sldIdLst>
    <p:sldId xmlns:r="http://schemas.openxmlformats.org/officeDocument/2006/relationships" id="256" r:id="R87227a0b90a94f4d"/>
    <p:sldId xmlns:r="http://schemas.openxmlformats.org/officeDocument/2006/relationships" id="257" r:id="Rf6bd870c8fbc4b9c"/>
    <p:sldId xmlns:r="http://schemas.openxmlformats.org/officeDocument/2006/relationships" id="258" r:id="R0724330b9870486e"/>
    <p:sldId xmlns:r="http://schemas.openxmlformats.org/officeDocument/2006/relationships" id="259" r:id="R2ac7e9cacbe64bc6"/>
    <p:sldId xmlns:r="http://schemas.openxmlformats.org/officeDocument/2006/relationships" id="260" r:id="R4b9ead4326924cad"/>
    <p:sldId xmlns:r="http://schemas.openxmlformats.org/officeDocument/2006/relationships" id="261" r:id="R6f1425842046463f"/>
    <p:sldId xmlns:r="http://schemas.openxmlformats.org/officeDocument/2006/relationships" id="262" r:id="Rf616db7c2655478f"/>
    <p:sldId xmlns:r="http://schemas.openxmlformats.org/officeDocument/2006/relationships" id="263" r:id="Raeb3a4606ff94e4b"/>
    <p:sldId xmlns:r="http://schemas.openxmlformats.org/officeDocument/2006/relationships" id="264" r:id="Rdabfc43000054781"/>
    <p:sldId xmlns:r="http://schemas.openxmlformats.org/officeDocument/2006/relationships" id="265" r:id="R6bae001786f74506"/>
    <p:sldId xmlns:r="http://schemas.openxmlformats.org/officeDocument/2006/relationships" id="266" r:id="R9a887d8f57194a80"/>
    <p:sldId xmlns:r="http://schemas.openxmlformats.org/officeDocument/2006/relationships" id="267" r:id="R456413f0b4a24e1f"/>
    <p:sldId xmlns:r="http://schemas.openxmlformats.org/officeDocument/2006/relationships" id="268" r:id="R6a2aca1b130647a1"/>
    <p:sldId xmlns:r="http://schemas.openxmlformats.org/officeDocument/2006/relationships" id="269" r:id="Rf204bef1805442b4"/>
    <p:sldId xmlns:r="http://schemas.openxmlformats.org/officeDocument/2006/relationships" id="270" r:id="Rb51e92defe1d4581"/>
    <p:sldId xmlns:r="http://schemas.openxmlformats.org/officeDocument/2006/relationships" id="271" r:id="Re83663118c09475b"/>
    <p:sldId xmlns:r="http://schemas.openxmlformats.org/officeDocument/2006/relationships" id="272" r:id="R636be82f49124b78"/>
    <p:sldId xmlns:r="http://schemas.openxmlformats.org/officeDocument/2006/relationships" id="273" r:id="R471639a5eac54244"/>
    <p:sldId xmlns:r="http://schemas.openxmlformats.org/officeDocument/2006/relationships" id="274" r:id="R635cad5120964285"/>
    <p:sldId xmlns:r="http://schemas.openxmlformats.org/officeDocument/2006/relationships" id="275" r:id="Rd209d8b5adc34df8"/>
    <p:sldId xmlns:r="http://schemas.openxmlformats.org/officeDocument/2006/relationships" id="276" r:id="Rf95c673156d94f0e"/>
    <p:sldId xmlns:r="http://schemas.openxmlformats.org/officeDocument/2006/relationships" id="277" r:id="R6c091ecf241d43d2"/>
    <p:sldId xmlns:r="http://schemas.openxmlformats.org/officeDocument/2006/relationships" id="278" r:id="R6d5ad4e5bf264c75"/>
    <p:sldId xmlns:r="http://schemas.openxmlformats.org/officeDocument/2006/relationships" id="279" r:id="R9c05cb81ba7a42db"/>
    <p:sldId xmlns:r="http://schemas.openxmlformats.org/officeDocument/2006/relationships" id="280" r:id="R56d353039a614f6d"/>
    <p:sldId xmlns:r="http://schemas.openxmlformats.org/officeDocument/2006/relationships" id="281" r:id="R3bb5200c6d5040ff"/>
    <p:sldId xmlns:r="http://schemas.openxmlformats.org/officeDocument/2006/relationships" id="282" r:id="R65ea15544b5843a2"/>
    <p:sldId xmlns:r="http://schemas.openxmlformats.org/officeDocument/2006/relationships" id="283" r:id="R27f5bcf75f98480b"/>
    <p:sldId xmlns:r="http://schemas.openxmlformats.org/officeDocument/2006/relationships" id="284" r:id="Rd299ffedc5a546f4"/>
    <p:sldId xmlns:r="http://schemas.openxmlformats.org/officeDocument/2006/relationships" id="285" r:id="R1e8610171ed54ef2"/>
    <p:sldId xmlns:r="http://schemas.openxmlformats.org/officeDocument/2006/relationships" id="286" r:id="R34bc174b2b6b4c37"/>
    <p:sldId xmlns:r="http://schemas.openxmlformats.org/officeDocument/2006/relationships" id="287" r:id="Re818537913774856"/>
    <p:sldId xmlns:r="http://schemas.openxmlformats.org/officeDocument/2006/relationships" id="288" r:id="Rfce5a8c8093d4420"/>
    <p:sldId xmlns:r="http://schemas.openxmlformats.org/officeDocument/2006/relationships" id="289" r:id="R5777568dedde40f2"/>
    <p:sldId xmlns:r="http://schemas.openxmlformats.org/officeDocument/2006/relationships" id="290" r:id="Ra84f26310a754d8d"/>
    <p:sldId xmlns:r="http://schemas.openxmlformats.org/officeDocument/2006/relationships" id="291" r:id="R67c792e887ef49b8"/>
    <p:sldId xmlns:r="http://schemas.openxmlformats.org/officeDocument/2006/relationships" id="292" r:id="Rf83ad57992a441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5b6d0935240da" /><Relationship Type="http://schemas.openxmlformats.org/officeDocument/2006/relationships/slideMaster" Target="/ppt/slideMasters/slideMaster1.xml" Id="R6d88ab051f4b4008" /><Relationship Type="http://schemas.openxmlformats.org/officeDocument/2006/relationships/notesMaster" Target="/ppt/notesMasters/notesMaster1.xml" Id="Rbda9c0d4caed445a" /><Relationship Type="http://schemas.openxmlformats.org/officeDocument/2006/relationships/presProps" Target="/ppt/presProps.xml" Id="Rab8c6da33514402b" /><Relationship Type="http://schemas.openxmlformats.org/officeDocument/2006/relationships/tableStyles" Target="/ppt/tableStyles.xml" Id="Ra21891eec9684954" /><Relationship Type="http://schemas.openxmlformats.org/officeDocument/2006/relationships/slide" Target="/ppt/slides/slide1.xml" Id="R87227a0b90a94f4d" /><Relationship Type="http://schemas.openxmlformats.org/officeDocument/2006/relationships/slide" Target="/ppt/slides/slide2.xml" Id="Rf6bd870c8fbc4b9c" /><Relationship Type="http://schemas.openxmlformats.org/officeDocument/2006/relationships/slide" Target="/ppt/slides/slide3.xml" Id="R0724330b9870486e" /><Relationship Type="http://schemas.openxmlformats.org/officeDocument/2006/relationships/slide" Target="/ppt/slides/slide4.xml" Id="R2ac7e9cacbe64bc6" /><Relationship Type="http://schemas.openxmlformats.org/officeDocument/2006/relationships/slide" Target="/ppt/slides/slide5.xml" Id="R4b9ead4326924cad" /><Relationship Type="http://schemas.openxmlformats.org/officeDocument/2006/relationships/slide" Target="/ppt/slides/slide6.xml" Id="R6f1425842046463f" /><Relationship Type="http://schemas.openxmlformats.org/officeDocument/2006/relationships/slide" Target="/ppt/slides/slide7.xml" Id="Rf616db7c2655478f" /><Relationship Type="http://schemas.openxmlformats.org/officeDocument/2006/relationships/slide" Target="/ppt/slides/slide8.xml" Id="Raeb3a4606ff94e4b" /><Relationship Type="http://schemas.openxmlformats.org/officeDocument/2006/relationships/slide" Target="/ppt/slides/slide9.xml" Id="Rdabfc43000054781" /><Relationship Type="http://schemas.openxmlformats.org/officeDocument/2006/relationships/slide" Target="/ppt/slides/slide10.xml" Id="R6bae001786f74506" /><Relationship Type="http://schemas.openxmlformats.org/officeDocument/2006/relationships/slide" Target="/ppt/slides/slide11.xml" Id="R9a887d8f57194a80" /><Relationship Type="http://schemas.openxmlformats.org/officeDocument/2006/relationships/slide" Target="/ppt/slides/slide12.xml" Id="R456413f0b4a24e1f" /><Relationship Type="http://schemas.openxmlformats.org/officeDocument/2006/relationships/slide" Target="/ppt/slides/slide13.xml" Id="R6a2aca1b130647a1" /><Relationship Type="http://schemas.openxmlformats.org/officeDocument/2006/relationships/slide" Target="/ppt/slides/slide14.xml" Id="Rf204bef1805442b4" /><Relationship Type="http://schemas.openxmlformats.org/officeDocument/2006/relationships/slide" Target="/ppt/slides/slide15.xml" Id="Rb51e92defe1d4581" /><Relationship Type="http://schemas.openxmlformats.org/officeDocument/2006/relationships/slide" Target="/ppt/slides/slide16.xml" Id="Re83663118c09475b" /><Relationship Type="http://schemas.openxmlformats.org/officeDocument/2006/relationships/slide" Target="/ppt/slides/slide17.xml" Id="R636be82f49124b78" /><Relationship Type="http://schemas.openxmlformats.org/officeDocument/2006/relationships/slide" Target="/ppt/slides/slide18.xml" Id="R471639a5eac54244" /><Relationship Type="http://schemas.openxmlformats.org/officeDocument/2006/relationships/slide" Target="/ppt/slides/slide19.xml" Id="R635cad5120964285" /><Relationship Type="http://schemas.openxmlformats.org/officeDocument/2006/relationships/slide" Target="/ppt/slides/slide20.xml" Id="Rd209d8b5adc34df8" /><Relationship Type="http://schemas.openxmlformats.org/officeDocument/2006/relationships/slide" Target="/ppt/slides/slide21.xml" Id="Rf95c673156d94f0e" /><Relationship Type="http://schemas.openxmlformats.org/officeDocument/2006/relationships/slide" Target="/ppt/slides/slide22.xml" Id="R6c091ecf241d43d2" /><Relationship Type="http://schemas.openxmlformats.org/officeDocument/2006/relationships/slide" Target="/ppt/slides/slide23.xml" Id="R6d5ad4e5bf264c75" /><Relationship Type="http://schemas.openxmlformats.org/officeDocument/2006/relationships/slide" Target="/ppt/slides/slide24.xml" Id="R9c05cb81ba7a42db" /><Relationship Type="http://schemas.openxmlformats.org/officeDocument/2006/relationships/slide" Target="/ppt/slides/slide25.xml" Id="R56d353039a614f6d" /><Relationship Type="http://schemas.openxmlformats.org/officeDocument/2006/relationships/slide" Target="/ppt/slides/slide26.xml" Id="R3bb5200c6d5040ff" /><Relationship Type="http://schemas.openxmlformats.org/officeDocument/2006/relationships/slide" Target="/ppt/slides/slide27.xml" Id="R65ea15544b5843a2" /><Relationship Type="http://schemas.openxmlformats.org/officeDocument/2006/relationships/slide" Target="/ppt/slides/slide28.xml" Id="R27f5bcf75f98480b" /><Relationship Type="http://schemas.openxmlformats.org/officeDocument/2006/relationships/slide" Target="/ppt/slides/slide29.xml" Id="Rd299ffedc5a546f4" /><Relationship Type="http://schemas.openxmlformats.org/officeDocument/2006/relationships/slide" Target="/ppt/slides/slide30.xml" Id="R1e8610171ed54ef2" /><Relationship Type="http://schemas.openxmlformats.org/officeDocument/2006/relationships/slide" Target="/ppt/slides/slide31.xml" Id="R34bc174b2b6b4c37" /><Relationship Type="http://schemas.openxmlformats.org/officeDocument/2006/relationships/slide" Target="/ppt/slides/slide32.xml" Id="Re818537913774856" /><Relationship Type="http://schemas.openxmlformats.org/officeDocument/2006/relationships/slide" Target="/ppt/slides/slide33.xml" Id="Rfce5a8c8093d4420" /><Relationship Type="http://schemas.openxmlformats.org/officeDocument/2006/relationships/slide" Target="/ppt/slides/slide34.xml" Id="R5777568dedde40f2" /><Relationship Type="http://schemas.openxmlformats.org/officeDocument/2006/relationships/slide" Target="/ppt/slides/slide35.xml" Id="Ra84f26310a754d8d" /><Relationship Type="http://schemas.openxmlformats.org/officeDocument/2006/relationships/slide" Target="/ppt/slides/slide36.xml" Id="R67c792e887ef49b8" /><Relationship Type="http://schemas.openxmlformats.org/officeDocument/2006/relationships/slide" Target="/ppt/slides/slide37.xml" Id="Rf83ad57992a441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6ef282b66a4b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83806689ae4122" /><Relationship Type="http://schemas.openxmlformats.org/officeDocument/2006/relationships/notesMaster" Target="/ppt/notesMasters/notesMaster1.xml" Id="R12d4aa4809ea42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575987e6a7405e" /><Relationship Type="http://schemas.openxmlformats.org/officeDocument/2006/relationships/notesMaster" Target="/ppt/notesMasters/notesMaster1.xml" Id="Rd27f3db575404c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f7c35c8bf6471e" /><Relationship Type="http://schemas.openxmlformats.org/officeDocument/2006/relationships/notesMaster" Target="/ppt/notesMasters/notesMaster1.xml" Id="R172d2467cdd946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998fd6119341d7" /><Relationship Type="http://schemas.openxmlformats.org/officeDocument/2006/relationships/notesMaster" Target="/ppt/notesMasters/notesMaster1.xml" Id="Rd2ecfb73c3d44d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c1da7691284522" /><Relationship Type="http://schemas.openxmlformats.org/officeDocument/2006/relationships/notesMaster" Target="/ppt/notesMasters/notesMaster1.xml" Id="R4d48b993ffd341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080aef5acd4983" /><Relationship Type="http://schemas.openxmlformats.org/officeDocument/2006/relationships/notesMaster" Target="/ppt/notesMasters/notesMaster1.xml" Id="R106a0bffce9940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1d54bc05f347c8" /><Relationship Type="http://schemas.openxmlformats.org/officeDocument/2006/relationships/notesMaster" Target="/ppt/notesMasters/notesMaster1.xml" Id="Ra4688b2cadfc45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551158cbf942a1" /><Relationship Type="http://schemas.openxmlformats.org/officeDocument/2006/relationships/notesMaster" Target="/ppt/notesMasters/notesMaster1.xml" Id="R50cad0173d744d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75ed1fcd17459b" /><Relationship Type="http://schemas.openxmlformats.org/officeDocument/2006/relationships/notesMaster" Target="/ppt/notesMasters/notesMaster1.xml" Id="R245148b5961f4d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4bdda0a7884e1f" /><Relationship Type="http://schemas.openxmlformats.org/officeDocument/2006/relationships/notesMaster" Target="/ppt/notesMasters/notesMaster1.xml" Id="Rbd1c61713a7040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e8c3d2cc094bf0" /><Relationship Type="http://schemas.openxmlformats.org/officeDocument/2006/relationships/notesMaster" Target="/ppt/notesMasters/notesMaster1.xml" Id="R6733aecf623b48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c92dae41094ca1" /><Relationship Type="http://schemas.openxmlformats.org/officeDocument/2006/relationships/notesMaster" Target="/ppt/notesMasters/notesMaster1.xml" Id="R75f2ffd98de241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f6213bc5e947a3" /><Relationship Type="http://schemas.openxmlformats.org/officeDocument/2006/relationships/notesMaster" Target="/ppt/notesMasters/notesMaster1.xml" Id="Rd0cd73db716b4b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b600d9a612453b" /><Relationship Type="http://schemas.openxmlformats.org/officeDocument/2006/relationships/notesMaster" Target="/ppt/notesMasters/notesMaster1.xml" Id="Rc84642f8115040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04f2d4abee4619" /><Relationship Type="http://schemas.openxmlformats.org/officeDocument/2006/relationships/notesMaster" Target="/ppt/notesMasters/notesMaster1.xml" Id="R1b6ee726523943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506351ac204a94" /><Relationship Type="http://schemas.openxmlformats.org/officeDocument/2006/relationships/notesMaster" Target="/ppt/notesMasters/notesMaster1.xml" Id="Rd83fc0e5e08e496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7ea545bf2cf46f6" /><Relationship Type="http://schemas.openxmlformats.org/officeDocument/2006/relationships/notesMaster" Target="/ppt/notesMasters/notesMaster1.xml" Id="R25609390decc45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85d65b434c64cc0" /><Relationship Type="http://schemas.openxmlformats.org/officeDocument/2006/relationships/notesMaster" Target="/ppt/notesMasters/notesMaster1.xml" Id="R9fc40b350ad141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b826247b0b4bad" /><Relationship Type="http://schemas.openxmlformats.org/officeDocument/2006/relationships/notesMaster" Target="/ppt/notesMasters/notesMaster1.xml" Id="Ra09d9e6a63c84f7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f5d11777fb46e2" /><Relationship Type="http://schemas.openxmlformats.org/officeDocument/2006/relationships/notesMaster" Target="/ppt/notesMasters/notesMaster1.xml" Id="R1a147e74bf424c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06c5d0750b419f" /><Relationship Type="http://schemas.openxmlformats.org/officeDocument/2006/relationships/notesMaster" Target="/ppt/notesMasters/notesMaster1.xml" Id="R7f9c19d1846e4c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0c3556d68e14baa" /><Relationship Type="http://schemas.openxmlformats.org/officeDocument/2006/relationships/notesMaster" Target="/ppt/notesMasters/notesMaster1.xml" Id="Red4b547ff96d472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fcc97da87be4beb" /><Relationship Type="http://schemas.openxmlformats.org/officeDocument/2006/relationships/notesMaster" Target="/ppt/notesMasters/notesMaster1.xml" Id="R9e6c6385db294a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0394281f0a14149" /><Relationship Type="http://schemas.openxmlformats.org/officeDocument/2006/relationships/notesMaster" Target="/ppt/notesMasters/notesMaster1.xml" Id="Re16305bac2dd4e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e0b737da9547e5" /><Relationship Type="http://schemas.openxmlformats.org/officeDocument/2006/relationships/notesMaster" Target="/ppt/notesMasters/notesMaster1.xml" Id="Rcd8eb5621fe14ce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f14df1afcb4705" /><Relationship Type="http://schemas.openxmlformats.org/officeDocument/2006/relationships/notesMaster" Target="/ppt/notesMasters/notesMaster1.xml" Id="R81df1a3de620437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b93b643fcbe44e1" /><Relationship Type="http://schemas.openxmlformats.org/officeDocument/2006/relationships/notesMaster" Target="/ppt/notesMasters/notesMaster1.xml" Id="Rfc448030e7514ba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9924dec837944a6" /><Relationship Type="http://schemas.openxmlformats.org/officeDocument/2006/relationships/notesMaster" Target="/ppt/notesMasters/notesMaster1.xml" Id="Rd17daefe6c4e48e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f51a515f634938" /><Relationship Type="http://schemas.openxmlformats.org/officeDocument/2006/relationships/notesMaster" Target="/ppt/notesMasters/notesMaster1.xml" Id="R3daa56e69f4744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ff83af875534a4a" /><Relationship Type="http://schemas.openxmlformats.org/officeDocument/2006/relationships/notesMaster" Target="/ppt/notesMasters/notesMaster1.xml" Id="R85202544e8a647a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2b518bb74ea40ed" /><Relationship Type="http://schemas.openxmlformats.org/officeDocument/2006/relationships/notesMaster" Target="/ppt/notesMasters/notesMaster1.xml" Id="R682e5c1b65be443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207108d0e124817" /><Relationship Type="http://schemas.openxmlformats.org/officeDocument/2006/relationships/notesMaster" Target="/ppt/notesMasters/notesMaster1.xml" Id="R6070669e6a2f4c8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6ab4e3f512e4646" /><Relationship Type="http://schemas.openxmlformats.org/officeDocument/2006/relationships/notesMaster" Target="/ppt/notesMasters/notesMaster1.xml" Id="Rb248e9dd41a949f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d1c1c1ba8b34165" /><Relationship Type="http://schemas.openxmlformats.org/officeDocument/2006/relationships/notesMaster" Target="/ppt/notesMasters/notesMaster1.xml" Id="R3064f476fef8424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76288528c4d4a3a" /><Relationship Type="http://schemas.openxmlformats.org/officeDocument/2006/relationships/notesMaster" Target="/ppt/notesMasters/notesMaster1.xml" Id="R52d7a7c9a26243e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0ba487d6eb14023" /><Relationship Type="http://schemas.openxmlformats.org/officeDocument/2006/relationships/notesMaster" Target="/ppt/notesMasters/notesMaster1.xml" Id="Rf52da7b02bb849c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ba5df3ebd244604" /><Relationship Type="http://schemas.openxmlformats.org/officeDocument/2006/relationships/notesMaster" Target="/ppt/notesMasters/notesMaster1.xml" Id="Rd9768cf37ebd46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This is proposed investor-model pricing, not a live product change. $45 after the first completed paid service in each new relationship; first-client welcome waiver remains. Recurring platform fee is MAX($2.99,1% of service bill), plus actual card/ACH processing. YardMatch absorbs Connect account/payout, bank verification, support and loss allowances.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Standard US card rate 2.9% + $0.30. ACH 0.8% capped at $5. Platform fee max($2.99,1% of job price).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Town forecast weights are based on full-season household exposure. Town-specific price tiers use 1.00 / 1.15 / 1.30, with lot factors 1.00 / 1.35 / 1.80. Correlated joint weights replace the former independent demographic mixes. All town price and lot assumptions are unvalidated. Income is not proof of lot size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Census ACS 2020-2024; income in 2024 dollars. Rumson median income is top-coded at $250,000+. Higher house value does not itself establish turf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Pro-only adoption 30%, Teams adoption 12%, nine paid months, using the active-provider totals in the town forecast.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per-transaction MAX($2.99,1% of price).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Prior build used 160,000 new households in 2033 without a local-market denominator. Revised forecast only includes the named municipalities. Fee sensitivity is arithmetic at unchanged volume, staffing, retention and acquisition, not a price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20,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c821c315954d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863d7a881e4f67" /><Relationship Type="http://schemas.openxmlformats.org/officeDocument/2006/relationships/slideLayout" Target="/ppt/slideLayouts/slideLayout1.xml" Id="Ra4888df6b83045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888df6b83045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ca06a415aa48b1" /><Relationship Type="http://schemas.openxmlformats.org/officeDocument/2006/relationships/image" Target="/ppt/media/image.png" Id="Ra9043bcb4a304f9c" /><Relationship Type="http://schemas.openxmlformats.org/officeDocument/2006/relationships/notesSlide" Target="/ppt/notesSlides/notesSlide1.xml" Id="R1ce001351b8843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7b922fed4d4076" /><Relationship Type="http://schemas.openxmlformats.org/officeDocument/2006/relationships/notesSlide" Target="/ppt/notesSlides/notesSlide2.xml" Id="R475a74a159d64a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a1a57737894c6f" /><Relationship Type="http://schemas.openxmlformats.org/officeDocument/2006/relationships/notesSlide" Target="/ppt/notesSlides/notesSlide3.xml" Id="Rc7ab3b62ff3b4c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454ab4825e4383" /><Relationship Type="http://schemas.openxmlformats.org/officeDocument/2006/relationships/image" Target="/ppt/media/image2.png" Id="R858a652798c144de" /><Relationship Type="http://schemas.openxmlformats.org/officeDocument/2006/relationships/notesSlide" Target="/ppt/notesSlides/notesSlide4.xml" Id="R7b30766f6dcc49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2c0fe66c9544df" /><Relationship Type="http://schemas.openxmlformats.org/officeDocument/2006/relationships/image" Target="/ppt/media/image3.png" Id="R2c8513fcbe154459" /><Relationship Type="http://schemas.openxmlformats.org/officeDocument/2006/relationships/notesSlide" Target="/ppt/notesSlides/notesSlide5.xml" Id="Rfdbc6aa3202641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3d498357c94f81" /><Relationship Type="http://schemas.openxmlformats.org/officeDocument/2006/relationships/notesSlide" Target="/ppt/notesSlides/notesSlide6.xml" Id="R38fb748e6fc345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5c51fca1174f8d" /><Relationship Type="http://schemas.openxmlformats.org/officeDocument/2006/relationships/notesSlide" Target="/ppt/notesSlides/notesSlide7.xml" Id="R367daf858d1e4a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632cfadb454860" /><Relationship Type="http://schemas.openxmlformats.org/officeDocument/2006/relationships/notesSlide" Target="/ppt/notesSlides/notesSlide8.xml" Id="R481b8a84fcee44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afb880de764487" /><Relationship Type="http://schemas.openxmlformats.org/officeDocument/2006/relationships/notesSlide" Target="/ppt/notesSlides/notesSlide9.xml" Id="Rbaecafa6c84647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854d645b744c48" /><Relationship Type="http://schemas.openxmlformats.org/officeDocument/2006/relationships/notesSlide" Target="/ppt/notesSlides/notesSlide10.xml" Id="Re7c6159121ee42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0f9f643b0c4385" /><Relationship Type="http://schemas.openxmlformats.org/officeDocument/2006/relationships/notesSlide" Target="/ppt/notesSlides/notesSlide11.xml" Id="Rdc30ade4da7443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e2b12e0b534995" /><Relationship Type="http://schemas.openxmlformats.org/officeDocument/2006/relationships/notesSlide" Target="/ppt/notesSlides/notesSlide12.xml" Id="Ra6915c4f001347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6063fb0be941fd" /><Relationship Type="http://schemas.openxmlformats.org/officeDocument/2006/relationships/notesSlide" Target="/ppt/notesSlides/notesSlide13.xml" Id="R45aa3b63b14a45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4d5f986be64c94" /><Relationship Type="http://schemas.openxmlformats.org/officeDocument/2006/relationships/notesSlide" Target="/ppt/notesSlides/notesSlide14.xml" Id="Rb4835bdbbd6e4c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9b8f14a6b84cee" /><Relationship Type="http://schemas.openxmlformats.org/officeDocument/2006/relationships/notesSlide" Target="/ppt/notesSlides/notesSlide15.xml" Id="R3d118a2fbdd742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7c7f39f65b4a40" /><Relationship Type="http://schemas.openxmlformats.org/officeDocument/2006/relationships/notesSlide" Target="/ppt/notesSlides/notesSlide16.xml" Id="Rdfd5bb616ea6490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d8bfc7dfb094d86" /><Relationship Type="http://schemas.openxmlformats.org/officeDocument/2006/relationships/notesSlide" Target="/ppt/notesSlides/notesSlide17.xml" Id="R65f9f2dc0d6045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9fb5ee0c0b14f2d" /><Relationship Type="http://schemas.openxmlformats.org/officeDocument/2006/relationships/notesSlide" Target="/ppt/notesSlides/notesSlide18.xml" Id="R9d7c4b01e98440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cbc5abc8a14a83" /><Relationship Type="http://schemas.openxmlformats.org/officeDocument/2006/relationships/notesSlide" Target="/ppt/notesSlides/notesSlide19.xml" Id="R4d9afed03b8244b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370e4e174e4d0f" /><Relationship Type="http://schemas.openxmlformats.org/officeDocument/2006/relationships/notesSlide" Target="/ppt/notesSlides/notesSlide20.xml" Id="Rfca1a1ab6c854a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7233f5d53054a77" /><Relationship Type="http://schemas.openxmlformats.org/officeDocument/2006/relationships/notesSlide" Target="/ppt/notesSlides/notesSlide21.xml" Id="R21e0581cca4b4e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59f56bf65bf4261" /><Relationship Type="http://schemas.openxmlformats.org/officeDocument/2006/relationships/notesSlide" Target="/ppt/notesSlides/notesSlide22.xml" Id="Rfb23b69c153f42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49eda1f315a49a7" /><Relationship Type="http://schemas.openxmlformats.org/officeDocument/2006/relationships/notesSlide" Target="/ppt/notesSlides/notesSlide23.xml" Id="R053c4efb9fe748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46f15d5bb614178" /><Relationship Type="http://schemas.openxmlformats.org/officeDocument/2006/relationships/chart" Target="/ppt/slides/charts/chart1.xml" Id="R030e69da069f4af3" /><Relationship Type="http://schemas.openxmlformats.org/officeDocument/2006/relationships/notesSlide" Target="/ppt/notesSlides/notesSlide24.xml" Id="Rf56866848ef848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1cb9c32d76a4d97" /><Relationship Type="http://schemas.openxmlformats.org/officeDocument/2006/relationships/notesSlide" Target="/ppt/notesSlides/notesSlide25.xml" Id="R672a8e6f6d7943a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c2c35021bd14173" /><Relationship Type="http://schemas.openxmlformats.org/officeDocument/2006/relationships/notesSlide" Target="/ppt/notesSlides/notesSlide26.xml" Id="R1fb64f973a4143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50e77e3810e431b" /><Relationship Type="http://schemas.openxmlformats.org/officeDocument/2006/relationships/notesSlide" Target="/ppt/notesSlides/notesSlide27.xml" Id="Re511b2c5b84a486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67c5cbc414c427f" /><Relationship Type="http://schemas.openxmlformats.org/officeDocument/2006/relationships/notesSlide" Target="/ppt/notesSlides/notesSlide28.xml" Id="R40bdcef2fc08446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b00429b23554589" /><Relationship Type="http://schemas.openxmlformats.org/officeDocument/2006/relationships/notesSlide" Target="/ppt/notesSlides/notesSlide29.xml" Id="Re168c4a3c1c14f7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f7f0cb8ff564fc0" /><Relationship Type="http://schemas.openxmlformats.org/officeDocument/2006/relationships/notesSlide" Target="/ppt/notesSlides/notesSlide30.xml" Id="Rf1d10da578d0484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31934a930fa45d6" /><Relationship Type="http://schemas.openxmlformats.org/officeDocument/2006/relationships/notesSlide" Target="/ppt/notesSlides/notesSlide31.xml" Id="R0f403592c9124e8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5d4d9f12ae34f99" /><Relationship Type="http://schemas.openxmlformats.org/officeDocument/2006/relationships/notesSlide" Target="/ppt/notesSlides/notesSlide32.xml" Id="Rf2d18e64d85241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2ebb1c0880d4dd7" /><Relationship Type="http://schemas.openxmlformats.org/officeDocument/2006/relationships/notesSlide" Target="/ppt/notesSlides/notesSlide33.xml" Id="Rf93c7a69e3ae4f1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75c3eb944a3463b" /><Relationship Type="http://schemas.openxmlformats.org/officeDocument/2006/relationships/notesSlide" Target="/ppt/notesSlides/notesSlide34.xml" Id="Rc93d10249ffe464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aeb99208b924bba" /><Relationship Type="http://schemas.openxmlformats.org/officeDocument/2006/relationships/hyperlink" Target="https://stripe.com/pricing" TargetMode="External" Id="R1a7b97164ac044e5" /><Relationship Type="http://schemas.openxmlformats.org/officeDocument/2006/relationships/hyperlink" Target="https://stripe.com/connect/pricing" TargetMode="External" Id="Ree2589b4589e407a" /><Relationship Type="http://schemas.openxmlformats.org/officeDocument/2006/relationships/hyperlink" Target="https://stripe.com/financial-connections" TargetMode="External" Id="Re9333b96a29c4f63" /><Relationship Type="http://schemas.openxmlformats.org/officeDocument/2006/relationships/hyperlink" Target="https://www.zocdoc.com/provider-help/en/articles/10859404-understanding-zocdoc-pricing-and-billing" TargetMode="External" Id="R2b90ab7816f84f89" /><Relationship Type="http://schemas.openxmlformats.org/officeDocument/2006/relationships/hyperlink" Target="https://www.zocdoc.com/about/understanding-your-bill/" TargetMode="External" Id="R1a2261a055b64731" /><Relationship Type="http://schemas.openxmlformats.org/officeDocument/2006/relationships/hyperlink" Target="https://usa.visa.com/support/small-business/regulations-fees.html" TargetMode="External" Id="Ra57f46c3a58a4b5e" /><Relationship Type="http://schemas.openxmlformats.org/officeDocument/2006/relationships/hyperlink" Target="https://www.frbservices.org/resources/fees/ach-2026" TargetMode="External" Id="R96011c0035d94899" /><Relationship Type="http://schemas.openxmlformats.org/officeDocument/2006/relationships/hyperlink" Target="https://www.pcisecuritystandards.org/standards/pci-dss/" TargetMode="External" Id="Rfc0912a71cd948dc" /><Relationship Type="http://schemas.openxmlformats.org/officeDocument/2006/relationships/hyperlink" Target="https://www.census.gov/quickfacts/fact/table/barnegattownshipoceancountynewjersey/PST045225" TargetMode="External" Id="Re7edf4dda03f4991" /><Relationship Type="http://schemas.openxmlformats.org/officeDocument/2006/relationships/hyperlink" Target="https://www.getjobber.com/pricing/" TargetMode="External" Id="R3ac33cb6e5de4fd5" /><Relationship Type="http://schemas.openxmlformats.org/officeDocument/2006/relationships/hyperlink" Target="https://www.zocdoc.com/provider-help/en/articles/8709753-how-much-does-sponsored-results-cost" TargetMode="External" Id="R53a9d5f298394bcf" /><Relationship Type="http://schemas.openxmlformats.org/officeDocument/2006/relationships/hyperlink" Target="https://stripe.com/billing/pricing" TargetMode="External" Id="R5ee15c65561643af" /><Relationship Type="http://schemas.openxmlformats.org/officeDocument/2006/relationships/notesSlide" Target="/ppt/notesSlides/notesSlide35.xml" Id="Rdae0d958b7db4ce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f6f7934bceb45cc" /><Relationship Type="http://schemas.openxmlformats.org/officeDocument/2006/relationships/hyperlink" Target="https://www.census.gov/quickfacts/fact/table/barnegattownshipoceancountynewjersey/PST045225" TargetMode="External" Id="Rd1069fff6caf406c" /><Relationship Type="http://schemas.openxmlformats.org/officeDocument/2006/relationships/hyperlink" Target="https://www.census.gov/quickfacts/fact/table/staffordtownshipoceancountynewjersey/PST045225" TargetMode="External" Id="R450dd82ef52745e7" /><Relationship Type="http://schemas.openxmlformats.org/officeDocument/2006/relationships/hyperlink" Target="https://www.census.gov/quickfacts/fact/table/laceytownshipoceancountynewjersey/PST045225" TargetMode="External" Id="R36d20973df90430e" /><Relationship Type="http://schemas.openxmlformats.org/officeDocument/2006/relationships/hyperlink" Target="https://www.census.gov/quickfacts/fact/table/oceantownshipoceancountynewjersey/PST045225" TargetMode="External" Id="R3ee3f85174854663" /><Relationship Type="http://schemas.openxmlformats.org/officeDocument/2006/relationships/hyperlink" Target="https://www.census.gov/quickfacts/fact/table/berkeleytownshipoceancountynewjersey/PST045225" TargetMode="External" Id="Rc4fb41e6f62f492c" /><Relationship Type="http://schemas.openxmlformats.org/officeDocument/2006/relationships/hyperlink" Target="https://www.census.gov/quickfacts/fact/table/tomsrivertownshipoceancountynewjersey/PST045225" TargetMode="External" Id="Re76291e10e5b4a9e" /><Relationship Type="http://schemas.openxmlformats.org/officeDocument/2006/relationships/hyperlink" Target="https://www.census.gov/quickfacts/fact/table/bricktownshipoceancountynewjersey/PST045225" TargetMode="External" Id="Rb29706c0de74456f" /><Relationship Type="http://schemas.openxmlformats.org/officeDocument/2006/relationships/notesSlide" Target="/ppt/notesSlides/notesSlide36.xml" Id="R7afd733c1d144f5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399a06d0941493e" /><Relationship Type="http://schemas.openxmlformats.org/officeDocument/2006/relationships/hyperlink" Target="https://www.census.gov/quickfacts/fact/table/jacksontownshipoceancountynewjersey/PST045225" TargetMode="External" Id="Recf60ba4f1844a3a" /><Relationship Type="http://schemas.openxmlformats.org/officeDocument/2006/relationships/hyperlink" Target="https://www.census.gov/quickfacts/fact/table/howelltownshipmonmouthcountynewjersey/PST045225" TargetMode="External" Id="R9a992ad4a4ac4f34" /><Relationship Type="http://schemas.openxmlformats.org/officeDocument/2006/relationships/hyperlink" Target="https://www.census.gov/quickfacts/fact/table/walltownshipmonmouthcountynewjersey/PST045225" TargetMode="External" Id="R1339c8f256f144e9" /><Relationship Type="http://schemas.openxmlformats.org/officeDocument/2006/relationships/hyperlink" Target="https://www.census.gov/quickfacts/fact/table/middletowntownshipmonmouthcountynewjersey/PST045225" TargetMode="External" Id="Rb4d3c555ecd247b1" /><Relationship Type="http://schemas.openxmlformats.org/officeDocument/2006/relationships/hyperlink" Target="https://www.census.gov/quickfacts/fact/table/holmdeltownshipmonmouthcountynewjersey/PST045225" TargetMode="External" Id="R56647b7de8ad42db" /><Relationship Type="http://schemas.openxmlformats.org/officeDocument/2006/relationships/hyperlink" Target="https://www.census.gov/quickfacts/fact/table/coltsnecktownshipmonmouthcountynewjersey/PST045225" TargetMode="External" Id="R2903d45014864bfe" /><Relationship Type="http://schemas.openxmlformats.org/officeDocument/2006/relationships/hyperlink" Target="https://www.census.gov/quickfacts/fact/table/rumsonboroughnewjersey/PST045225" TargetMode="External" Id="R50c3c8eee9b041e6" /><Relationship Type="http://schemas.openxmlformats.org/officeDocument/2006/relationships/notesSlide" Target="/ppt/notesSlides/notesSlide37.xml" Id="Rab4321f3495249f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0.01053</c:v>
                </c:pt>
                <c:pt idx="1">
                  <c:v>0.042711</c:v>
                </c:pt>
                <c:pt idx="2">
                  <c:v>0.090611</c:v>
                </c:pt>
                <c:pt idx="3">
                  <c:v>0.145654</c:v>
                </c:pt>
                <c:pt idx="4">
                  <c:v>0.195788</c:v>
                </c:pt>
                <c:pt idx="5">
                  <c:v>0.249001</c:v>
                </c:pt>
                <c:pt idx="6">
                  <c:v>0.278136</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0.006378</c:v>
                </c:pt>
                <c:pt idx="1">
                  <c:v>0.035127</c:v>
                </c:pt>
                <c:pt idx="2">
                  <c:v>0.101899</c:v>
                </c:pt>
                <c:pt idx="3">
                  <c:v>0.214136</c:v>
                </c:pt>
                <c:pt idx="4">
                  <c:v>0.36818</c:v>
                </c:pt>
                <c:pt idx="5">
                  <c:v>0.552856</c:v>
                </c:pt>
                <c:pt idx="6">
                  <c:v>0.750631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0.3"/>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66FE3435-99D5-409E-97B4-61A3615AD43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2DA53F9B-775F-491A-9674-13E186C4A3D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9043bcb4a304f9c"/>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37F59679-1C2C-4DBA-860A-0527F17C6300}"/>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19FCBF48-FBA9-43BA-8DE2-449C01311192}"/>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279315E5-D837-41B5-98A0-FAD7056151A9}"/>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564807476"/>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1902DF33-C60C-4EB4-B056-5E55F1E67F2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DE5F7F40-6E0D-4259-BBD9-EA35ADFC226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38CB874B-DC68-484A-9FFF-F3CAC08543A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1923FB09-C60A-48A2-AFA7-696D5320130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67726AC4-9367-4626-8128-F962D3CBE1D2}"/>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5225BDBE-F48E-42AD-A2E2-C5EBEED8DD29}"/>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8182450E-0961-48C9-81BA-FB42239D214B}"/>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240DD59F-DC31-440B-8EF5-2D2E52CFE75E}"/>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B8A269AA-A497-404D-BBD7-840C16156082}"/>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A $45 finder fee and size-aware service fee can fu">
            <a:extLst xmlns:a="http://schemas.openxmlformats.org/drawingml/2006/main">
              <a:ext uri="{FF2B5EF4-FFF2-40B4-BE49-F238E27FC236}">
                <a16:creationId xmlns:a16="http://schemas.microsoft.com/office/drawing/2014/main" id="{9A65C041-F9D8-4FA9-9765-FF0D6A0A323C}"/>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 $45 finder fee and size-aware service fee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4A9CF07A-E596-44AA-823D-66505F1ACE8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39458881"/>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5F0D5B0C-B75E-4838-A1A5-DEA1EDE1610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58BC95E5-A324-439C-9C05-1A6105DB257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52745894-5F9E-4AAF-A4EB-68C4D742A9D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21D728E5-6432-4A80-9B3A-979595C114B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5B5E2831-FB7F-451C-84CC-028BA92F7E8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1529713393"/>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F341FCB6-BD51-44C9-B124-E19A20988EF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9F773BA4-B9EB-4DCF-B3F0-9E714A8A580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891C0016-E439-421D-9E99-6A326287834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753D3798-1282-4A66-81EC-D6D72014C62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8a652798c144de"/>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5008B87C-CF00-4319-BDA0-A7DC2612C732}"/>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37DC5978-C4A4-45DA-9BFE-01218EC293B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754755170"/>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9E8294B7-53DB-47CD-A811-541DFD5D35D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DDBFD664-2FB8-4DCF-A94B-6170ADF3DE3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6720C335-8A34-428B-A397-C8031AA576A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78C29440-11E7-47BC-96E0-3736AC2E421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c8513fcbe154459"/>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5405C74D-8C77-4767-A88A-5C88A6D00003}"/>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2CE8718C-0AEF-4925-A900-7447E98FE2EA}"/>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E5D5560C-8ED2-4C45-8A10-769271BF6577}"/>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D31F7FDA-DD1A-43D7-91AD-ECDBEF2A5F92}"/>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D80E969A-2DBC-45AF-B030-BB714B76EEE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973507091"/>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Keep the finder fee. Repair the recurring fee.">
            <a:extLst xmlns:a="http://schemas.openxmlformats.org/drawingml/2006/main">
              <a:ext uri="{FF2B5EF4-FFF2-40B4-BE49-F238E27FC236}">
                <a16:creationId xmlns:a16="http://schemas.microsoft.com/office/drawing/2014/main" id="{48C37786-6870-45A4-A4EE-9D8A9519EB9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Keep the finder fee. Repair the recurring fee.</a:t>
            </a:r>
          </a:p>
        </p:txBody>
      </p:sp>
      <p:sp>
        <p:nvSpPr>
          <p:cNvPr id="2" name="Recommendation for the launch pilot. All charges a">
            <a:extLst xmlns:a="http://schemas.openxmlformats.org/drawingml/2006/main">
              <a:ext uri="{FF2B5EF4-FFF2-40B4-BE49-F238E27FC236}">
                <a16:creationId xmlns:a16="http://schemas.microsoft.com/office/drawing/2014/main" id="{156C551C-972C-4F73-9F4D-D5326EDF82E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Recommendation for the launch pilot. All charges are paid by the provider.</a:t>
            </a:r>
          </a:p>
        </p:txBody>
      </p:sp>
      <p:sp>
        <p:nvSpPr>
          <p:cNvPr id="3" name="YardMatch">
            <a:extLst xmlns:a="http://schemas.openxmlformats.org/drawingml/2006/main">
              <a:ext uri="{FF2B5EF4-FFF2-40B4-BE49-F238E27FC236}">
                <a16:creationId xmlns:a16="http://schemas.microsoft.com/office/drawing/2014/main" id="{734E9FD0-4C93-4601-9FCA-4E860B8D423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C90C3BA3-6B29-498B-97F0-E197612D896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33E0449D-B65A-4AC3-9D94-0BC59E7642D9}"/>
              </a:ext>
            </a:extLst>
          </p:cNvPr>
          <p:cNvSpPr>
            <a:spLocks xmlns:a="http://schemas.openxmlformats.org/drawingml/2006/main" noGrp="1"/>
          </p:cNvSpPr>
          <p:nvPr/>
        </p:nvSpPr>
        <p:spPr>
          <a:xfrm xmlns:a="http://schemas.openxmlformats.org/drawingml/2006/main">
            <a:off x="647700" y="23241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205938"/>
                </a:solidFill>
                <a:latin typeface="Arial"/>
                <a:ea typeface="Arial"/>
                <a:cs typeface="Arial"/>
              </a:defRPr>
            </a:pPr>
            <a:r>
              <a:rPr sz="5250" b="1">
                <a:solidFill>
                  <a:srgbClr val="205938"/>
                </a:solidFill>
                <a:latin typeface="Arial"/>
                <a:ea typeface="Arial"/>
                <a:cs typeface="Arial"/>
              </a:rPr>
              <a:t>$45</a:t>
            </a:r>
          </a:p>
        </p:txBody>
      </p:sp>
      <p:sp>
        <p:nvSpPr>
          <p:cNvPr id="6" name="Once per new customer/provider pair,&#10;after the fir">
            <a:extLst xmlns:a="http://schemas.openxmlformats.org/drawingml/2006/main">
              <a:ext uri="{FF2B5EF4-FFF2-40B4-BE49-F238E27FC236}">
                <a16:creationId xmlns:a16="http://schemas.microsoft.com/office/drawing/2014/main" id="{D6F5BFBC-D106-44ED-A8B0-0454199991D9}"/>
              </a:ext>
            </a:extLst>
          </p:cNvPr>
          <p:cNvSpPr>
            <a:spLocks xmlns:a="http://schemas.openxmlformats.org/drawingml/2006/main" noGrp="1"/>
          </p:cNvSpPr>
          <p:nvPr/>
        </p:nvSpPr>
        <p:spPr>
          <a:xfrm xmlns:a="http://schemas.openxmlformats.org/drawingml/2006/main">
            <a:off x="647700" y="3238500"/>
            <a:ext cx="4829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Once per new customer/provider pair,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after the first paid completed job</a:t>
            </a:r>
          </a:p>
        </p:txBody>
      </p:sp>
      <p:sp>
        <p:nvSpPr>
          <p:cNvPr id="7" name="$2.99 minimum">
            <a:extLst xmlns:a="http://schemas.openxmlformats.org/drawingml/2006/main">
              <a:ext uri="{FF2B5EF4-FFF2-40B4-BE49-F238E27FC236}">
                <a16:creationId xmlns:a16="http://schemas.microsoft.com/office/drawing/2014/main" id="{1BF4314E-ED32-40D7-9CEF-6AD2D0F7C6EB}"/>
              </a:ext>
            </a:extLst>
          </p:cNvPr>
          <p:cNvSpPr>
            <a:spLocks xmlns:a="http://schemas.openxmlformats.org/drawingml/2006/main" noGrp="1"/>
          </p:cNvSpPr>
          <p:nvPr/>
        </p:nvSpPr>
        <p:spPr>
          <a:xfrm xmlns:a="http://schemas.openxmlformats.org/drawingml/2006/main">
            <a:off x="6391275" y="23241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205938"/>
                </a:solidFill>
                <a:latin typeface="Arial"/>
                <a:ea typeface="Arial"/>
                <a:cs typeface="Arial"/>
              </a:defRPr>
            </a:pPr>
            <a:r>
              <a:rPr sz="3975" b="1">
                <a:solidFill>
                  <a:srgbClr val="205938"/>
                </a:solidFill>
                <a:latin typeface="Arial"/>
                <a:ea typeface="Arial"/>
                <a:cs typeface="Arial"/>
              </a:rPr>
              <a:t>$2.99 minimum</a:t>
            </a:r>
          </a:p>
        </p:txBody>
      </p:sp>
      <p:sp>
        <p:nvSpPr>
          <p:cNvPr id="8" name="Or 1% of the service bill, if higher,&#10;plus actual ">
            <a:extLst xmlns:a="http://schemas.openxmlformats.org/drawingml/2006/main">
              <a:ext uri="{FF2B5EF4-FFF2-40B4-BE49-F238E27FC236}">
                <a16:creationId xmlns:a16="http://schemas.microsoft.com/office/drawing/2014/main" id="{031C6468-767F-4624-AA0B-D3714EE9CBE9}"/>
              </a:ext>
            </a:extLst>
          </p:cNvPr>
          <p:cNvSpPr>
            <a:spLocks xmlns:a="http://schemas.openxmlformats.org/drawingml/2006/main" noGrp="1"/>
          </p:cNvSpPr>
          <p:nvPr/>
        </p:nvSpPr>
        <p:spPr>
          <a:xfrm xmlns:a="http://schemas.openxmlformats.org/drawingml/2006/main">
            <a:off x="6391275" y="32385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Or 1% of the service bill, if higher,</a:t>
            </a:r>
          </a:p>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plus actual card / ACH processing</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card-paid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$9.97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$54.97</a:t>
                      </a:r>
                    </a:p>
                  </a:txBody>
                  <a:tcPr marL="91440" marR="91440" marT="45720" marB="45720" anchor="ctr">
                    <a:solidFill>
                      <a:srgbClr val="E8EDDF"/>
                    </a:solidFill>
                  </a:tcPr>
                </a:tc>
              </a:tr>
            </a:tbl>
          </a:graphicData>
        </a:graphic>
      </p:graphicFrame>
      <p:sp>
        <p:nvSpPr>
          <p:cNvPr id="10" name="Keep the first-client finder-fee waiver. A $45 acq">
            <a:extLst xmlns:a="http://schemas.openxmlformats.org/drawingml/2006/main">
              <a:ext uri="{FF2B5EF4-FFF2-40B4-BE49-F238E27FC236}">
                <a16:creationId xmlns:a16="http://schemas.microsoft.com/office/drawing/2014/main" id="{181459A3-1AE4-4879-94C6-FF628228941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Keep the first-client finder-fee waiver. A $45 acquisition charge is already substantial on a $60 first visit; validate season-long value before increasing it. No customer surcharge modeled.</a:t>
            </a:r>
          </a:p>
        </p:txBody>
      </p:sp>
    </p:spTree>
    <p:extLst>
      <p:ext uri="{BB962C8B-B14F-4D97-AF65-F5344CB8AC3E}">
        <p14:creationId xmlns:p14="http://schemas.microsoft.com/office/powerpoint/2010/main" val="78289535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040EF96A-A969-4CB7-BCE6-0D972B89905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93B43043-5AFB-4DE7-A7C7-06A497E622E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9765EEDA-607F-4932-9E06-43CC8FB89B5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A05718B8-B208-4658-8723-EDB6DD4DEAF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4CBA87A8-81F6-4038-8304-8514CFC30A51}"/>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6003DDCA-4FAF-4529-801D-23E1BCA236EF}"/>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2BBC35AA-9E68-4C35-9513-DE36C5C95A18}"/>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328DDD77-BF53-4ED2-9B08-41C4807F9B94}"/>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$45 is earned after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C1933E8D-BB1E-4A32-AC6E-54CC4A78A70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147774223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67B4A19E-BF02-4AC9-A810-53B7A41BB95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3B5EA85E-7821-4309-A8EE-F888858DA29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C8D20FD4-300B-47B7-B643-137E13E484A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97FA58EE-AD9F-449D-8941-03F2FD771ED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E0628613-E512-44FC-8D7D-A1BBA72C22F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88098842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1732BA40-99C2-4DE2-9912-8606D994381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F723FA70-BE82-4F63-8254-FA4E0CF0590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D526C071-6F4D-443D-9DEA-8C61DFBAFF2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CE07F1B1-D4BD-4934-9919-0519416BEC4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Platform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$3.47</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$6.19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$3.79</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$5.40</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$97.80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$30.00</a:t>
                      </a:r>
                    </a:p>
                  </a:txBody>
                  <a:tcPr marL="91440" marR="91440" marT="45720" marB="45720" anchor="ctr">
                    <a:solidFill>
                      <a:srgbClr val="FFFFFF"/>
                    </a:solidFill>
                  </a:tcPr>
                </a:tc>
              </a:tr>
            </a:tbl>
          </a:graphicData>
        </a:graphic>
      </p:graphicFrame>
      <p:sp>
        <p:nvSpPr>
          <p:cNvPr id="6" name="$2.05">
            <a:extLst xmlns:a="http://schemas.openxmlformats.org/drawingml/2006/main">
              <a:ext uri="{FF2B5EF4-FFF2-40B4-BE49-F238E27FC236}">
                <a16:creationId xmlns:a16="http://schemas.microsoft.com/office/drawing/2014/main" id="{7E1BF7DC-EF3C-44A9-984C-C47732C00996}"/>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$2.05</a:t>
            </a:r>
          </a:p>
        </p:txBody>
      </p:sp>
      <p:sp>
        <p:nvSpPr>
          <p:cNvPr id="7" name="Average repeat contribution in the 2031 base mix">
            <a:extLst xmlns:a="http://schemas.openxmlformats.org/drawingml/2006/main">
              <a:ext uri="{FF2B5EF4-FFF2-40B4-BE49-F238E27FC236}">
                <a16:creationId xmlns:a16="http://schemas.microsoft.com/office/drawing/2014/main" id="{1F8BDBC0-63C8-43AD-AA1C-B41D29A8003F}"/>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Recurring platform pricing changes above $299. A b">
            <a:extLst xmlns:a="http://schemas.openxmlformats.org/drawingml/2006/main">
              <a:ext uri="{FF2B5EF4-FFF2-40B4-BE49-F238E27FC236}">
                <a16:creationId xmlns:a16="http://schemas.microsoft.com/office/drawing/2014/main" id="{A1443CA6-132F-468E-8A45-444AA8171B0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Recurring platform pricing changes above $299. A bundle on one invoice counts once. Processing recovery is excluded from net platform revenue. Fees still require provider acceptance testing.</a:t>
            </a:r>
          </a:p>
        </p:txBody>
      </p:sp>
    </p:spTree>
    <p:extLst>
      <p:ext uri="{BB962C8B-B14F-4D97-AF65-F5344CB8AC3E}">
        <p14:creationId xmlns:p14="http://schemas.microsoft.com/office/powerpoint/2010/main" val="1308389835"/>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C3F0243C-75E5-4148-9A23-D4E35A770FA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6E583C36-30C2-4096-A44F-21CC694FCC3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C0AF9239-863D-4C7C-AAB1-4F17466B209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E8011A85-AB80-4932-ADBF-A5BC3A50411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F74D007B-D426-4B02-A61E-55638D4B6F6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668951860"/>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EBF67111-53A5-48AE-ABFF-7F2811BC7F4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Named town launches, service mix and 3% annual pri">
            <a:extLst xmlns:a="http://schemas.openxmlformats.org/drawingml/2006/main">
              <a:ext uri="{FF2B5EF4-FFF2-40B4-BE49-F238E27FC236}">
                <a16:creationId xmlns:a16="http://schemas.microsoft.com/office/drawing/2014/main" id="{529B4F1F-C890-4D0F-B7EE-8E544A3AC8E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Named town launches, service mix and 3% annual price escalation determine the weighted average.</a:t>
            </a:r>
          </a:p>
        </p:txBody>
      </p:sp>
      <p:sp>
        <p:nvSpPr>
          <p:cNvPr id="3" name="YardMatch">
            <a:extLst xmlns:a="http://schemas.openxmlformats.org/drawingml/2006/main">
              <a:ext uri="{FF2B5EF4-FFF2-40B4-BE49-F238E27FC236}">
                <a16:creationId xmlns:a16="http://schemas.microsoft.com/office/drawing/2014/main" id="{CF319850-7F43-47CB-A7E0-1CE6225315D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81252B07-7017-4CFF-86B0-3F53909CDA6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FFC56B87-F124-4F34-8774-41562BD941A0}"/>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EF434794-6DFC-4B3E-81D2-FA0F03F2168A}"/>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159EE5C1-24A5-48A6-B388-685D4B66EB2A}"/>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5B44E54B-84EA-4178-973C-F20B4F151BA1}"/>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$82.87</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$98.01</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$117.84</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$91.82</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$112.45</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$138.69</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FCF2AFF2-9B21-4C2F-A8F7-7FD26986E57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Town / lot weights stay correlated. Pricing assumptions are editable and need provider quotes.</a:t>
            </a:r>
          </a:p>
        </p:txBody>
      </p:sp>
    </p:spTree>
    <p:extLst>
      <p:ext uri="{BB962C8B-B14F-4D97-AF65-F5344CB8AC3E}">
        <p14:creationId xmlns:p14="http://schemas.microsoft.com/office/powerpoint/2010/main" val="528897515"/>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rnegat demand now has a defined funnel">
            <a:extLst xmlns:a="http://schemas.openxmlformats.org/drawingml/2006/main">
              <a:ext uri="{FF2B5EF4-FFF2-40B4-BE49-F238E27FC236}">
                <a16:creationId xmlns:a16="http://schemas.microsoft.com/office/drawing/2014/main" id="{F5AAF53E-DBFA-4923-BBF3-E29C81B4EEB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demand now has a defined funnel</a:t>
            </a:r>
          </a:p>
        </p:txBody>
      </p:sp>
      <p:sp>
        <p:nvSpPr>
          <p:cNvPr id="2" name="Census facts anchor the denominator. Lawn eligibil">
            <a:extLst xmlns:a="http://schemas.openxmlformats.org/drawingml/2006/main">
              <a:ext uri="{FF2B5EF4-FFF2-40B4-BE49-F238E27FC236}">
                <a16:creationId xmlns:a16="http://schemas.microsoft.com/office/drawing/2014/main" id="{F131E721-9F26-4B17-81EB-253E7A451F8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facts anchor the denominator. Lawn eligibility and willingness to hire are assumptions.</a:t>
            </a:r>
          </a:p>
        </p:txBody>
      </p:sp>
      <p:sp>
        <p:nvSpPr>
          <p:cNvPr id="3" name="YardMatch">
            <a:extLst xmlns:a="http://schemas.openxmlformats.org/drawingml/2006/main">
              <a:ext uri="{FF2B5EF4-FFF2-40B4-BE49-F238E27FC236}">
                <a16:creationId xmlns:a16="http://schemas.microsoft.com/office/drawing/2014/main" id="{FBCC656C-A2AB-4468-B189-46818146131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73BD5DAE-F766-4277-A9F3-00ECE53315F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333625"/>
          <a:ext xmlns:a="http://schemas.openxmlformats.org/drawingml/2006/main" cx="10972800" cy="3152775"/>
        </p:xfrm>
        <a:graphic xmlns:a="http://schemas.openxmlformats.org/drawingml/2006/main">
          <a:graphicData uri="http://schemas.openxmlformats.org/drawingml/2006/table">
            <a:tbl>
              <a:tblPr/>
              <a:tblGrid>
                <a:gridCol w="8210550"/>
                <a:gridCol w="2762250"/>
              </a:tblGrid>
              <a:tr h="525463">
                <a:tc>
                  <a:txBody>
                    <a:bodyPr lIns="114300" tIns="76200" rIns="114300" bIns="76200">
                      <a:noAutofit/>
                    </a:bodyPr>
                    <a:lstStyle/>
                    <a:p>
                      <a:pPr algn="l"/>
                      <a:r>
                        <a:rPr sz="1875" b="1">
                          <a:solidFill>
                            <a:srgbClr val="FFFFFF"/>
                          </a:solidFill>
                          <a:latin typeface="Arial"/>
                          <a:ea typeface="Arial"/>
                          <a:cs typeface="Arial"/>
                        </a:rPr>
                        <a:t>Barnegat launch funnel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Households</a:t>
                      </a:r>
                    </a:p>
                  </a:txBody>
                  <a:tcPr marL="91440" marR="91440" marT="45720" marB="45720" anchor="ctr">
                    <a:solidFill>
                      <a:srgbClr val="205938"/>
                    </a:solidFill>
                  </a:tcPr>
                </a:tc>
              </a:tr>
              <a:tr h="525463">
                <a:tc>
                  <a:txBody>
                    <a:bodyPr lIns="114300" tIns="76200" rIns="114300" bIns="76200">
                      <a:noAutofit/>
                    </a:bodyPr>
                    <a:lstStyle/>
                    <a:p>
                      <a:pPr algn="l"/>
                      <a:r>
                        <a:rPr sz="1875" b="0">
                          <a:solidFill>
                            <a:srgbClr val="14281D"/>
                          </a:solidFill>
                          <a:latin typeface="Arial"/>
                          <a:ea typeface="Arial"/>
                          <a:cs typeface="Arial"/>
                        </a:rPr>
                        <a:t>Census occupied households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10,265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Owner-occupied estimate: 88%</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9,033</a:t>
                      </a:r>
                    </a:p>
                  </a:txBody>
                  <a:tcPr marL="91440" marR="91440" marT="45720" marB="45720" anchor="ctr">
                    <a:solidFill>
                      <a:srgbClr val="F7F5EF"/>
                    </a:solidFill>
                  </a:tcPr>
                </a:tc>
              </a:tr>
              <a:tr h="525463">
                <a:tc>
                  <a:txBody>
                    <a:bodyPr lIns="114300" tIns="76200" rIns="114300" bIns="76200">
                      <a:noAutofit/>
                    </a:bodyPr>
                    <a:lstStyle/>
                    <a:p>
                      <a:pPr algn="l"/>
                      <a:r>
                        <a:rPr sz="1875" b="0">
                          <a:solidFill>
                            <a:srgbClr val="14281D"/>
                          </a:solidFill>
                          <a:latin typeface="Arial"/>
                          <a:ea typeface="Arial"/>
                          <a:cs typeface="Arial"/>
                        </a:rPr>
                        <a:t>Assumed lawn-care eligibility: 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6,775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Assumed propensity to hire: 45%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3,049</a:t>
                      </a:r>
                    </a:p>
                  </a:txBody>
                  <a:tcPr marL="91440" marR="91440" marT="45720" marB="45720" anchor="ctr">
                    <a:solidFill>
                      <a:srgbClr val="F7F5EF"/>
                    </a:solidFill>
                  </a:tcPr>
                </a:tc>
              </a:tr>
              <a:tr h="525463">
                <a:tc>
                  <a:txBody>
                    <a:bodyPr lIns="114300" tIns="76200" rIns="114300" bIns="76200">
                      <a:noAutofit/>
                    </a:bodyPr>
                    <a:lstStyle/>
                    <a:p>
                      <a:pPr algn="l"/>
                      <a:r>
                        <a:rPr sz="1875" b="1">
                          <a:solidFill>
                            <a:srgbClr val="14281D"/>
                          </a:solidFill>
                          <a:latin typeface="Arial"/>
                          <a:ea typeface="Arial"/>
                          <a:cs typeface="Arial"/>
                        </a:rPr>
                        <a:t>2027 active customers after supply cap</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240</a:t>
                      </a:r>
                    </a:p>
                  </a:txBody>
                  <a:tcPr marL="91440" marR="91440" marT="45720" marB="45720" anchor="ctr">
                    <a:solidFill>
                      <a:srgbClr val="E8EDDF"/>
                    </a:solidFill>
                  </a:tcPr>
                </a:tc>
              </a:tr>
            </a:tbl>
          </a:graphicData>
        </a:graphic>
      </p:graphicFrame>
      <p:sp>
        <p:nvSpPr>
          <p:cNvPr id="6" name="Base acquisition starts at 8% of the never-acquire">
            <a:extLst xmlns:a="http://schemas.openxmlformats.org/drawingml/2006/main">
              <a:ext uri="{FF2B5EF4-FFF2-40B4-BE49-F238E27FC236}">
                <a16:creationId xmlns:a16="http://schemas.microsoft.com/office/drawing/2014/main" id="{7A8A0822-4414-4C2A-86F4-B93611B48DB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acquisition starts at 8% of the never-acquired outsourcing pool. Six planned providers × 40 households cap launch at 240. No provider commitments or measured hiring propensity are claimed.</a:t>
            </a:r>
          </a:p>
        </p:txBody>
      </p:sp>
    </p:spTree>
    <p:extLst>
      <p:ext uri="{BB962C8B-B14F-4D97-AF65-F5344CB8AC3E}">
        <p14:creationId xmlns:p14="http://schemas.microsoft.com/office/powerpoint/2010/main" val="440303172"/>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 named rollout from Ocean to Monmouth County">
            <a:extLst xmlns:a="http://schemas.openxmlformats.org/drawingml/2006/main">
              <a:ext uri="{FF2B5EF4-FFF2-40B4-BE49-F238E27FC236}">
                <a16:creationId xmlns:a16="http://schemas.microsoft.com/office/drawing/2014/main" id="{65F88124-4564-40B0-90D7-919A7241854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named rollout from Ocean to Monmouth County</a:t>
            </a:r>
          </a:p>
        </p:txBody>
      </p:sp>
      <p:sp>
        <p:nvSpPr>
          <p:cNvPr id="2" name="Illustrative launch years. Each town has its own d">
            <a:extLst xmlns:a="http://schemas.openxmlformats.org/drawingml/2006/main">
              <a:ext uri="{FF2B5EF4-FFF2-40B4-BE49-F238E27FC236}">
                <a16:creationId xmlns:a16="http://schemas.microsoft.com/office/drawing/2014/main" id="{F00653AC-D86D-4132-AD2B-3DD583B961B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launch years. Each town has its own demand pool, provider plan, acquisition cost and local budget.</a:t>
            </a:r>
          </a:p>
        </p:txBody>
      </p:sp>
      <p:sp>
        <p:nvSpPr>
          <p:cNvPr id="3" name="YardMatch">
            <a:extLst xmlns:a="http://schemas.openxmlformats.org/drawingml/2006/main">
              <a:ext uri="{FF2B5EF4-FFF2-40B4-BE49-F238E27FC236}">
                <a16:creationId xmlns:a16="http://schemas.microsoft.com/office/drawing/2014/main" id="{CB8A9128-3CAC-43F9-8FD5-FE5F2708010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67B819CE-C5A1-4CD6-B752-DDF36B66384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33625"/>
          <a:ext xmlns:a="http://schemas.openxmlformats.org/drawingml/2006/main" cx="10972800" cy="3381375"/>
        </p:xfrm>
        <a:graphic xmlns:a="http://schemas.openxmlformats.org/drawingml/2006/main">
          <a:graphicData uri="http://schemas.openxmlformats.org/drawingml/2006/table">
            <a:tbl>
              <a:tblPr/>
              <a:tblGrid>
                <a:gridCol w="1466850"/>
                <a:gridCol w="7667625"/>
                <a:gridCol w="1838325"/>
              </a:tblGrid>
              <a:tr h="422672">
                <a:tc>
                  <a:txBody>
                    <a:bodyPr lIns="114300" tIns="76200" rIns="114300" bIns="76200">
                      <a:noAutofit/>
                    </a:bodyPr>
                    <a:lstStyle/>
                    <a:p>
                      <a:pPr algn="l"/>
                      <a:r>
                        <a:rPr sz="1800" b="1">
                          <a:solidFill>
                            <a:srgbClr val="FFFFFF"/>
                          </a:solidFill>
                          <a:latin typeface="Arial"/>
                          <a:ea typeface="Arial"/>
                          <a:cs typeface="Arial"/>
                        </a:rPr>
                        <a:t>Year</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New towns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towns</a:t>
                      </a:r>
                    </a:p>
                  </a:txBody>
                  <a:tcPr marL="91440" marR="91440" marT="45720" marB="45720" anchor="ctr">
                    <a:solidFill>
                      <a:srgbClr val="205938"/>
                    </a:solidFill>
                  </a:tcPr>
                </a:tc>
              </a:tr>
              <a:tr h="422672">
                <a:tc>
                  <a:txBody>
                    <a:bodyPr lIns="114300" tIns="76200" rIns="114300" bIns="76200">
                      <a:noAutofit/>
                    </a:bodyPr>
                    <a:lstStyle/>
                    <a:p>
                      <a:pPr algn="l"/>
                      <a:r>
                        <a:rPr sz="1800" b="0">
                          <a:solidFill>
                            <a:srgbClr val="14281D"/>
                          </a:solidFill>
                          <a:latin typeface="Arial"/>
                          <a:ea typeface="Arial"/>
                          <a:cs typeface="Arial"/>
                        </a:rPr>
                        <a:t>2027</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2028</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Stafford, Lacey, Ocean / Waretown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2029</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Berkeley, Toms River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2030</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Brick, Jackson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2031</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Howell, Wall</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2032</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Middletown, Holmdel</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Colts Neck, Rumson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bl>
          </a:graphicData>
        </a:graphic>
      </p:graphicFrame>
      <p:sp>
        <p:nvSpPr>
          <p:cNvPr id="6" name="Municipal boundaries avoid overlapping CDPs or cou">
            <a:extLst xmlns:a="http://schemas.openxmlformats.org/drawingml/2006/main">
              <a:ext uri="{FF2B5EF4-FFF2-40B4-BE49-F238E27FC236}">
                <a16:creationId xmlns:a16="http://schemas.microsoft.com/office/drawing/2014/main" id="{8B437EAC-B48F-493E-8D55-73F2AE62D15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Municipal boundaries avoid overlapping CDPs or county totals. Ocean / Waretown refers to Ocean township in Ocean County. Launches remain conditional on supply, paid retention and service reliability.</a:t>
            </a:r>
          </a:p>
        </p:txBody>
      </p:sp>
    </p:spTree>
    <p:extLst>
      <p:ext uri="{BB962C8B-B14F-4D97-AF65-F5344CB8AC3E}">
        <p14:creationId xmlns:p14="http://schemas.microsoft.com/office/powerpoint/2010/main" val="646724934"/>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ffluent towns affect demand and job value">
            <a:extLst xmlns:a="http://schemas.openxmlformats.org/drawingml/2006/main">
              <a:ext uri="{FF2B5EF4-FFF2-40B4-BE49-F238E27FC236}">
                <a16:creationId xmlns:a16="http://schemas.microsoft.com/office/drawing/2014/main" id="{C407033F-B865-413C-9E8B-992EC0E39E3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Affluent towns affect demand and job value</a:t>
            </a:r>
          </a:p>
        </p:txBody>
      </p:sp>
      <p:sp>
        <p:nvSpPr>
          <p:cNvPr id="2" name="Income and home values are observed. Outsourcing, ">
            <a:extLst xmlns:a="http://schemas.openxmlformats.org/drawingml/2006/main">
              <a:ext uri="{FF2B5EF4-FFF2-40B4-BE49-F238E27FC236}">
                <a16:creationId xmlns:a16="http://schemas.microsoft.com/office/drawing/2014/main" id="{71956CD0-A19B-4623-88D6-BCF2B85FABA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Income and home values are observed. Outsourcing, yard sizes and price tiers remain explicit hypotheses.</a:t>
            </a:r>
          </a:p>
        </p:txBody>
      </p:sp>
      <p:sp>
        <p:nvSpPr>
          <p:cNvPr id="3" name="YardMatch">
            <a:extLst xmlns:a="http://schemas.openxmlformats.org/drawingml/2006/main">
              <a:ext uri="{FF2B5EF4-FFF2-40B4-BE49-F238E27FC236}">
                <a16:creationId xmlns:a16="http://schemas.microsoft.com/office/drawing/2014/main" id="{C5FE3B2A-4F6F-45FE-9FA1-6575E73DAF0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9B0739F5-2245-4300-9BD3-592BB9A94B0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333625"/>
          <a:ext xmlns:a="http://schemas.openxmlformats.org/drawingml/2006/main" cx="10972800" cy="3267075"/>
        </p:xfrm>
        <a:graphic xmlns:a="http://schemas.openxmlformats.org/drawingml/2006/main">
          <a:graphicData uri="http://schemas.openxmlformats.org/drawingml/2006/table">
            <a:tbl>
              <a:tblPr/>
              <a:tblGrid>
                <a:gridCol w="2571750"/>
                <a:gridCol w="2381250"/>
                <a:gridCol w="2190750"/>
                <a:gridCol w="3829050"/>
              </a:tblGrid>
              <a:tr h="466725">
                <a:tc>
                  <a:txBody>
                    <a:bodyPr lIns="114300" tIns="76200" rIns="114300" bIns="76200">
                      <a:noAutofit/>
                    </a:bodyPr>
                    <a:lstStyle/>
                    <a:p>
                      <a:pPr algn="l"/>
                      <a:r>
                        <a:rPr sz="1725" b="1">
                          <a:solidFill>
                            <a:srgbClr val="FFFFFF"/>
                          </a:solidFill>
                          <a:latin typeface="Arial"/>
                          <a:ea typeface="Arial"/>
                          <a:cs typeface="Arial"/>
                        </a:rPr>
                        <a:t>Town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Assumed hiring</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Large / very large lots</a:t>
                      </a:r>
                    </a:p>
                  </a:txBody>
                  <a:tcPr marL="91440" marR="91440" marT="45720" marB="45720" anchor="ctr">
                    <a:solidFill>
                      <a:srgbClr val="205938"/>
                    </a:solidFill>
                  </a:tcPr>
                </a:tc>
              </a:tr>
              <a:tr h="466725">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 / 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 / 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35% / 15%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 / 40%</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20%</a:t>
                      </a:r>
                    </a:p>
                  </a:txBody>
                  <a:tcPr marL="91440" marR="91440" marT="45720" marB="45720" anchor="ctr">
                    <a:solidFill>
                      <a:srgbClr val="F7F5EF"/>
                    </a:solidFill>
                  </a:tcPr>
                </a:tc>
              </a:tr>
            </a:tbl>
          </a:graphicData>
        </a:graphic>
      </p:graphicFrame>
      <p:sp>
        <p:nvSpPr>
          <p:cNvPr id="6" name="Hiring share applies only to eligible owner househ">
            <a:extLst xmlns:a="http://schemas.openxmlformats.org/drawingml/2006/main">
              <a:ext uri="{FF2B5EF4-FFF2-40B4-BE49-F238E27FC236}">
                <a16:creationId xmlns:a16="http://schemas.microsoft.com/office/drawing/2014/main" id="{8057E298-D094-4D17-A366-035B819D36A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Hiring share applies only to eligible owner households. Lot shares apply to modeled customers, not all housing. Premium towns also have higher cash CAC assumptions; no automatic retention improvement is assumed.</a:t>
            </a:r>
          </a:p>
        </p:txBody>
      </p:sp>
    </p:spTree>
    <p:extLst>
      <p:ext uri="{BB962C8B-B14F-4D97-AF65-F5344CB8AC3E}">
        <p14:creationId xmlns:p14="http://schemas.microsoft.com/office/powerpoint/2010/main" val="1163446515"/>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plan is bounded by demand and supply">
            <a:extLst xmlns:a="http://schemas.openxmlformats.org/drawingml/2006/main">
              <a:ext uri="{FF2B5EF4-FFF2-40B4-BE49-F238E27FC236}">
                <a16:creationId xmlns:a16="http://schemas.microsoft.com/office/drawing/2014/main" id="{AEF432C4-1746-460B-8A0E-4A59FC4914F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plan is bounded by demand and supply</a:t>
            </a:r>
          </a:p>
        </p:txBody>
      </p:sp>
      <p:sp>
        <p:nvSpPr>
          <p:cNvPr id="2" name="The household curve is now a sum of town cohorts, ">
            <a:extLst xmlns:a="http://schemas.openxmlformats.org/drawingml/2006/main">
              <a:ext uri="{FF2B5EF4-FFF2-40B4-BE49-F238E27FC236}">
                <a16:creationId xmlns:a16="http://schemas.microsoft.com/office/drawing/2014/main" id="{9940CBE7-6974-4E15-AE06-4D00AA93F60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household curve is now a sum of town cohorts, with launch timing and local capacity enforced.</a:t>
            </a:r>
          </a:p>
        </p:txBody>
      </p:sp>
      <p:sp>
        <p:nvSpPr>
          <p:cNvPr id="3" name="YardMatch">
            <a:extLst xmlns:a="http://schemas.openxmlformats.org/drawingml/2006/main">
              <a:ext uri="{FF2B5EF4-FFF2-40B4-BE49-F238E27FC236}">
                <a16:creationId xmlns:a16="http://schemas.microsoft.com/office/drawing/2014/main" id="{7A5677A9-E937-48B5-B3B9-E6D054B58CC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8C960823-D497-420E-91F3-CACC6306894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33625"/>
          <a:ext xmlns:a="http://schemas.openxmlformats.org/drawingml/2006/main" cx="10972800" cy="3105150"/>
        </p:xfrm>
        <a:graphic xmlns:a="http://schemas.openxmlformats.org/drawingml/2006/main">
          <a:graphicData uri="http://schemas.openxmlformats.org/drawingml/2006/table">
            <a:tbl>
              <a:tblPr/>
              <a:tblGrid>
                <a:gridCol w="4657725"/>
                <a:gridCol w="2105025"/>
                <a:gridCol w="2105025"/>
                <a:gridCol w="2105025"/>
              </a:tblGrid>
              <a:tr h="517525">
                <a:tc>
                  <a:txBody>
                    <a:bodyPr lIns="114300" tIns="76200" rIns="114300" bIns="76200">
                      <a:noAutofit/>
                    </a:bodyPr>
                    <a:lstStyle/>
                    <a:p>
                      <a:pPr algn="l"/>
                      <a:r>
                        <a:rPr sz="1800" b="1">
                          <a:solidFill>
                            <a:srgbClr val="FFFFFF"/>
                          </a:solidFill>
                          <a:latin typeface="Arial"/>
                          <a:ea typeface="Arial"/>
                          <a:cs typeface="Arial"/>
                        </a:rPr>
                        <a:t>Base regional forecast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2033</a:t>
                      </a:r>
                    </a:p>
                  </a:txBody>
                  <a:tcPr marL="91440" marR="91440" marT="45720" marB="45720" anchor="ctr">
                    <a:solidFill>
                      <a:srgbClr val="205938"/>
                    </a:solidFill>
                  </a:tcPr>
                </a:tc>
              </a:tr>
              <a:tr h="517525">
                <a:tc>
                  <a:txBody>
                    <a:bodyPr lIns="114300" tIns="76200" rIns="114300" bIns="76200">
                      <a:noAutofit/>
                    </a:bodyPr>
                    <a:lstStyle/>
                    <a:p>
                      <a:pPr algn="l"/>
                      <a:r>
                        <a:rPr sz="1800" b="0">
                          <a:solidFill>
                            <a:srgbClr val="14281D"/>
                          </a:solidFill>
                          <a:latin typeface="Arial"/>
                          <a:ea typeface="Arial"/>
                          <a:cs typeface="Arial"/>
                        </a:rPr>
                        <a:t>Launched towns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r h="517525">
                <a:tc>
                  <a:txBody>
                    <a:bodyPr lIns="114300" tIns="76200" rIns="114300" bIns="76200">
                      <a:noAutofit/>
                    </a:bodyPr>
                    <a:lstStyle/>
                    <a:p>
                      <a:pPr algn="l"/>
                      <a:r>
                        <a:rPr sz="1800" b="0">
                          <a:solidFill>
                            <a:srgbClr val="14281D"/>
                          </a:solidFill>
                          <a:latin typeface="Arial"/>
                          <a:ea typeface="Arial"/>
                          <a:cs typeface="Arial"/>
                        </a:rPr>
                        <a:t>Assumed outsourcing households</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44,015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71,683</a:t>
                      </a:r>
                    </a:p>
                  </a:txBody>
                  <a:tcPr marL="91440" marR="91440" marT="45720" marB="45720" anchor="ctr">
                    <a:solidFill>
                      <a:srgbClr val="F7F5EF"/>
                    </a:solidFill>
                  </a:tcPr>
                </a:tc>
              </a:tr>
              <a:tr h="517525">
                <a:tc>
                  <a:txBody>
                    <a:bodyPr lIns="114300" tIns="76200" rIns="114300" bIns="76200">
                      <a:noAutofit/>
                    </a:bodyPr>
                    <a:lstStyle/>
                    <a:p>
                      <a:pPr algn="l"/>
                      <a:r>
                        <a:rPr sz="1800" b="1">
                          <a:solidFill>
                            <a:srgbClr val="14281D"/>
                          </a:solidFill>
                          <a:latin typeface="Arial"/>
                          <a:ea typeface="Arial"/>
                          <a:cs typeface="Arial"/>
                        </a:rPr>
                        <a:t>Active YardMatch households</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240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5,592</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16,570</a:t>
                      </a:r>
                    </a:p>
                  </a:txBody>
                  <a:tcPr marL="91440" marR="91440" marT="45720" marB="45720" anchor="ctr">
                    <a:solidFill>
                      <a:srgbClr val="E8EDDF"/>
                    </a:solidFill>
                  </a:tcPr>
                </a:tc>
              </a:tr>
              <a:tr h="517525">
                <a:tc>
                  <a:txBody>
                    <a:bodyPr lIns="114300" tIns="76200" rIns="114300" bIns="76200">
                      <a:noAutofit/>
                    </a:bodyPr>
                    <a:lstStyle/>
                    <a:p>
                      <a:pPr algn="l"/>
                      <a:r>
                        <a:rPr sz="1800" b="0">
                          <a:solidFill>
                            <a:srgbClr val="14281D"/>
                          </a:solidFill>
                          <a:latin typeface="Arial"/>
                          <a:ea typeface="Arial"/>
                          <a:cs typeface="Arial"/>
                        </a:rPr>
                        <a:t>Qualified household capacity</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5,920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18,600</a:t>
                      </a:r>
                    </a:p>
                  </a:txBody>
                  <a:tcPr marL="91440" marR="91440" marT="45720" marB="45720" anchor="ctr">
                    <a:solidFill>
                      <a:srgbClr val="F7F5EF"/>
                    </a:solidFill>
                  </a:tcPr>
                </a:tc>
              </a:tr>
              <a:tr h="517525">
                <a:tc>
                  <a:txBody>
                    <a:bodyPr lIns="114300" tIns="76200" rIns="114300" bIns="76200">
                      <a:noAutofit/>
                    </a:bodyPr>
                    <a:lstStyle/>
                    <a:p>
                      <a:pPr algn="l"/>
                      <a:r>
                        <a:rPr sz="1800" b="0">
                          <a:solidFill>
                            <a:srgbClr val="14281D"/>
                          </a:solidFill>
                          <a:latin typeface="Arial"/>
                          <a:ea typeface="Arial"/>
                          <a:cs typeface="Arial"/>
                        </a:rPr>
                        <a:t>Local launch + annual coverage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$109,273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$163,585</a:t>
                      </a:r>
                    </a:p>
                  </a:txBody>
                  <a:tcPr marL="91440" marR="91440" marT="45720" marB="45720" anchor="ctr">
                    <a:solidFill>
                      <a:srgbClr val="FFFFFF"/>
                    </a:solidFill>
                  </a:tcPr>
                </a:tc>
              </a:tr>
            </a:tbl>
          </a:graphicData>
        </a:graphic>
      </p:graphicFrame>
      <p:sp>
        <p:nvSpPr>
          <p:cNvPr id="6" name="215,396 Census households across 14 towns support ">
            <a:extLst xmlns:a="http://schemas.openxmlformats.org/drawingml/2006/main">
              <a:ext uri="{FF2B5EF4-FFF2-40B4-BE49-F238E27FC236}">
                <a16:creationId xmlns:a16="http://schemas.microsoft.com/office/drawing/2014/main" id="{E8874B55-946D-4547-8E89-EB7A2F60387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215,396 Census households across 14 towns support an assumed 71,683-household outsourcing pool. The base captures 23% as active customers by 2033. No unnamed national expansion is included.</a:t>
            </a:r>
          </a:p>
        </p:txBody>
      </p:sp>
    </p:spTree>
    <p:extLst>
      <p:ext uri="{BB962C8B-B14F-4D97-AF65-F5344CB8AC3E}">
        <p14:creationId xmlns:p14="http://schemas.microsoft.com/office/powerpoint/2010/main" val="1405841247"/>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E4A6C354-D3B7-4265-BD3C-24A02E5D10C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24883DB4-6531-4211-81A2-C28B1D41616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4D106F3B-C3BA-4727-85D6-BB278136A42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7207E91B-8878-4F2F-AEF2-B3991680A47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sp>
        <p:nvSpPr>
          <p:cNvPr id="5" name="1. Concentrated provider launch">
            <a:extLst xmlns:a="http://schemas.openxmlformats.org/drawingml/2006/main">
              <a:ext uri="{FF2B5EF4-FFF2-40B4-BE49-F238E27FC236}">
                <a16:creationId xmlns:a16="http://schemas.microsoft.com/office/drawing/2014/main" id="{62259D2A-53BC-4D29-9A6D-4EBB17E20775}"/>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F0609EF1-6A8D-44AB-BC72-5E9FAC94D0B0}"/>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D88C3115-DD50-420F-AEB6-0D5BAB0D5375}"/>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7072D0F3-AF73-476A-8666-1D6E6FF46788}"/>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89ADCB40-9CE2-46CC-9BCE-2202A216C310}"/>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5827C217-1F53-4CB2-BFBC-4506C62F5F0E}"/>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183ED257-F42F-41CF-89CA-4BEC7FEAD3F3}"/>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9897614E-1AA7-4073-BA6A-31D6FE7998B2}"/>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64471883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1AB787AE-FF4F-4C41-9422-094DECAEE82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A9B45CDE-CC02-4557-B10D-EC1A054E062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97482679-FA89-4AA7-8D1D-53596A96BD5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698FCC6D-FD5D-4B51-8B3E-8DCFB08E3C2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Product foundation">
            <a:extLst xmlns:a="http://schemas.openxmlformats.org/drawingml/2006/main">
              <a:ext uri="{FF2B5EF4-FFF2-40B4-BE49-F238E27FC236}">
                <a16:creationId xmlns:a16="http://schemas.microsoft.com/office/drawing/2014/main" id="{C5C3879B-0299-4637-9E03-654875E2959C}"/>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F01B2BBD-B13B-4F04-9422-06FDFC8D0B04}"/>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424CC7CF-D139-4042-9B2B-058B308EF42F}"/>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61B0D301-9E53-4771-9635-CA74A1D3E3A7}"/>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6668DBB3-ABA5-46C1-AD50-EEEEB492A1B0}"/>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B55D91C1-797C-46BC-8ADE-42A2E3E86020}"/>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EC9DCB7C-BD10-4868-9AC2-79348BF734FC}"/>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A5E155B2-601F-4C52-A81E-8BB7B35E962E}"/>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400067449"/>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1E6870DE-7159-4A7A-819B-4D5FC5729EF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74A59B6D-D0EA-4FA8-A5E2-5A5CA14C490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F399CB5F-FA2E-44DC-9ED0-4438B809D14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A3AA47FD-151E-4CB5-B604-36F3A36E4B2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CE22053B-F590-468E-9698-F8F8508032E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14654562"/>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D1AAA579-7A0D-4E58-A737-E4CF5C6CA02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44F99A0B-8B74-4F0A-9FF1-23B38A11F42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A9BCA71D-1BAE-4ABF-8B47-0F367D95393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F1BAFA05-F0E1-44EF-9491-4D2213FB643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B461E0B1-9178-4202-B919-966FFDE6558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1531176855"/>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4F6D90BD-3111-4DED-96F9-A32DFEE0196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Landscaping businesses pay for advanced team tools">
            <a:extLst xmlns:a="http://schemas.openxmlformats.org/drawingml/2006/main">
              <a:ext uri="{FF2B5EF4-FFF2-40B4-BE49-F238E27FC236}">
                <a16:creationId xmlns:a16="http://schemas.microsoft.com/office/drawing/2014/main" id="{D398B090-3B4D-4D6B-A98C-605E5C7B0DF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for advanced team tools. Individual crew members pay $0.</a:t>
            </a:r>
          </a:p>
        </p:txBody>
      </p:sp>
      <p:sp>
        <p:nvSpPr>
          <p:cNvPr id="3" name="YardMatch">
            <a:extLst xmlns:a="http://schemas.openxmlformats.org/drawingml/2006/main">
              <a:ext uri="{FF2B5EF4-FFF2-40B4-BE49-F238E27FC236}">
                <a16:creationId xmlns:a16="http://schemas.microsoft.com/office/drawing/2014/main" id="{A5691C78-4CE5-44CE-8C82-A51E2CDFB9E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34B137DF-3455-45AF-B6D8-7641C8AC4E5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sp>
        <p:nvSpPr>
          <p:cNvPr id="5" name="Value for the business owner">
            <a:extLst xmlns:a="http://schemas.openxmlformats.org/drawingml/2006/main">
              <a:ext uri="{FF2B5EF4-FFF2-40B4-BE49-F238E27FC236}">
                <a16:creationId xmlns:a16="http://schemas.microsoft.com/office/drawing/2014/main" id="{3735232F-1E70-4251-B22A-8CC4F02293DB}"/>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7A11EDE2-0BB1-4FAF-8DC5-6E8479ECDF11}"/>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2A116859-8591-4B2E-B8A4-16F464B403B6}"/>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E984F96A-DCA0-47B2-9B8E-986609E4EF4C}"/>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D60C7A58-8BB3-4AE3-BC58-79F92402AC82}"/>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724D3F4C-A3EF-4970-920E-9D2489B5E3EB}"/>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69C98C10-E866-40D2-A1CE-17D9EF20D90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2106447435"/>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F9F58E40-B4AA-4081-A0EA-EC4290598E8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4084A6E8-FA54-4385-A505-BCADE8E7762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CA7A21E7-D371-4C9C-9D14-08BCA016D65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3366D519-B912-4F1C-9B60-1D7239FA0F0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45 finder fee and recurr">
            <a:extLst xmlns:a="http://schemas.openxmlformats.org/drawingml/2006/main">
              <a:ext uri="{FF2B5EF4-FFF2-40B4-BE49-F238E27FC236}">
                <a16:creationId xmlns:a16="http://schemas.microsoft.com/office/drawing/2014/main" id="{F769AA2C-8F9F-4085-A774-08EAA3D0A7D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$45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946538556"/>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need more scale to pay back">
            <a:extLst xmlns:a="http://schemas.openxmlformats.org/drawingml/2006/main">
              <a:ext uri="{FF2B5EF4-FFF2-40B4-BE49-F238E27FC236}">
                <a16:creationId xmlns:a16="http://schemas.microsoft.com/office/drawing/2014/main" id="{D2748F0B-49E1-4FBC-B4DE-36E9ADE68D3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need more scale to pay back</a:t>
            </a:r>
          </a:p>
        </p:txBody>
      </p:sp>
      <p:sp>
        <p:nvSpPr>
          <p:cNvPr id="2" name="Illustrative 2033 results using the same base hous">
            <a:extLst xmlns:a="http://schemas.openxmlformats.org/drawingml/2006/main">
              <a:ext uri="{FF2B5EF4-FFF2-40B4-BE49-F238E27FC236}">
                <a16:creationId xmlns:a16="http://schemas.microsoft.com/office/drawing/2014/main" id="{F1AA72FA-F9FE-4268-886B-B3B87607D93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484D4D66-8E10-4724-8388-3AC81F3C41B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3577852B-A9AC-45D0-B37B-E12C2C4F156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$0.08m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$0.09m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$1.03m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$1.11m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$1.12m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($1.07)m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($1.28)m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($1.34)m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($1.12)m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($1.32)m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($1.38)m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8ACF0D5C-D7B2-4C64-AA19-08C9F88C922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Their combined 2033 EBITDA impact is ($261,736) after incremental costs. Early spending still increases cash needs. Adoption is unvalidated.</a:t>
            </a:r>
          </a:p>
        </p:txBody>
      </p:sp>
    </p:spTree>
    <p:extLst>
      <p:ext uri="{BB962C8B-B14F-4D97-AF65-F5344CB8AC3E}">
        <p14:creationId xmlns:p14="http://schemas.microsoft.com/office/powerpoint/2010/main" val="2114319478"/>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57F4ACDA-5960-4EF7-9C51-ED463BE1EA8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1C231043-5903-4731-AC72-6680F4A5680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2A02D21E-F6F7-405D-B1CF-E0C8BE28793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A382124D-26E5-43AF-A2BC-D6E7DB4E67E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117 / 3,750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240 / 6,324</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320 / 7,838</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$74 / $61</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$45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$44 / $36</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EDF80D12-216F-4190-B9A0-F05F0457FAE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10 paid staff in the base. Downside prices are 15% higher. All cases use the recommended $45 finder fee and recurring fee plus processing.</a:t>
            </a:r>
          </a:p>
        </p:txBody>
      </p:sp>
    </p:spTree>
    <p:extLst>
      <p:ext uri="{BB962C8B-B14F-4D97-AF65-F5344CB8AC3E}">
        <p14:creationId xmlns:p14="http://schemas.microsoft.com/office/powerpoint/2010/main" val="1230920477"/>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0m in 2033">
            <a:extLst xmlns:a="http://schemas.openxmlformats.org/drawingml/2006/main">
              <a:ext uri="{FF2B5EF4-FFF2-40B4-BE49-F238E27FC236}">
                <a16:creationId xmlns:a16="http://schemas.microsoft.com/office/drawing/2014/main" id="{B734D00E-F9B7-4070-9080-716BA75F256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$1.0m in 2033</a:t>
            </a:r>
          </a:p>
        </p:txBody>
      </p:sp>
      <p:sp>
        <p:nvSpPr>
          <p:cNvPr id="2" name="Net marketplace revenue, US$ millions. Finder fees">
            <a:extLst xmlns:a="http://schemas.openxmlformats.org/drawingml/2006/main">
              <a:ext uri="{FF2B5EF4-FFF2-40B4-BE49-F238E27FC236}">
                <a16:creationId xmlns:a16="http://schemas.microsoft.com/office/drawing/2014/main" id="{071B0994-09A9-4E92-AA82-998B75FBE30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619A4D4A-0B88-4FAD-AEE1-D57716EADFB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5A37CA9C-EEAF-4897-A1CA-DBF0EF60000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030e69da069f4af3"/>
          </a:graphicData>
        </a:graphic>
      </p:graphicFrame>
      <p:sp>
        <p:nvSpPr>
          <p:cNvPr id="6" name="Base 2033: 16,570 year-end paying households, 0.24">
            <a:extLst xmlns:a="http://schemas.openxmlformats.org/drawingml/2006/main">
              <a:ext uri="{FF2B5EF4-FFF2-40B4-BE49-F238E27FC236}">
                <a16:creationId xmlns:a16="http://schemas.microsoft.com/office/drawing/2014/main" id="{94003948-F4C2-43E3-941D-30B4C82054F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16,570 year-end paying households, 0.24m paid jobs and $33.5m GMV. Revenue excludes GMV and processing passed through at cost.</a:t>
            </a:r>
          </a:p>
        </p:txBody>
      </p:sp>
    </p:spTree>
    <p:extLst>
      <p:ext uri="{BB962C8B-B14F-4D97-AF65-F5344CB8AC3E}">
        <p14:creationId xmlns:p14="http://schemas.microsoft.com/office/powerpoint/2010/main" val="1796236983"/>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base remains loss-making">
            <a:extLst xmlns:a="http://schemas.openxmlformats.org/drawingml/2006/main">
              <a:ext uri="{FF2B5EF4-FFF2-40B4-BE49-F238E27FC236}">
                <a16:creationId xmlns:a16="http://schemas.microsoft.com/office/drawing/2014/main" id="{FF177F50-A131-4C72-B1AD-FF1570016A1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base remains loss-making</a:t>
            </a:r>
          </a:p>
        </p:txBody>
      </p:sp>
      <p:sp>
        <p:nvSpPr>
          <p:cNvPr id="2" name="US$ millions. Recommended pricing; Stripe retained">
            <a:extLst xmlns:a="http://schemas.openxmlformats.org/drawingml/2006/main">
              <a:ext uri="{FF2B5EF4-FFF2-40B4-BE49-F238E27FC236}">
                <a16:creationId xmlns:a16="http://schemas.microsoft.com/office/drawing/2014/main" id="{6C00FEE6-4A41-43E8-AD28-AC91F3E4E40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224CF9AC-FAE1-49A1-B4B9-69B7CBA1023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1C4F0346-0925-446C-A6E1-5BC5CD346CF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$0.36</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$0.80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$0.76</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($1.07)</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($1.12)</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($1.23)</a:t>
                      </a:r>
                    </a:p>
                  </a:txBody>
                  <a:tcPr marL="91440" marR="91440" marT="45720" marB="45720" anchor="ctr">
                    <a:solidFill>
                      <a:srgbClr val="F7F5EF"/>
                    </a:solidFill>
                  </a:tcPr>
                </a:tc>
              </a:tr>
            </a:tbl>
          </a:graphicData>
        </a:graphic>
      </p:graphicFrame>
      <p:sp>
        <p:nvSpPr>
          <p:cNvPr id="6" name="2033 net income proxy: ($1.12)m. Free cash flow: (">
            <a:extLst xmlns:a="http://schemas.openxmlformats.org/drawingml/2006/main">
              <a:ext uri="{FF2B5EF4-FFF2-40B4-BE49-F238E27FC236}">
                <a16:creationId xmlns:a16="http://schemas.microsoft.com/office/drawing/2014/main" id="{2510E6B4-6C47-4E0D-969B-C80F9F14527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($1.12)m. Free cash flow: ($1.23)m. No positive EBITDA year appears through 2033. Staffing, acquisition and local coverage exceed contribution at this scale.</a:t>
            </a:r>
          </a:p>
        </p:txBody>
      </p:sp>
    </p:spTree>
    <p:extLst>
      <p:ext uri="{BB962C8B-B14F-4D97-AF65-F5344CB8AC3E}">
        <p14:creationId xmlns:p14="http://schemas.microsoft.com/office/powerpoint/2010/main" val="1771393174"/>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E510D668-49BD-4FA8-91E3-EDA39AF906D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55E27010-95A3-4428-AF68-405D82CDB4E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00F9DABB-56DB-44C4-8522-97ABA9E4804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5067400F-409E-468B-8284-1AC4C646B19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$0.24m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$0.56m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$0.88m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($0.78)m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($0.82)m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($0.71)m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$0.40m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$1.67m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($0.97)m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($1.12)m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($0.95)m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All three named-town cases remain EBITDA-negative ">
            <a:extLst xmlns:a="http://schemas.openxmlformats.org/drawingml/2006/main">
              <a:ext uri="{FF2B5EF4-FFF2-40B4-BE49-F238E27FC236}">
                <a16:creationId xmlns:a16="http://schemas.microsoft.com/office/drawing/2014/main" id="{B3972F36-5312-48AA-849F-F739C2E17D2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All three named-town cases remain EBITDA-negative through 2033. Higher adoption alone does not cover the current cost structure. Pricing, acquisition efficiency and staffing need validation.</a:t>
            </a:r>
          </a:p>
        </p:txBody>
      </p:sp>
    </p:spTree>
    <p:extLst>
      <p:ext uri="{BB962C8B-B14F-4D97-AF65-F5344CB8AC3E}">
        <p14:creationId xmlns:p14="http://schemas.microsoft.com/office/powerpoint/2010/main" val="2062569199"/>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The next proof is company-level economics">
            <a:extLst xmlns:a="http://schemas.openxmlformats.org/drawingml/2006/main">
              <a:ext uri="{FF2B5EF4-FFF2-40B4-BE49-F238E27FC236}">
                <a16:creationId xmlns:a16="http://schemas.microsoft.com/office/drawing/2014/main" id="{35565CF2-C255-4F0D-95A1-DB710104C05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next proof is company-level economics</a:t>
            </a:r>
          </a:p>
        </p:txBody>
      </p:sp>
      <p:sp>
        <p:nvSpPr>
          <p:cNvPr id="2" name="The named-town model replaces an unbounded expansi">
            <a:extLst xmlns:a="http://schemas.openxmlformats.org/drawingml/2006/main">
              <a:ext uri="{FF2B5EF4-FFF2-40B4-BE49-F238E27FC236}">
                <a16:creationId xmlns:a16="http://schemas.microsoft.com/office/drawing/2014/main" id="{53BCFBB0-883B-433F-876D-FA04B3F2A80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named-town model replaces an unbounded expansion curve. It does not support the former profitability claim.</a:t>
            </a:r>
          </a:p>
        </p:txBody>
      </p:sp>
      <p:sp>
        <p:nvSpPr>
          <p:cNvPr id="3" name="YardMatch">
            <a:extLst xmlns:a="http://schemas.openxmlformats.org/drawingml/2006/main">
              <a:ext uri="{FF2B5EF4-FFF2-40B4-BE49-F238E27FC236}">
                <a16:creationId xmlns:a16="http://schemas.microsoft.com/office/drawing/2014/main" id="{F81A0804-166D-48AE-A3B1-CB99126A02D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AAC0D416-F969-4B28-A01D-9B706A0F2CD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sp>
        <p:nvSpPr>
          <p:cNvPr id="5" name="Positive repeat contribution">
            <a:extLst xmlns:a="http://schemas.openxmlformats.org/drawingml/2006/main">
              <a:ext uri="{FF2B5EF4-FFF2-40B4-BE49-F238E27FC236}">
                <a16:creationId xmlns:a16="http://schemas.microsoft.com/office/drawing/2014/main" id="{559648FB-D76D-44BB-AE3C-F80DA4CFA23D}"/>
              </a:ext>
            </a:extLst>
          </p:cNvPr>
          <p:cNvSpPr>
            <a:spLocks xmlns:a="http://schemas.openxmlformats.org/drawingml/2006/main" noGrp="1"/>
          </p:cNvSpPr>
          <p:nvPr/>
        </p:nvSpPr>
        <p:spPr>
          <a:xfrm xmlns:a="http://schemas.openxmlformats.org/drawingml/2006/main">
            <a:off x="628650" y="2381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Positive repeat contribution</a:t>
            </a:r>
          </a:p>
        </p:txBody>
      </p:sp>
      <p:sp>
        <p:nvSpPr>
          <p:cNvPr id="6" name="About $2.01 per paid repeat job in 2033, before cu">
            <a:extLst xmlns:a="http://schemas.openxmlformats.org/drawingml/2006/main">
              <a:ext uri="{FF2B5EF4-FFF2-40B4-BE49-F238E27FC236}">
                <a16:creationId xmlns:a16="http://schemas.microsoft.com/office/drawing/2014/main" id="{DBCDD4BB-757C-4E97-AD5B-5FAEDA2F7138}"/>
              </a:ext>
            </a:extLst>
          </p:cNvPr>
          <p:cNvSpPr>
            <a:spLocks xmlns:a="http://schemas.openxmlformats.org/drawingml/2006/main" noGrp="1"/>
          </p:cNvSpPr>
          <p:nvPr/>
        </p:nvSpPr>
        <p:spPr>
          <a:xfrm xmlns:a="http://schemas.openxmlformats.org/drawingml/2006/main">
            <a:off x="628650" y="2905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About $2.01 per paid repeat job in 2033, before customer acquisition and company overhead.</a:t>
            </a:r>
          </a:p>
        </p:txBody>
      </p:sp>
      <p:sp>
        <p:nvSpPr>
          <p:cNvPr id="7" name="A company-level funding gap">
            <a:extLst xmlns:a="http://schemas.openxmlformats.org/drawingml/2006/main">
              <a:ext uri="{FF2B5EF4-FFF2-40B4-BE49-F238E27FC236}">
                <a16:creationId xmlns:a16="http://schemas.microsoft.com/office/drawing/2014/main" id="{8B58630B-1434-4297-9033-1EF882B61103}"/>
              </a:ext>
            </a:extLst>
          </p:cNvPr>
          <p:cNvSpPr>
            <a:spLocks xmlns:a="http://schemas.openxmlformats.org/drawingml/2006/main" noGrp="1"/>
          </p:cNvSpPr>
          <p:nvPr/>
        </p:nvSpPr>
        <p:spPr>
          <a:xfrm xmlns:a="http://schemas.openxmlformats.org/drawingml/2006/main">
            <a:off x="6419850" y="2381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company-level funding gap</a:t>
            </a:r>
          </a:p>
        </p:txBody>
      </p:sp>
      <p:sp>
        <p:nvSpPr>
          <p:cNvPr id="8" name="$1.03m of annual revenue does not cover ten paid e">
            <a:extLst xmlns:a="http://schemas.openxmlformats.org/drawingml/2006/main">
              <a:ext uri="{FF2B5EF4-FFF2-40B4-BE49-F238E27FC236}">
                <a16:creationId xmlns:a16="http://schemas.microsoft.com/office/drawing/2014/main" id="{FB56AD9B-3866-4389-905B-B67B88D81D8B}"/>
              </a:ext>
            </a:extLst>
          </p:cNvPr>
          <p:cNvSpPr>
            <a:spLocks xmlns:a="http://schemas.openxmlformats.org/drawingml/2006/main" noGrp="1"/>
          </p:cNvSpPr>
          <p:nvPr/>
        </p:nvSpPr>
        <p:spPr>
          <a:xfrm xmlns:a="http://schemas.openxmlformats.org/drawingml/2006/main">
            <a:off x="6419850" y="2905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$1.03m of annual revenue does not cover ten paid employees, acquisition and regional operations. EBITDA is ($1.07)m.</a:t>
            </a:r>
          </a:p>
        </p:txBody>
      </p:sp>
      <p:sp>
        <p:nvSpPr>
          <p:cNvPr id="9" name="A pricing sensitivity">
            <a:extLst xmlns:a="http://schemas.openxmlformats.org/drawingml/2006/main">
              <a:ext uri="{FF2B5EF4-FFF2-40B4-BE49-F238E27FC236}">
                <a16:creationId xmlns:a16="http://schemas.microsoft.com/office/drawing/2014/main" id="{646C8E92-B560-4860-AD64-69CA1FDCAFBC}"/>
              </a:ext>
            </a:extLst>
          </p:cNvPr>
          <p:cNvSpPr>
            <a:spLocks xmlns:a="http://schemas.openxmlformats.org/drawingml/2006/main" noGrp="1"/>
          </p:cNvSpPr>
          <p:nvPr/>
        </p:nvSpPr>
        <p:spPr>
          <a:xfrm xmlns:a="http://schemas.openxmlformats.org/drawingml/2006/main">
            <a:off x="628650" y="4286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pricing sensitivity</a:t>
            </a:r>
          </a:p>
        </p:txBody>
      </p:sp>
      <p:sp>
        <p:nvSpPr>
          <p:cNvPr id="10" name="At unchanged volume and costs, average service-fee">
            <a:extLst xmlns:a="http://schemas.openxmlformats.org/drawingml/2006/main">
              <a:ext uri="{FF2B5EF4-FFF2-40B4-BE49-F238E27FC236}">
                <a16:creationId xmlns:a16="http://schemas.microsoft.com/office/drawing/2014/main" id="{A1EF5383-DA23-45C2-ACAA-958C3B91E5E2}"/>
              </a:ext>
            </a:extLst>
          </p:cNvPr>
          <p:cNvSpPr>
            <a:spLocks xmlns:a="http://schemas.openxmlformats.org/drawingml/2006/main" noGrp="1"/>
          </p:cNvSpPr>
          <p:nvPr/>
        </p:nvSpPr>
        <p:spPr>
          <a:xfrm xmlns:a="http://schemas.openxmlformats.org/drawingml/2006/main">
            <a:off x="628650" y="4810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At unchanged volume and costs, average service-fee revenue would need to rise from $3.11 to about $7.54 per job to reach EBITDA break-even.</a:t>
            </a:r>
          </a:p>
        </p:txBody>
      </p:sp>
      <p:sp>
        <p:nvSpPr>
          <p:cNvPr id="11" name="Evidence before faster expansion">
            <a:extLst xmlns:a="http://schemas.openxmlformats.org/drawingml/2006/main">
              <a:ext uri="{FF2B5EF4-FFF2-40B4-BE49-F238E27FC236}">
                <a16:creationId xmlns:a16="http://schemas.microsoft.com/office/drawing/2014/main" id="{8EA8382A-7570-444E-8E2E-89F59B82E410}"/>
              </a:ext>
            </a:extLst>
          </p:cNvPr>
          <p:cNvSpPr>
            <a:spLocks xmlns:a="http://schemas.openxmlformats.org/drawingml/2006/main" noGrp="1"/>
          </p:cNvSpPr>
          <p:nvPr/>
        </p:nvSpPr>
        <p:spPr>
          <a:xfrm xmlns:a="http://schemas.openxmlformats.org/drawingml/2006/main">
            <a:off x="6419850" y="428625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Evidence before faster expansion</a:t>
            </a:r>
          </a:p>
        </p:txBody>
      </p:sp>
      <p:sp>
        <p:nvSpPr>
          <p:cNvPr id="12" name="Test provider fee acceptance, a leaner staffing pl">
            <a:extLst xmlns:a="http://schemas.openxmlformats.org/drawingml/2006/main">
              <a:ext uri="{FF2B5EF4-FFF2-40B4-BE49-F238E27FC236}">
                <a16:creationId xmlns:a16="http://schemas.microsoft.com/office/drawing/2014/main" id="{E654F767-0D05-41F0-B0CF-526182546871}"/>
              </a:ext>
            </a:extLst>
          </p:cNvPr>
          <p:cNvSpPr>
            <a:spLocks xmlns:a="http://schemas.openxmlformats.org/drawingml/2006/main" noGrp="1"/>
          </p:cNvSpPr>
          <p:nvPr/>
        </p:nvSpPr>
        <p:spPr>
          <a:xfrm xmlns:a="http://schemas.openxmlformats.org/drawingml/2006/main">
            <a:off x="6419850" y="481012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provider fee acceptance, a leaner staffing plan and durable paid retention. Add new markets only with their own demand and launch budgets.</a:t>
            </a:r>
          </a:p>
        </p:txBody>
      </p:sp>
      <p:sp>
        <p:nvSpPr>
          <p:cNvPr id="13" name="The fee sensitivity includes the small payout-cost">
            <a:extLst xmlns:a="http://schemas.openxmlformats.org/drawingml/2006/main">
              <a:ext uri="{FF2B5EF4-FFF2-40B4-BE49-F238E27FC236}">
                <a16:creationId xmlns:a16="http://schemas.microsoft.com/office/drawing/2014/main" id="{590F8AAF-E268-411B-84B6-FAD12DCF4FD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fee sensitivity includes the small payout-cost reduction from retaining a higher fee. It assumes no customer or provider response and is not a validated price.</a:t>
            </a:r>
          </a:p>
        </p:txBody>
      </p:sp>
    </p:spTree>
    <p:extLst>
      <p:ext uri="{BB962C8B-B14F-4D97-AF65-F5344CB8AC3E}">
        <p14:creationId xmlns:p14="http://schemas.microsoft.com/office/powerpoint/2010/main" val="829573443"/>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504B2996-5C0D-4AF2-87B5-D75AC742DC9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6F440A65-6959-40A3-8BDC-BCD4BF78D1D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5E4E931A-CC96-4FC9-84CF-5EC6C4569AE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DA6BCF48-0576-4C63-93DE-F28AF3CF46D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$720,000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$69,451</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Corporate + local operating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$195,420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$46,744</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($81,887)</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$949,729</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$525,271</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710543EF-1DBA-45F3-BE93-732718F3F46E}"/>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DF01A793-1D79-4EA2-B13B-63ED4D80B8BB}"/>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5.39m">
            <a:extLst xmlns:a="http://schemas.openxmlformats.org/drawingml/2006/main">
              <a:ext uri="{FF2B5EF4-FFF2-40B4-BE49-F238E27FC236}">
                <a16:creationId xmlns:a16="http://schemas.microsoft.com/office/drawing/2014/main" id="{CD8D60F8-DEBE-4310-B318-FDE9A9D7EC1D}"/>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$5.39m</a:t>
            </a:r>
          </a:p>
        </p:txBody>
      </p:sp>
      <p:sp>
        <p:nvSpPr>
          <p:cNvPr id="9" name="Peak cumulative cash deficit before financing unde">
            <a:extLst xmlns:a="http://schemas.openxmlformats.org/drawingml/2006/main">
              <a:ext uri="{FF2B5EF4-FFF2-40B4-BE49-F238E27FC236}">
                <a16:creationId xmlns:a16="http://schemas.microsoft.com/office/drawing/2014/main" id="{C687C5BF-7706-495B-BDD0-C2F07C2ED125}"/>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0.75m 2033 fixed-cost buffer gives $6.">
            <a:extLst xmlns:a="http://schemas.openxmlformats.org/drawingml/2006/main">
              <a:ext uri="{FF2B5EF4-FFF2-40B4-BE49-F238E27FC236}">
                <a16:creationId xmlns:a16="http://schemas.microsoft.com/office/drawing/2014/main" id="{5CD3EA0A-FBAA-4A59-9334-DAF84E0E5C4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$0.75m 2033 fixed-cost buffer gives $6.14m, before financing fees. The $1.5m round is an initial pilot illustration; follow-on capital would be needed.</a:t>
            </a:r>
          </a:p>
        </p:txBody>
      </p:sp>
    </p:spTree>
    <p:extLst>
      <p:ext uri="{BB962C8B-B14F-4D97-AF65-F5344CB8AC3E}">
        <p14:creationId xmlns:p14="http://schemas.microsoft.com/office/powerpoint/2010/main" val="1442853434"/>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AB2DBBD3-4DAC-4269-9DC5-FF358A89306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BDE50FBF-A3BB-4A2E-B66D-DCBC16382D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5E6A586B-998D-4949-88EB-5DD94659969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DA34AF86-999C-4D4D-9F8C-9A187EB7EBC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A2D6E9BE-7CC7-494C-A318-D244CC2EBEEF}"/>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D0EC7636-6E81-441E-BD34-FF4AE3355E6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977155258"/>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889ED298-5932-421E-8C13-BC19BBEBF31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70AAEFA7-5889-4774-A2A1-B9A9DE44EC6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459DF4B2-EC97-486B-8AD2-3005B8379B2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CB986C59-6FFD-4B49-886D-73583471776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($295,547)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($285,418)</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($2,409,814)</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($2,063,853)</a:t>
                      </a:r>
                    </a:p>
                  </a:txBody>
                  <a:tcPr marL="91440" marR="91440" marT="45720" marB="45720" anchor="ctr">
                    <a:solidFill>
                      <a:srgbClr val="E8EDDF"/>
                    </a:solidFill>
                  </a:tcPr>
                </a:tc>
              </a:tr>
            </a:tbl>
          </a:graphicData>
        </a:graphic>
      </p:graphicFrame>
      <p:sp>
        <p:nvSpPr>
          <p:cNvPr id="6" name="Neither build option covers annual run costs or re">
            <a:extLst xmlns:a="http://schemas.openxmlformats.org/drawingml/2006/main">
              <a:ext uri="{FF2B5EF4-FFF2-40B4-BE49-F238E27FC236}">
                <a16:creationId xmlns:a16="http://schemas.microsoft.com/office/drawing/2014/main" id="{F84AFA9B-6BEE-42B3-8616-24AF628D282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Neither build option covers annual run costs or recovers the investment by 2033 at the modeled regional scale. Gate a build on quoted costs and payback, not a calendar date.</a:t>
            </a:r>
          </a:p>
        </p:txBody>
      </p:sp>
    </p:spTree>
    <p:extLst>
      <p:ext uri="{BB962C8B-B14F-4D97-AF65-F5344CB8AC3E}">
        <p14:creationId xmlns:p14="http://schemas.microsoft.com/office/powerpoint/2010/main" val="2067562029"/>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219AF1F4-3505-4087-B2B7-8AC58A02386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096CAC75-354C-407D-A13D-C70B2AEEA94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977B9C2E-505B-487F-AEBC-E89EABEF913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F45F5FDC-1F07-4CDA-BD7E-46C378AF268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566729CD-F61E-4432-851F-68079536A63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554841535"/>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67721016-D68F-4A83-B59A-960B94059AE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15CB938C-5244-4910-ABF2-14502953063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FF52B682-13A4-4803-A384-12363A60105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2">
            <a:extLst xmlns:a="http://schemas.openxmlformats.org/drawingml/2006/main">
              <a:ext uri="{FF2B5EF4-FFF2-40B4-BE49-F238E27FC236}">
                <a16:creationId xmlns:a16="http://schemas.microsoft.com/office/drawing/2014/main" id="{DADC077E-2BE4-4588-8456-B5449E30085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32</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CBC43A82-4D82-4265-B8E0-257C29F7CA3E}"/>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FE91F1EC-374E-4B5F-AEFE-3DE1C0D3A04F}"/>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AA2575CE-7280-4A42-9E40-107F1367B430}"/>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6CE085CF-A26A-4CC4-8E04-7D687A6E9CE0}"/>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F9534B19-2792-45B9-B774-71EC73DFB26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851510120"/>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5A377521-D9FC-485A-B8E8-F9AE7EB3517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8AB34C8E-6BDA-4CCB-B0D4-1493DC8F45A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309D14F1-C48E-451D-929A-295F07EA8B9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3">
            <a:extLst xmlns:a="http://schemas.openxmlformats.org/drawingml/2006/main">
              <a:ext uri="{FF2B5EF4-FFF2-40B4-BE49-F238E27FC236}">
                <a16:creationId xmlns:a16="http://schemas.microsoft.com/office/drawing/2014/main" id="{099D0054-EC2D-4A14-81C0-69687555D4C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33</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 launch households; measure second-season paid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Pilot CAC around $55; test a path below $50</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5A6F5EB6-EDC5-498E-B0D2-183B7364BCF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295193860"/>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26F04EA8-1FCB-4F2B-979F-06723178313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A607A061-9F34-4E66-8645-0F611BED1D7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C239392E-4C4E-4A1B-A167-ADC4E5A50D8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4">
            <a:extLst xmlns:a="http://schemas.openxmlformats.org/drawingml/2006/main">
              <a:ext uri="{FF2B5EF4-FFF2-40B4-BE49-F238E27FC236}">
                <a16:creationId xmlns:a16="http://schemas.microsoft.com/office/drawing/2014/main" id="{9B52844E-6B8A-4F2A-BAAA-7CCE84ACA13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34</a:t>
            </a:r>
          </a:p>
        </p:txBody>
      </p:sp>
      <p:sp>
        <p:nvSpPr>
          <p:cNvPr id="5" name="Households and paid visits">
            <a:extLst xmlns:a="http://schemas.openxmlformats.org/drawingml/2006/main">
              <a:ext uri="{FF2B5EF4-FFF2-40B4-BE49-F238E27FC236}">
                <a16:creationId xmlns:a16="http://schemas.microsoft.com/office/drawing/2014/main" id="{78FE7319-B5A2-4DB5-968F-234C858F0B13}"/>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465DA522-D452-46FD-A498-BEBBCD5D96F9}"/>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C1B7DC66-22F5-4A99-BF8A-C0730D776A86}"/>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05 per repeat job aft">
            <a:extLst xmlns:a="http://schemas.openxmlformats.org/drawingml/2006/main">
              <a:ext uri="{FF2B5EF4-FFF2-40B4-BE49-F238E27FC236}">
                <a16:creationId xmlns:a16="http://schemas.microsoft.com/office/drawing/2014/main" id="{3077CAB0-9191-4F29-A18C-147D192047B0}"/>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$2.05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E46A13C3-6546-4B09-BBF7-753CB2F8644F}"/>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1A6FD1E4-4E09-45AD-BC3C-D602806FBBA0}"/>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42416977-3519-4472-989D-B51A1119D08D}"/>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47 of five-year contri">
            <a:extLst xmlns:a="http://schemas.openxmlformats.org/drawingml/2006/main">
              <a:ext uri="{FF2B5EF4-FFF2-40B4-BE49-F238E27FC236}">
                <a16:creationId xmlns:a16="http://schemas.microsoft.com/office/drawing/2014/main" id="{341C85F1-6147-433D-ACAD-EF0380BB309E}"/>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$147 of five-year contribution versus $48 CAC, or 3.0x. This assumes retention and unchanged cohort economics.</a:t>
            </a:r>
          </a:p>
        </p:txBody>
      </p:sp>
    </p:spTree>
    <p:extLst>
      <p:ext uri="{BB962C8B-B14F-4D97-AF65-F5344CB8AC3E}">
        <p14:creationId xmlns:p14="http://schemas.microsoft.com/office/powerpoint/2010/main" val="356472940"/>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61C1458B-DDD8-4CDD-8AD8-1E3DD4DEFF3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C4FB9852-4A1D-4D94-B8E6-22988283BC0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99AB6916-6456-4B43-BAA0-AB423CBE6D6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5">
            <a:extLst xmlns:a="http://schemas.openxmlformats.org/drawingml/2006/main">
              <a:ext uri="{FF2B5EF4-FFF2-40B4-BE49-F238E27FC236}">
                <a16:creationId xmlns:a16="http://schemas.microsoft.com/office/drawing/2014/main" id="{47BAE181-FF89-4DCB-8493-3DE7E3063AB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35</a:t>
            </a:r>
          </a:p>
        </p:txBody>
      </p:sp>
      <p:sp>
        <p:nvSpPr>
          <p:cNvPr id="5" name="Company materials">
            <a:extLst xmlns:a="http://schemas.openxmlformats.org/drawingml/2006/main">
              <a:ext uri="{FF2B5EF4-FFF2-40B4-BE49-F238E27FC236}">
                <a16:creationId xmlns:a16="http://schemas.microsoft.com/office/drawing/2014/main" id="{8D7EB928-A0A5-45EC-BCFF-982D3D94250F}"/>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0677E958-E12C-47C2-A9ED-406F7091C1D5}"/>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17FD71B6-0EEC-4B7B-9FDC-9B7CEF4700E3}"/>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5E591CD7-DB45-4FAF-A73F-B12611D72BF6}"/>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a7b97164ac044e5"/>
              </a:rPr>
              <a:t>Stripe Payments pricing</a:t>
            </a:r>
          </a:p>
        </p:txBody>
      </p:sp>
      <p:sp>
        <p:nvSpPr>
          <p:cNvPr id="9" name="Stripe Connect pricing">
            <a:extLst xmlns:a="http://schemas.openxmlformats.org/drawingml/2006/main">
              <a:ext uri="{FF2B5EF4-FFF2-40B4-BE49-F238E27FC236}">
                <a16:creationId xmlns:a16="http://schemas.microsoft.com/office/drawing/2014/main" id="{40A5894D-27BE-4C15-9F23-591E27F9B6AA}"/>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e2589b4589e407a"/>
              </a:rPr>
              <a:t>Stripe Connect pricing</a:t>
            </a:r>
          </a:p>
        </p:txBody>
      </p:sp>
      <p:sp>
        <p:nvSpPr>
          <p:cNvPr id="10" name="Stripe Financial Connections">
            <a:extLst xmlns:a="http://schemas.openxmlformats.org/drawingml/2006/main">
              <a:ext uri="{FF2B5EF4-FFF2-40B4-BE49-F238E27FC236}">
                <a16:creationId xmlns:a16="http://schemas.microsoft.com/office/drawing/2014/main" id="{3710E646-D53A-4001-9308-7E6C8D9F71F6}"/>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9333b96a29c4f63"/>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3A5A999C-E805-47B4-AA15-03401233133A}"/>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2b90ab7816f84f89"/>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9B3CDFE3-0D60-437F-BD04-289F413398A9}"/>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a2261a055b64731"/>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78C69C69-43F5-4514-BF17-CA860F389828}"/>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a57f46c3a58a4b5e"/>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FB839A8B-BCA2-4C94-9CB7-83DED653BDD0}"/>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6011c0035d94899"/>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903A3C83-77FD-4B17-B925-F860999FDDE1}"/>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fc0912a71cd948dc"/>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A8560B25-1D82-425D-8C30-F03B58F07AFD}"/>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e7edf4dda03f4991"/>
              </a:rPr>
              <a:t>Census QuickFacts: Barnegat</a:t>
            </a:r>
          </a:p>
        </p:txBody>
      </p:sp>
      <p:sp>
        <p:nvSpPr>
          <p:cNvPr id="17" name="Jobber: software pricing">
            <a:extLst xmlns:a="http://schemas.openxmlformats.org/drawingml/2006/main">
              <a:ext uri="{FF2B5EF4-FFF2-40B4-BE49-F238E27FC236}">
                <a16:creationId xmlns:a16="http://schemas.microsoft.com/office/drawing/2014/main" id="{C1BE4AEB-276E-48C9-BBE8-3DD088C68829}"/>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3ac33cb6e5de4fd5"/>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306AD926-C4DD-4D70-A305-B57FF0EFF2D7}"/>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53a9d5f298394bcf"/>
              </a:rPr>
              <a:t>Zocdoc: Sponsored Results cost</a:t>
            </a:r>
          </a:p>
        </p:txBody>
      </p:sp>
      <p:sp>
        <p:nvSpPr>
          <p:cNvPr id="19" name="Stripe Billing pricing">
            <a:extLst xmlns:a="http://schemas.openxmlformats.org/drawingml/2006/main">
              <a:ext uri="{FF2B5EF4-FFF2-40B4-BE49-F238E27FC236}">
                <a16:creationId xmlns:a16="http://schemas.microsoft.com/office/drawing/2014/main" id="{04BC36C8-AC75-44E7-A545-1394A5D28B4D}"/>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5ee15c65561643af"/>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4CD37C58-D27E-42EB-9D68-06DE33C4F40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436649754"/>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Geographic evidence and planning inputs">
            <a:extLst xmlns:a="http://schemas.openxmlformats.org/drawingml/2006/main">
              <a:ext uri="{FF2B5EF4-FFF2-40B4-BE49-F238E27FC236}">
                <a16:creationId xmlns:a16="http://schemas.microsoft.com/office/drawing/2014/main" id="{E809F31D-BADE-4D03-8266-9A63CF62334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1–7. All links open the ">
            <a:extLst xmlns:a="http://schemas.openxmlformats.org/drawingml/2006/main">
              <a:ext uri="{FF2B5EF4-FFF2-40B4-BE49-F238E27FC236}">
                <a16:creationId xmlns:a16="http://schemas.microsoft.com/office/drawing/2014/main" id="{52769F24-1057-475B-BB6F-A0C37CD6644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1–7. All links open the underlying municipal table.</a:t>
            </a:r>
          </a:p>
        </p:txBody>
      </p:sp>
      <p:sp>
        <p:nvSpPr>
          <p:cNvPr id="3" name="YardMatch">
            <a:extLst xmlns:a="http://schemas.openxmlformats.org/drawingml/2006/main">
              <a:ext uri="{FF2B5EF4-FFF2-40B4-BE49-F238E27FC236}">
                <a16:creationId xmlns:a16="http://schemas.microsoft.com/office/drawing/2014/main" id="{79F55CFA-7A64-4796-85D8-12254E3698B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6">
            <a:extLst xmlns:a="http://schemas.openxmlformats.org/drawingml/2006/main">
              <a:ext uri="{FF2B5EF4-FFF2-40B4-BE49-F238E27FC236}">
                <a16:creationId xmlns:a16="http://schemas.microsoft.com/office/drawing/2014/main" id="{38DB2DA2-5A41-4061-A303-9B5CF70A9F0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36</a:t>
            </a:r>
          </a:p>
        </p:txBody>
      </p:sp>
      <p:graphicFrame>
        <p:nvGraphicFramePr>
          <p:cNvPr id="18"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12,007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90.3%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rPr>
                        <a:t>Lacey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11,338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$102,624</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rPr>
                        <a:t>Ocean / Waretown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3,908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$100,524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rPr>
                        <a:t>Berkeley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21,950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$66,008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rPr>
                        <a:t>Toms River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38,047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82.1%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$99,547</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rPr>
                        <a:t>Brick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30,289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82.2%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$106,130</a:t>
                      </a:r>
                    </a:p>
                  </a:txBody>
                  <a:tcPr marL="91440" marR="91440" marT="45720" marB="45720" anchor="ctr">
                    <a:solidFill>
                      <a:srgbClr val="FFFFFF"/>
                    </a:solidFill>
                  </a:tcPr>
                </a:tc>
              </a:tr>
            </a:tbl>
          </a:graphicData>
        </a:graphic>
      </p:graphicFrame>
      <p:sp>
        <p:nvSpPr>
          <p:cNvPr id="6" name="Source">
            <a:extLst xmlns:a="http://schemas.openxmlformats.org/drawingml/2006/main">
              <a:ext uri="{FF2B5EF4-FFF2-40B4-BE49-F238E27FC236}">
                <a16:creationId xmlns:a16="http://schemas.microsoft.com/office/drawing/2014/main" id="{09221410-945E-461B-ABB1-25C8DEEAB915}"/>
              </a:ext>
            </a:extLst>
          </p:cNvPr>
          <p:cNvSpPr>
            <a:spLocks xmlns:a="http://schemas.openxmlformats.org/drawingml/2006/main" noGrp="1"/>
          </p:cNvSpPr>
          <p:nvPr/>
        </p:nvSpPr>
        <p:spPr>
          <a:xfrm xmlns:a="http://schemas.openxmlformats.org/drawingml/2006/main">
            <a:off x="695325" y="2940844"/>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d1069fff6caf406c"/>
              </a:rPr>
              <a:t>Source</a:t>
            </a:r>
          </a:p>
        </p:txBody>
      </p:sp>
      <p:sp>
        <p:nvSpPr>
          <p:cNvPr id="7" name="Source">
            <a:extLst xmlns:a="http://schemas.openxmlformats.org/drawingml/2006/main">
              <a:ext uri="{FF2B5EF4-FFF2-40B4-BE49-F238E27FC236}">
                <a16:creationId xmlns:a16="http://schemas.microsoft.com/office/drawing/2014/main" id="{78AEB6FD-AD0C-4DCF-BED7-C26FDE73F642}"/>
              </a:ext>
            </a:extLst>
          </p:cNvPr>
          <p:cNvSpPr>
            <a:spLocks xmlns:a="http://schemas.openxmlformats.org/drawingml/2006/main" noGrp="1"/>
          </p:cNvSpPr>
          <p:nvPr/>
        </p:nvSpPr>
        <p:spPr>
          <a:xfrm xmlns:a="http://schemas.openxmlformats.org/drawingml/2006/main">
            <a:off x="695325" y="3357563"/>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450dd82ef52745e7"/>
              </a:rPr>
              <a:t>Source</a:t>
            </a:r>
          </a:p>
        </p:txBody>
      </p:sp>
      <p:sp>
        <p:nvSpPr>
          <p:cNvPr id="8" name="Source">
            <a:extLst xmlns:a="http://schemas.openxmlformats.org/drawingml/2006/main">
              <a:ext uri="{FF2B5EF4-FFF2-40B4-BE49-F238E27FC236}">
                <a16:creationId xmlns:a16="http://schemas.microsoft.com/office/drawing/2014/main" id="{13C0456A-2643-47BB-B755-310AF28090DC}"/>
              </a:ext>
            </a:extLst>
          </p:cNvPr>
          <p:cNvSpPr>
            <a:spLocks xmlns:a="http://schemas.openxmlformats.org/drawingml/2006/main" noGrp="1"/>
          </p:cNvSpPr>
          <p:nvPr/>
        </p:nvSpPr>
        <p:spPr>
          <a:xfrm xmlns:a="http://schemas.openxmlformats.org/drawingml/2006/main">
            <a:off x="695325" y="3774281"/>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36d20973df90430e"/>
              </a:rPr>
              <a:t>Source</a:t>
            </a:r>
          </a:p>
        </p:txBody>
      </p:sp>
      <p:sp>
        <p:nvSpPr>
          <p:cNvPr id="9" name="Source">
            <a:extLst xmlns:a="http://schemas.openxmlformats.org/drawingml/2006/main">
              <a:ext uri="{FF2B5EF4-FFF2-40B4-BE49-F238E27FC236}">
                <a16:creationId xmlns:a16="http://schemas.microsoft.com/office/drawing/2014/main" id="{40818CAF-08AF-4447-A523-35CF8D35D7F1}"/>
              </a:ext>
            </a:extLst>
          </p:cNvPr>
          <p:cNvSpPr>
            <a:spLocks xmlns:a="http://schemas.openxmlformats.org/drawingml/2006/main" noGrp="1"/>
          </p:cNvSpPr>
          <p:nvPr/>
        </p:nvSpPr>
        <p:spPr>
          <a:xfrm xmlns:a="http://schemas.openxmlformats.org/drawingml/2006/main">
            <a:off x="695325" y="4191000"/>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3ee3f85174854663"/>
              </a:rPr>
              <a:t>Source</a:t>
            </a:r>
          </a:p>
        </p:txBody>
      </p:sp>
      <p:sp>
        <p:nvSpPr>
          <p:cNvPr id="10" name="Source">
            <a:extLst xmlns:a="http://schemas.openxmlformats.org/drawingml/2006/main">
              <a:ext uri="{FF2B5EF4-FFF2-40B4-BE49-F238E27FC236}">
                <a16:creationId xmlns:a16="http://schemas.microsoft.com/office/drawing/2014/main" id="{A35845AE-69FD-4154-AC4A-BE07BDD3946B}"/>
              </a:ext>
            </a:extLst>
          </p:cNvPr>
          <p:cNvSpPr>
            <a:spLocks xmlns:a="http://schemas.openxmlformats.org/drawingml/2006/main" noGrp="1"/>
          </p:cNvSpPr>
          <p:nvPr/>
        </p:nvSpPr>
        <p:spPr>
          <a:xfrm xmlns:a="http://schemas.openxmlformats.org/drawingml/2006/main">
            <a:off x="695325" y="4607719"/>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c4fb41e6f62f492c"/>
              </a:rPr>
              <a:t>Source</a:t>
            </a:r>
          </a:p>
        </p:txBody>
      </p:sp>
      <p:sp>
        <p:nvSpPr>
          <p:cNvPr id="11" name="Source">
            <a:extLst xmlns:a="http://schemas.openxmlformats.org/drawingml/2006/main">
              <a:ext uri="{FF2B5EF4-FFF2-40B4-BE49-F238E27FC236}">
                <a16:creationId xmlns:a16="http://schemas.microsoft.com/office/drawing/2014/main" id="{78CC48B7-C981-4FEF-993D-664CF752AED9}"/>
              </a:ext>
            </a:extLst>
          </p:cNvPr>
          <p:cNvSpPr>
            <a:spLocks xmlns:a="http://schemas.openxmlformats.org/drawingml/2006/main" noGrp="1"/>
          </p:cNvSpPr>
          <p:nvPr/>
        </p:nvSpPr>
        <p:spPr>
          <a:xfrm xmlns:a="http://schemas.openxmlformats.org/drawingml/2006/main">
            <a:off x="695325" y="5024438"/>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e76291e10e5b4a9e"/>
              </a:rPr>
              <a:t>Source</a:t>
            </a:r>
          </a:p>
        </p:txBody>
      </p:sp>
      <p:sp>
        <p:nvSpPr>
          <p:cNvPr id="12" name="Source">
            <a:extLst xmlns:a="http://schemas.openxmlformats.org/drawingml/2006/main">
              <a:ext uri="{FF2B5EF4-FFF2-40B4-BE49-F238E27FC236}">
                <a16:creationId xmlns:a16="http://schemas.microsoft.com/office/drawing/2014/main" id="{BBBC906F-DA08-4D63-8B4A-D2FEE8FAD8C7}"/>
              </a:ext>
            </a:extLst>
          </p:cNvPr>
          <p:cNvSpPr>
            <a:spLocks xmlns:a="http://schemas.openxmlformats.org/drawingml/2006/main" noGrp="1"/>
          </p:cNvSpPr>
          <p:nvPr/>
        </p:nvSpPr>
        <p:spPr>
          <a:xfrm xmlns:a="http://schemas.openxmlformats.org/drawingml/2006/main">
            <a:off x="695325" y="5441156"/>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b29706c0de74456f"/>
              </a:rPr>
              <a:t>Source</a:t>
            </a:r>
          </a:p>
        </p:txBody>
      </p:sp>
      <p:sp>
        <p:nvSpPr>
          <p:cNvPr id="13" name="Lawn eligibility, outsourcing, lot size, price pre">
            <a:extLst xmlns:a="http://schemas.openxmlformats.org/drawingml/2006/main">
              <a:ext uri="{FF2B5EF4-FFF2-40B4-BE49-F238E27FC236}">
                <a16:creationId xmlns:a16="http://schemas.microsoft.com/office/drawing/2014/main" id="{542B8AC3-F11E-4C64-8882-A84FFA7573B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279597728"/>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Geographic evidence and planning inputs">
            <a:extLst xmlns:a="http://schemas.openxmlformats.org/drawingml/2006/main">
              <a:ext uri="{FF2B5EF4-FFF2-40B4-BE49-F238E27FC236}">
                <a16:creationId xmlns:a16="http://schemas.microsoft.com/office/drawing/2014/main" id="{595CCE7E-4686-4196-948A-566A9039D88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8–14. All links open the">
            <a:extLst xmlns:a="http://schemas.openxmlformats.org/drawingml/2006/main">
              <a:ext uri="{FF2B5EF4-FFF2-40B4-BE49-F238E27FC236}">
                <a16:creationId xmlns:a16="http://schemas.microsoft.com/office/drawing/2014/main" id="{A1B74F7B-AF8A-4C05-A8A5-C27E69D6228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8–14. All links open the underlying municipal table.</a:t>
            </a:r>
          </a:p>
        </p:txBody>
      </p:sp>
      <p:sp>
        <p:nvSpPr>
          <p:cNvPr id="3" name="YardMatch">
            <a:extLst xmlns:a="http://schemas.openxmlformats.org/drawingml/2006/main">
              <a:ext uri="{FF2B5EF4-FFF2-40B4-BE49-F238E27FC236}">
                <a16:creationId xmlns:a16="http://schemas.microsoft.com/office/drawing/2014/main" id="{4654E870-866A-4E4C-8A8B-2F5B83AD308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7">
            <a:extLst xmlns:a="http://schemas.openxmlformats.org/drawingml/2006/main">
              <a:ext uri="{FF2B5EF4-FFF2-40B4-BE49-F238E27FC236}">
                <a16:creationId xmlns:a16="http://schemas.microsoft.com/office/drawing/2014/main" id="{ED02F6DC-734B-415F-AFCA-CE834D909CD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37</a:t>
            </a:r>
          </a:p>
        </p:txBody>
      </p:sp>
      <p:graphicFrame>
        <p:nvGraphicFramePr>
          <p:cNvPr id="18"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rPr>
                        <a:t>Jackson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20,633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87.0%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$115,511</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rPr>
                        <a:t>Howell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19,134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$134,854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10,124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83.4%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rPr>
                        <a:t>Middletown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25,211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85.7%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$141,810</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6,429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3,610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2,451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FFFFF"/>
                    </a:solidFill>
                  </a:tcPr>
                </a:tc>
              </a:tr>
            </a:tbl>
          </a:graphicData>
        </a:graphic>
      </p:graphicFrame>
      <p:sp>
        <p:nvSpPr>
          <p:cNvPr id="6" name="Source">
            <a:extLst xmlns:a="http://schemas.openxmlformats.org/drawingml/2006/main">
              <a:ext uri="{FF2B5EF4-FFF2-40B4-BE49-F238E27FC236}">
                <a16:creationId xmlns:a16="http://schemas.microsoft.com/office/drawing/2014/main" id="{10BE77C1-2E88-4E77-B270-605394B4D8D2}"/>
              </a:ext>
            </a:extLst>
          </p:cNvPr>
          <p:cNvSpPr>
            <a:spLocks xmlns:a="http://schemas.openxmlformats.org/drawingml/2006/main" noGrp="1"/>
          </p:cNvSpPr>
          <p:nvPr/>
        </p:nvSpPr>
        <p:spPr>
          <a:xfrm xmlns:a="http://schemas.openxmlformats.org/drawingml/2006/main">
            <a:off x="695325" y="2940844"/>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ecf60ba4f1844a3a"/>
              </a:rPr>
              <a:t>Source</a:t>
            </a:r>
          </a:p>
        </p:txBody>
      </p:sp>
      <p:sp>
        <p:nvSpPr>
          <p:cNvPr id="7" name="Source">
            <a:extLst xmlns:a="http://schemas.openxmlformats.org/drawingml/2006/main">
              <a:ext uri="{FF2B5EF4-FFF2-40B4-BE49-F238E27FC236}">
                <a16:creationId xmlns:a16="http://schemas.microsoft.com/office/drawing/2014/main" id="{487C83D6-5044-47F5-8F8F-1F34B5BD51A8}"/>
              </a:ext>
            </a:extLst>
          </p:cNvPr>
          <p:cNvSpPr>
            <a:spLocks xmlns:a="http://schemas.openxmlformats.org/drawingml/2006/main" noGrp="1"/>
          </p:cNvSpPr>
          <p:nvPr/>
        </p:nvSpPr>
        <p:spPr>
          <a:xfrm xmlns:a="http://schemas.openxmlformats.org/drawingml/2006/main">
            <a:off x="695325" y="3357563"/>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9a992ad4a4ac4f34"/>
              </a:rPr>
              <a:t>Source</a:t>
            </a:r>
          </a:p>
        </p:txBody>
      </p:sp>
      <p:sp>
        <p:nvSpPr>
          <p:cNvPr id="8" name="Source">
            <a:extLst xmlns:a="http://schemas.openxmlformats.org/drawingml/2006/main">
              <a:ext uri="{FF2B5EF4-FFF2-40B4-BE49-F238E27FC236}">
                <a16:creationId xmlns:a16="http://schemas.microsoft.com/office/drawing/2014/main" id="{15912B44-DC4F-4742-8FCD-97E654390046}"/>
              </a:ext>
            </a:extLst>
          </p:cNvPr>
          <p:cNvSpPr>
            <a:spLocks xmlns:a="http://schemas.openxmlformats.org/drawingml/2006/main" noGrp="1"/>
          </p:cNvSpPr>
          <p:nvPr/>
        </p:nvSpPr>
        <p:spPr>
          <a:xfrm xmlns:a="http://schemas.openxmlformats.org/drawingml/2006/main">
            <a:off x="695325" y="3774281"/>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1339c8f256f144e9"/>
              </a:rPr>
              <a:t>Source</a:t>
            </a:r>
          </a:p>
        </p:txBody>
      </p:sp>
      <p:sp>
        <p:nvSpPr>
          <p:cNvPr id="9" name="Source">
            <a:extLst xmlns:a="http://schemas.openxmlformats.org/drawingml/2006/main">
              <a:ext uri="{FF2B5EF4-FFF2-40B4-BE49-F238E27FC236}">
                <a16:creationId xmlns:a16="http://schemas.microsoft.com/office/drawing/2014/main" id="{481A00F4-A00C-43A2-BE95-C98A12D4978D}"/>
              </a:ext>
            </a:extLst>
          </p:cNvPr>
          <p:cNvSpPr>
            <a:spLocks xmlns:a="http://schemas.openxmlformats.org/drawingml/2006/main" noGrp="1"/>
          </p:cNvSpPr>
          <p:nvPr/>
        </p:nvSpPr>
        <p:spPr>
          <a:xfrm xmlns:a="http://schemas.openxmlformats.org/drawingml/2006/main">
            <a:off x="695325" y="4191000"/>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b4d3c555ecd247b1"/>
              </a:rPr>
              <a:t>Source</a:t>
            </a:r>
          </a:p>
        </p:txBody>
      </p:sp>
      <p:sp>
        <p:nvSpPr>
          <p:cNvPr id="10" name="Source">
            <a:extLst xmlns:a="http://schemas.openxmlformats.org/drawingml/2006/main">
              <a:ext uri="{FF2B5EF4-FFF2-40B4-BE49-F238E27FC236}">
                <a16:creationId xmlns:a16="http://schemas.microsoft.com/office/drawing/2014/main" id="{1071493F-7CD9-4FE3-99F8-924EFD816FC3}"/>
              </a:ext>
            </a:extLst>
          </p:cNvPr>
          <p:cNvSpPr>
            <a:spLocks xmlns:a="http://schemas.openxmlformats.org/drawingml/2006/main" noGrp="1"/>
          </p:cNvSpPr>
          <p:nvPr/>
        </p:nvSpPr>
        <p:spPr>
          <a:xfrm xmlns:a="http://schemas.openxmlformats.org/drawingml/2006/main">
            <a:off x="695325" y="4607719"/>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56647b7de8ad42db"/>
              </a:rPr>
              <a:t>Source</a:t>
            </a:r>
          </a:p>
        </p:txBody>
      </p:sp>
      <p:sp>
        <p:nvSpPr>
          <p:cNvPr id="11" name="Source">
            <a:extLst xmlns:a="http://schemas.openxmlformats.org/drawingml/2006/main">
              <a:ext uri="{FF2B5EF4-FFF2-40B4-BE49-F238E27FC236}">
                <a16:creationId xmlns:a16="http://schemas.microsoft.com/office/drawing/2014/main" id="{9B2681B4-F190-4351-8561-EEC2C11B9D0E}"/>
              </a:ext>
            </a:extLst>
          </p:cNvPr>
          <p:cNvSpPr>
            <a:spLocks xmlns:a="http://schemas.openxmlformats.org/drawingml/2006/main" noGrp="1"/>
          </p:cNvSpPr>
          <p:nvPr/>
        </p:nvSpPr>
        <p:spPr>
          <a:xfrm xmlns:a="http://schemas.openxmlformats.org/drawingml/2006/main">
            <a:off x="695325" y="5024438"/>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2903d45014864bfe"/>
              </a:rPr>
              <a:t>Source</a:t>
            </a:r>
          </a:p>
        </p:txBody>
      </p:sp>
      <p:sp>
        <p:nvSpPr>
          <p:cNvPr id="12" name="Source">
            <a:extLst xmlns:a="http://schemas.openxmlformats.org/drawingml/2006/main">
              <a:ext uri="{FF2B5EF4-FFF2-40B4-BE49-F238E27FC236}">
                <a16:creationId xmlns:a16="http://schemas.microsoft.com/office/drawing/2014/main" id="{3FE1ADC6-B92D-4753-BF43-E260A7940236}"/>
              </a:ext>
            </a:extLst>
          </p:cNvPr>
          <p:cNvSpPr>
            <a:spLocks xmlns:a="http://schemas.openxmlformats.org/drawingml/2006/main" noGrp="1"/>
          </p:cNvSpPr>
          <p:nvPr/>
        </p:nvSpPr>
        <p:spPr>
          <a:xfrm xmlns:a="http://schemas.openxmlformats.org/drawingml/2006/main">
            <a:off x="695325" y="5441156"/>
            <a:ext cx="685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205938"/>
                </a:solidFill>
                <a:latin typeface="Arial"/>
                <a:ea typeface="Arial"/>
                <a:cs typeface="Arial"/>
              </a:defRPr>
            </a:pPr>
            <a:r>
              <a:rPr sz="975" b="0">
                <a:solidFill>
                  <a:srgbClr val="205938"/>
                </a:solidFill>
                <a:latin typeface="Arial"/>
                <a:ea typeface="Arial"/>
                <a:cs typeface="Arial"/>
                <a:hlinkClick xmlns:r="http://schemas.openxmlformats.org/officeDocument/2006/relationships" r:id="R50c3c8eee9b041e6"/>
              </a:rPr>
              <a:t>Source</a:t>
            </a:r>
          </a:p>
        </p:txBody>
      </p:sp>
      <p:sp>
        <p:nvSpPr>
          <p:cNvPr id="13" name="Lawn eligibility, outsourcing, lot size, price pre">
            <a:extLst xmlns:a="http://schemas.openxmlformats.org/drawingml/2006/main">
              <a:ext uri="{FF2B5EF4-FFF2-40B4-BE49-F238E27FC236}">
                <a16:creationId xmlns:a16="http://schemas.microsoft.com/office/drawing/2014/main" id="{51187BCC-DF20-4E15-8AAB-B3FB1307A29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13435750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2026-09-20T23:47:46.9670000Z</dcterms:created>
  <dcterms:modified xsi:type="dcterms:W3CDTF">2026-09-20T23:47:46.9670000Z</dcterms:modified>
</coreProperties>
</file>