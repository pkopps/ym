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748dc278db843fd" /><Relationship Type="http://schemas.openxmlformats.org/officeDocument/2006/relationships/extended-properties" Target="/docProps/app.xml" Id="R6afab02b6a7049a9" /><Relationship Type="http://schemas.openxmlformats.org/officeDocument/2006/relationships/officeDocument" Target="/ppt/presentation.xml" Id="Rfeede314271e4b4c" /></Relationships>
</file>

<file path=ppt/presentation.xml><?xml version="1.0" encoding="utf-8"?>
<p:presentation xmlns:p="http://schemas.openxmlformats.org/presentationml/2006/main">
  <p:sldMasterIdLst>
    <p:sldMasterId xmlns:r="http://schemas.openxmlformats.org/officeDocument/2006/relationships" id="2147483648" r:id="Rec9cdc369c1748cd"/>
  </p:sldMasterIdLst>
  <p:notesMasterIdLst>
    <p:notesMasterId xmlns:r="http://schemas.openxmlformats.org/officeDocument/2006/relationships" r:id="Rd77912fe3a1e4750"/>
  </p:notesMasterIdLst>
  <p:sldIdLst>
    <p:sldId xmlns:r="http://schemas.openxmlformats.org/officeDocument/2006/relationships" id="256" r:id="R50ba6edf6dd54b61"/>
    <p:sldId xmlns:r="http://schemas.openxmlformats.org/officeDocument/2006/relationships" id="257" r:id="Re8c25a90e9d148b4"/>
    <p:sldId xmlns:r="http://schemas.openxmlformats.org/officeDocument/2006/relationships" id="258" r:id="R9bd716350a5043b8"/>
    <p:sldId xmlns:r="http://schemas.openxmlformats.org/officeDocument/2006/relationships" id="259" r:id="R007a283132a1400b"/>
    <p:sldId xmlns:r="http://schemas.openxmlformats.org/officeDocument/2006/relationships" id="260" r:id="Re25902a5b3144eb9"/>
    <p:sldId xmlns:r="http://schemas.openxmlformats.org/officeDocument/2006/relationships" id="261" r:id="Ra9f18d4da455463c"/>
    <p:sldId xmlns:r="http://schemas.openxmlformats.org/officeDocument/2006/relationships" id="262" r:id="R1ddc38ea6faa49e9"/>
    <p:sldId xmlns:r="http://schemas.openxmlformats.org/officeDocument/2006/relationships" id="263" r:id="Re1861c0b16f34677"/>
    <p:sldId xmlns:r="http://schemas.openxmlformats.org/officeDocument/2006/relationships" id="264" r:id="R4463efeb5e6748a0"/>
    <p:sldId xmlns:r="http://schemas.openxmlformats.org/officeDocument/2006/relationships" id="265" r:id="Rcb0110d070bc40f2"/>
    <p:sldId xmlns:r="http://schemas.openxmlformats.org/officeDocument/2006/relationships" id="266" r:id="R4830e221c3f743f1"/>
    <p:sldId xmlns:r="http://schemas.openxmlformats.org/officeDocument/2006/relationships" id="267" r:id="R800529dd40bd4007"/>
    <p:sldId xmlns:r="http://schemas.openxmlformats.org/officeDocument/2006/relationships" id="268" r:id="Ref501ce2fec94f92"/>
    <p:sldId xmlns:r="http://schemas.openxmlformats.org/officeDocument/2006/relationships" id="269" r:id="R78c3bc40d0614762"/>
    <p:sldId xmlns:r="http://schemas.openxmlformats.org/officeDocument/2006/relationships" id="270" r:id="R5cb9c495313e40dd"/>
    <p:sldId xmlns:r="http://schemas.openxmlformats.org/officeDocument/2006/relationships" id="271" r:id="R8a502469bf6e4fad"/>
    <p:sldId xmlns:r="http://schemas.openxmlformats.org/officeDocument/2006/relationships" id="272" r:id="Ra8a500374ff14610"/>
    <p:sldId xmlns:r="http://schemas.openxmlformats.org/officeDocument/2006/relationships" id="273" r:id="R07648afcc7d54ca4"/>
    <p:sldId xmlns:r="http://schemas.openxmlformats.org/officeDocument/2006/relationships" id="274" r:id="R52c69362de4b4a4b"/>
    <p:sldId xmlns:r="http://schemas.openxmlformats.org/officeDocument/2006/relationships" id="275" r:id="Rebe75577c1f342dc"/>
    <p:sldId xmlns:r="http://schemas.openxmlformats.org/officeDocument/2006/relationships" id="276" r:id="R337eaf13636b49a6"/>
    <p:sldId xmlns:r="http://schemas.openxmlformats.org/officeDocument/2006/relationships" id="277" r:id="Reb3b04a4de9e4f25"/>
    <p:sldId xmlns:r="http://schemas.openxmlformats.org/officeDocument/2006/relationships" id="278" r:id="Rda63be29aaff44b1"/>
    <p:sldId xmlns:r="http://schemas.openxmlformats.org/officeDocument/2006/relationships" id="279" r:id="Rccaeb88ba5194d10"/>
    <p:sldId xmlns:r="http://schemas.openxmlformats.org/officeDocument/2006/relationships" id="280" r:id="R09909cf4cd2c41b1"/>
    <p:sldId xmlns:r="http://schemas.openxmlformats.org/officeDocument/2006/relationships" id="281" r:id="R0f73e40b8dd74f98"/>
    <p:sldId xmlns:r="http://schemas.openxmlformats.org/officeDocument/2006/relationships" id="282" r:id="Rab51ac7caaea4cf6"/>
    <p:sldId xmlns:r="http://schemas.openxmlformats.org/officeDocument/2006/relationships" id="283" r:id="R636ad42136904d5b"/>
    <p:sldId xmlns:r="http://schemas.openxmlformats.org/officeDocument/2006/relationships" id="284" r:id="R9cbeddbff71a4f8f"/>
    <p:sldId xmlns:r="http://schemas.openxmlformats.org/officeDocument/2006/relationships" id="285" r:id="R25841abf038747d7"/>
    <p:sldId xmlns:r="http://schemas.openxmlformats.org/officeDocument/2006/relationships" id="286" r:id="R9d39b17154134403"/>
    <p:sldId xmlns:r="http://schemas.openxmlformats.org/officeDocument/2006/relationships" id="287" r:id="Rfb549ac8b74f407c"/>
    <p:sldId xmlns:r="http://schemas.openxmlformats.org/officeDocument/2006/relationships" id="288" r:id="Rf5d2a0e6396b4785"/>
    <p:sldId xmlns:r="http://schemas.openxmlformats.org/officeDocument/2006/relationships" id="289" r:id="Rdbc6a27d14744454"/>
    <p:sldId xmlns:r="http://schemas.openxmlformats.org/officeDocument/2006/relationships" id="290" r:id="R7d42d610d90f4057"/>
    <p:sldId xmlns:r="http://schemas.openxmlformats.org/officeDocument/2006/relationships" id="291" r:id="R9890229c84c645bf"/>
    <p:sldId xmlns:r="http://schemas.openxmlformats.org/officeDocument/2006/relationships" id="292" r:id="R522aa584513b49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810ec357554fc5" /><Relationship Type="http://schemas.openxmlformats.org/officeDocument/2006/relationships/slideMaster" Target="/ppt/slideMasters/slideMaster1.xml" Id="Rec9cdc369c1748cd" /><Relationship Type="http://schemas.openxmlformats.org/officeDocument/2006/relationships/notesMaster" Target="/ppt/notesMasters/notesMaster1.xml" Id="Rd77912fe3a1e4750" /><Relationship Type="http://schemas.openxmlformats.org/officeDocument/2006/relationships/presProps" Target="/ppt/presProps.xml" Id="Ra4758131a4e244b1" /><Relationship Type="http://schemas.openxmlformats.org/officeDocument/2006/relationships/tableStyles" Target="/ppt/tableStyles.xml" Id="R9f91e11d016644d3" /><Relationship Type="http://schemas.openxmlformats.org/officeDocument/2006/relationships/slide" Target="/ppt/slides/slide1.xml" Id="R50ba6edf6dd54b61" /><Relationship Type="http://schemas.openxmlformats.org/officeDocument/2006/relationships/slide" Target="/ppt/slides/slide2.xml" Id="Re8c25a90e9d148b4" /><Relationship Type="http://schemas.openxmlformats.org/officeDocument/2006/relationships/slide" Target="/ppt/slides/slide3.xml" Id="R9bd716350a5043b8" /><Relationship Type="http://schemas.openxmlformats.org/officeDocument/2006/relationships/slide" Target="/ppt/slides/slide4.xml" Id="R007a283132a1400b" /><Relationship Type="http://schemas.openxmlformats.org/officeDocument/2006/relationships/slide" Target="/ppt/slides/slide5.xml" Id="Re25902a5b3144eb9" /><Relationship Type="http://schemas.openxmlformats.org/officeDocument/2006/relationships/slide" Target="/ppt/slides/slide6.xml" Id="Ra9f18d4da455463c" /><Relationship Type="http://schemas.openxmlformats.org/officeDocument/2006/relationships/slide" Target="/ppt/slides/slide7.xml" Id="R1ddc38ea6faa49e9" /><Relationship Type="http://schemas.openxmlformats.org/officeDocument/2006/relationships/slide" Target="/ppt/slides/slide8.xml" Id="Re1861c0b16f34677" /><Relationship Type="http://schemas.openxmlformats.org/officeDocument/2006/relationships/slide" Target="/ppt/slides/slide9.xml" Id="R4463efeb5e6748a0" /><Relationship Type="http://schemas.openxmlformats.org/officeDocument/2006/relationships/slide" Target="/ppt/slides/slide10.xml" Id="Rcb0110d070bc40f2" /><Relationship Type="http://schemas.openxmlformats.org/officeDocument/2006/relationships/slide" Target="/ppt/slides/slide11.xml" Id="R4830e221c3f743f1" /><Relationship Type="http://schemas.openxmlformats.org/officeDocument/2006/relationships/slide" Target="/ppt/slides/slide12.xml" Id="R800529dd40bd4007" /><Relationship Type="http://schemas.openxmlformats.org/officeDocument/2006/relationships/slide" Target="/ppt/slides/slide13.xml" Id="Ref501ce2fec94f92" /><Relationship Type="http://schemas.openxmlformats.org/officeDocument/2006/relationships/slide" Target="/ppt/slides/slide14.xml" Id="R78c3bc40d0614762" /><Relationship Type="http://schemas.openxmlformats.org/officeDocument/2006/relationships/slide" Target="/ppt/slides/slide15.xml" Id="R5cb9c495313e40dd" /><Relationship Type="http://schemas.openxmlformats.org/officeDocument/2006/relationships/slide" Target="/ppt/slides/slide16.xml" Id="R8a502469bf6e4fad" /><Relationship Type="http://schemas.openxmlformats.org/officeDocument/2006/relationships/slide" Target="/ppt/slides/slide17.xml" Id="Ra8a500374ff14610" /><Relationship Type="http://schemas.openxmlformats.org/officeDocument/2006/relationships/slide" Target="/ppt/slides/slide18.xml" Id="R07648afcc7d54ca4" /><Relationship Type="http://schemas.openxmlformats.org/officeDocument/2006/relationships/slide" Target="/ppt/slides/slide19.xml" Id="R52c69362de4b4a4b" /><Relationship Type="http://schemas.openxmlformats.org/officeDocument/2006/relationships/slide" Target="/ppt/slides/slide20.xml" Id="Rebe75577c1f342dc" /><Relationship Type="http://schemas.openxmlformats.org/officeDocument/2006/relationships/slide" Target="/ppt/slides/slide21.xml" Id="R337eaf13636b49a6" /><Relationship Type="http://schemas.openxmlformats.org/officeDocument/2006/relationships/slide" Target="/ppt/slides/slide22.xml" Id="Reb3b04a4de9e4f25" /><Relationship Type="http://schemas.openxmlformats.org/officeDocument/2006/relationships/slide" Target="/ppt/slides/slide23.xml" Id="Rda63be29aaff44b1" /><Relationship Type="http://schemas.openxmlformats.org/officeDocument/2006/relationships/slide" Target="/ppt/slides/slide24.xml" Id="Rccaeb88ba5194d10" /><Relationship Type="http://schemas.openxmlformats.org/officeDocument/2006/relationships/slide" Target="/ppt/slides/slide25.xml" Id="R09909cf4cd2c41b1" /><Relationship Type="http://schemas.openxmlformats.org/officeDocument/2006/relationships/slide" Target="/ppt/slides/slide26.xml" Id="R0f73e40b8dd74f98" /><Relationship Type="http://schemas.openxmlformats.org/officeDocument/2006/relationships/slide" Target="/ppt/slides/slide27.xml" Id="Rab51ac7caaea4cf6" /><Relationship Type="http://schemas.openxmlformats.org/officeDocument/2006/relationships/slide" Target="/ppt/slides/slide28.xml" Id="R636ad42136904d5b" /><Relationship Type="http://schemas.openxmlformats.org/officeDocument/2006/relationships/slide" Target="/ppt/slides/slide29.xml" Id="R9cbeddbff71a4f8f" /><Relationship Type="http://schemas.openxmlformats.org/officeDocument/2006/relationships/slide" Target="/ppt/slides/slide30.xml" Id="R25841abf038747d7" /><Relationship Type="http://schemas.openxmlformats.org/officeDocument/2006/relationships/slide" Target="/ppt/slides/slide31.xml" Id="R9d39b17154134403" /><Relationship Type="http://schemas.openxmlformats.org/officeDocument/2006/relationships/slide" Target="/ppt/slides/slide32.xml" Id="Rfb549ac8b74f407c" /><Relationship Type="http://schemas.openxmlformats.org/officeDocument/2006/relationships/slide" Target="/ppt/slides/slide33.xml" Id="Rf5d2a0e6396b4785" /><Relationship Type="http://schemas.openxmlformats.org/officeDocument/2006/relationships/slide" Target="/ppt/slides/slide34.xml" Id="Rdbc6a27d14744454" /><Relationship Type="http://schemas.openxmlformats.org/officeDocument/2006/relationships/slide" Target="/ppt/slides/slide35.xml" Id="R7d42d610d90f4057" /><Relationship Type="http://schemas.openxmlformats.org/officeDocument/2006/relationships/slide" Target="/ppt/slides/slide36.xml" Id="R9890229c84c645bf" /><Relationship Type="http://schemas.openxmlformats.org/officeDocument/2006/relationships/slide" Target="/ppt/slides/slide37.xml" Id="R522aa584513b49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bb186c203441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0af4c700cb4260" /><Relationship Type="http://schemas.openxmlformats.org/officeDocument/2006/relationships/notesMaster" Target="/ppt/notesMasters/notesMaster1.xml" Id="Rc5da8c2613414e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e18dba274f4866" /><Relationship Type="http://schemas.openxmlformats.org/officeDocument/2006/relationships/notesMaster" Target="/ppt/notesMasters/notesMaster1.xml" Id="Raad7c5cd8dba4e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cc2f48d83e47c4" /><Relationship Type="http://schemas.openxmlformats.org/officeDocument/2006/relationships/notesMaster" Target="/ppt/notesMasters/notesMaster1.xml" Id="R82ea1524a24448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da97142f7a4971" /><Relationship Type="http://schemas.openxmlformats.org/officeDocument/2006/relationships/notesMaster" Target="/ppt/notesMasters/notesMaster1.xml" Id="Ra95db0df8f0e4c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071a6fded943a6" /><Relationship Type="http://schemas.openxmlformats.org/officeDocument/2006/relationships/notesMaster" Target="/ppt/notesMasters/notesMaster1.xml" Id="R38240226619f47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4d0e048836408c" /><Relationship Type="http://schemas.openxmlformats.org/officeDocument/2006/relationships/notesMaster" Target="/ppt/notesMasters/notesMaster1.xml" Id="Rfa7d70b3b3b64b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2848e865a4479e" /><Relationship Type="http://schemas.openxmlformats.org/officeDocument/2006/relationships/notesMaster" Target="/ppt/notesMasters/notesMaster1.xml" Id="R53d283f4af1742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382f3d7181452f" /><Relationship Type="http://schemas.openxmlformats.org/officeDocument/2006/relationships/notesMaster" Target="/ppt/notesMasters/notesMaster1.xml" Id="R264a2b0b3f884e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24fcef7d034121" /><Relationship Type="http://schemas.openxmlformats.org/officeDocument/2006/relationships/notesMaster" Target="/ppt/notesMasters/notesMaster1.xml" Id="R642d9fc6c0e043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7ed9f51cb14d56" /><Relationship Type="http://schemas.openxmlformats.org/officeDocument/2006/relationships/notesMaster" Target="/ppt/notesMasters/notesMaster1.xml" Id="R7cd28bcdb8e443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d7981dd5bf488c" /><Relationship Type="http://schemas.openxmlformats.org/officeDocument/2006/relationships/notesMaster" Target="/ppt/notesMasters/notesMaster1.xml" Id="Rff782b2f7fab41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0ad1e434684156" /><Relationship Type="http://schemas.openxmlformats.org/officeDocument/2006/relationships/notesMaster" Target="/ppt/notesMasters/notesMaster1.xml" Id="Rf651049706f141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bf62d3b4d6474c" /><Relationship Type="http://schemas.openxmlformats.org/officeDocument/2006/relationships/notesMaster" Target="/ppt/notesMasters/notesMaster1.xml" Id="R08c458ed8e74430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afc08e495947fe" /><Relationship Type="http://schemas.openxmlformats.org/officeDocument/2006/relationships/notesMaster" Target="/ppt/notesMasters/notesMaster1.xml" Id="R103cc5f72e0947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2cdcfd514294396" /><Relationship Type="http://schemas.openxmlformats.org/officeDocument/2006/relationships/notesMaster" Target="/ppt/notesMasters/notesMaster1.xml" Id="R35b0647ac75e4b5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44e003d594340de" /><Relationship Type="http://schemas.openxmlformats.org/officeDocument/2006/relationships/notesMaster" Target="/ppt/notesMasters/notesMaster1.xml" Id="Rccf0caf740ea4b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f665d90219044cd" /><Relationship Type="http://schemas.openxmlformats.org/officeDocument/2006/relationships/notesMaster" Target="/ppt/notesMasters/notesMaster1.xml" Id="R489e925d81694b9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4585b3cc3654a6d" /><Relationship Type="http://schemas.openxmlformats.org/officeDocument/2006/relationships/notesMaster" Target="/ppt/notesMasters/notesMaster1.xml" Id="Rec271b2812b6404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3fbddf0f978425f" /><Relationship Type="http://schemas.openxmlformats.org/officeDocument/2006/relationships/notesMaster" Target="/ppt/notesMasters/notesMaster1.xml" Id="R3be2d38d5ec14ef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43971e4c3034615" /><Relationship Type="http://schemas.openxmlformats.org/officeDocument/2006/relationships/notesMaster" Target="/ppt/notesMasters/notesMaster1.xml" Id="R0fcb932dc86444f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0d0e1c99cd041d0" /><Relationship Type="http://schemas.openxmlformats.org/officeDocument/2006/relationships/notesMaster" Target="/ppt/notesMasters/notesMaster1.xml" Id="R1d9bae8140044d2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970ad60525c4290" /><Relationship Type="http://schemas.openxmlformats.org/officeDocument/2006/relationships/notesMaster" Target="/ppt/notesMasters/notesMaster1.xml" Id="Ra627ee93625f4d6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1e72d9ae46744d4" /><Relationship Type="http://schemas.openxmlformats.org/officeDocument/2006/relationships/notesMaster" Target="/ppt/notesMasters/notesMaster1.xml" Id="R0997154a6c374d1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49dde260f11453c" /><Relationship Type="http://schemas.openxmlformats.org/officeDocument/2006/relationships/notesMaster" Target="/ppt/notesMasters/notesMaster1.xml" Id="R557c6f32d3e94b3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79ef98484f741ac" /><Relationship Type="http://schemas.openxmlformats.org/officeDocument/2006/relationships/notesMaster" Target="/ppt/notesMasters/notesMaster1.xml" Id="R2fd207959b5140e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5612665b7a540f1" /><Relationship Type="http://schemas.openxmlformats.org/officeDocument/2006/relationships/notesMaster" Target="/ppt/notesMasters/notesMaster1.xml" Id="R4892e6ddff9642a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a771ef376ba4cb3" /><Relationship Type="http://schemas.openxmlformats.org/officeDocument/2006/relationships/notesMaster" Target="/ppt/notesMasters/notesMaster1.xml" Id="Rd5590963ee28419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533355226d3493d" /><Relationship Type="http://schemas.openxmlformats.org/officeDocument/2006/relationships/notesMaster" Target="/ppt/notesMasters/notesMaster1.xml" Id="R9468a70017504fe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2c03cd6fcaf473d" /><Relationship Type="http://schemas.openxmlformats.org/officeDocument/2006/relationships/notesMaster" Target="/ppt/notesMasters/notesMaster1.xml" Id="Rf26482459e3040c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4b49a5101264e75" /><Relationship Type="http://schemas.openxmlformats.org/officeDocument/2006/relationships/notesMaster" Target="/ppt/notesMasters/notesMaster1.xml" Id="R465c999eddad45a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bb78360b076462d" /><Relationship Type="http://schemas.openxmlformats.org/officeDocument/2006/relationships/notesMaster" Target="/ppt/notesMasters/notesMaster1.xml" Id="Rb230a5173eb84fc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b9262b91ea3435e" /><Relationship Type="http://schemas.openxmlformats.org/officeDocument/2006/relationships/notesMaster" Target="/ppt/notesMasters/notesMaster1.xml" Id="R091ad716b74c4db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6f9ccc381da43a9" /><Relationship Type="http://schemas.openxmlformats.org/officeDocument/2006/relationships/notesMaster" Target="/ppt/notesMasters/notesMaster1.xml" Id="R4de9db7fb6a943c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d254a813c4944e0" /><Relationship Type="http://schemas.openxmlformats.org/officeDocument/2006/relationships/notesMaster" Target="/ppt/notesMasters/notesMaster1.xml" Id="Ra2837d64b333463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5f09ff3dfb84363" /><Relationship Type="http://schemas.openxmlformats.org/officeDocument/2006/relationships/notesMaster" Target="/ppt/notesMasters/notesMaster1.xml" Id="R1e0c2109eb67495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28b505cd1c44e36" /><Relationship Type="http://schemas.openxmlformats.org/officeDocument/2006/relationships/notesMaster" Target="/ppt/notesMasters/notesMaster1.xml" Id="R4001308e70ee46c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c1b0da2fc374142" /><Relationship Type="http://schemas.openxmlformats.org/officeDocument/2006/relationships/notesMaster" Target="/ppt/notesMasters/notesMaster1.xml" Id="R5fe65e0cb1a04b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20, 2026. 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This is proposed investor-model pricing, not a live product change. $45 after the first completed paid service in each new relationship; first-client welcome waiver remains. Recurring platform fee is MAX($2.99,1% of service bill), plus actual card/ACH processing. YardMatch absorbs Connect account/payout, bank verification, support and loss allowances.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https://www.zocdoc.com/about/understanding-your-bill/ publicly lists $30-$140 by specialty/location but also refers to annual licensing. Treat as published reference, not a verified current nationwide quote. Current provider help says no upfront/subscription to join, Sponsored Results can cost extra and Practice Solutions has a monthly per-provider fee. Older https://www.zocdoc.com/about/newpricing/ says Practice Solutions is free; current help is prioritized.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Standard US card rate 2.9% + $0.30. ACH 0.8% capped at $5. Platform fee max($2.99,1% of job price). Initial bank-link cost and Connect account/payout fees borne by YardMatch. Repeat contribution uses 2031 volume allocation. No provider labor or equipment expense deducted.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Service mix schedule. Starting prices: $60, $85, $120, $300, $1,000. Base maintenance visits 20: 60% basic, 30% bundled, 10% expanded. Separate cleanup projects 0.60 and large projects 0.03 per full-season household. New households get half-year exposure. One combined visit is one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Town forecast weights are based on full-season household exposure. Town-specific price tiers use 1.00 / 1.15 / 1.30, with lot factors 1.00 / 1.35 / 1.80. Correlated joint weights replace the former independent demographic mixes. All town price and lot assumptions are unvalidated. Income is not proof of lot size or willingness to pay.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https://www.census.gov/quickfacts/fact/table/barnegattownshipoceancountynewjersey/PST045225 . 10,265 households and 88.0% owner occupancy. Lawn eligibility and outsourcing propensities are separate planning assumptions in Town inputs. 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Census ACS 2020-2024; income in 2024 dollars. Rumson median income is top-coded at $250,000+. Higher house value does not itself establish turf 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streams sheet. Proposed products, not shipped features or validated demand. Market reference checked September 20, 2026: https://www.getjobber.com/pricing/ lists Core at $49/month, no commitment, one user, and Connect at $139/month, no commitment, one user. These are feature/billing references, not direct product equivalence.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Provider-owned crew engagement and compensation follow ROADMAP.md. Proposed optional Teams features must add value beyond essential tools already included in the core service. Worker-paid job access, wage deductions and mandatory paid credentials are excluded from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Primary source: https://www.zocdoc.com/provider-help/en/articles/8709753-how-much-does-sponsored-results-cost . Zocdoc charges sponsored fees above booking fees using bid-based advertising. YardMatch proposal differs: completed-first-job fee, no repeat-pair charge, one disclosed option within qualified backups. ROADMAP.md currently keeps sponsorship dormant and main recommendations quality-first. This is a commercial experiment, not an approved ranking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Pro-only adoption 30%, Teams adoption 12%, nine paid months, using the active-provider totals in the town forecast. Subscription net revenue after 2% credits/noncollection. Sponsorship: 12% provider participation, 27% first-job eligibility, 30% sponsored selection, capped by budget. No incremental households or GMV assumed. Subscription launch 2028, $120k build, annual fixed costs start $60k grow 35%; sponsorship launch 2030, $50k build, annual costs start $30k grow 30%. Variable delivery, card processing and 0.7% Billing fees also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is finder fees after welcome waivers plus per-transaction MAX($2.99,1% of price). Processing recovery offsets expense and is excluded from net marketplace revenue.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Prior build used 160,000 new households in 2033 without a local-market denominator. Revised forecast only includes the named municipalities. Fee sensitivity is arithmetic at unchanged volume, staffing, retention and acquisition, not a price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Financing illustration: $1.5m gross less $25k transaction expenses. Model opens with zero cash. 2027-2028 budget recalculates from the revised job mix. A finite pilot must validate proposed pricing and unit economics before growth funding.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https://usa.visa.com/support/small-business/regulations-fees.html explains interchange and acquiring-bank merchant discounts. https://www.frbservices.org/resources/fees/ach-2026 lists financial-institution ACH fees, not end-merchant prices. https://www.pcisecuritystandards.org/standards/pci-dss/ covers card-data security obligations. Source: YardMatch-Investor-Model.xlsx, assumptions and formula-driven Operating model, prepared September 20, 2026. All 2027-2033 figures are illustrative forecasts, not actuals or promises. US dollars. No commercial actuals supplied. Alternative assumptions are unquoted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Payments sheet: $600k build expensed half before launch and half at launch; $300k incremental annual operations growing 3%. Assumed alternative card 2.35%+$0.12, ACH min(0.10%+$0.25,$1.50), payout 0.10%+$0.10, active account $1/month. Unquoted estimates inclusive of replacement processing/network costs. Provider recovery stays 100%, so card/ACH savings are passed through. Table impact is pre-tax and includes build/run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https://www.census.gov/quickfacts/fact/table/barnegattownshipoceancountynewjersey/PST045225 . 10,265 households and 88.0% owner occupancy. Lawn eligibility and outsourcing propensities are separate planning assumptions in Town inputs.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ACS 2020-2024 occupied-household and owner-occupancy estimates. Income in 2024 dollars. Figures are held constant through the forecast; no Census prediction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ACS 2020-2024 occupied-household and owner-occupancy estimates. Income in 2024 dollars. Figures are held constant through the forecast; no Census prediction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2eb546002849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1aebb6bc3c4502" /><Relationship Type="http://schemas.openxmlformats.org/officeDocument/2006/relationships/slideLayout" Target="/ppt/slideLayouts/slideLayout1.xml" Id="R87e6367ff5274c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e6367ff5274c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4a842d81c346bf" /><Relationship Type="http://schemas.openxmlformats.org/officeDocument/2006/relationships/image" Target="/ppt/media/image.png" Id="Rba5ace4ef4294047" /><Relationship Type="http://schemas.openxmlformats.org/officeDocument/2006/relationships/notesSlide" Target="/ppt/notesSlides/notesSlide1.xml" Id="R21ea754a224b42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00a01d0fef486d" /><Relationship Type="http://schemas.openxmlformats.org/officeDocument/2006/relationships/notesSlide" Target="/ppt/notesSlides/notesSlide2.xml" Id="R57fa3e75a64f48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26ddcd79f24c13" /><Relationship Type="http://schemas.openxmlformats.org/officeDocument/2006/relationships/notesSlide" Target="/ppt/notesSlides/notesSlide3.xml" Id="R9d7472b934da40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79b6e1cb68405d" /><Relationship Type="http://schemas.openxmlformats.org/officeDocument/2006/relationships/image" Target="/ppt/media/image2.png" Id="Rc1c2649dbcc24e3a" /><Relationship Type="http://schemas.openxmlformats.org/officeDocument/2006/relationships/notesSlide" Target="/ppt/notesSlides/notesSlide4.xml" Id="Rf9dc7690e1ed4f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e1b6d9fdc24e3a" /><Relationship Type="http://schemas.openxmlformats.org/officeDocument/2006/relationships/image" Target="/ppt/media/image3.png" Id="R10022e5e821f40f6" /><Relationship Type="http://schemas.openxmlformats.org/officeDocument/2006/relationships/notesSlide" Target="/ppt/notesSlides/notesSlide5.xml" Id="R75d498ca82b048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2d2f4bab7f4b9f" /><Relationship Type="http://schemas.openxmlformats.org/officeDocument/2006/relationships/notesSlide" Target="/ppt/notesSlides/notesSlide6.xml" Id="R7fd4709a9d7245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1a7f4606bbc499e" /><Relationship Type="http://schemas.openxmlformats.org/officeDocument/2006/relationships/notesSlide" Target="/ppt/notesSlides/notesSlide7.xml" Id="R6c5c043c013244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9aa5b44df964e92" /><Relationship Type="http://schemas.openxmlformats.org/officeDocument/2006/relationships/notesSlide" Target="/ppt/notesSlides/notesSlide8.xml" Id="R80a4fdc243af45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25cf59eaf1406f" /><Relationship Type="http://schemas.openxmlformats.org/officeDocument/2006/relationships/notesSlide" Target="/ppt/notesSlides/notesSlide9.xml" Id="Rc65fa554b9d04b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1b3604a37904930" /><Relationship Type="http://schemas.openxmlformats.org/officeDocument/2006/relationships/notesSlide" Target="/ppt/notesSlides/notesSlide10.xml" Id="R1b529dc43ad446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ad5323ae56f4b4b" /><Relationship Type="http://schemas.openxmlformats.org/officeDocument/2006/relationships/notesSlide" Target="/ppt/notesSlides/notesSlide11.xml" Id="R2e25db2b83b640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a9968c62b734578" /><Relationship Type="http://schemas.openxmlformats.org/officeDocument/2006/relationships/notesSlide" Target="/ppt/notesSlides/notesSlide12.xml" Id="R508c6db2b05c421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77368459c2e49a3" /><Relationship Type="http://schemas.openxmlformats.org/officeDocument/2006/relationships/notesSlide" Target="/ppt/notesSlides/notesSlide13.xml" Id="Rf326d23d9eda4a2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096c40433464ee9" /><Relationship Type="http://schemas.openxmlformats.org/officeDocument/2006/relationships/notesSlide" Target="/ppt/notesSlides/notesSlide14.xml" Id="R68053706894c4a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52525ecab6e411d" /><Relationship Type="http://schemas.openxmlformats.org/officeDocument/2006/relationships/notesSlide" Target="/ppt/notesSlides/notesSlide15.xml" Id="Rf17929b717bd451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d3055c4f3484664" /><Relationship Type="http://schemas.openxmlformats.org/officeDocument/2006/relationships/notesSlide" Target="/ppt/notesSlides/notesSlide16.xml" Id="R934f4a9ff44142f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0a3b0e14082403f" /><Relationship Type="http://schemas.openxmlformats.org/officeDocument/2006/relationships/notesSlide" Target="/ppt/notesSlides/notesSlide17.xml" Id="R12e2d23daf554f1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b7a831043d74a7e" /><Relationship Type="http://schemas.openxmlformats.org/officeDocument/2006/relationships/notesSlide" Target="/ppt/notesSlides/notesSlide18.xml" Id="R3cdf8ac619b5487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97f7dc4df15414e" /><Relationship Type="http://schemas.openxmlformats.org/officeDocument/2006/relationships/notesSlide" Target="/ppt/notesSlides/notesSlide19.xml" Id="R2dab3391a8da4e4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83235b9ebfb4565" /><Relationship Type="http://schemas.openxmlformats.org/officeDocument/2006/relationships/notesSlide" Target="/ppt/notesSlides/notesSlide20.xml" Id="R27b064a835c7434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dab623ddd354ff5" /><Relationship Type="http://schemas.openxmlformats.org/officeDocument/2006/relationships/notesSlide" Target="/ppt/notesSlides/notesSlide21.xml" Id="Rad24bb9345f84b0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b070760cc0445b6" /><Relationship Type="http://schemas.openxmlformats.org/officeDocument/2006/relationships/notesSlide" Target="/ppt/notesSlides/notesSlide22.xml" Id="R08adea1dfc3145a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dc950fb9e6a46c8" /><Relationship Type="http://schemas.openxmlformats.org/officeDocument/2006/relationships/notesSlide" Target="/ppt/notesSlides/notesSlide23.xml" Id="Re269f667530246f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2aaedf904004360" /><Relationship Type="http://schemas.openxmlformats.org/officeDocument/2006/relationships/chart" Target="/ppt/slides/charts/chart1.xml" Id="R755e7646fe004687" /><Relationship Type="http://schemas.openxmlformats.org/officeDocument/2006/relationships/notesSlide" Target="/ppt/notesSlides/notesSlide24.xml" Id="Rf648e9949667457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f315114171242a0" /><Relationship Type="http://schemas.openxmlformats.org/officeDocument/2006/relationships/notesSlide" Target="/ppt/notesSlides/notesSlide25.xml" Id="R115b9704cd0d421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0f61b17941d4691" /><Relationship Type="http://schemas.openxmlformats.org/officeDocument/2006/relationships/notesSlide" Target="/ppt/notesSlides/notesSlide26.xml" Id="R7c5f81fc730f4ef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0b24e45c3b243c5" /><Relationship Type="http://schemas.openxmlformats.org/officeDocument/2006/relationships/notesSlide" Target="/ppt/notesSlides/notesSlide27.xml" Id="R6d72448ae8c84cc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a15b52ae6c9487c" /><Relationship Type="http://schemas.openxmlformats.org/officeDocument/2006/relationships/notesSlide" Target="/ppt/notesSlides/notesSlide28.xml" Id="Rb60ed00883b6461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4dfd3b2aaaf4447" /><Relationship Type="http://schemas.openxmlformats.org/officeDocument/2006/relationships/notesSlide" Target="/ppt/notesSlides/notesSlide29.xml" Id="R4e84b29d6c774b1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65ece6661bd4ba7" /><Relationship Type="http://schemas.openxmlformats.org/officeDocument/2006/relationships/notesSlide" Target="/ppt/notesSlides/notesSlide30.xml" Id="Rff3d3012fb9a415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5fd176aa8d64970" /><Relationship Type="http://schemas.openxmlformats.org/officeDocument/2006/relationships/notesSlide" Target="/ppt/notesSlides/notesSlide31.xml" Id="R030fb299b458464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75db0c2c7264163" /><Relationship Type="http://schemas.openxmlformats.org/officeDocument/2006/relationships/notesSlide" Target="/ppt/notesSlides/notesSlide32.xml" Id="R06a80c5b70c74a0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4e33f27436c43d0" /><Relationship Type="http://schemas.openxmlformats.org/officeDocument/2006/relationships/notesSlide" Target="/ppt/notesSlides/notesSlide33.xml" Id="R80d5b48a37f94f3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c5d62d88ab24e60" /><Relationship Type="http://schemas.openxmlformats.org/officeDocument/2006/relationships/notesSlide" Target="/ppt/notesSlides/notesSlide34.xml" Id="Rab9d0082869148f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1427f108b3d41dd" /><Relationship Type="http://schemas.openxmlformats.org/officeDocument/2006/relationships/hyperlink" Target="https://stripe.com/pricing" TargetMode="External" Id="R6adfb0bea9884f88" /><Relationship Type="http://schemas.openxmlformats.org/officeDocument/2006/relationships/hyperlink" Target="https://stripe.com/connect/pricing" TargetMode="External" Id="R4869f167d46542ae" /><Relationship Type="http://schemas.openxmlformats.org/officeDocument/2006/relationships/hyperlink" Target="https://stripe.com/financial-connections" TargetMode="External" Id="Rd2407ee593fb48b0" /><Relationship Type="http://schemas.openxmlformats.org/officeDocument/2006/relationships/hyperlink" Target="https://www.zocdoc.com/provider-help/en/articles/10859404-understanding-zocdoc-pricing-and-billing" TargetMode="External" Id="Rf9fc6d9646874833" /><Relationship Type="http://schemas.openxmlformats.org/officeDocument/2006/relationships/hyperlink" Target="https://www.zocdoc.com/about/understanding-your-bill/" TargetMode="External" Id="R0910b542c68e4a51" /><Relationship Type="http://schemas.openxmlformats.org/officeDocument/2006/relationships/hyperlink" Target="https://usa.visa.com/support/small-business/regulations-fees.html" TargetMode="External" Id="R2afbb9944e734c65" /><Relationship Type="http://schemas.openxmlformats.org/officeDocument/2006/relationships/hyperlink" Target="https://www.frbservices.org/resources/fees/ach-2026" TargetMode="External" Id="R4d01a36db1974e2e" /><Relationship Type="http://schemas.openxmlformats.org/officeDocument/2006/relationships/hyperlink" Target="https://www.pcisecuritystandards.org/standards/pci-dss/" TargetMode="External" Id="R90acea12fcc74a39" /><Relationship Type="http://schemas.openxmlformats.org/officeDocument/2006/relationships/hyperlink" Target="https://www.census.gov/quickfacts/fact/table/barnegattownshipoceancountynewjersey/PST045225" TargetMode="External" Id="R96f20fe9458b4a40" /><Relationship Type="http://schemas.openxmlformats.org/officeDocument/2006/relationships/hyperlink" Target="https://www.getjobber.com/pricing/" TargetMode="External" Id="Re4874af4b42e46f4" /><Relationship Type="http://schemas.openxmlformats.org/officeDocument/2006/relationships/hyperlink" Target="https://www.zocdoc.com/provider-help/en/articles/8709753-how-much-does-sponsored-results-cost" TargetMode="External" Id="R70daf81d4aaa4eb6" /><Relationship Type="http://schemas.openxmlformats.org/officeDocument/2006/relationships/hyperlink" Target="https://stripe.com/billing/pricing" TargetMode="External" Id="R66ad573a9b4d43c5" /><Relationship Type="http://schemas.openxmlformats.org/officeDocument/2006/relationships/notesSlide" Target="/ppt/notesSlides/notesSlide35.xml" Id="Rfd83d0472b0649e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92b35cb410844bb" /><Relationship Type="http://schemas.openxmlformats.org/officeDocument/2006/relationships/hyperlink" Target="https://www.census.gov/quickfacts/fact/table/barnegattownshipoceancountynewjersey/PST045225" TargetMode="External" Id="R7fa03e92f0ee4735" /><Relationship Type="http://schemas.openxmlformats.org/officeDocument/2006/relationships/hyperlink" Target="https://www.census.gov/quickfacts/fact/table/staffordtownshipoceancountynewjersey/PST045225" TargetMode="External" Id="R9ee12b9fbf3242dc" /><Relationship Type="http://schemas.openxmlformats.org/officeDocument/2006/relationships/hyperlink" Target="https://www.census.gov/quickfacts/fact/table/laceytownshipoceancountynewjersey/PST045225" TargetMode="External" Id="Rbd341be622354d88" /><Relationship Type="http://schemas.openxmlformats.org/officeDocument/2006/relationships/hyperlink" Target="https://www.census.gov/quickfacts/fact/table/oceantownshipoceancountynewjersey/PST045225" TargetMode="External" Id="R3f30c85498914434" /><Relationship Type="http://schemas.openxmlformats.org/officeDocument/2006/relationships/hyperlink" Target="https://www.census.gov/quickfacts/fact/table/berkeleytownshipoceancountynewjersey/PST045225" TargetMode="External" Id="R0864a75cba324670" /><Relationship Type="http://schemas.openxmlformats.org/officeDocument/2006/relationships/hyperlink" Target="https://www.census.gov/quickfacts/fact/table/tomsrivertownshipoceancountynewjersey/PST045225" TargetMode="External" Id="R4109a4bd52e340fb" /><Relationship Type="http://schemas.openxmlformats.org/officeDocument/2006/relationships/hyperlink" Target="https://www.census.gov/quickfacts/fact/table/bricktownshipoceancountynewjersey/PST045225" TargetMode="External" Id="R5fd1237a91a144e0" /><Relationship Type="http://schemas.openxmlformats.org/officeDocument/2006/relationships/notesSlide" Target="/ppt/notesSlides/notesSlide36.xml" Id="R84cfd7874bc5486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50e393a982e41c1" /><Relationship Type="http://schemas.openxmlformats.org/officeDocument/2006/relationships/hyperlink" Target="https://www.census.gov/quickfacts/fact/table/jacksontownshipoceancountynewjersey/PST045225" TargetMode="External" Id="R86c2d886a1fa446d" /><Relationship Type="http://schemas.openxmlformats.org/officeDocument/2006/relationships/hyperlink" Target="https://www.census.gov/quickfacts/fact/table/howelltownshipmonmouthcountynewjersey/PST045225" TargetMode="External" Id="R707f6533b87440f5" /><Relationship Type="http://schemas.openxmlformats.org/officeDocument/2006/relationships/hyperlink" Target="https://www.census.gov/quickfacts/fact/table/walltownshipmonmouthcountynewjersey/PST045225" TargetMode="External" Id="R080a7d9fe6704f6f" /><Relationship Type="http://schemas.openxmlformats.org/officeDocument/2006/relationships/hyperlink" Target="https://www.census.gov/quickfacts/fact/table/middletowntownshipmonmouthcountynewjersey/PST045225" TargetMode="External" Id="R83dd0bda17c44f3a" /><Relationship Type="http://schemas.openxmlformats.org/officeDocument/2006/relationships/hyperlink" Target="https://www.census.gov/quickfacts/fact/table/holmdeltownshipmonmouthcountynewjersey/PST045225" TargetMode="External" Id="R2921a6d222c145f1" /><Relationship Type="http://schemas.openxmlformats.org/officeDocument/2006/relationships/hyperlink" Target="https://www.census.gov/quickfacts/fact/table/coltsnecktownshipmonmouthcountynewjersey/PST045225" TargetMode="External" Id="Rbdd90c80bb734057" /><Relationship Type="http://schemas.openxmlformats.org/officeDocument/2006/relationships/hyperlink" Target="https://www.census.gov/quickfacts/fact/table/rumsonboroughnewjersey/PST045225" TargetMode="External" Id="Re2163f96b6304af6" /><Relationship Type="http://schemas.openxmlformats.org/officeDocument/2006/relationships/notesSlide" Target="/ppt/notesSlides/notesSlide37.xml" Id="R3ba9555a9b5849b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0.01053</c:v>
                </c:pt>
                <c:pt idx="1">
                  <c:v>0.042711</c:v>
                </c:pt>
                <c:pt idx="2">
                  <c:v>0.090611</c:v>
                </c:pt>
                <c:pt idx="3">
                  <c:v>0.145654</c:v>
                </c:pt>
                <c:pt idx="4">
                  <c:v>0.195788</c:v>
                </c:pt>
                <c:pt idx="5">
                  <c:v>0.249001</c:v>
                </c:pt>
                <c:pt idx="6">
                  <c:v>0.278136</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0.006378</c:v>
                </c:pt>
                <c:pt idx="1">
                  <c:v>0.035127</c:v>
                </c:pt>
                <c:pt idx="2">
                  <c:v>0.101899</c:v>
                </c:pt>
                <c:pt idx="3">
                  <c:v>0.214136</c:v>
                </c:pt>
                <c:pt idx="4">
                  <c:v>0.36818</c:v>
                </c:pt>
                <c:pt idx="5">
                  <c:v>0.552856</c:v>
                </c:pt>
                <c:pt idx="6">
                  <c:v>0.750631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0.3"/>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711E011D-B5F5-4F3A-91D2-12739FBF12F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6C35CBB8-E262-4F6B-9E8E-6364FF3CEC9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a5ace4ef4294047"/>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YardMatch">
            <a:extLst xmlns:a="http://schemas.openxmlformats.org/drawingml/2006/main">
              <a:ext uri="{FF2B5EF4-FFF2-40B4-BE49-F238E27FC236}">
                <a16:creationId xmlns:a16="http://schemas.microsoft.com/office/drawing/2014/main" id="{CE5F2501-3788-4E35-A281-61BD9A393B7A}"/>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YardMatch</a:t>
            </a:r>
          </a:p>
        </p:txBody>
      </p:sp>
      <p:sp>
        <p:nvSpPr>
          <p:cNvPr id="5" name="A managed marketplace for homeowners and local ser">
            <a:extLst xmlns:a="http://schemas.openxmlformats.org/drawingml/2006/main">
              <a:ext uri="{FF2B5EF4-FFF2-40B4-BE49-F238E27FC236}">
                <a16:creationId xmlns:a16="http://schemas.microsoft.com/office/drawing/2014/main" id="{9977F6F4-AD26-4EC8-B5A6-32209AF709E6}"/>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E53247D6-66EA-4B77-8810-45705CC20600}"/>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4294119"/>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B4AF9691-C508-4F60-AC0F-2D5FA0BF3C8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848F7164-6AE0-47A4-A456-C26496BA350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EA9FB968-AE9C-4730-AA12-CD6197741CE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49DBE719-42D0-4D58-A959-81D03F84142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31BBBC5C-02AF-4E39-8BE5-0394D5A50D04}"/>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68CFEB69-A557-4E11-AC45-452396B4508C}"/>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328B76A1-13D4-4F80-BC12-2A14F6084626}"/>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5FC34CFC-437D-47D4-A171-C3ED41114452}"/>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818721AD-E78B-4DEE-8B92-791207AE7627}"/>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A $45 finder fee and size-aware service fee can fu">
            <a:extLst xmlns:a="http://schemas.openxmlformats.org/drawingml/2006/main">
              <a:ext uri="{FF2B5EF4-FFF2-40B4-BE49-F238E27FC236}">
                <a16:creationId xmlns:a16="http://schemas.microsoft.com/office/drawing/2014/main" id="{78E13A5E-6866-43B0-BE59-4B1B972E8A0B}"/>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A $45 finder fee and size-aware service fee can fund ongoing care. Providers also cover payment processing at cost. A pilot must validate acceptance and retention.</a:t>
            </a:r>
          </a:p>
        </p:txBody>
      </p:sp>
      <p:sp>
        <p:nvSpPr>
          <p:cNvPr id="11" name="Investment hypothesis. Core forecasts use finder a">
            <a:extLst xmlns:a="http://schemas.openxmlformats.org/drawingml/2006/main">
              <a:ext uri="{FF2B5EF4-FFF2-40B4-BE49-F238E27FC236}">
                <a16:creationId xmlns:a16="http://schemas.microsoft.com/office/drawing/2014/main" id="{FCEEB705-008B-4F3C-A025-D5F8DACC329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Core forecasts use finder and service fees. Optional provider subscriptions and sponsorship appear as separate expansion cases.</a:t>
            </a:r>
          </a:p>
        </p:txBody>
      </p:sp>
    </p:spTree>
    <p:extLst>
      <p:ext uri="{BB962C8B-B14F-4D97-AF65-F5344CB8AC3E}">
        <p14:creationId xmlns:p14="http://schemas.microsoft.com/office/powerpoint/2010/main" val="2107291899"/>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E74F9000-3509-4E9F-9A52-D3B39E4B0B2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24ED8987-04CE-47C1-9962-ACA5E14E91E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FE8EC7AE-372E-45FB-8651-E0262527BF4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BDC6E861-80ED-49EC-BBFA-C0689EA1575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A70C5F0D-451B-4DB0-8216-2A504A320C3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264532964"/>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D29BCA86-3D48-4B27-B49C-667C8F8153F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47FEE76C-9A2D-4CF8-BBD6-551A5CBA1FC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CB877924-4421-40FE-BE85-C6F5F4B5669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B00A9750-911D-483D-995E-3315945C79F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1c2649dbcc24e3a"/>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96B8B008-7AF5-4B44-B1C9-C784147AAC66}"/>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412E3FBF-3A0E-46E8-AA12-FDABA665C03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591836065"/>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DF24C81C-0BAD-42C3-B33E-AFF4E5D42BA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82447892-5ADA-4790-908F-5D91239377C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6DC133CC-4527-4951-ADFA-7AF4781ACC5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800A710A-CDBB-48BC-B8D4-BFC151851E8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0022e5e821f40f6"/>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6719C6B0-E1ED-4587-B264-A6748B16E322}"/>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7F2B848A-84A3-48A6-A28F-7476D95BE102}"/>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E06A80B0-0CCE-4814-98B2-225002B1262D}"/>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D08B8ED4-F908-48F7-8363-A6DB31549790}"/>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6264DBAF-04AE-4782-8FC4-270F61B06A6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706556428"/>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Keep the finder fee. Repair the recurring fee.">
            <a:extLst xmlns:a="http://schemas.openxmlformats.org/drawingml/2006/main">
              <a:ext uri="{FF2B5EF4-FFF2-40B4-BE49-F238E27FC236}">
                <a16:creationId xmlns:a16="http://schemas.microsoft.com/office/drawing/2014/main" id="{329293BF-F761-47F4-A303-8411ED24FC7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Keep the finder fee. Repair the recurring fee.</a:t>
            </a:r>
          </a:p>
        </p:txBody>
      </p:sp>
      <p:sp>
        <p:nvSpPr>
          <p:cNvPr id="2" name="Recommendation for the launch pilot. All charges a">
            <a:extLst xmlns:a="http://schemas.openxmlformats.org/drawingml/2006/main">
              <a:ext uri="{FF2B5EF4-FFF2-40B4-BE49-F238E27FC236}">
                <a16:creationId xmlns:a16="http://schemas.microsoft.com/office/drawing/2014/main" id="{72C80BB8-8FE7-487C-8876-C0D90845794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Recommendation for the launch pilot. All charges are paid by the provider.</a:t>
            </a:r>
          </a:p>
        </p:txBody>
      </p:sp>
      <p:sp>
        <p:nvSpPr>
          <p:cNvPr id="3" name="YardMatch">
            <a:extLst xmlns:a="http://schemas.openxmlformats.org/drawingml/2006/main">
              <a:ext uri="{FF2B5EF4-FFF2-40B4-BE49-F238E27FC236}">
                <a16:creationId xmlns:a16="http://schemas.microsoft.com/office/drawing/2014/main" id="{0CE147EA-3C04-49E1-8457-F0423CB514F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B4EDC438-76EC-4BE6-BBA8-4F175DADDBD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sp>
        <p:nvSpPr>
          <p:cNvPr id="5" name="$45">
            <a:extLst xmlns:a="http://schemas.openxmlformats.org/drawingml/2006/main">
              <a:ext uri="{FF2B5EF4-FFF2-40B4-BE49-F238E27FC236}">
                <a16:creationId xmlns:a16="http://schemas.microsoft.com/office/drawing/2014/main" id="{808A39D9-4F94-49FE-983F-104B40130516}"/>
              </a:ext>
            </a:extLst>
          </p:cNvPr>
          <p:cNvSpPr>
            <a:spLocks xmlns:a="http://schemas.openxmlformats.org/drawingml/2006/main" noGrp="1"/>
          </p:cNvSpPr>
          <p:nvPr/>
        </p:nvSpPr>
        <p:spPr>
          <a:xfrm xmlns:a="http://schemas.openxmlformats.org/drawingml/2006/main">
            <a:off x="647700" y="232410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205938"/>
                </a:solidFill>
                <a:latin typeface="Arial"/>
                <a:ea typeface="Arial"/>
                <a:cs typeface="Arial"/>
              </a:defRPr>
            </a:pPr>
            <a:r>
              <a:rPr sz="5250" b="1">
                <a:solidFill>
                  <a:srgbClr val="205938"/>
                </a:solidFill>
                <a:latin typeface="Arial"/>
                <a:ea typeface="Arial"/>
                <a:cs typeface="Arial"/>
              </a:rPr>
              <a:t>$45</a:t>
            </a:r>
          </a:p>
        </p:txBody>
      </p:sp>
      <p:sp>
        <p:nvSpPr>
          <p:cNvPr id="6" name="Once per new customer/provider pair,&#10;after the fir">
            <a:extLst xmlns:a="http://schemas.openxmlformats.org/drawingml/2006/main">
              <a:ext uri="{FF2B5EF4-FFF2-40B4-BE49-F238E27FC236}">
                <a16:creationId xmlns:a16="http://schemas.microsoft.com/office/drawing/2014/main" id="{0DD00581-C1D2-4AB5-956C-F4A85D250AFA}"/>
              </a:ext>
            </a:extLst>
          </p:cNvPr>
          <p:cNvSpPr>
            <a:spLocks xmlns:a="http://schemas.openxmlformats.org/drawingml/2006/main" noGrp="1"/>
          </p:cNvSpPr>
          <p:nvPr/>
        </p:nvSpPr>
        <p:spPr>
          <a:xfrm xmlns:a="http://schemas.openxmlformats.org/drawingml/2006/main">
            <a:off x="647700" y="3238500"/>
            <a:ext cx="4829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Once per new customer/provider pair,</a:t>
            </a:r>
          </a:p>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after the first paid completed job</a:t>
            </a:r>
          </a:p>
        </p:txBody>
      </p:sp>
      <p:sp>
        <p:nvSpPr>
          <p:cNvPr id="7" name="$2.99 minimum">
            <a:extLst xmlns:a="http://schemas.openxmlformats.org/drawingml/2006/main">
              <a:ext uri="{FF2B5EF4-FFF2-40B4-BE49-F238E27FC236}">
                <a16:creationId xmlns:a16="http://schemas.microsoft.com/office/drawing/2014/main" id="{E27458C8-4488-42E7-8D96-C3D98993AB27}"/>
              </a:ext>
            </a:extLst>
          </p:cNvPr>
          <p:cNvSpPr>
            <a:spLocks xmlns:a="http://schemas.openxmlformats.org/drawingml/2006/main" noGrp="1"/>
          </p:cNvSpPr>
          <p:nvPr/>
        </p:nvSpPr>
        <p:spPr>
          <a:xfrm xmlns:a="http://schemas.openxmlformats.org/drawingml/2006/main">
            <a:off x="6391275" y="23241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205938"/>
                </a:solidFill>
                <a:latin typeface="Arial"/>
                <a:ea typeface="Arial"/>
                <a:cs typeface="Arial"/>
              </a:defRPr>
            </a:pPr>
            <a:r>
              <a:rPr sz="3975" b="1">
                <a:solidFill>
                  <a:srgbClr val="205938"/>
                </a:solidFill>
                <a:latin typeface="Arial"/>
                <a:ea typeface="Arial"/>
                <a:cs typeface="Arial"/>
              </a:rPr>
              <a:t>$2.99 minimum</a:t>
            </a:r>
          </a:p>
        </p:txBody>
      </p:sp>
      <p:sp>
        <p:nvSpPr>
          <p:cNvPr id="8" name="Or 1% of the service bill, if higher,&#10;plus actual ">
            <a:extLst xmlns:a="http://schemas.openxmlformats.org/drawingml/2006/main">
              <a:ext uri="{FF2B5EF4-FFF2-40B4-BE49-F238E27FC236}">
                <a16:creationId xmlns:a16="http://schemas.microsoft.com/office/drawing/2014/main" id="{04D4D811-85DE-4FF5-82D7-18E7B1BE50BC}"/>
              </a:ext>
            </a:extLst>
          </p:cNvPr>
          <p:cNvSpPr>
            <a:spLocks xmlns:a="http://schemas.openxmlformats.org/drawingml/2006/main" noGrp="1"/>
          </p:cNvSpPr>
          <p:nvPr/>
        </p:nvSpPr>
        <p:spPr>
          <a:xfrm xmlns:a="http://schemas.openxmlformats.org/drawingml/2006/main">
            <a:off x="6391275" y="32385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Or 1% of the service bill, if higher,</a:t>
            </a:r>
          </a:p>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plus actual card / ACH processing</a:t>
            </a:r>
          </a:p>
        </p:txBody>
      </p:sp>
      <p:graphicFrame>
        <p:nvGraphicFramePr>
          <p:cNvPr id="19" name=""/>
          <p:cNvGraphicFramePr/>
          <p:nvPr/>
        </p:nvGraphicFramePr>
        <p:xfrm>
          <a:off xmlns:a="http://schemas.openxmlformats.org/drawingml/2006/main" x="609600" y="4533900"/>
          <a:ext xmlns:a="http://schemas.openxmlformats.org/drawingml/2006/main" cx="10972800" cy="1057275"/>
        </p:xfrm>
        <a:graphic xmlns:a="http://schemas.openxmlformats.org/drawingml/2006/main">
          <a:graphicData uri="http://schemas.openxmlformats.org/drawingml/2006/table">
            <a:tbl>
              <a:tblPr/>
              <a:tblGrid>
                <a:gridCol w="6191250"/>
                <a:gridCol w="2390775"/>
                <a:gridCol w="2390775"/>
              </a:tblGrid>
              <a:tr h="528638">
                <a:tc>
                  <a:txBody>
                    <a:bodyPr lIns="114300" tIns="76200" rIns="114300" bIns="76200">
                      <a:noAutofit/>
                    </a:bodyPr>
                    <a:lstStyle/>
                    <a:p>
                      <a:pPr algn="l"/>
                      <a:r>
                        <a:rPr sz="1725" b="1">
                          <a:solidFill>
                            <a:srgbClr val="FFFFFF"/>
                          </a:solidFill>
                          <a:latin typeface="Arial"/>
                          <a:ea typeface="Arial"/>
                          <a:cs typeface="Arial"/>
                        </a:rPr>
                        <a:t>A $60 card-paid service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First paid visit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Later paid visit</a:t>
                      </a:r>
                    </a:p>
                  </a:txBody>
                  <a:tcPr marL="91440" marR="91440" marT="45720" marB="45720" anchor="ctr">
                    <a:solidFill>
                      <a:srgbClr val="205938"/>
                    </a:solidFill>
                  </a:tcPr>
                </a:tc>
              </a:tr>
              <a:tr h="528638">
                <a:tc>
                  <a:txBody>
                    <a:bodyPr lIns="114300" tIns="76200" rIns="114300" bIns="76200">
                      <a:noAutofit/>
                    </a:bodyPr>
                    <a:lstStyle/>
                    <a:p>
                      <a:pPr algn="l"/>
                      <a:r>
                        <a:rPr sz="1725" b="1">
                          <a:solidFill>
                            <a:srgbClr val="14281D"/>
                          </a:solidFill>
                          <a:latin typeface="Arial"/>
                          <a:ea typeface="Arial"/>
                          <a:cs typeface="Arial"/>
                        </a:rPr>
                        <a:t>Provider proceeds before business costs</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$9.97</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$54.97</a:t>
                      </a:r>
                    </a:p>
                  </a:txBody>
                  <a:tcPr marL="91440" marR="91440" marT="45720" marB="45720" anchor="ctr">
                    <a:solidFill>
                      <a:srgbClr val="E8EDDF"/>
                    </a:solidFill>
                  </a:tcPr>
                </a:tc>
              </a:tr>
            </a:tbl>
          </a:graphicData>
        </a:graphic>
      </p:graphicFrame>
      <p:sp>
        <p:nvSpPr>
          <p:cNvPr id="10" name="Keep the first-client finder-fee waiver. A $45 acq">
            <a:extLst xmlns:a="http://schemas.openxmlformats.org/drawingml/2006/main">
              <a:ext uri="{FF2B5EF4-FFF2-40B4-BE49-F238E27FC236}">
                <a16:creationId xmlns:a16="http://schemas.microsoft.com/office/drawing/2014/main" id="{999741BD-4180-4FE3-9FBE-60DCBE23874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Keep the first-client finder-fee waiver. A $45 acquisition charge is already substantial on a $60 first visit; validate season-long value before increasing it. No customer surcharge modeled.</a:t>
            </a:r>
          </a:p>
        </p:txBody>
      </p:sp>
    </p:spTree>
    <p:extLst>
      <p:ext uri="{BB962C8B-B14F-4D97-AF65-F5344CB8AC3E}">
        <p14:creationId xmlns:p14="http://schemas.microsoft.com/office/powerpoint/2010/main" val="1859036366"/>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What Zocdoc charges its providers">
            <a:extLst xmlns:a="http://schemas.openxmlformats.org/drawingml/2006/main">
              <a:ext uri="{FF2B5EF4-FFF2-40B4-BE49-F238E27FC236}">
                <a16:creationId xmlns:a16="http://schemas.microsoft.com/office/drawing/2014/main" id="{5F1AFCEA-95DF-48D7-94B0-5CA89DEA055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Zocdoc charges its providers</a:t>
            </a:r>
          </a:p>
        </p:txBody>
      </p:sp>
      <p:sp>
        <p:nvSpPr>
          <p:cNvPr id="2" name="A useful acquisition benchmark, with a different c">
            <a:extLst xmlns:a="http://schemas.openxmlformats.org/drawingml/2006/main">
              <a:ext uri="{FF2B5EF4-FFF2-40B4-BE49-F238E27FC236}">
                <a16:creationId xmlns:a16="http://schemas.microsoft.com/office/drawing/2014/main" id="{AA502994-C8A3-40C9-A5EC-38A7B352B7B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useful acquisition benchmark, with a different charging event and repeat-use pattern.</a:t>
            </a:r>
          </a:p>
        </p:txBody>
      </p:sp>
      <p:sp>
        <p:nvSpPr>
          <p:cNvPr id="3" name="YardMatch">
            <a:extLst xmlns:a="http://schemas.openxmlformats.org/drawingml/2006/main">
              <a:ext uri="{FF2B5EF4-FFF2-40B4-BE49-F238E27FC236}">
                <a16:creationId xmlns:a16="http://schemas.microsoft.com/office/drawing/2014/main" id="{4B1BD533-AA59-4979-8280-236C87F7C20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AA4D6A0C-8FA4-4386-9742-8F442EC2F56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sp>
        <p:nvSpPr>
          <p:cNvPr id="5" name="$30–$140">
            <a:extLst xmlns:a="http://schemas.openxmlformats.org/drawingml/2006/main">
              <a:ext uri="{FF2B5EF4-FFF2-40B4-BE49-F238E27FC236}">
                <a16:creationId xmlns:a16="http://schemas.microsoft.com/office/drawing/2014/main" id="{4CD2FAF4-D5A1-46F3-A7B9-D2D501D52527}"/>
              </a:ext>
            </a:extLst>
          </p:cNvPr>
          <p:cNvSpPr>
            <a:spLocks xmlns:a="http://schemas.openxmlformats.org/drawingml/2006/main" noGrp="1"/>
          </p:cNvSpPr>
          <p:nvPr/>
        </p:nvSpPr>
        <p:spPr>
          <a:xfrm xmlns:a="http://schemas.openxmlformats.org/drawingml/2006/main">
            <a:off x="628650" y="2305050"/>
            <a:ext cx="4914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$30–$140</a:t>
            </a:r>
          </a:p>
        </p:txBody>
      </p:sp>
      <p:sp>
        <p:nvSpPr>
          <p:cNvPr id="6" name="Published range for a new-patient booking">
            <a:extLst xmlns:a="http://schemas.openxmlformats.org/drawingml/2006/main">
              <a:ext uri="{FF2B5EF4-FFF2-40B4-BE49-F238E27FC236}">
                <a16:creationId xmlns:a16="http://schemas.microsoft.com/office/drawing/2014/main" id="{25C48557-9A68-4AC8-98EC-E7E6C47FCA0A}"/>
              </a:ext>
            </a:extLst>
          </p:cNvPr>
          <p:cNvSpPr>
            <a:spLocks xmlns:a="http://schemas.openxmlformats.org/drawingml/2006/main" noGrp="1"/>
          </p:cNvSpPr>
          <p:nvPr/>
        </p:nvSpPr>
        <p:spPr>
          <a:xfrm xmlns:a="http://schemas.openxmlformats.org/drawingml/2006/main">
            <a:off x="647700" y="3171825"/>
            <a:ext cx="4752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Published range for a new-patient booking</a:t>
            </a:r>
          </a:p>
        </p:txBody>
      </p:sp>
      <p:sp>
        <p:nvSpPr>
          <p:cNvPr id="7" name="Exact quote varies">
            <a:extLst xmlns:a="http://schemas.openxmlformats.org/drawingml/2006/main">
              <a:ext uri="{FF2B5EF4-FFF2-40B4-BE49-F238E27FC236}">
                <a16:creationId xmlns:a16="http://schemas.microsoft.com/office/drawing/2014/main" id="{01988FED-2006-457E-9F10-A6A509D76943}"/>
              </a:ext>
            </a:extLst>
          </p:cNvPr>
          <p:cNvSpPr>
            <a:spLocks xmlns:a="http://schemas.openxmlformats.org/drawingml/2006/main" noGrp="1"/>
          </p:cNvSpPr>
          <p:nvPr/>
        </p:nvSpPr>
        <p:spPr>
          <a:xfrm xmlns:a="http://schemas.openxmlformats.org/drawingml/2006/main">
            <a:off x="6429375" y="2343150"/>
            <a:ext cx="4981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Exact quote varies</a:t>
            </a:r>
          </a:p>
        </p:txBody>
      </p:sp>
      <p:sp>
        <p:nvSpPr>
          <p:cNvPr id="8" name="Current help confirms specialty and location affec">
            <a:extLst xmlns:a="http://schemas.openxmlformats.org/drawingml/2006/main">
              <a:ext uri="{FF2B5EF4-FFF2-40B4-BE49-F238E27FC236}">
                <a16:creationId xmlns:a16="http://schemas.microsoft.com/office/drawing/2014/main" id="{ECD6DE19-8175-41B6-85D5-B4B771016A26}"/>
              </a:ext>
            </a:extLst>
          </p:cNvPr>
          <p:cNvSpPr>
            <a:spLocks xmlns:a="http://schemas.openxmlformats.org/drawingml/2006/main" noGrp="1"/>
          </p:cNvSpPr>
          <p:nvPr/>
        </p:nvSpPr>
        <p:spPr>
          <a:xfrm xmlns:a="http://schemas.openxmlformats.org/drawingml/2006/main">
            <a:off x="6448425" y="2943225"/>
            <a:ext cx="49625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Current help confirms specialty and location affect the fee. Providers see their actual price in the dashboard.</a:t>
            </a:r>
          </a:p>
        </p:txBody>
      </p:sp>
      <p:graphicFrame>
        <p:nvGraphicFramePr>
          <p:cNvPr id="19" name=""/>
          <p:cNvGraphicFramePr/>
          <p:nvPr/>
        </p:nvGraphicFramePr>
        <p:xfrm>
          <a:off xmlns:a="http://schemas.openxmlformats.org/drawingml/2006/main" x="609600" y="4410075"/>
          <a:ext xmlns:a="http://schemas.openxmlformats.org/drawingml/2006/main" cx="10972800" cy="1314450"/>
        </p:xfrm>
        <a:graphic xmlns:a="http://schemas.openxmlformats.org/drawingml/2006/main">
          <a:graphicData uri="http://schemas.openxmlformats.org/drawingml/2006/table">
            <a:tbl>
              <a:tblPr/>
              <a:tblGrid>
                <a:gridCol w="5381625"/>
                <a:gridCol w="5591175"/>
              </a:tblGrid>
              <a:tr h="438150">
                <a:tc>
                  <a:txBody>
                    <a:bodyPr lIns="114300" tIns="76200" rIns="114300" bIns="76200">
                      <a:noAutofit/>
                    </a:bodyPr>
                    <a:lstStyle/>
                    <a:p>
                      <a:pPr algn="l"/>
                      <a:r>
                        <a:rPr sz="1650" b="1">
                          <a:solidFill>
                            <a:srgbClr val="FFFFFF"/>
                          </a:solidFill>
                          <a:latin typeface="Arial"/>
                          <a:ea typeface="Arial"/>
                          <a:cs typeface="Arial"/>
                        </a:rPr>
                        <a:t>Zocdoc Marketplace rule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Implication for YardMatch</a:t>
                      </a:r>
                    </a:p>
                  </a:txBody>
                  <a:tcPr marL="91440" marR="91440" marT="45720" marB="45720" anchor="ctr">
                    <a:solidFill>
                      <a:srgbClr val="205938"/>
                    </a:solidFill>
                  </a:tcPr>
                </a:tc>
              </a:tr>
              <a:tr h="438150">
                <a:tc>
                  <a:txBody>
                    <a:bodyPr lIns="114300" tIns="76200" rIns="114300" bIns="76200">
                      <a:noAutofit/>
                    </a:bodyPr>
                    <a:lstStyle/>
                    <a:p>
                      <a:pPr algn="l"/>
                      <a:r>
                        <a:rPr sz="1650" b="0">
                          <a:solidFill>
                            <a:srgbClr val="14281D"/>
                          </a:solidFill>
                          <a:latin typeface="Arial"/>
                          <a:ea typeface="Arial"/>
                          <a:cs typeface="Arial"/>
                        </a:rPr>
                        <a:t>Charges at booking, even a no-show</a:t>
                      </a:r>
                    </a:p>
                  </a:txBody>
                  <a:tcPr marL="91440" marR="91440" marT="45720" marB="45720" anchor="ctr">
                    <a:solidFill>
                      <a:srgbClr val="FFFFFF"/>
                    </a:solidFill>
                  </a:tcPr>
                </a:tc>
                <a:tc>
                  <a:txBody>
                    <a:bodyPr lIns="114300" tIns="76200" rIns="114300" bIns="76200">
                      <a:noAutofit/>
                    </a:bodyPr>
                    <a:lstStyle/>
                    <a:p>
                      <a:pPr algn="l"/>
                      <a:r>
                        <a:rPr sz="1650" b="0">
                          <a:solidFill>
                            <a:srgbClr val="14281D"/>
                          </a:solidFill>
                          <a:latin typeface="Arial"/>
                          <a:ea typeface="Arial"/>
                          <a:cs typeface="Arial"/>
                        </a:rPr>
                        <a:t>Our $45 is earned after a paid completed job</a:t>
                      </a:r>
                    </a:p>
                  </a:txBody>
                  <a:tcPr marL="91440" marR="91440" marT="45720" marB="45720" anchor="ctr">
                    <a:solidFill>
                      <a:srgbClr val="FFFFFF"/>
                    </a:solidFill>
                  </a:tcPr>
                </a:tc>
              </a:tr>
              <a:tr h="438150">
                <a:tc>
                  <a:txBody>
                    <a:bodyPr lIns="114300" tIns="76200" rIns="114300" bIns="76200">
                      <a:noAutofit/>
                    </a:bodyPr>
                    <a:lstStyle/>
                    <a:p>
                      <a:pPr algn="l"/>
                      <a:r>
                        <a:rPr sz="1650" b="0">
                          <a:solidFill>
                            <a:srgbClr val="14281D"/>
                          </a:solidFill>
                          <a:latin typeface="Arial"/>
                          <a:ea typeface="Arial"/>
                          <a:cs typeface="Arial"/>
                        </a:rPr>
                        <a:t>Repeat visits to the same provider are free</a:t>
                      </a:r>
                    </a:p>
                  </a:txBody>
                  <a:tcPr marL="91440" marR="91440" marT="45720" marB="45720" anchor="ctr">
                    <a:solidFill>
                      <a:srgbClr val="F7F5EF"/>
                    </a:solidFill>
                  </a:tcPr>
                </a:tc>
                <a:tc>
                  <a:txBody>
                    <a:bodyPr lIns="114300" tIns="76200" rIns="114300" bIns="76200">
                      <a:noAutofit/>
                    </a:bodyPr>
                    <a:lstStyle/>
                    <a:p>
                      <a:pPr algn="l"/>
                      <a:r>
                        <a:rPr sz="1650" b="0">
                          <a:solidFill>
                            <a:srgbClr val="14281D"/>
                          </a:solidFill>
                          <a:latin typeface="Arial"/>
                          <a:ea typeface="Arial"/>
                          <a:cs typeface="Arial"/>
                        </a:rPr>
                        <a:t>Our retained service fee funds ongoing work</a:t>
                      </a:r>
                    </a:p>
                  </a:txBody>
                  <a:tcPr marL="91440" marR="91440" marT="45720" marB="45720" anchor="ctr">
                    <a:solidFill>
                      <a:srgbClr val="F7F5EF"/>
                    </a:solidFill>
                  </a:tcPr>
                </a:tc>
              </a:tr>
            </a:tbl>
          </a:graphicData>
        </a:graphic>
      </p:graphicFrame>
      <p:sp>
        <p:nvSpPr>
          <p:cNvPr id="10" name="The range appears on a page with older license lan">
            <a:extLst xmlns:a="http://schemas.openxmlformats.org/drawingml/2006/main">
              <a:ext uri="{FF2B5EF4-FFF2-40B4-BE49-F238E27FC236}">
                <a16:creationId xmlns:a16="http://schemas.microsoft.com/office/drawing/2014/main" id="{769C8D01-BBD5-4723-B5EA-457012AF9AA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range appears on a page with older license language; it is not a current universal quote. Joining is free; paid add-ons exist. Current help and published range are linked in sources.</a:t>
            </a:r>
          </a:p>
        </p:txBody>
      </p:sp>
    </p:spTree>
    <p:extLst>
      <p:ext uri="{BB962C8B-B14F-4D97-AF65-F5344CB8AC3E}">
        <p14:creationId xmlns:p14="http://schemas.microsoft.com/office/powerpoint/2010/main" val="1030064626"/>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664CB0CB-6141-40EB-A544-1DA254CC7E7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4BEA5D5F-C21D-41A8-820D-A10DF3A5779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572F4C45-E91F-4BD0-800E-6F1B4CB4EC2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F5D159CD-569B-4733-8E72-BAC0E6E18F8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finder fee. Service + processing fees apply.</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12075DB9-7902-41ED-B4ED-53D44FF328A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776876283"/>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A larger job pays a proportionate service fee">
            <a:extLst xmlns:a="http://schemas.openxmlformats.org/drawingml/2006/main">
              <a:ext uri="{FF2B5EF4-FFF2-40B4-BE49-F238E27FC236}">
                <a16:creationId xmlns:a16="http://schemas.microsoft.com/office/drawing/2014/main" id="{45EBD204-60B2-49E8-B437-07F97E655CD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larger job pays a proportionate service fee</a:t>
            </a:r>
          </a:p>
        </p:txBody>
      </p:sp>
      <p:sp>
        <p:nvSpPr>
          <p:cNvPr id="2" name="Recurring provider charges include the platform fe">
            <a:extLst xmlns:a="http://schemas.openxmlformats.org/drawingml/2006/main">
              <a:ext uri="{FF2B5EF4-FFF2-40B4-BE49-F238E27FC236}">
                <a16:creationId xmlns:a16="http://schemas.microsoft.com/office/drawing/2014/main" id="{A2E043B6-8CCB-4FB4-8259-2A7DD71675D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Recurring provider charges include the platform fee and payment processing, with no finder fee on repeats.</a:t>
            </a:r>
          </a:p>
        </p:txBody>
      </p:sp>
      <p:sp>
        <p:nvSpPr>
          <p:cNvPr id="3" name="YardMatch">
            <a:extLst xmlns:a="http://schemas.openxmlformats.org/drawingml/2006/main">
              <a:ext uri="{FF2B5EF4-FFF2-40B4-BE49-F238E27FC236}">
                <a16:creationId xmlns:a16="http://schemas.microsoft.com/office/drawing/2014/main" id="{99B1E840-895A-45EE-93A9-81CA74CCAAB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0D791CEC-7E22-4C6D-90D5-7F08C50C75C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graphicFrame>
        <p:nvGraphicFramePr>
          <p:cNvPr id="13" name=""/>
          <p:cNvGraphicFramePr/>
          <p:nvPr/>
        </p:nvGraphicFramePr>
        <p:xfrm>
          <a:off xmlns:a="http://schemas.openxmlformats.org/drawingml/2006/main" x="609600" y="2390775"/>
          <a:ext xmlns:a="http://schemas.openxmlformats.org/drawingml/2006/main" cx="8191500" cy="3114675"/>
        </p:xfrm>
        <a:graphic xmlns:a="http://schemas.openxmlformats.org/drawingml/2006/main">
          <a:graphicData uri="http://schemas.openxmlformats.org/drawingml/2006/table">
            <a:tbl>
              <a:tblPr/>
              <a:tblGrid>
                <a:gridCol w="2190750"/>
                <a:gridCol w="1809750"/>
                <a:gridCol w="2095500"/>
                <a:gridCol w="2095500"/>
              </a:tblGrid>
              <a:tr h="519113">
                <a:tc>
                  <a:txBody>
                    <a:bodyPr lIns="114300" tIns="76200" rIns="114300" bIns="76200">
                      <a:noAutofit/>
                    </a:bodyPr>
                    <a:lstStyle/>
                    <a:p>
                      <a:pPr algn="l"/>
                      <a:r>
                        <a:rPr sz="1800" b="1">
                          <a:solidFill>
                            <a:srgbClr val="FFFFFF"/>
                          </a:solidFill>
                          <a:latin typeface="Arial"/>
                          <a:ea typeface="Arial"/>
                          <a:cs typeface="Arial"/>
                        </a:rPr>
                        <a:t>Service bill</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Platform fee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if card</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if ACH</a:t>
                      </a:r>
                    </a:p>
                  </a:txBody>
                  <a:tcPr marL="91440" marR="91440" marT="45720" marB="45720" anchor="ctr">
                    <a:solidFill>
                      <a:srgbClr val="205938"/>
                    </a:solidFill>
                  </a:tcPr>
                </a:tc>
              </a:tr>
              <a:tr h="519113">
                <a:tc>
                  <a:txBody>
                    <a:bodyPr lIns="114300" tIns="76200" rIns="114300" bIns="76200">
                      <a:noAutofit/>
                    </a:bodyPr>
                    <a:lstStyle/>
                    <a:p>
                      <a:pPr algn="l"/>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$2.99</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$3.47</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$2.99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$6.19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$3.79</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$5.40</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$39.30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$15.00</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$97.80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$30.00</a:t>
                      </a:r>
                    </a:p>
                  </a:txBody>
                  <a:tcPr marL="91440" marR="91440" marT="45720" marB="45720" anchor="ctr">
                    <a:solidFill>
                      <a:srgbClr val="FFFFFF"/>
                    </a:solidFill>
                  </a:tcPr>
                </a:tc>
              </a:tr>
            </a:tbl>
          </a:graphicData>
        </a:graphic>
      </p:graphicFrame>
      <p:sp>
        <p:nvSpPr>
          <p:cNvPr id="6" name="$2.05">
            <a:extLst xmlns:a="http://schemas.openxmlformats.org/drawingml/2006/main">
              <a:ext uri="{FF2B5EF4-FFF2-40B4-BE49-F238E27FC236}">
                <a16:creationId xmlns:a16="http://schemas.microsoft.com/office/drawing/2014/main" id="{55C806DC-65FC-4B82-85A0-4F309A16D57C}"/>
              </a:ext>
            </a:extLst>
          </p:cNvPr>
          <p:cNvSpPr>
            <a:spLocks xmlns:a="http://schemas.openxmlformats.org/drawingml/2006/main" noGrp="1"/>
          </p:cNvSpPr>
          <p:nvPr/>
        </p:nvSpPr>
        <p:spPr>
          <a:xfrm xmlns:a="http://schemas.openxmlformats.org/drawingml/2006/main">
            <a:off x="9172575" y="2562225"/>
            <a:ext cx="2352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5938"/>
                </a:solidFill>
                <a:latin typeface="Arial"/>
                <a:ea typeface="Arial"/>
                <a:cs typeface="Arial"/>
              </a:defRPr>
            </a:pPr>
            <a:r>
              <a:rPr sz="3600" b="1">
                <a:solidFill>
                  <a:srgbClr val="205938"/>
                </a:solidFill>
                <a:latin typeface="Arial"/>
                <a:ea typeface="Arial"/>
                <a:cs typeface="Arial"/>
              </a:rPr>
              <a:t>$2.05</a:t>
            </a:r>
          </a:p>
        </p:txBody>
      </p:sp>
      <p:sp>
        <p:nvSpPr>
          <p:cNvPr id="7" name="Average repeat contribution in the 2031 base mix">
            <a:extLst xmlns:a="http://schemas.openxmlformats.org/drawingml/2006/main">
              <a:ext uri="{FF2B5EF4-FFF2-40B4-BE49-F238E27FC236}">
                <a16:creationId xmlns:a16="http://schemas.microsoft.com/office/drawing/2014/main" id="{4F6CA8EC-3E96-4111-B33D-3821CF987FEE}"/>
              </a:ext>
            </a:extLst>
          </p:cNvPr>
          <p:cNvSpPr>
            <a:spLocks xmlns:a="http://schemas.openxmlformats.org/drawingml/2006/main" noGrp="1"/>
          </p:cNvSpPr>
          <p:nvPr/>
        </p:nvSpPr>
        <p:spPr>
          <a:xfrm xmlns:a="http://schemas.openxmlformats.org/drawingml/2006/main">
            <a:off x="9191625" y="3305175"/>
            <a:ext cx="2333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Average repeat contribution in the 2031 base mix</a:t>
            </a:r>
          </a:p>
        </p:txBody>
      </p:sp>
      <p:sp>
        <p:nvSpPr>
          <p:cNvPr id="8" name="Recurring platform pricing changes above $299. A b">
            <a:extLst xmlns:a="http://schemas.openxmlformats.org/drawingml/2006/main">
              <a:ext uri="{FF2B5EF4-FFF2-40B4-BE49-F238E27FC236}">
                <a16:creationId xmlns:a16="http://schemas.microsoft.com/office/drawing/2014/main" id="{213F25E8-33F3-43B8-987D-70EA6886468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Recurring platform pricing changes above $299. A bundle on one invoice counts once. Processing recovery is excluded from net platform revenue. Fees still require provider acceptance testing.</a:t>
            </a:r>
          </a:p>
        </p:txBody>
      </p:sp>
    </p:spTree>
    <p:extLst>
      <p:ext uri="{BB962C8B-B14F-4D97-AF65-F5344CB8AC3E}">
        <p14:creationId xmlns:p14="http://schemas.microsoft.com/office/powerpoint/2010/main" val="628685420"/>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60 is the starting price for basic mowing">
            <a:extLst xmlns:a="http://schemas.openxmlformats.org/drawingml/2006/main">
              <a:ext uri="{FF2B5EF4-FFF2-40B4-BE49-F238E27FC236}">
                <a16:creationId xmlns:a16="http://schemas.microsoft.com/office/drawing/2014/main" id="{C5647597-E24F-4A37-A408-490548C2A80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$60 is the starting price for basic mowing</a:t>
            </a:r>
          </a:p>
        </p:txBody>
      </p:sp>
      <p:sp>
        <p:nvSpPr>
          <p:cNvPr id="2" name="Illustrative 2027 inputs before neighborhood and p">
            <a:extLst xmlns:a="http://schemas.openxmlformats.org/drawingml/2006/main">
              <a:ext uri="{FF2B5EF4-FFF2-40B4-BE49-F238E27FC236}">
                <a16:creationId xmlns:a16="http://schemas.microsoft.com/office/drawing/2014/main" id="{36795CDC-8B16-432B-8754-24608DB164E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2027 inputs before neighborhood and property adjustments. These are assumptions, not provider quotes.</a:t>
            </a:r>
          </a:p>
        </p:txBody>
      </p:sp>
      <p:sp>
        <p:nvSpPr>
          <p:cNvPr id="3" name="YardMatch">
            <a:extLst xmlns:a="http://schemas.openxmlformats.org/drawingml/2006/main">
              <a:ext uri="{FF2B5EF4-FFF2-40B4-BE49-F238E27FC236}">
                <a16:creationId xmlns:a16="http://schemas.microsoft.com/office/drawing/2014/main" id="{C4A53ADF-2978-434D-BE64-8F1D3670CB3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C5E77146-E1C6-4C4D-9F99-DF0D38CC3C3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5429250"/>
                <a:gridCol w="1905000"/>
                <a:gridCol w="3638550"/>
              </a:tblGrid>
              <a:tr h="563563">
                <a:tc>
                  <a:txBody>
                    <a:bodyPr lIns="114300" tIns="76200" rIns="114300" bIns="76200">
                      <a:noAutofit/>
                    </a:bodyPr>
                    <a:lstStyle/>
                    <a:p>
                      <a:pPr algn="l"/>
                      <a:r>
                        <a:rPr sz="1800" b="1">
                          <a:solidFill>
                            <a:srgbClr val="FFFFFF"/>
                          </a:solidFill>
                          <a:latin typeface="Arial"/>
                          <a:ea typeface="Arial"/>
                          <a:cs typeface="Arial"/>
                        </a:rPr>
                        <a:t>Service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Starting price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Scheduled jobs / household</a:t>
                      </a:r>
                    </a:p>
                  </a:txBody>
                  <a:tcPr marL="91440" marR="91440" marT="45720" marB="45720" anchor="ctr">
                    <a:solidFill>
                      <a:srgbClr val="205938"/>
                    </a:solidFill>
                  </a:tcPr>
                </a:tc>
              </a:tr>
              <a:tr h="563563">
                <a:tc>
                  <a:txBody>
                    <a:bodyPr lIns="114300" tIns="76200" rIns="114300" bIns="76200">
                      <a:noAutofit/>
                    </a:bodyPr>
                    <a:lstStyle/>
                    <a:p>
                      <a:pPr algn="l"/>
                      <a:r>
                        <a:rPr sz="1800" b="0">
                          <a:solidFill>
                            <a:srgbClr val="14281D"/>
                          </a:solidFill>
                          <a:latin typeface="Arial"/>
                          <a:ea typeface="Arial"/>
                          <a:cs typeface="Arial"/>
                        </a:rPr>
                        <a:t>Basic mowing</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Mowing + edging / trimming</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6.00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Expanded maintenance bundle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Mulch / seasonal cleanup</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0.60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Tree / larger property project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0.03</a:t>
                      </a:r>
                    </a:p>
                  </a:txBody>
                  <a:tcPr marL="91440" marR="91440" marT="45720" marB="45720" anchor="ctr">
                    <a:solidFill>
                      <a:srgbClr val="FFFFFF"/>
                    </a:solidFill>
                  </a:tcPr>
                </a:tc>
              </a:tr>
            </a:tbl>
          </a:graphicData>
        </a:graphic>
      </p:graphicFrame>
      <p:sp>
        <p:nvSpPr>
          <p:cNvPr id="6" name="2027 base: 20 maintenance visits plus 0.63 project">
            <a:extLst xmlns:a="http://schemas.openxmlformats.org/drawingml/2006/main">
              <a:ext uri="{FF2B5EF4-FFF2-40B4-BE49-F238E27FC236}">
                <a16:creationId xmlns:a16="http://schemas.microsoft.com/office/drawing/2014/main" id="{E732D486-43BD-4C14-A301-BD0413C45E2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2027 base: 20 maintenance visits plus 0.63 project jobs per full-season household before capture and completion. Bundles count once. Project visits pay the service fee plus processing, with no new finder fee for the same provider.</a:t>
            </a:r>
          </a:p>
        </p:txBody>
      </p:sp>
    </p:spTree>
    <p:extLst>
      <p:ext uri="{BB962C8B-B14F-4D97-AF65-F5344CB8AC3E}">
        <p14:creationId xmlns:p14="http://schemas.microsoft.com/office/powerpoint/2010/main" val="1987063801"/>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Property and neighborhood affect the ticket">
            <a:extLst xmlns:a="http://schemas.openxmlformats.org/drawingml/2006/main">
              <a:ext uri="{FF2B5EF4-FFF2-40B4-BE49-F238E27FC236}">
                <a16:creationId xmlns:a16="http://schemas.microsoft.com/office/drawing/2014/main" id="{D013EFED-349A-49B8-9791-D1548015211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Property and neighborhood affect the ticket</a:t>
            </a:r>
          </a:p>
        </p:txBody>
      </p:sp>
      <p:sp>
        <p:nvSpPr>
          <p:cNvPr id="2" name="Named town launches, service mix and 3% annual pri">
            <a:extLst xmlns:a="http://schemas.openxmlformats.org/drawingml/2006/main">
              <a:ext uri="{FF2B5EF4-FFF2-40B4-BE49-F238E27FC236}">
                <a16:creationId xmlns:a16="http://schemas.microsoft.com/office/drawing/2014/main" id="{F31CA14C-F824-4D45-915E-076C33AC2E9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Named town launches, service mix and 3% annual price escalation determine the weighted average.</a:t>
            </a:r>
          </a:p>
        </p:txBody>
      </p:sp>
      <p:sp>
        <p:nvSpPr>
          <p:cNvPr id="3" name="YardMatch">
            <a:extLst xmlns:a="http://schemas.openxmlformats.org/drawingml/2006/main">
              <a:ext uri="{FF2B5EF4-FFF2-40B4-BE49-F238E27FC236}">
                <a16:creationId xmlns:a16="http://schemas.microsoft.com/office/drawing/2014/main" id="{AA0C7965-272A-4D5E-8DED-EBFAEFAEFD0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0BD62C94-C1B4-4D19-BE39-98E64A1ED91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Neighborhood">
            <a:extLst xmlns:a="http://schemas.openxmlformats.org/drawingml/2006/main">
              <a:ext uri="{FF2B5EF4-FFF2-40B4-BE49-F238E27FC236}">
                <a16:creationId xmlns:a16="http://schemas.microsoft.com/office/drawing/2014/main" id="{8BFBB27B-ABBE-4568-8FE3-8922460835BB}"/>
              </a:ext>
            </a:extLst>
          </p:cNvPr>
          <p:cNvSpPr>
            <a:spLocks xmlns:a="http://schemas.openxmlformats.org/drawingml/2006/main" noGrp="1"/>
          </p:cNvSpPr>
          <p:nvPr/>
        </p:nvSpPr>
        <p:spPr>
          <a:xfrm xmlns:a="http://schemas.openxmlformats.org/drawingml/2006/main">
            <a:off x="6286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Neighborhood</a:t>
            </a:r>
          </a:p>
        </p:txBody>
      </p:sp>
      <p:sp>
        <p:nvSpPr>
          <p:cNvPr id="6" name="Standard, +15%, or +30% pricing">
            <a:extLst xmlns:a="http://schemas.openxmlformats.org/drawingml/2006/main">
              <a:ext uri="{FF2B5EF4-FFF2-40B4-BE49-F238E27FC236}">
                <a16:creationId xmlns:a16="http://schemas.microsoft.com/office/drawing/2014/main" id="{1C8714B4-DD51-4584-B220-1E3A894AD92D}"/>
              </a:ext>
            </a:extLst>
          </p:cNvPr>
          <p:cNvSpPr>
            <a:spLocks xmlns:a="http://schemas.openxmlformats.org/drawingml/2006/main" noGrp="1"/>
          </p:cNvSpPr>
          <p:nvPr/>
        </p:nvSpPr>
        <p:spPr>
          <a:xfrm xmlns:a="http://schemas.openxmlformats.org/drawingml/2006/main">
            <a:off x="6286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Standard, +15%, or +30% pricing</a:t>
            </a:r>
          </a:p>
        </p:txBody>
      </p:sp>
      <p:sp>
        <p:nvSpPr>
          <p:cNvPr id="7" name="Property size">
            <a:extLst xmlns:a="http://schemas.openxmlformats.org/drawingml/2006/main">
              <a:ext uri="{FF2B5EF4-FFF2-40B4-BE49-F238E27FC236}">
                <a16:creationId xmlns:a16="http://schemas.microsoft.com/office/drawing/2014/main" id="{5C405A6D-D820-4720-8689-6C191A1D35A6}"/>
              </a:ext>
            </a:extLst>
          </p:cNvPr>
          <p:cNvSpPr>
            <a:spLocks xmlns:a="http://schemas.openxmlformats.org/drawingml/2006/main" noGrp="1"/>
          </p:cNvSpPr>
          <p:nvPr/>
        </p:nvSpPr>
        <p:spPr>
          <a:xfrm xmlns:a="http://schemas.openxmlformats.org/drawingml/2006/main">
            <a:off x="63817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Property size</a:t>
            </a:r>
          </a:p>
        </p:txBody>
      </p:sp>
      <p:sp>
        <p:nvSpPr>
          <p:cNvPr id="8" name="Typical, +35%, or +80% pricing">
            <a:extLst xmlns:a="http://schemas.openxmlformats.org/drawingml/2006/main">
              <a:ext uri="{FF2B5EF4-FFF2-40B4-BE49-F238E27FC236}">
                <a16:creationId xmlns:a16="http://schemas.microsoft.com/office/drawing/2014/main" id="{0FC39907-7E90-47BA-B6DB-8760CA19B722}"/>
              </a:ext>
            </a:extLst>
          </p:cNvPr>
          <p:cNvSpPr>
            <a:spLocks xmlns:a="http://schemas.openxmlformats.org/drawingml/2006/main" noGrp="1"/>
          </p:cNvSpPr>
          <p:nvPr/>
        </p:nvSpPr>
        <p:spPr>
          <a:xfrm xmlns:a="http://schemas.openxmlformats.org/drawingml/2006/main">
            <a:off x="63817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Typical, +35%, or +80% pricing</a:t>
            </a:r>
          </a:p>
        </p:txBody>
      </p:sp>
      <p:graphicFrame>
        <p:nvGraphicFramePr>
          <p:cNvPr id="19" name=""/>
          <p:cNvGraphicFramePr/>
          <p:nvPr/>
        </p:nvGraphicFramePr>
        <p:xfrm>
          <a:off xmlns:a="http://schemas.openxmlformats.org/drawingml/2006/main" x="609600" y="3524250"/>
          <a:ext xmlns:a="http://schemas.openxmlformats.org/drawingml/2006/main" cx="10972800" cy="2162175"/>
        </p:xfrm>
        <a:graphic xmlns:a="http://schemas.openxmlformats.org/drawingml/2006/main">
          <a:graphicData uri="http://schemas.openxmlformats.org/drawingml/2006/table">
            <a:tbl>
              <a:tblPr/>
              <a:tblGrid>
                <a:gridCol w="4857750"/>
                <a:gridCol w="2038350"/>
                <a:gridCol w="2038350"/>
                <a:gridCol w="2038350"/>
              </a:tblGrid>
              <a:tr h="540544">
                <a:tc>
                  <a:txBody>
                    <a:bodyPr lIns="114300" tIns="76200" rIns="114300" bIns="76200">
                      <a:noAutofit/>
                    </a:bodyPr>
                    <a:lstStyle/>
                    <a:p>
                      <a:pPr algn="l"/>
                      <a:r>
                        <a:rPr sz="1875" b="1">
                          <a:solidFill>
                            <a:srgbClr val="FFFFFF"/>
                          </a:solidFill>
                          <a:latin typeface="Arial"/>
                          <a:ea typeface="Arial"/>
                          <a:cs typeface="Arial"/>
                        </a:rPr>
                        <a:t>Base case</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2033</a:t>
                      </a:r>
                    </a:p>
                  </a:txBody>
                  <a:tcPr marL="91440" marR="91440" marT="45720" marB="45720" anchor="ctr">
                    <a:solidFill>
                      <a:srgbClr val="205938"/>
                    </a:solidFill>
                  </a:tcPr>
                </a:tc>
              </a:tr>
              <a:tr h="540544">
                <a:tc>
                  <a:txBody>
                    <a:bodyPr lIns="114300" tIns="76200" rIns="114300" bIns="76200">
                      <a:noAutofit/>
                    </a:bodyPr>
                    <a:lstStyle/>
                    <a:p>
                      <a:pPr algn="l"/>
                      <a:r>
                        <a:rPr sz="1875" b="0">
                          <a:solidFill>
                            <a:srgbClr val="14281D"/>
                          </a:solidFill>
                          <a:latin typeface="Arial"/>
                          <a:ea typeface="Arial"/>
                          <a:cs typeface="Arial"/>
                        </a:rPr>
                        <a:t>Maintenance average price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$82.87</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$98.01</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$117.84</a:t>
                      </a:r>
                    </a:p>
                  </a:txBody>
                  <a:tcPr marL="91440" marR="91440" marT="45720" marB="45720" anchor="ctr">
                    <a:solidFill>
                      <a:srgbClr val="FFFFFF"/>
                    </a:solidFill>
                  </a:tcPr>
                </a:tc>
              </a:tr>
              <a:tr h="540544">
                <a:tc>
                  <a:txBody>
                    <a:bodyPr lIns="114300" tIns="76200" rIns="114300" bIns="76200">
                      <a:noAutofit/>
                    </a:bodyPr>
                    <a:lstStyle/>
                    <a:p>
                      <a:pPr algn="l"/>
                      <a:r>
                        <a:rPr sz="1875" b="1">
                          <a:solidFill>
                            <a:srgbClr val="14281D"/>
                          </a:solidFill>
                          <a:latin typeface="Arial"/>
                          <a:ea typeface="Arial"/>
                          <a:cs typeface="Arial"/>
                        </a:rPr>
                        <a:t>All-job average price</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$91.82</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$112.45</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$138.69</a:t>
                      </a:r>
                    </a:p>
                  </a:txBody>
                  <a:tcPr marL="91440" marR="91440" marT="45720" marB="45720" anchor="ctr">
                    <a:solidFill>
                      <a:srgbClr val="E8EDDF"/>
                    </a:solidFill>
                  </a:tcPr>
                </a:tc>
              </a:tr>
              <a:tr h="540544">
                <a:tc>
                  <a:txBody>
                    <a:bodyPr lIns="114300" tIns="76200" rIns="114300" bIns="76200">
                      <a:noAutofit/>
                    </a:bodyPr>
                    <a:lstStyle/>
                    <a:p>
                      <a:pPr algn="l"/>
                      <a:r>
                        <a:rPr sz="1875" b="0">
                          <a:solidFill>
                            <a:srgbClr val="14281D"/>
                          </a:solidFill>
                          <a:latin typeface="Arial"/>
                          <a:ea typeface="Arial"/>
                          <a:cs typeface="Arial"/>
                        </a:rPr>
                        <a:t>Separate projects / household</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0.63</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0.86</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r>
            </a:tbl>
          </a:graphicData>
        </a:graphic>
      </p:graphicFrame>
      <p:sp>
        <p:nvSpPr>
          <p:cNvPr id="10" name="Multipliers compound. Example: $85 bundle × 1.15 n">
            <a:extLst xmlns:a="http://schemas.openxmlformats.org/drawingml/2006/main">
              <a:ext uri="{FF2B5EF4-FFF2-40B4-BE49-F238E27FC236}">
                <a16:creationId xmlns:a16="http://schemas.microsoft.com/office/drawing/2014/main" id="{2BAD0A01-6633-4D96-9C37-AB010BFD589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Multipliers compound. Example: $85 bundle × 1.15 neighborhood × 1.35 property = $131.96 before later-year escalation. Town / lot weights stay correlated. Pricing assumptions are editable and need provider quotes.</a:t>
            </a:r>
          </a:p>
        </p:txBody>
      </p:sp>
    </p:spTree>
    <p:extLst>
      <p:ext uri="{BB962C8B-B14F-4D97-AF65-F5344CB8AC3E}">
        <p14:creationId xmlns:p14="http://schemas.microsoft.com/office/powerpoint/2010/main" val="1353084934"/>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rnegat demand now has a defined funnel">
            <a:extLst xmlns:a="http://schemas.openxmlformats.org/drawingml/2006/main">
              <a:ext uri="{FF2B5EF4-FFF2-40B4-BE49-F238E27FC236}">
                <a16:creationId xmlns:a16="http://schemas.microsoft.com/office/drawing/2014/main" id="{59DF6647-ED36-4EF0-A8AE-6C22E58678B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demand now has a defined funnel</a:t>
            </a:r>
          </a:p>
        </p:txBody>
      </p:sp>
      <p:sp>
        <p:nvSpPr>
          <p:cNvPr id="2" name="Census facts anchor the denominator. Lawn eligibil">
            <a:extLst xmlns:a="http://schemas.openxmlformats.org/drawingml/2006/main">
              <a:ext uri="{FF2B5EF4-FFF2-40B4-BE49-F238E27FC236}">
                <a16:creationId xmlns:a16="http://schemas.microsoft.com/office/drawing/2014/main" id="{70C15DFF-43A3-480A-96CE-283C4F5201A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facts anchor the denominator. Lawn eligibility and willingness to hire are assumptions.</a:t>
            </a:r>
          </a:p>
        </p:txBody>
      </p:sp>
      <p:sp>
        <p:nvSpPr>
          <p:cNvPr id="3" name="YardMatch">
            <a:extLst xmlns:a="http://schemas.openxmlformats.org/drawingml/2006/main">
              <a:ext uri="{FF2B5EF4-FFF2-40B4-BE49-F238E27FC236}">
                <a16:creationId xmlns:a16="http://schemas.microsoft.com/office/drawing/2014/main" id="{58D5DAA0-0F41-4B1C-AEDC-2C4D7C78C0E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DAF81053-67DC-4490-B472-0057849C45A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graphicFrame>
        <p:nvGraphicFramePr>
          <p:cNvPr id="11" name=""/>
          <p:cNvGraphicFramePr/>
          <p:nvPr/>
        </p:nvGraphicFramePr>
        <p:xfrm>
          <a:off xmlns:a="http://schemas.openxmlformats.org/drawingml/2006/main" x="609600" y="2333625"/>
          <a:ext xmlns:a="http://schemas.openxmlformats.org/drawingml/2006/main" cx="10972800" cy="3152775"/>
        </p:xfrm>
        <a:graphic xmlns:a="http://schemas.openxmlformats.org/drawingml/2006/main">
          <a:graphicData uri="http://schemas.openxmlformats.org/drawingml/2006/table">
            <a:tbl>
              <a:tblPr/>
              <a:tblGrid>
                <a:gridCol w="8210550"/>
                <a:gridCol w="2762250"/>
              </a:tblGrid>
              <a:tr h="525463">
                <a:tc>
                  <a:txBody>
                    <a:bodyPr lIns="114300" tIns="76200" rIns="114300" bIns="76200">
                      <a:noAutofit/>
                    </a:bodyPr>
                    <a:lstStyle/>
                    <a:p>
                      <a:pPr algn="l"/>
                      <a:r>
                        <a:rPr sz="1875" b="1">
                          <a:solidFill>
                            <a:srgbClr val="FFFFFF"/>
                          </a:solidFill>
                          <a:latin typeface="Arial"/>
                          <a:ea typeface="Arial"/>
                          <a:cs typeface="Arial"/>
                        </a:rPr>
                        <a:t>Barnegat launch funnel</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Households</a:t>
                      </a:r>
                    </a:p>
                  </a:txBody>
                  <a:tcPr marL="91440" marR="91440" marT="45720" marB="45720" anchor="ctr">
                    <a:solidFill>
                      <a:srgbClr val="205938"/>
                    </a:solidFill>
                  </a:tcPr>
                </a:tc>
              </a:tr>
              <a:tr h="525463">
                <a:tc>
                  <a:txBody>
                    <a:bodyPr lIns="114300" tIns="76200" rIns="114300" bIns="76200">
                      <a:noAutofit/>
                    </a:bodyPr>
                    <a:lstStyle/>
                    <a:p>
                      <a:pPr algn="l"/>
                      <a:r>
                        <a:rPr sz="1875" b="0">
                          <a:solidFill>
                            <a:srgbClr val="14281D"/>
                          </a:solidFill>
                          <a:latin typeface="Arial"/>
                          <a:ea typeface="Arial"/>
                          <a:cs typeface="Arial"/>
                        </a:rPr>
                        <a:t>Census occupied households</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10,265</a:t>
                      </a:r>
                    </a:p>
                  </a:txBody>
                  <a:tcPr marL="91440" marR="91440" marT="45720" marB="45720" anchor="ctr">
                    <a:solidFill>
                      <a:srgbClr val="FFFFFF"/>
                    </a:solidFill>
                  </a:tcPr>
                </a:tc>
              </a:tr>
              <a:tr h="525463">
                <a:tc>
                  <a:txBody>
                    <a:bodyPr lIns="114300" tIns="76200" rIns="114300" bIns="76200">
                      <a:noAutofit/>
                    </a:bodyPr>
                    <a:lstStyle/>
                    <a:p>
                      <a:pPr algn="l"/>
                      <a:r>
                        <a:rPr sz="1875" b="0">
                          <a:solidFill>
                            <a:srgbClr val="14281D"/>
                          </a:solidFill>
                          <a:latin typeface="Arial"/>
                          <a:ea typeface="Arial"/>
                          <a:cs typeface="Arial"/>
                        </a:rPr>
                        <a:t>Owner-occupied estimate: 88%</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9,033</a:t>
                      </a:r>
                    </a:p>
                  </a:txBody>
                  <a:tcPr marL="91440" marR="91440" marT="45720" marB="45720" anchor="ctr">
                    <a:solidFill>
                      <a:srgbClr val="F7F5EF"/>
                    </a:solidFill>
                  </a:tcPr>
                </a:tc>
              </a:tr>
              <a:tr h="525463">
                <a:tc>
                  <a:txBody>
                    <a:bodyPr lIns="114300" tIns="76200" rIns="114300" bIns="76200">
                      <a:noAutofit/>
                    </a:bodyPr>
                    <a:lstStyle/>
                    <a:p>
                      <a:pPr algn="l"/>
                      <a:r>
                        <a:rPr sz="1875" b="0">
                          <a:solidFill>
                            <a:srgbClr val="14281D"/>
                          </a:solidFill>
                          <a:latin typeface="Arial"/>
                          <a:ea typeface="Arial"/>
                          <a:cs typeface="Arial"/>
                        </a:rPr>
                        <a:t>Assumed lawn-care eligibility: 75%</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6,775</a:t>
                      </a:r>
                    </a:p>
                  </a:txBody>
                  <a:tcPr marL="91440" marR="91440" marT="45720" marB="45720" anchor="ctr">
                    <a:solidFill>
                      <a:srgbClr val="FFFFFF"/>
                    </a:solidFill>
                  </a:tcPr>
                </a:tc>
              </a:tr>
              <a:tr h="525463">
                <a:tc>
                  <a:txBody>
                    <a:bodyPr lIns="114300" tIns="76200" rIns="114300" bIns="76200">
                      <a:noAutofit/>
                    </a:bodyPr>
                    <a:lstStyle/>
                    <a:p>
                      <a:pPr algn="l"/>
                      <a:r>
                        <a:rPr sz="1875" b="0">
                          <a:solidFill>
                            <a:srgbClr val="14281D"/>
                          </a:solidFill>
                          <a:latin typeface="Arial"/>
                          <a:ea typeface="Arial"/>
                          <a:cs typeface="Arial"/>
                        </a:rPr>
                        <a:t>Assumed propensity to hire: 45%</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3,049</a:t>
                      </a:r>
                    </a:p>
                  </a:txBody>
                  <a:tcPr marL="91440" marR="91440" marT="45720" marB="45720" anchor="ctr">
                    <a:solidFill>
                      <a:srgbClr val="F7F5EF"/>
                    </a:solidFill>
                  </a:tcPr>
                </a:tc>
              </a:tr>
              <a:tr h="525463">
                <a:tc>
                  <a:txBody>
                    <a:bodyPr lIns="114300" tIns="76200" rIns="114300" bIns="76200">
                      <a:noAutofit/>
                    </a:bodyPr>
                    <a:lstStyle/>
                    <a:p>
                      <a:pPr algn="l"/>
                      <a:r>
                        <a:rPr sz="1875" b="1">
                          <a:solidFill>
                            <a:srgbClr val="14281D"/>
                          </a:solidFill>
                          <a:latin typeface="Arial"/>
                          <a:ea typeface="Arial"/>
                          <a:cs typeface="Arial"/>
                        </a:rPr>
                        <a:t>2027 active customers after supply cap</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240</a:t>
                      </a:r>
                    </a:p>
                  </a:txBody>
                  <a:tcPr marL="91440" marR="91440" marT="45720" marB="45720" anchor="ctr">
                    <a:solidFill>
                      <a:srgbClr val="E8EDDF"/>
                    </a:solidFill>
                  </a:tcPr>
                </a:tc>
              </a:tr>
            </a:tbl>
          </a:graphicData>
        </a:graphic>
      </p:graphicFrame>
      <p:sp>
        <p:nvSpPr>
          <p:cNvPr id="6" name="Base acquisition starts at 8% of the never-acquire">
            <a:extLst xmlns:a="http://schemas.openxmlformats.org/drawingml/2006/main">
              <a:ext uri="{FF2B5EF4-FFF2-40B4-BE49-F238E27FC236}">
                <a16:creationId xmlns:a16="http://schemas.microsoft.com/office/drawing/2014/main" id="{C01307A1-E894-4E34-B33E-A88FCF3C254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acquisition starts at 8% of the never-acquired outsourcing pool. Six planned providers × 40 households cap launch at 240. No provider commitments or measured hiring propensity are claimed.</a:t>
            </a:r>
          </a:p>
        </p:txBody>
      </p:sp>
    </p:spTree>
    <p:extLst>
      <p:ext uri="{BB962C8B-B14F-4D97-AF65-F5344CB8AC3E}">
        <p14:creationId xmlns:p14="http://schemas.microsoft.com/office/powerpoint/2010/main" val="1200287426"/>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A named rollout from Ocean to Monmouth County">
            <a:extLst xmlns:a="http://schemas.openxmlformats.org/drawingml/2006/main">
              <a:ext uri="{FF2B5EF4-FFF2-40B4-BE49-F238E27FC236}">
                <a16:creationId xmlns:a16="http://schemas.microsoft.com/office/drawing/2014/main" id="{B4D9CB38-4A92-46F5-AB93-DD355D7A8FC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named rollout from Ocean to Monmouth County</a:t>
            </a:r>
          </a:p>
        </p:txBody>
      </p:sp>
      <p:sp>
        <p:nvSpPr>
          <p:cNvPr id="2" name="Illustrative launch years. Each town has its own d">
            <a:extLst xmlns:a="http://schemas.openxmlformats.org/drawingml/2006/main">
              <a:ext uri="{FF2B5EF4-FFF2-40B4-BE49-F238E27FC236}">
                <a16:creationId xmlns:a16="http://schemas.microsoft.com/office/drawing/2014/main" id="{5668F1B8-B9BF-40E9-8AF3-17065D1F4ED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launch years. Each town has its own demand pool, provider plan, acquisition cost and local budget.</a:t>
            </a:r>
          </a:p>
        </p:txBody>
      </p:sp>
      <p:sp>
        <p:nvSpPr>
          <p:cNvPr id="3" name="YardMatch">
            <a:extLst xmlns:a="http://schemas.openxmlformats.org/drawingml/2006/main">
              <a:ext uri="{FF2B5EF4-FFF2-40B4-BE49-F238E27FC236}">
                <a16:creationId xmlns:a16="http://schemas.microsoft.com/office/drawing/2014/main" id="{DC890706-5CB8-439E-9537-FA244E89AB2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B762A640-6075-4995-B43D-59A0F2C80FB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graphicFrame>
        <p:nvGraphicFramePr>
          <p:cNvPr id="11" name=""/>
          <p:cNvGraphicFramePr/>
          <p:nvPr/>
        </p:nvGraphicFramePr>
        <p:xfrm>
          <a:off xmlns:a="http://schemas.openxmlformats.org/drawingml/2006/main" x="609600" y="2333625"/>
          <a:ext xmlns:a="http://schemas.openxmlformats.org/drawingml/2006/main" cx="10972800" cy="3381375"/>
        </p:xfrm>
        <a:graphic xmlns:a="http://schemas.openxmlformats.org/drawingml/2006/main">
          <a:graphicData uri="http://schemas.openxmlformats.org/drawingml/2006/table">
            <a:tbl>
              <a:tblPr/>
              <a:tblGrid>
                <a:gridCol w="1466850"/>
                <a:gridCol w="7667625"/>
                <a:gridCol w="1838325"/>
              </a:tblGrid>
              <a:tr h="422672">
                <a:tc>
                  <a:txBody>
                    <a:bodyPr lIns="114300" tIns="76200" rIns="114300" bIns="76200">
                      <a:noAutofit/>
                    </a:bodyPr>
                    <a:lstStyle/>
                    <a:p>
                      <a:pPr algn="l"/>
                      <a:r>
                        <a:rPr sz="1800" b="1">
                          <a:solidFill>
                            <a:srgbClr val="FFFFFF"/>
                          </a:solidFill>
                          <a:latin typeface="Arial"/>
                          <a:ea typeface="Arial"/>
                          <a:cs typeface="Arial"/>
                        </a:rPr>
                        <a:t>Year</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New towns</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towns</a:t>
                      </a:r>
                    </a:p>
                  </a:txBody>
                  <a:tcPr marL="91440" marR="91440" marT="45720" marB="45720" anchor="ctr">
                    <a:solidFill>
                      <a:srgbClr val="205938"/>
                    </a:solidFill>
                  </a:tcPr>
                </a:tc>
              </a:tr>
              <a:tr h="422672">
                <a:tc>
                  <a:txBody>
                    <a:bodyPr lIns="114300" tIns="76200" rIns="114300" bIns="76200">
                      <a:noAutofit/>
                    </a:bodyPr>
                    <a:lstStyle/>
                    <a:p>
                      <a:pPr algn="l"/>
                      <a:r>
                        <a:rPr sz="1800" b="0">
                          <a:solidFill>
                            <a:srgbClr val="14281D"/>
                          </a:solidFill>
                          <a:latin typeface="Arial"/>
                          <a:ea typeface="Arial"/>
                          <a:cs typeface="Arial"/>
                        </a:rPr>
                        <a:t>2027</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Barnegat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2028</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Stafford, Lacey, Ocean / Waretown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4</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2029</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Berkeley, Toms River</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2030</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Brick, Jackson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2031</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Howell, Wall</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2032</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Middletown, Holmdel</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12</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Colts Neck, Rumson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14</a:t>
                      </a:r>
                    </a:p>
                  </a:txBody>
                  <a:tcPr marL="91440" marR="91440" marT="45720" marB="45720" anchor="ctr">
                    <a:solidFill>
                      <a:srgbClr val="FFFFFF"/>
                    </a:solidFill>
                  </a:tcPr>
                </a:tc>
              </a:tr>
            </a:tbl>
          </a:graphicData>
        </a:graphic>
      </p:graphicFrame>
      <p:sp>
        <p:nvSpPr>
          <p:cNvPr id="6" name="Municipal boundaries avoid overlapping CDPs or cou">
            <a:extLst xmlns:a="http://schemas.openxmlformats.org/drawingml/2006/main">
              <a:ext uri="{FF2B5EF4-FFF2-40B4-BE49-F238E27FC236}">
                <a16:creationId xmlns:a16="http://schemas.microsoft.com/office/drawing/2014/main" id="{2E0A8C89-C9CE-427C-A696-631AD311619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Municipal boundaries avoid overlapping CDPs or county totals. Ocean / Waretown refers to Ocean township in Ocean County. Launches remain conditional on supply, paid retention and service reliability.</a:t>
            </a:r>
          </a:p>
        </p:txBody>
      </p:sp>
    </p:spTree>
    <p:extLst>
      <p:ext uri="{BB962C8B-B14F-4D97-AF65-F5344CB8AC3E}">
        <p14:creationId xmlns:p14="http://schemas.microsoft.com/office/powerpoint/2010/main" val="936441409"/>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Affluent towns affect demand and job value">
            <a:extLst xmlns:a="http://schemas.openxmlformats.org/drawingml/2006/main">
              <a:ext uri="{FF2B5EF4-FFF2-40B4-BE49-F238E27FC236}">
                <a16:creationId xmlns:a16="http://schemas.microsoft.com/office/drawing/2014/main" id="{C0B18338-0F37-4E43-BB8B-1DCE7B6C48F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Affluent towns affect demand and job value</a:t>
            </a:r>
          </a:p>
        </p:txBody>
      </p:sp>
      <p:sp>
        <p:nvSpPr>
          <p:cNvPr id="2" name="Income and home values are observed. Outsourcing, ">
            <a:extLst xmlns:a="http://schemas.openxmlformats.org/drawingml/2006/main">
              <a:ext uri="{FF2B5EF4-FFF2-40B4-BE49-F238E27FC236}">
                <a16:creationId xmlns:a16="http://schemas.microsoft.com/office/drawing/2014/main" id="{A8057FFE-73A8-4E14-8DEE-074D63FAEA9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Income and home values are observed. Outsourcing, yard sizes and price tiers remain explicit hypotheses.</a:t>
            </a:r>
          </a:p>
        </p:txBody>
      </p:sp>
      <p:sp>
        <p:nvSpPr>
          <p:cNvPr id="3" name="YardMatch">
            <a:extLst xmlns:a="http://schemas.openxmlformats.org/drawingml/2006/main">
              <a:ext uri="{FF2B5EF4-FFF2-40B4-BE49-F238E27FC236}">
                <a16:creationId xmlns:a16="http://schemas.microsoft.com/office/drawing/2014/main" id="{B4BC8690-560B-45DB-97CE-47E004B7A1E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A998FCF9-8777-40D0-A7A1-E691D0FD335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graphicFrame>
        <p:nvGraphicFramePr>
          <p:cNvPr id="11" name=""/>
          <p:cNvGraphicFramePr/>
          <p:nvPr/>
        </p:nvGraphicFramePr>
        <p:xfrm>
          <a:off xmlns:a="http://schemas.openxmlformats.org/drawingml/2006/main" x="609600" y="2333625"/>
          <a:ext xmlns:a="http://schemas.openxmlformats.org/drawingml/2006/main" cx="10972800" cy="3267075"/>
        </p:xfrm>
        <a:graphic xmlns:a="http://schemas.openxmlformats.org/drawingml/2006/main">
          <a:graphicData uri="http://schemas.openxmlformats.org/drawingml/2006/table">
            <a:tbl>
              <a:tblPr/>
              <a:tblGrid>
                <a:gridCol w="2571750"/>
                <a:gridCol w="2381250"/>
                <a:gridCol w="2190750"/>
                <a:gridCol w="3829050"/>
              </a:tblGrid>
              <a:tr h="466725">
                <a:tc>
                  <a:txBody>
                    <a:bodyPr lIns="114300" tIns="76200" rIns="114300" bIns="76200">
                      <a:noAutofit/>
                    </a:bodyPr>
                    <a:lstStyle/>
                    <a:p>
                      <a:pPr algn="l"/>
                      <a:r>
                        <a:rPr sz="1725" b="1">
                          <a:solidFill>
                            <a:srgbClr val="FFFFFF"/>
                          </a:solidFill>
                          <a:latin typeface="Arial"/>
                          <a:ea typeface="Arial"/>
                          <a:cs typeface="Arial"/>
                        </a:rPr>
                        <a:t>Town</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Assumed hiring</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Large / very large lots</a:t>
                      </a:r>
                    </a:p>
                  </a:txBody>
                  <a:tcPr marL="91440" marR="91440" marT="45720" marB="45720" anchor="ctr">
                    <a:solidFill>
                      <a:srgbClr val="205938"/>
                    </a:solidFill>
                  </a:tcPr>
                </a:tc>
              </a:tr>
              <a:tr h="466725">
                <a:tc>
                  <a:txBody>
                    <a:bodyPr lIns="114300" tIns="76200" rIns="114300" bIns="76200">
                      <a:noAutofit/>
                    </a:bodyPr>
                    <a:lstStyle/>
                    <a:p>
                      <a:pPr algn="l"/>
                      <a:r>
                        <a:rPr sz="1725" b="0">
                          <a:solidFill>
                            <a:srgbClr val="14281D"/>
                          </a:solidFill>
                          <a:latin typeface="Arial"/>
                          <a:ea typeface="Arial"/>
                          <a:cs typeface="Arial"/>
                        </a:rPr>
                        <a:t>Barnegat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$91,540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25% / 5%</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Stafford</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$117,612</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55%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 / 5%</a:t>
                      </a:r>
                    </a:p>
                  </a:txBody>
                  <a:tcPr marL="91440" marR="91440" marT="45720" marB="45720" anchor="ctr">
                    <a:solidFill>
                      <a:srgbClr val="F7F5EF"/>
                    </a:solidFill>
                  </a:tcPr>
                </a:tc>
              </a:tr>
              <a:tr h="466725">
                <a:tc>
                  <a:txBody>
                    <a:bodyPr lIns="114300" tIns="76200" rIns="114300" bIns="76200">
                      <a:noAutofit/>
                    </a:bodyPr>
                    <a:lstStyle/>
                    <a:p>
                      <a:pPr algn="l"/>
                      <a:r>
                        <a:rPr sz="1725" b="0">
                          <a:solidFill>
                            <a:srgbClr val="14281D"/>
                          </a:solidFill>
                          <a:latin typeface="Arial"/>
                          <a:ea typeface="Arial"/>
                          <a:cs typeface="Arial"/>
                        </a:rPr>
                        <a:t>Wall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$142,768</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55%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35% / 15%</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Holmdel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$165,013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 / 25%</a:t>
                      </a:r>
                    </a:p>
                  </a:txBody>
                  <a:tcPr marL="91440" marR="91440" marT="45720" marB="45720" anchor="ctr">
                    <a:solidFill>
                      <a:srgbClr val="F7F5EF"/>
                    </a:solidFill>
                  </a:tcPr>
                </a:tc>
              </a:tr>
              <a:tr h="466725">
                <a:tc>
                  <a:txBody>
                    <a:bodyPr lIns="114300" tIns="76200" rIns="114300" bIns="76200">
                      <a:noAutofit/>
                    </a:bodyPr>
                    <a:lstStyle/>
                    <a:p>
                      <a:pPr algn="l"/>
                      <a:r>
                        <a:rPr sz="1725" b="0">
                          <a:solidFill>
                            <a:srgbClr val="14281D"/>
                          </a:solidFill>
                          <a:latin typeface="Arial"/>
                          <a:ea typeface="Arial"/>
                          <a:cs typeface="Arial"/>
                        </a:rPr>
                        <a:t>Colts Neck</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$199,573</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40% / 40%</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Rumson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 / 20%</a:t>
                      </a:r>
                    </a:p>
                  </a:txBody>
                  <a:tcPr marL="91440" marR="91440" marT="45720" marB="45720" anchor="ctr">
                    <a:solidFill>
                      <a:srgbClr val="F7F5EF"/>
                    </a:solidFill>
                  </a:tcPr>
                </a:tc>
              </a:tr>
            </a:tbl>
          </a:graphicData>
        </a:graphic>
      </p:graphicFrame>
      <p:sp>
        <p:nvSpPr>
          <p:cNvPr id="6" name="Hiring share applies only to eligible owner househ">
            <a:extLst xmlns:a="http://schemas.openxmlformats.org/drawingml/2006/main">
              <a:ext uri="{FF2B5EF4-FFF2-40B4-BE49-F238E27FC236}">
                <a16:creationId xmlns:a16="http://schemas.microsoft.com/office/drawing/2014/main" id="{6BF36B04-2F93-489D-8851-EC1F11C5937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Hiring share applies only to eligible owner households. Lot shares apply to modeled customers, not all housing. Premium towns also have higher cash CAC assumptions; no automatic retention improvement is assumed.</a:t>
            </a:r>
          </a:p>
        </p:txBody>
      </p:sp>
    </p:spTree>
    <p:extLst>
      <p:ext uri="{BB962C8B-B14F-4D97-AF65-F5344CB8AC3E}">
        <p14:creationId xmlns:p14="http://schemas.microsoft.com/office/powerpoint/2010/main" val="281278401"/>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regional plan is bounded by demand and supply">
            <a:extLst xmlns:a="http://schemas.openxmlformats.org/drawingml/2006/main">
              <a:ext uri="{FF2B5EF4-FFF2-40B4-BE49-F238E27FC236}">
                <a16:creationId xmlns:a16="http://schemas.microsoft.com/office/drawing/2014/main" id="{36AB8DE7-0AC4-4E74-9AC9-643F5FA4865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regional plan is bounded by demand and supply</a:t>
            </a:r>
          </a:p>
        </p:txBody>
      </p:sp>
      <p:sp>
        <p:nvSpPr>
          <p:cNvPr id="2" name="The household curve is now a sum of town cohorts, ">
            <a:extLst xmlns:a="http://schemas.openxmlformats.org/drawingml/2006/main">
              <a:ext uri="{FF2B5EF4-FFF2-40B4-BE49-F238E27FC236}">
                <a16:creationId xmlns:a16="http://schemas.microsoft.com/office/drawing/2014/main" id="{0ED9719C-70CE-4D64-A107-A6B8BB7C3ED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household curve is now a sum of town cohorts, with launch timing and local capacity enforced.</a:t>
            </a:r>
          </a:p>
        </p:txBody>
      </p:sp>
      <p:sp>
        <p:nvSpPr>
          <p:cNvPr id="3" name="YardMatch">
            <a:extLst xmlns:a="http://schemas.openxmlformats.org/drawingml/2006/main">
              <a:ext uri="{FF2B5EF4-FFF2-40B4-BE49-F238E27FC236}">
                <a16:creationId xmlns:a16="http://schemas.microsoft.com/office/drawing/2014/main" id="{FA93AD08-61F6-4B77-8A78-746821C4439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53598282-94DE-48A9-9938-EC4CB5D25BC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333625"/>
          <a:ext xmlns:a="http://schemas.openxmlformats.org/drawingml/2006/main" cx="10972800" cy="3105150"/>
        </p:xfrm>
        <a:graphic xmlns:a="http://schemas.openxmlformats.org/drawingml/2006/main">
          <a:graphicData uri="http://schemas.openxmlformats.org/drawingml/2006/table">
            <a:tbl>
              <a:tblPr/>
              <a:tblGrid>
                <a:gridCol w="4657725"/>
                <a:gridCol w="2105025"/>
                <a:gridCol w="2105025"/>
                <a:gridCol w="2105025"/>
              </a:tblGrid>
              <a:tr h="517525">
                <a:tc>
                  <a:txBody>
                    <a:bodyPr lIns="114300" tIns="76200" rIns="114300" bIns="76200">
                      <a:noAutofit/>
                    </a:bodyPr>
                    <a:lstStyle/>
                    <a:p>
                      <a:pPr algn="l"/>
                      <a:r>
                        <a:rPr sz="1800" b="1">
                          <a:solidFill>
                            <a:srgbClr val="FFFFFF"/>
                          </a:solidFill>
                          <a:latin typeface="Arial"/>
                          <a:ea typeface="Arial"/>
                          <a:cs typeface="Arial"/>
                        </a:rPr>
                        <a:t>Base regional forecast</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2033</a:t>
                      </a:r>
                    </a:p>
                  </a:txBody>
                  <a:tcPr marL="91440" marR="91440" marT="45720" marB="45720" anchor="ctr">
                    <a:solidFill>
                      <a:srgbClr val="205938"/>
                    </a:solidFill>
                  </a:tcPr>
                </a:tc>
              </a:tr>
              <a:tr h="517525">
                <a:tc>
                  <a:txBody>
                    <a:bodyPr lIns="114300" tIns="76200" rIns="114300" bIns="76200">
                      <a:noAutofit/>
                    </a:bodyPr>
                    <a:lstStyle/>
                    <a:p>
                      <a:pPr algn="l"/>
                      <a:r>
                        <a:rPr sz="1800" b="0">
                          <a:solidFill>
                            <a:srgbClr val="14281D"/>
                          </a:solidFill>
                          <a:latin typeface="Arial"/>
                          <a:ea typeface="Arial"/>
                          <a:cs typeface="Arial"/>
                        </a:rPr>
                        <a:t>Launched towns</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8</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14</a:t>
                      </a:r>
                    </a:p>
                  </a:txBody>
                  <a:tcPr marL="91440" marR="91440" marT="45720" marB="45720" anchor="ctr">
                    <a:solidFill>
                      <a:srgbClr val="FFFFFF"/>
                    </a:solidFill>
                  </a:tcPr>
                </a:tc>
              </a:tr>
              <a:tr h="517525">
                <a:tc>
                  <a:txBody>
                    <a:bodyPr lIns="114300" tIns="76200" rIns="114300" bIns="76200">
                      <a:noAutofit/>
                    </a:bodyPr>
                    <a:lstStyle/>
                    <a:p>
                      <a:pPr algn="l"/>
                      <a:r>
                        <a:rPr sz="1800" b="0">
                          <a:solidFill>
                            <a:srgbClr val="14281D"/>
                          </a:solidFill>
                          <a:latin typeface="Arial"/>
                          <a:ea typeface="Arial"/>
                          <a:cs typeface="Arial"/>
                        </a:rPr>
                        <a:t>Assumed outsourcing households</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3,049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44,015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71,683</a:t>
                      </a:r>
                    </a:p>
                  </a:txBody>
                  <a:tcPr marL="91440" marR="91440" marT="45720" marB="45720" anchor="ctr">
                    <a:solidFill>
                      <a:srgbClr val="F7F5EF"/>
                    </a:solidFill>
                  </a:tcPr>
                </a:tc>
              </a:tr>
              <a:tr h="517525">
                <a:tc>
                  <a:txBody>
                    <a:bodyPr lIns="114300" tIns="76200" rIns="114300" bIns="76200">
                      <a:noAutofit/>
                    </a:bodyPr>
                    <a:lstStyle/>
                    <a:p>
                      <a:pPr algn="l"/>
                      <a:r>
                        <a:rPr sz="1800" b="1">
                          <a:solidFill>
                            <a:srgbClr val="14281D"/>
                          </a:solidFill>
                          <a:latin typeface="Arial"/>
                          <a:ea typeface="Arial"/>
                          <a:cs typeface="Arial"/>
                        </a:rPr>
                        <a:t>Active YardMatch households</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240</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5,592</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16,570</a:t>
                      </a:r>
                    </a:p>
                  </a:txBody>
                  <a:tcPr marL="91440" marR="91440" marT="45720" marB="45720" anchor="ctr">
                    <a:solidFill>
                      <a:srgbClr val="E8EDDF"/>
                    </a:solidFill>
                  </a:tcPr>
                </a:tc>
              </a:tr>
              <a:tr h="517525">
                <a:tc>
                  <a:txBody>
                    <a:bodyPr lIns="114300" tIns="76200" rIns="114300" bIns="76200">
                      <a:noAutofit/>
                    </a:bodyPr>
                    <a:lstStyle/>
                    <a:p>
                      <a:pPr algn="l"/>
                      <a:r>
                        <a:rPr sz="1800" b="0">
                          <a:solidFill>
                            <a:srgbClr val="14281D"/>
                          </a:solidFill>
                          <a:latin typeface="Arial"/>
                          <a:ea typeface="Arial"/>
                          <a:cs typeface="Arial"/>
                        </a:rPr>
                        <a:t>Qualified household capacity</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5,920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18,600</a:t>
                      </a:r>
                    </a:p>
                  </a:txBody>
                  <a:tcPr marL="91440" marR="91440" marT="45720" marB="45720" anchor="ctr">
                    <a:solidFill>
                      <a:srgbClr val="F7F5EF"/>
                    </a:solidFill>
                  </a:tcPr>
                </a:tc>
              </a:tr>
              <a:tr h="517525">
                <a:tc>
                  <a:txBody>
                    <a:bodyPr lIns="114300" tIns="76200" rIns="114300" bIns="76200">
                      <a:noAutofit/>
                    </a:bodyPr>
                    <a:lstStyle/>
                    <a:p>
                      <a:pPr algn="l"/>
                      <a:r>
                        <a:rPr sz="1800" b="0">
                          <a:solidFill>
                            <a:srgbClr val="14281D"/>
                          </a:solidFill>
                          <a:latin typeface="Arial"/>
                          <a:ea typeface="Arial"/>
                          <a:cs typeface="Arial"/>
                        </a:rPr>
                        <a:t>Local launch + annual coverage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$18,000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$109,273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$163,585</a:t>
                      </a:r>
                    </a:p>
                  </a:txBody>
                  <a:tcPr marL="91440" marR="91440" marT="45720" marB="45720" anchor="ctr">
                    <a:solidFill>
                      <a:srgbClr val="FFFFFF"/>
                    </a:solidFill>
                  </a:tcPr>
                </a:tc>
              </a:tr>
            </a:tbl>
          </a:graphicData>
        </a:graphic>
      </p:graphicFrame>
      <p:sp>
        <p:nvSpPr>
          <p:cNvPr id="6" name="215,396 Census households across 14 towns support ">
            <a:extLst xmlns:a="http://schemas.openxmlformats.org/drawingml/2006/main">
              <a:ext uri="{FF2B5EF4-FFF2-40B4-BE49-F238E27FC236}">
                <a16:creationId xmlns:a16="http://schemas.microsoft.com/office/drawing/2014/main" id="{712C7E04-F498-44C8-9C97-AB6CA2E52AA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215,396 Census households across 14 towns support an assumed 71,683-household outsourcing pool. The base captures 23% as active customers by 2033. No unnamed national expansion is included.</a:t>
            </a:r>
          </a:p>
        </p:txBody>
      </p:sp>
    </p:spTree>
    <p:extLst>
      <p:ext uri="{BB962C8B-B14F-4D97-AF65-F5344CB8AC3E}">
        <p14:creationId xmlns:p14="http://schemas.microsoft.com/office/powerpoint/2010/main" val="1132100552"/>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86A2803C-E58E-4DC2-B608-38B119BC774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8C2582A9-6CC1-46DC-9D88-2AF9C03B03B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E59F4F6F-70D5-4CCA-85A7-E9923F2AAC8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CAE49CA8-A40B-47B0-BA47-28409C3E191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sp>
        <p:nvSpPr>
          <p:cNvPr id="5" name="1. Concentrated provider launch">
            <a:extLst xmlns:a="http://schemas.openxmlformats.org/drawingml/2006/main">
              <a:ext uri="{FF2B5EF4-FFF2-40B4-BE49-F238E27FC236}">
                <a16:creationId xmlns:a16="http://schemas.microsoft.com/office/drawing/2014/main" id="{C9E7F5B7-A6E8-46DE-AAEA-57C26A925372}"/>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C1F26269-C119-46EA-AE7A-9DAD61CEFED7}"/>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D766BD0B-76C6-4B8C-BC10-A0EB69263BFD}"/>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A0D789AA-DCFC-4A22-AA8A-21B7288F9F3E}"/>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6C8EB91C-EBCC-4185-88D3-A71957EBB595}"/>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C49811C1-E4EF-48BB-BE78-277323CB8E99}"/>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10E3A2AE-33C6-4D1D-9FD3-B0238A7874B2}"/>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EC6BB966-7690-4DA6-868D-29A6311F4574}"/>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661663545"/>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12DAA083-1FE6-4A28-BD81-563FBE42B29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CE1EF55F-2A09-4544-AA60-C15658AA9CA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2EB94C8D-E1D8-42CD-B672-6D1E4FB377E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0EAD7F65-869A-4F16-B6EC-2416D84EB11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sp>
        <p:nvSpPr>
          <p:cNvPr id="5" name="Product foundation">
            <a:extLst xmlns:a="http://schemas.openxmlformats.org/drawingml/2006/main">
              <a:ext uri="{FF2B5EF4-FFF2-40B4-BE49-F238E27FC236}">
                <a16:creationId xmlns:a16="http://schemas.microsoft.com/office/drawing/2014/main" id="{EFA8F571-4E3B-4C22-844F-9F7BD0AAD435}"/>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297492F5-AB36-40D5-B257-C9D9E3BCE772}"/>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26489B81-8F36-4095-BD1C-B561F611C00A}"/>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F0177EEE-C6A3-4616-A991-725CA6A3C14F}"/>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486A66DF-FAF5-47B6-971F-7B9EA8451ADB}"/>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8B02364F-DBD1-4D8F-BB40-F3E91990F2CB}"/>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46389B76-5B9C-497B-BD8E-F214B5B16216}"/>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773BAC3A-ECB5-4F2D-A363-33E62456F987}"/>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1619411865"/>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51B6FCA6-0519-4CBA-AB36-8BA38B74A0C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2FC5FB55-64DD-4556-826B-A20200F2C19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504F838F-9F78-4332-9C66-1397A4B7BDE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22666332-C847-4A5A-AD3D-3FB91317F8F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includes completed project fees with exi">
            <a:extLst xmlns:a="http://schemas.openxmlformats.org/drawingml/2006/main">
              <a:ext uri="{FF2B5EF4-FFF2-40B4-BE49-F238E27FC236}">
                <a16:creationId xmlns:a16="http://schemas.microsoft.com/office/drawing/2014/main" id="{D1AFE59B-370A-4A42-BE0E-742AC981244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includes completed project fees with existing providers. Core forecasts exclude optional provider products. Those expansion cases do not add extra finder fees for the same relationship.</a:t>
            </a:r>
          </a:p>
        </p:txBody>
      </p:sp>
    </p:spTree>
    <p:extLst>
      <p:ext uri="{BB962C8B-B14F-4D97-AF65-F5344CB8AC3E}">
        <p14:creationId xmlns:p14="http://schemas.microsoft.com/office/powerpoint/2010/main" val="1395545641"/>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Provider subscriptions add a software business">
            <a:extLst xmlns:a="http://schemas.openxmlformats.org/drawingml/2006/main">
              <a:ext uri="{FF2B5EF4-FFF2-40B4-BE49-F238E27FC236}">
                <a16:creationId xmlns:a16="http://schemas.microsoft.com/office/drawing/2014/main" id="{27211713-82FF-45C5-BD5D-19DC8A25032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Provider subscriptions add a software business</a:t>
            </a:r>
          </a:p>
        </p:txBody>
      </p:sp>
      <p:sp>
        <p:nvSpPr>
          <p:cNvPr id="2" name="Proposed monthly prices for optional features. Tra">
            <a:extLst xmlns:a="http://schemas.openxmlformats.org/drawingml/2006/main">
              <a:ext uri="{FF2B5EF4-FFF2-40B4-BE49-F238E27FC236}">
                <a16:creationId xmlns:a16="http://schemas.microsoft.com/office/drawing/2014/main" id="{3FDE4982-8C9A-4F5B-BF9C-30119555056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monthly prices for optional features. Transaction fees still apply.</a:t>
            </a:r>
          </a:p>
        </p:txBody>
      </p:sp>
      <p:sp>
        <p:nvSpPr>
          <p:cNvPr id="3" name="YardMatch">
            <a:extLst xmlns:a="http://schemas.openxmlformats.org/drawingml/2006/main">
              <a:ext uri="{FF2B5EF4-FFF2-40B4-BE49-F238E27FC236}">
                <a16:creationId xmlns:a16="http://schemas.microsoft.com/office/drawing/2014/main" id="{3B0B1E15-2F77-4BFA-B2DB-8329419AA08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9E0B3F9A-DD12-4698-BEC6-DB0040CC3A3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1" name=""/>
          <p:cNvGraphicFramePr/>
          <p:nvPr/>
        </p:nvGraphicFramePr>
        <p:xfrm>
          <a:off xmlns:a="http://schemas.openxmlformats.org/drawingml/2006/main" x="609600" y="2343150"/>
          <a:ext xmlns:a="http://schemas.openxmlformats.org/drawingml/2006/main" cx="10972800" cy="3028950"/>
        </p:xfrm>
        <a:graphic xmlns:a="http://schemas.openxmlformats.org/drawingml/2006/main">
          <a:graphicData uri="http://schemas.openxmlformats.org/drawingml/2006/table">
            <a:tbl>
              <a:tblPr/>
              <a:tblGrid>
                <a:gridCol w="2895600"/>
                <a:gridCol w="2352675"/>
                <a:gridCol w="5724525"/>
              </a:tblGrid>
              <a:tr h="757238">
                <a:tc>
                  <a:txBody>
                    <a:bodyPr lIns="114300" tIns="76200" rIns="114300" bIns="76200">
                      <a:noAutofit/>
                    </a:bodyPr>
                    <a:lstStyle/>
                    <a:p>
                      <a:pPr algn="l"/>
                      <a:r>
                        <a:rPr sz="1875" b="1">
                          <a:solidFill>
                            <a:srgbClr val="FFFFFF"/>
                          </a:solidFill>
                          <a:latin typeface="Arial"/>
                          <a:ea typeface="Arial"/>
                          <a:cs typeface="Arial"/>
                        </a:rPr>
                        <a:t>Plan</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price</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Reason to pay</a:t>
                      </a:r>
                    </a:p>
                  </a:txBody>
                  <a:tcPr marL="91440" marR="91440" marT="45720" marB="45720" anchor="ctr">
                    <a:solidFill>
                      <a:srgbClr val="205938"/>
                    </a:solidFill>
                  </a:tcPr>
                </a:tc>
              </a:tr>
              <a:tr h="757238">
                <a:tc>
                  <a:txBody>
                    <a:bodyPr lIns="114300" tIns="76200" rIns="114300" bIns="76200">
                      <a:noAutofit/>
                    </a:bodyPr>
                    <a:lstStyle/>
                    <a:p>
                      <a:pPr algn="l"/>
                      <a:r>
                        <a:rPr sz="1875" b="0">
                          <a:solidFill>
                            <a:srgbClr val="14281D"/>
                          </a:solidFill>
                          <a:latin typeface="Arial"/>
                          <a:ea typeface="Arial"/>
                          <a:cs typeface="Arial"/>
                        </a:rPr>
                        <a:t>Core marketplace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 subscription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Booking, job details, crew assignments and essential communication</a:t>
                      </a:r>
                    </a:p>
                  </a:txBody>
                  <a:tcPr marL="91440" marR="91440" marT="45720" marB="45720" anchor="ctr">
                    <a:solidFill>
                      <a:srgbClr val="FFFFFF"/>
                    </a:solidFill>
                  </a:tcPr>
                </a:tc>
              </a:tr>
              <a:tr h="757238">
                <a:tc>
                  <a:txBody>
                    <a:bodyPr lIns="114300" tIns="76200" rIns="114300" bIns="76200">
                      <a:noAutofit/>
                    </a:bodyPr>
                    <a:lstStyle/>
                    <a:p>
                      <a:pPr algn="l"/>
                      <a:r>
                        <a:rPr sz="1875" b="0">
                          <a:solidFill>
                            <a:srgbClr val="14281D"/>
                          </a:solidFill>
                          <a:latin typeface="Arial"/>
                          <a:ea typeface="Arial"/>
                          <a:cs typeface="Arial"/>
                        </a:rPr>
                        <a:t>Pro</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$49 / month</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Job margin reports, quote follow-ups and advanced business reporting</a:t>
                      </a:r>
                    </a:p>
                  </a:txBody>
                  <a:tcPr marL="91440" marR="91440" marT="45720" marB="45720" anchor="ctr">
                    <a:solidFill>
                      <a:srgbClr val="F7F5EF"/>
                    </a:solidFill>
                  </a:tcPr>
                </a:tc>
              </a:tr>
              <a:tr h="757238">
                <a:tc>
                  <a:txBody>
                    <a:bodyPr lIns="114300" tIns="76200" rIns="114300" bIns="76200">
                      <a:noAutofit/>
                    </a:bodyPr>
                    <a:lstStyle/>
                    <a:p>
                      <a:pPr algn="l"/>
                      <a:r>
                        <a:rPr sz="1875" b="0">
                          <a:solidFill>
                            <a:srgbClr val="14281D"/>
                          </a:solidFill>
                          <a:latin typeface="Arial"/>
                          <a:ea typeface="Arial"/>
                          <a:cs typeface="Arial"/>
                        </a:rPr>
                        <a:t>Teams, including Pro</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$99 / month</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Timesheet approvals / exports, labor budgets and crew utilization</a:t>
                      </a:r>
                    </a:p>
                  </a:txBody>
                  <a:tcPr marL="91440" marR="91440" marT="45720" marB="45720" anchor="ctr">
                    <a:solidFill>
                      <a:srgbClr val="FFFFFF"/>
                    </a:solidFill>
                  </a:tcPr>
                </a:tc>
              </a:tr>
            </a:tbl>
          </a:graphicData>
        </a:graphic>
      </p:graphicFrame>
      <p:sp>
        <p:nvSpPr>
          <p:cNvPr id="6" name="Pro and Teams are mutually exclusive. Core service">
            <a:extLst xmlns:a="http://schemas.openxmlformats.org/drawingml/2006/main">
              <a:ext uri="{FF2B5EF4-FFF2-40B4-BE49-F238E27FC236}">
                <a16:creationId xmlns:a16="http://schemas.microsoft.com/office/drawing/2014/main" id="{8DF6DA7B-374F-488D-A27A-C369127E2AF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Pro and Teams are mutually exclusive. Core service delivery remains accessible. The optional model allows nine paid months per year and makes no assumed retention or customer-acquisition improvement.</a:t>
            </a:r>
          </a:p>
        </p:txBody>
      </p:sp>
    </p:spTree>
    <p:extLst>
      <p:ext uri="{BB962C8B-B14F-4D97-AF65-F5344CB8AC3E}">
        <p14:creationId xmlns:p14="http://schemas.microsoft.com/office/powerpoint/2010/main" val="191017585"/>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Crew tools have a business buyer">
            <a:extLst xmlns:a="http://schemas.openxmlformats.org/drawingml/2006/main">
              <a:ext uri="{FF2B5EF4-FFF2-40B4-BE49-F238E27FC236}">
                <a16:creationId xmlns:a16="http://schemas.microsoft.com/office/drawing/2014/main" id="{10EF5D8F-40E3-4492-AD24-9FF4E05095D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Crew tools have a business buyer</a:t>
            </a:r>
          </a:p>
        </p:txBody>
      </p:sp>
      <p:sp>
        <p:nvSpPr>
          <p:cNvPr id="2" name="Landscaping businesses pay for advanced team tools">
            <a:extLst xmlns:a="http://schemas.openxmlformats.org/drawingml/2006/main">
              <a:ext uri="{FF2B5EF4-FFF2-40B4-BE49-F238E27FC236}">
                <a16:creationId xmlns:a16="http://schemas.microsoft.com/office/drawing/2014/main" id="{EEB61AC6-68AA-40CA-9C78-C6222D23BF5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Landscaping businesses pay for advanced team tools. Individual crew members pay $0.</a:t>
            </a:r>
          </a:p>
        </p:txBody>
      </p:sp>
      <p:sp>
        <p:nvSpPr>
          <p:cNvPr id="3" name="YardMatch">
            <a:extLst xmlns:a="http://schemas.openxmlformats.org/drawingml/2006/main">
              <a:ext uri="{FF2B5EF4-FFF2-40B4-BE49-F238E27FC236}">
                <a16:creationId xmlns:a16="http://schemas.microsoft.com/office/drawing/2014/main" id="{7A51F4AF-FC22-4082-BE8F-8973F0D4E16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B7B673A2-1C9A-4163-8B3A-24658FDE65B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sp>
        <p:nvSpPr>
          <p:cNvPr id="5" name="Value for the business owner">
            <a:extLst xmlns:a="http://schemas.openxmlformats.org/drawingml/2006/main">
              <a:ext uri="{FF2B5EF4-FFF2-40B4-BE49-F238E27FC236}">
                <a16:creationId xmlns:a16="http://schemas.microsoft.com/office/drawing/2014/main" id="{64D9CA3E-4654-4D81-B2E5-1F2FE19472BF}"/>
              </a:ext>
            </a:extLst>
          </p:cNvPr>
          <p:cNvSpPr>
            <a:spLocks xmlns:a="http://schemas.openxmlformats.org/drawingml/2006/main" noGrp="1"/>
          </p:cNvSpPr>
          <p:nvPr/>
        </p:nvSpPr>
        <p:spPr>
          <a:xfrm xmlns:a="http://schemas.openxmlformats.org/drawingml/2006/main">
            <a:off x="6286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Value for the business owner</a:t>
            </a:r>
          </a:p>
        </p:txBody>
      </p:sp>
      <p:sp>
        <p:nvSpPr>
          <p:cNvPr id="6" name="Connect approved time to labor budgets. Compare cr">
            <a:extLst xmlns:a="http://schemas.openxmlformats.org/drawingml/2006/main">
              <a:ext uri="{FF2B5EF4-FFF2-40B4-BE49-F238E27FC236}">
                <a16:creationId xmlns:a16="http://schemas.microsoft.com/office/drawing/2014/main" id="{FD7A2A60-EFDA-44C8-8473-150B80D1727A}"/>
              </a:ext>
            </a:extLst>
          </p:cNvPr>
          <p:cNvSpPr>
            <a:spLocks xmlns:a="http://schemas.openxmlformats.org/drawingml/2006/main" noGrp="1"/>
          </p:cNvSpPr>
          <p:nvPr/>
        </p:nvSpPr>
        <p:spPr>
          <a:xfrm xmlns:a="http://schemas.openxmlformats.org/drawingml/2006/main">
            <a:off x="6286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Connect approved time to labor budgets. Compare crew utilization and job margin. Export records to existing payroll software.</a:t>
            </a:r>
          </a:p>
        </p:txBody>
      </p:sp>
      <p:sp>
        <p:nvSpPr>
          <p:cNvPr id="7" name="Access for the crew member">
            <a:extLst xmlns:a="http://schemas.openxmlformats.org/drawingml/2006/main">
              <a:ext uri="{FF2B5EF4-FFF2-40B4-BE49-F238E27FC236}">
                <a16:creationId xmlns:a16="http://schemas.microsoft.com/office/drawing/2014/main" id="{982A797E-FF53-4DB5-BB79-FE6B9DDB05B8}"/>
              </a:ext>
            </a:extLst>
          </p:cNvPr>
          <p:cNvSpPr>
            <a:spLocks xmlns:a="http://schemas.openxmlformats.org/drawingml/2006/main" noGrp="1"/>
          </p:cNvSpPr>
          <p:nvPr/>
        </p:nvSpPr>
        <p:spPr>
          <a:xfrm xmlns:a="http://schemas.openxmlformats.org/drawingml/2006/main">
            <a:off x="64198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Access for the crew member</a:t>
            </a:r>
          </a:p>
        </p:txBody>
      </p:sp>
      <p:sp>
        <p:nvSpPr>
          <p:cNvPr id="8" name="View assignments, communicate about the job and su">
            <a:extLst xmlns:a="http://schemas.openxmlformats.org/drawingml/2006/main">
              <a:ext uri="{FF2B5EF4-FFF2-40B4-BE49-F238E27FC236}">
                <a16:creationId xmlns:a16="http://schemas.microsoft.com/office/drawing/2014/main" id="{ABF8E8C3-2BF2-41E3-A252-238C9850579F}"/>
              </a:ext>
            </a:extLst>
          </p:cNvPr>
          <p:cNvSpPr>
            <a:spLocks xmlns:a="http://schemas.openxmlformats.org/drawingml/2006/main" noGrp="1"/>
          </p:cNvSpPr>
          <p:nvPr/>
        </p:nvSpPr>
        <p:spPr>
          <a:xfrm xmlns:a="http://schemas.openxmlformats.org/drawingml/2006/main">
            <a:off x="64198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View assignments, communicate about the job and submit essential service records through the core product.</a:t>
            </a:r>
          </a:p>
        </p:txBody>
      </p:sp>
      <p:sp>
        <p:nvSpPr>
          <p:cNvPr id="9" name="A $99 Teams plan includes the $49 Pro features">
            <a:extLst xmlns:a="http://schemas.openxmlformats.org/drawingml/2006/main">
              <a:ext uri="{FF2B5EF4-FFF2-40B4-BE49-F238E27FC236}">
                <a16:creationId xmlns:a16="http://schemas.microsoft.com/office/drawing/2014/main" id="{35DC74A8-BFAE-4A0B-821F-1C91C481CE63}"/>
              </a:ext>
            </a:extLst>
          </p:cNvPr>
          <p:cNvSpPr>
            <a:spLocks xmlns:a="http://schemas.openxmlformats.org/drawingml/2006/main" noGrp="1"/>
          </p:cNvSpPr>
          <p:nvPr/>
        </p:nvSpPr>
        <p:spPr>
          <a:xfrm xmlns:a="http://schemas.openxmlformats.org/drawingml/2006/main">
            <a:off x="628650" y="469582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A $99 Teams plan includes the $49 Pro features</a:t>
            </a:r>
          </a:p>
        </p:txBody>
      </p:sp>
      <p:sp>
        <p:nvSpPr>
          <p:cNvPr id="10" name="Later options include employer-funded recruiting o">
            <a:extLst xmlns:a="http://schemas.openxmlformats.org/drawingml/2006/main">
              <a:ext uri="{FF2B5EF4-FFF2-40B4-BE49-F238E27FC236}">
                <a16:creationId xmlns:a16="http://schemas.microsoft.com/office/drawing/2014/main" id="{7BD8CCA2-7304-4BB8-A18A-D5264F1B1BED}"/>
              </a:ext>
            </a:extLst>
          </p:cNvPr>
          <p:cNvSpPr>
            <a:spLocks xmlns:a="http://schemas.openxmlformats.org/drawingml/2006/main" noGrp="1"/>
          </p:cNvSpPr>
          <p:nvPr/>
        </p:nvSpPr>
        <p:spPr>
          <a:xfrm xmlns:a="http://schemas.openxmlformats.org/drawingml/2006/main">
            <a:off x="628650" y="523875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Later options include employer-funded recruiting or optional training partnerships. Neither contributes revenue to this forecast.</a:t>
            </a:r>
          </a:p>
        </p:txBody>
      </p:sp>
      <p:sp>
        <p:nvSpPr>
          <p:cNvPr id="11" name="Basic coordination supports completion and retenti">
            <a:extLst xmlns:a="http://schemas.openxmlformats.org/drawingml/2006/main">
              <a:ext uri="{FF2B5EF4-FFF2-40B4-BE49-F238E27FC236}">
                <a16:creationId xmlns:a16="http://schemas.microsoft.com/office/drawing/2014/main" id="{7A5EA561-B835-4022-AC48-BFAEE43CE47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Basic coordination supports completion and retention. Charging workers to access required job tools would add adoption friction without a clear benefit.</a:t>
            </a:r>
          </a:p>
        </p:txBody>
      </p:sp>
    </p:spTree>
    <p:extLst>
      <p:ext uri="{BB962C8B-B14F-4D97-AF65-F5344CB8AC3E}">
        <p14:creationId xmlns:p14="http://schemas.microsoft.com/office/powerpoint/2010/main" val="1744103038"/>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Sponsored visibility can be a controlled pilot">
            <a:extLst xmlns:a="http://schemas.openxmlformats.org/drawingml/2006/main">
              <a:ext uri="{FF2B5EF4-FFF2-40B4-BE49-F238E27FC236}">
                <a16:creationId xmlns:a16="http://schemas.microsoft.com/office/drawing/2014/main" id="{23E2B6FD-505F-4CDB-B5B0-46565E52269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Sponsored visibility can be a controlled pilot</a:t>
            </a:r>
          </a:p>
        </p:txBody>
      </p:sp>
      <p:sp>
        <p:nvSpPr>
          <p:cNvPr id="2" name="Proposed fee: $15 extra after a new relationship c">
            <a:extLst xmlns:a="http://schemas.openxmlformats.org/drawingml/2006/main">
              <a:ext uri="{FF2B5EF4-FFF2-40B4-BE49-F238E27FC236}">
                <a16:creationId xmlns:a16="http://schemas.microsoft.com/office/drawing/2014/main" id="{B5C8CFAB-6E19-41EA-8CD6-4B014A1DB45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fee: $15 extra after a new relationship completes a paid first job of $150 or more.</a:t>
            </a:r>
          </a:p>
        </p:txBody>
      </p:sp>
      <p:sp>
        <p:nvSpPr>
          <p:cNvPr id="3" name="YardMatch">
            <a:extLst xmlns:a="http://schemas.openxmlformats.org/drawingml/2006/main">
              <a:ext uri="{FF2B5EF4-FFF2-40B4-BE49-F238E27FC236}">
                <a16:creationId xmlns:a16="http://schemas.microsoft.com/office/drawing/2014/main" id="{6B349ED0-1347-49DB-9920-B1E4A2B4ED6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9501F84D-2243-422E-80DB-EE57E96B1D8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graphicFrame>
        <p:nvGraphicFramePr>
          <p:cNvPr id="11" name=""/>
          <p:cNvGraphicFramePr/>
          <p:nvPr/>
        </p:nvGraphicFramePr>
        <p:xfrm>
          <a:off xmlns:a="http://schemas.openxmlformats.org/drawingml/2006/main" x="609600" y="2343150"/>
          <a:ext xmlns:a="http://schemas.openxmlformats.org/drawingml/2006/main" cx="10972800" cy="3057525"/>
        </p:xfrm>
        <a:graphic xmlns:a="http://schemas.openxmlformats.org/drawingml/2006/main">
          <a:graphicData uri="http://schemas.openxmlformats.org/drawingml/2006/table">
            <a:tbl>
              <a:tblPr/>
              <a:tblGrid>
                <a:gridCol w="4229100"/>
                <a:gridCol w="6743700"/>
              </a:tblGrid>
              <a:tr h="611505">
                <a:tc>
                  <a:txBody>
                    <a:bodyPr lIns="114300" tIns="76200" rIns="114300" bIns="76200">
                      <a:noAutofit/>
                    </a:bodyPr>
                    <a:lstStyle/>
                    <a:p>
                      <a:pPr algn="l"/>
                      <a:r>
                        <a:rPr sz="1800" b="1">
                          <a:solidFill>
                            <a:srgbClr val="FFFFFF"/>
                          </a:solidFill>
                          <a:latin typeface="Arial"/>
                          <a:ea typeface="Arial"/>
                          <a:cs typeface="Arial"/>
                        </a:rPr>
                        <a:t>Pilot rule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Customer and provider effect</a:t>
                      </a:r>
                    </a:p>
                  </a:txBody>
                  <a:tcPr marL="91440" marR="91440" marT="45720" marB="45720" anchor="ctr">
                    <a:solidFill>
                      <a:srgbClr val="205938"/>
                    </a:solidFill>
                  </a:tcPr>
                </a:tc>
              </a:tr>
              <a:tr h="611505">
                <a:tc>
                  <a:txBody>
                    <a:bodyPr lIns="114300" tIns="76200" rIns="114300" bIns="76200">
                      <a:noAutofit/>
                    </a:bodyPr>
                    <a:lstStyle/>
                    <a:p>
                      <a:pPr algn="l"/>
                      <a:r>
                        <a:rPr sz="1800" b="0">
                          <a:solidFill>
                            <a:srgbClr val="14281D"/>
                          </a:solidFill>
                          <a:latin typeface="Arial"/>
                          <a:ea typeface="Arial"/>
                          <a:cs typeface="Arial"/>
                        </a:rPr>
                        <a:t>One labeled sponsored option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More visibility within a small set of qualified backups</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Service fit, capacity and quality gates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Payment cannot qualify an unsuitable provider</a:t>
                      </a:r>
                    </a:p>
                  </a:txBody>
                  <a:tcPr marL="91440" marR="91440" marT="45720" marB="45720" anchor="ctr">
                    <a:solidFill>
                      <a:srgbClr val="F7F5EF"/>
                    </a:solidFill>
                  </a:tcPr>
                </a:tc>
              </a:tr>
              <a:tr h="611505">
                <a:tc>
                  <a:txBody>
                    <a:bodyPr lIns="114300" tIns="76200" rIns="114300" bIns="76200">
                      <a:noAutofit/>
                    </a:bodyPr>
                    <a:lstStyle/>
                    <a:p>
                      <a:pPr algn="l"/>
                      <a:r>
                        <a:rPr sz="1800" b="0">
                          <a:solidFill>
                            <a:srgbClr val="14281D"/>
                          </a:solidFill>
                          <a:latin typeface="Arial"/>
                          <a:ea typeface="Arial"/>
                          <a:cs typeface="Arial"/>
                        </a:rPr>
                        <a:t>Quality-first main recommendation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Sponsorship does not buy the main recommendation</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$150 monthly provider budget cap</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 only for an attributed, completed new relationship</a:t>
                      </a:r>
                    </a:p>
                  </a:txBody>
                  <a:tcPr marL="91440" marR="91440" marT="45720" marB="45720" anchor="ctr">
                    <a:solidFill>
                      <a:srgbClr val="F7F5EF"/>
                    </a:solidFill>
                  </a:tcPr>
                </a:tc>
              </a:tr>
            </a:tbl>
          </a:graphicData>
        </a:graphic>
      </p:graphicFrame>
      <p:sp>
        <p:nvSpPr>
          <p:cNvPr id="6" name="Fee is additional to the $45 finder fee and recurr">
            <a:extLst xmlns:a="http://schemas.openxmlformats.org/drawingml/2006/main">
              <a:ext uri="{FF2B5EF4-FFF2-40B4-BE49-F238E27FC236}">
                <a16:creationId xmlns:a16="http://schemas.microsoft.com/office/drawing/2014/main" id="{CA233D27-5902-4BEB-947E-FBF5549B9EA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Fee is additional to the $45 finder fee and recurring charges. No repeat-pair fee. Existing customers and canceled jobs are excluded. Measure incremental business with a holdout before wider rollout.</a:t>
            </a:r>
          </a:p>
        </p:txBody>
      </p:sp>
    </p:spTree>
    <p:extLst>
      <p:ext uri="{BB962C8B-B14F-4D97-AF65-F5344CB8AC3E}">
        <p14:creationId xmlns:p14="http://schemas.microsoft.com/office/powerpoint/2010/main" val="545479063"/>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Optional products need more scale to pay back">
            <a:extLst xmlns:a="http://schemas.openxmlformats.org/drawingml/2006/main">
              <a:ext uri="{FF2B5EF4-FFF2-40B4-BE49-F238E27FC236}">
                <a16:creationId xmlns:a16="http://schemas.microsoft.com/office/drawing/2014/main" id="{AD4DD93A-B5EE-49E7-A354-8D45731F220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Optional products need more scale to pay back</a:t>
            </a:r>
          </a:p>
        </p:txBody>
      </p:sp>
      <p:sp>
        <p:nvSpPr>
          <p:cNvPr id="2" name="Illustrative 2033 results using the same base hous">
            <a:extLst xmlns:a="http://schemas.openxmlformats.org/drawingml/2006/main">
              <a:ext uri="{FF2B5EF4-FFF2-40B4-BE49-F238E27FC236}">
                <a16:creationId xmlns:a16="http://schemas.microsoft.com/office/drawing/2014/main" id="{53DD3405-6DEE-49BD-836F-7BBE9273BB0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2033 results using the same base household and provider volumes. Stripe remains in place.</a:t>
            </a:r>
          </a:p>
        </p:txBody>
      </p:sp>
      <p:sp>
        <p:nvSpPr>
          <p:cNvPr id="3" name="YardMatch">
            <a:extLst xmlns:a="http://schemas.openxmlformats.org/drawingml/2006/main">
              <a:ext uri="{FF2B5EF4-FFF2-40B4-BE49-F238E27FC236}">
                <a16:creationId xmlns:a16="http://schemas.microsoft.com/office/drawing/2014/main" id="{701975D9-CEB8-41E5-BCC3-B525F827B8A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A67D295E-DC4C-4D6C-A63E-1A4C5182838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graphicFrame>
        <p:nvGraphicFramePr>
          <p:cNvPr id="11" name=""/>
          <p:cNvGraphicFramePr/>
          <p:nvPr/>
        </p:nvGraphicFramePr>
        <p:xfrm>
          <a:off xmlns:a="http://schemas.openxmlformats.org/drawingml/2006/main" x="609600" y="2343150"/>
          <a:ext xmlns:a="http://schemas.openxmlformats.org/drawingml/2006/main" cx="10972800" cy="3124200"/>
        </p:xfrm>
        <a:graphic xmlns:a="http://schemas.openxmlformats.org/drawingml/2006/main">
          <a:graphicData uri="http://schemas.openxmlformats.org/drawingml/2006/table">
            <a:tbl>
              <a:tblPr/>
              <a:tblGrid>
                <a:gridCol w="4257675"/>
                <a:gridCol w="2238375"/>
                <a:gridCol w="2238375"/>
                <a:gridCol w="2238375"/>
              </a:tblGrid>
              <a:tr h="520700">
                <a:tc>
                  <a:txBody>
                    <a:bodyPr lIns="114300" tIns="76200" rIns="114300" bIns="76200">
                      <a:noAutofit/>
                    </a:bodyPr>
                    <a:lstStyle/>
                    <a:p>
                      <a:pPr algn="l"/>
                      <a:r>
                        <a:rPr sz="1725" b="1">
                          <a:solidFill>
                            <a:srgbClr val="FFFFFF"/>
                          </a:solidFill>
                          <a:latin typeface="Arial"/>
                          <a:ea typeface="Arial"/>
                          <a:cs typeface="Arial"/>
                        </a:rPr>
                        <a:t>2033 result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Core only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Subscriptions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Sponsorship</a:t>
                      </a:r>
                    </a:p>
                  </a:txBody>
                  <a:tcPr marL="91440" marR="91440" marT="45720" marB="45720" anchor="ctr">
                    <a:solidFill>
                      <a:srgbClr val="205938"/>
                    </a:solidFill>
                  </a:tcPr>
                </a:tc>
              </a:tr>
              <a:tr h="520700">
                <a:tc>
                  <a:txBody>
                    <a:bodyPr lIns="114300" tIns="76200" rIns="114300" bIns="76200">
                      <a:noAutofit/>
                    </a:bodyPr>
                    <a:lstStyle/>
                    <a:p>
                      <a:pPr algn="l"/>
                      <a:r>
                        <a:rPr sz="1725" b="0">
                          <a:solidFill>
                            <a:srgbClr val="14281D"/>
                          </a:solidFill>
                          <a:latin typeface="Arial"/>
                          <a:ea typeface="Arial"/>
                          <a:cs typeface="Arial"/>
                        </a:rPr>
                        <a:t>Optional annual net revenue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$0.08m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$0.09m</a:t>
                      </a:r>
                    </a:p>
                  </a:txBody>
                  <a:tcPr marL="91440" marR="91440" marT="45720" marB="45720" anchor="ctr">
                    <a:solidFill>
                      <a:srgbClr val="FFFFFF"/>
                    </a:solidFill>
                  </a:tcPr>
                </a:tc>
              </a:tr>
              <a:tr h="520700">
                <a:tc>
                  <a:txBody>
                    <a:bodyPr lIns="114300" tIns="76200" rIns="114300" bIns="76200">
                      <a:noAutofit/>
                    </a:bodyPr>
                    <a:lstStyle/>
                    <a:p>
                      <a:pPr algn="l"/>
                      <a:r>
                        <a:rPr sz="1725" b="0">
                          <a:solidFill>
                            <a:srgbClr val="14281D"/>
                          </a:solidFill>
                          <a:latin typeface="Arial"/>
                          <a:ea typeface="Arial"/>
                          <a:cs typeface="Arial"/>
                        </a:rPr>
                        <a:t>Total net revenue</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$1.03m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$1.11m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$1.12m</a:t>
                      </a:r>
                    </a:p>
                  </a:txBody>
                  <a:tcPr marL="91440" marR="91440" marT="45720" marB="45720" anchor="ctr">
                    <a:solidFill>
                      <a:srgbClr val="F7F5EF"/>
                    </a:solidFill>
                  </a:tcPr>
                </a:tc>
              </a:tr>
              <a:tr h="520700">
                <a:tc>
                  <a:txBody>
                    <a:bodyPr lIns="114300" tIns="76200" rIns="114300" bIns="76200">
                      <a:noAutofit/>
                    </a:bodyPr>
                    <a:lstStyle/>
                    <a:p>
                      <a:pPr algn="l"/>
                      <a:r>
                        <a:rPr sz="1725"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($1.07)m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($1.28)m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($1.34)m</a:t>
                      </a:r>
                    </a:p>
                  </a:txBody>
                  <a:tcPr marL="91440" marR="91440" marT="45720" marB="45720" anchor="ctr">
                    <a:solidFill>
                      <a:srgbClr val="E8EDDF"/>
                    </a:solidFill>
                  </a:tcPr>
                </a:tc>
              </a:tr>
              <a:tr h="520700">
                <a:tc>
                  <a:txBody>
                    <a:bodyPr lIns="114300" tIns="76200" rIns="114300" bIns="76200">
                      <a:noAutofit/>
                    </a:bodyPr>
                    <a:lstStyle/>
                    <a:p>
                      <a:pPr algn="l"/>
                      <a:r>
                        <a:rPr sz="1725"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($1.12)m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($1.32)m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($1.38)m</a:t>
                      </a:r>
                    </a:p>
                  </a:txBody>
                  <a:tcPr marL="91440" marR="91440" marT="45720" marB="45720" anchor="ctr">
                    <a:solidFill>
                      <a:srgbClr val="E8EDDF"/>
                    </a:solidFill>
                  </a:tcPr>
                </a:tc>
              </a:tr>
              <a:tr h="520700">
                <a:tc>
                  <a:txBody>
                    <a:bodyPr lIns="114300" tIns="76200" rIns="114300" bIns="76200">
                      <a:noAutofit/>
                    </a:bodyPr>
                    <a:lstStyle/>
                    <a:p>
                      <a:pPr algn="l"/>
                      <a:r>
                        <a:rPr sz="1725"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r>
            </a:tbl>
          </a:graphicData>
        </a:graphic>
      </p:graphicFrame>
      <p:sp>
        <p:nvSpPr>
          <p:cNvPr id="6" name="Final column includes both subscriptions and spons">
            <a:extLst xmlns:a="http://schemas.openxmlformats.org/drawingml/2006/main">
              <a:ext uri="{FF2B5EF4-FFF2-40B4-BE49-F238E27FC236}">
                <a16:creationId xmlns:a16="http://schemas.microsoft.com/office/drawing/2014/main" id="{F6E2F3AE-9C99-44AE-89D7-AE413246646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Final column includes both subscriptions and sponsorship. Their combined 2033 EBITDA impact is ($261,736) after incremental costs. Early spending still increases cash needs. Adoption is unvalidated.</a:t>
            </a:r>
          </a:p>
        </p:txBody>
      </p:sp>
    </p:spTree>
    <p:extLst>
      <p:ext uri="{BB962C8B-B14F-4D97-AF65-F5344CB8AC3E}">
        <p14:creationId xmlns:p14="http://schemas.microsoft.com/office/powerpoint/2010/main" val="29415309"/>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core forecast makes the assumptions visible">
            <a:extLst xmlns:a="http://schemas.openxmlformats.org/drawingml/2006/main">
              <a:ext uri="{FF2B5EF4-FFF2-40B4-BE49-F238E27FC236}">
                <a16:creationId xmlns:a16="http://schemas.microsoft.com/office/drawing/2014/main" id="{7455DF45-481F-46F3-A8AF-00F3E8FDC75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core forecast makes the assumptions visible</a:t>
            </a:r>
          </a:p>
        </p:txBody>
      </p:sp>
      <p:sp>
        <p:nvSpPr>
          <p:cNvPr id="2" name="2027-2033 calendar years. Optional subscriptions a">
            <a:extLst xmlns:a="http://schemas.openxmlformats.org/drawingml/2006/main">
              <a:ext uri="{FF2B5EF4-FFF2-40B4-BE49-F238E27FC236}">
                <a16:creationId xmlns:a16="http://schemas.microsoft.com/office/drawing/2014/main" id="{F3D37656-B4C5-4FC3-A4E9-021D91D22A5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Optional subscriptions and sponsorship are excluded from these core cases.</a:t>
            </a:r>
          </a:p>
        </p:txBody>
      </p:sp>
      <p:sp>
        <p:nvSpPr>
          <p:cNvPr id="3" name="YardMatch">
            <a:extLst xmlns:a="http://schemas.openxmlformats.org/drawingml/2006/main">
              <a:ext uri="{FF2B5EF4-FFF2-40B4-BE49-F238E27FC236}">
                <a16:creationId xmlns:a16="http://schemas.microsoft.com/office/drawing/2014/main" id="{61BCA559-AEB0-4046-878D-17D3B83B236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3">
            <a:extLst xmlns:a="http://schemas.openxmlformats.org/drawingml/2006/main">
              <a:ext uri="{FF2B5EF4-FFF2-40B4-BE49-F238E27FC236}">
                <a16:creationId xmlns:a16="http://schemas.microsoft.com/office/drawing/2014/main" id="{350DAD99-5738-452C-AFFD-CA34D0BFB88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23</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117 / 3,750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240 / 6,324</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320 / 7,838</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Maintenance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$74 / $61</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$45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$44 / $36</a:t>
                      </a:r>
                    </a:p>
                  </a:txBody>
                  <a:tcPr marL="91440" marR="91440" marT="45720" marB="45720" anchor="ctr">
                    <a:solidFill>
                      <a:srgbClr val="F7F5EF"/>
                    </a:solidFill>
                  </a:tcPr>
                </a:tc>
              </a:tr>
            </a:tbl>
          </a:graphicData>
        </a:graphic>
      </p:graphicFrame>
      <p:sp>
        <p:nvSpPr>
          <p:cNvPr id="6" name="Service mix adds project visits. Base: 95% complet">
            <a:extLst xmlns:a="http://schemas.openxmlformats.org/drawingml/2006/main">
              <a:ext uri="{FF2B5EF4-FFF2-40B4-BE49-F238E27FC236}">
                <a16:creationId xmlns:a16="http://schemas.microsoft.com/office/drawing/2014/main" id="{E846582E-A9F8-4B6D-B705-CA159F49042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Service mix adds project visits. Base: 95% completion, eight payout-active months, 3 to 10 paid staff in the base. Downside prices are 15% higher. All cases use the recommended $45 finder fee and recurring fee plus processing.</a:t>
            </a:r>
          </a:p>
        </p:txBody>
      </p:sp>
    </p:spTree>
    <p:extLst>
      <p:ext uri="{BB962C8B-B14F-4D97-AF65-F5344CB8AC3E}">
        <p14:creationId xmlns:p14="http://schemas.microsoft.com/office/powerpoint/2010/main" val="309713254"/>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0m in 2033">
            <a:extLst xmlns:a="http://schemas.openxmlformats.org/drawingml/2006/main">
              <a:ext uri="{FF2B5EF4-FFF2-40B4-BE49-F238E27FC236}">
                <a16:creationId xmlns:a16="http://schemas.microsoft.com/office/drawing/2014/main" id="{F4CDD174-D225-49A7-8CBD-6DAC7C71C72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$1.0m in 2033</a:t>
            </a:r>
          </a:p>
        </p:txBody>
      </p:sp>
      <p:sp>
        <p:nvSpPr>
          <p:cNvPr id="2" name="Net marketplace revenue, US$ millions. Finder fees">
            <a:extLst xmlns:a="http://schemas.openxmlformats.org/drawingml/2006/main">
              <a:ext uri="{FF2B5EF4-FFF2-40B4-BE49-F238E27FC236}">
                <a16:creationId xmlns:a16="http://schemas.microsoft.com/office/drawing/2014/main" id="{6654AECD-99A6-4637-940F-6D98725E147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37E91FFC-B314-46CA-9A23-F8F856DC6CD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4">
            <a:extLst xmlns:a="http://schemas.openxmlformats.org/drawingml/2006/main">
              <a:ext uri="{FF2B5EF4-FFF2-40B4-BE49-F238E27FC236}">
                <a16:creationId xmlns:a16="http://schemas.microsoft.com/office/drawing/2014/main" id="{F70D23BD-5691-4CD8-A48A-ED5F0F9B6D4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24</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755e7646fe004687"/>
          </a:graphicData>
        </a:graphic>
      </p:graphicFrame>
      <p:sp>
        <p:nvSpPr>
          <p:cNvPr id="6" name="Base 2033: 16,570 year-end paying households, 0.24">
            <a:extLst xmlns:a="http://schemas.openxmlformats.org/drawingml/2006/main">
              <a:ext uri="{FF2B5EF4-FFF2-40B4-BE49-F238E27FC236}">
                <a16:creationId xmlns:a16="http://schemas.microsoft.com/office/drawing/2014/main" id="{43B0BDA0-2B5A-40EB-842B-059D31E05D6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16,570 year-end paying households, 0.24m paid jobs and $33.5m GMV. Revenue excludes GMV and processing passed through at cost.</a:t>
            </a:r>
          </a:p>
        </p:txBody>
      </p:sp>
    </p:spTree>
    <p:extLst>
      <p:ext uri="{BB962C8B-B14F-4D97-AF65-F5344CB8AC3E}">
        <p14:creationId xmlns:p14="http://schemas.microsoft.com/office/powerpoint/2010/main" val="962960725"/>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regional base remains loss-making">
            <a:extLst xmlns:a="http://schemas.openxmlformats.org/drawingml/2006/main">
              <a:ext uri="{FF2B5EF4-FFF2-40B4-BE49-F238E27FC236}">
                <a16:creationId xmlns:a16="http://schemas.microsoft.com/office/drawing/2014/main" id="{0C7164E8-FCBC-45B2-8A24-831EECB82BA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regional base remains loss-making</a:t>
            </a:r>
          </a:p>
        </p:txBody>
      </p:sp>
      <p:sp>
        <p:nvSpPr>
          <p:cNvPr id="2" name="US$ millions. Recommended pricing; Stripe retained">
            <a:extLst xmlns:a="http://schemas.openxmlformats.org/drawingml/2006/main">
              <a:ext uri="{FF2B5EF4-FFF2-40B4-BE49-F238E27FC236}">
                <a16:creationId xmlns:a16="http://schemas.microsoft.com/office/drawing/2014/main" id="{7681A253-69BC-4E52-9DA1-2C41C97874E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Recommended pricing; Stripe retained throughout. Growth and fee acceptance are assumptions.</a:t>
            </a:r>
          </a:p>
        </p:txBody>
      </p:sp>
      <p:sp>
        <p:nvSpPr>
          <p:cNvPr id="3" name="YardMatch">
            <a:extLst xmlns:a="http://schemas.openxmlformats.org/drawingml/2006/main">
              <a:ext uri="{FF2B5EF4-FFF2-40B4-BE49-F238E27FC236}">
                <a16:creationId xmlns:a16="http://schemas.microsoft.com/office/drawing/2014/main" id="{32651AC1-8FDB-4DD7-9530-D30B9996423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5">
            <a:extLst xmlns:a="http://schemas.openxmlformats.org/drawingml/2006/main">
              <a:ext uri="{FF2B5EF4-FFF2-40B4-BE49-F238E27FC236}">
                <a16:creationId xmlns:a16="http://schemas.microsoft.com/office/drawing/2014/main" id="{FB5352CE-9E23-4CA2-AB0B-1E77D5140CA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25</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$0.08</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$0.19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$0.36</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$0.56</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$0.80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$1.03</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$0.29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$0.76</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($1.07)</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($0.85)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($0.92)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($1.12)</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($0.92)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($1.12)</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($0.92)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($1.23)</a:t>
                      </a:r>
                    </a:p>
                  </a:txBody>
                  <a:tcPr marL="91440" marR="91440" marT="45720" marB="45720" anchor="ctr">
                    <a:solidFill>
                      <a:srgbClr val="F7F5EF"/>
                    </a:solidFill>
                  </a:tcPr>
                </a:tc>
              </a:tr>
            </a:tbl>
          </a:graphicData>
        </a:graphic>
      </p:graphicFrame>
      <p:sp>
        <p:nvSpPr>
          <p:cNvPr id="6" name="2033 net income proxy: ($1.12)m. Free cash flow: (">
            <a:extLst xmlns:a="http://schemas.openxmlformats.org/drawingml/2006/main">
              <a:ext uri="{FF2B5EF4-FFF2-40B4-BE49-F238E27FC236}">
                <a16:creationId xmlns:a16="http://schemas.microsoft.com/office/drawing/2014/main" id="{82936ABE-6FD8-45B6-AD9B-81179B6940C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proxy: ($1.12)m. Free cash flow: ($1.23)m. No positive EBITDA year appears through 2033. Staffing, acquisition and local coverage exceed contribution at this scale.</a:t>
            </a:r>
          </a:p>
        </p:txBody>
      </p:sp>
    </p:spTree>
    <p:extLst>
      <p:ext uri="{BB962C8B-B14F-4D97-AF65-F5344CB8AC3E}">
        <p14:creationId xmlns:p14="http://schemas.microsoft.com/office/powerpoint/2010/main" val="1241641665"/>
      </p:ext>
    </p:extLst>
  </p:cSld>
</p:sld>
</file>

<file path=ppt/slides/slide2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D625A256-4CC6-499A-9D3F-6ADDE75984B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latform fees. Servic">
            <a:extLst xmlns:a="http://schemas.openxmlformats.org/drawingml/2006/main">
              <a:ext uri="{FF2B5EF4-FFF2-40B4-BE49-F238E27FC236}">
                <a16:creationId xmlns:a16="http://schemas.microsoft.com/office/drawing/2014/main" id="{DF6FD082-C89F-4CA0-8605-2C3E9C36CAA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platform fees. Service prices,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52864369-E92D-452E-9DA6-22BF9AC314B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6">
            <a:extLst xmlns:a="http://schemas.openxmlformats.org/drawingml/2006/main">
              <a:ext uri="{FF2B5EF4-FFF2-40B4-BE49-F238E27FC236}">
                <a16:creationId xmlns:a16="http://schemas.microsoft.com/office/drawing/2014/main" id="{8673ADC8-A037-46B7-815E-31ACBE67C05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26</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$0.24m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$0.56m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$0.88m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($0.78)m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($0.82)m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($0.71)m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$0.40m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$1.03m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$1.67m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($0.97)m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($1.12)m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($0.95)m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r>
            </a:tbl>
          </a:graphicData>
        </a:graphic>
      </p:graphicFrame>
      <p:sp>
        <p:nvSpPr>
          <p:cNvPr id="6" name="All three named-town cases remain EBITDA-negative ">
            <a:extLst xmlns:a="http://schemas.openxmlformats.org/drawingml/2006/main">
              <a:ext uri="{FF2B5EF4-FFF2-40B4-BE49-F238E27FC236}">
                <a16:creationId xmlns:a16="http://schemas.microsoft.com/office/drawing/2014/main" id="{FDB566B9-FD71-4589-A73B-8F56BEF3A26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All three named-town cases remain EBITDA-negative through 2033. Higher adoption alone does not cover the current cost structure. Pricing, acquisition efficiency and staffing need validation.</a:t>
            </a:r>
          </a:p>
        </p:txBody>
      </p:sp>
    </p:spTree>
    <p:extLst>
      <p:ext uri="{BB962C8B-B14F-4D97-AF65-F5344CB8AC3E}">
        <p14:creationId xmlns:p14="http://schemas.microsoft.com/office/powerpoint/2010/main" val="711007409"/>
      </p:ext>
    </p:extLst>
  </p:cSld>
</p:sld>
</file>

<file path=ppt/slides/slide2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The next proof is company-level economics">
            <a:extLst xmlns:a="http://schemas.openxmlformats.org/drawingml/2006/main">
              <a:ext uri="{FF2B5EF4-FFF2-40B4-BE49-F238E27FC236}">
                <a16:creationId xmlns:a16="http://schemas.microsoft.com/office/drawing/2014/main" id="{0AB6E14F-E88D-4E23-8CFD-52A945DA2AA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next proof is company-level economics</a:t>
            </a:r>
          </a:p>
        </p:txBody>
      </p:sp>
      <p:sp>
        <p:nvSpPr>
          <p:cNvPr id="2" name="The named-town model replaces an unbounded expansi">
            <a:extLst xmlns:a="http://schemas.openxmlformats.org/drawingml/2006/main">
              <a:ext uri="{FF2B5EF4-FFF2-40B4-BE49-F238E27FC236}">
                <a16:creationId xmlns:a16="http://schemas.microsoft.com/office/drawing/2014/main" id="{1CCDAC87-D50E-4DB8-899A-EF63E67C9CF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named-town model replaces an unbounded expansion curve. It does not support the former profitability claim.</a:t>
            </a:r>
          </a:p>
        </p:txBody>
      </p:sp>
      <p:sp>
        <p:nvSpPr>
          <p:cNvPr id="3" name="YardMatch">
            <a:extLst xmlns:a="http://schemas.openxmlformats.org/drawingml/2006/main">
              <a:ext uri="{FF2B5EF4-FFF2-40B4-BE49-F238E27FC236}">
                <a16:creationId xmlns:a16="http://schemas.microsoft.com/office/drawing/2014/main" id="{F9F1F9AC-74E1-473B-BD1A-E1A40E559B3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7">
            <a:extLst xmlns:a="http://schemas.openxmlformats.org/drawingml/2006/main">
              <a:ext uri="{FF2B5EF4-FFF2-40B4-BE49-F238E27FC236}">
                <a16:creationId xmlns:a16="http://schemas.microsoft.com/office/drawing/2014/main" id="{2151A165-2092-47AA-AE92-FBC4F7494DB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27</a:t>
            </a:r>
          </a:p>
        </p:txBody>
      </p:sp>
      <p:sp>
        <p:nvSpPr>
          <p:cNvPr id="5" name="Positive repeat contribution">
            <a:extLst xmlns:a="http://schemas.openxmlformats.org/drawingml/2006/main">
              <a:ext uri="{FF2B5EF4-FFF2-40B4-BE49-F238E27FC236}">
                <a16:creationId xmlns:a16="http://schemas.microsoft.com/office/drawing/2014/main" id="{7C06813E-016D-4C70-908D-891DC6F94748}"/>
              </a:ext>
            </a:extLst>
          </p:cNvPr>
          <p:cNvSpPr>
            <a:spLocks xmlns:a="http://schemas.openxmlformats.org/drawingml/2006/main" noGrp="1"/>
          </p:cNvSpPr>
          <p:nvPr/>
        </p:nvSpPr>
        <p:spPr>
          <a:xfrm xmlns:a="http://schemas.openxmlformats.org/drawingml/2006/main">
            <a:off x="628650" y="238125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Positive repeat contribution</a:t>
            </a:r>
          </a:p>
        </p:txBody>
      </p:sp>
      <p:sp>
        <p:nvSpPr>
          <p:cNvPr id="6" name="About $2.01 per paid repeat job in 2033, before cu">
            <a:extLst xmlns:a="http://schemas.openxmlformats.org/drawingml/2006/main">
              <a:ext uri="{FF2B5EF4-FFF2-40B4-BE49-F238E27FC236}">
                <a16:creationId xmlns:a16="http://schemas.microsoft.com/office/drawing/2014/main" id="{BD4A1D81-A7AE-40E0-9F4C-C2B2756FC6D6}"/>
              </a:ext>
            </a:extLst>
          </p:cNvPr>
          <p:cNvSpPr>
            <a:spLocks xmlns:a="http://schemas.openxmlformats.org/drawingml/2006/main" noGrp="1"/>
          </p:cNvSpPr>
          <p:nvPr/>
        </p:nvSpPr>
        <p:spPr>
          <a:xfrm xmlns:a="http://schemas.openxmlformats.org/drawingml/2006/main">
            <a:off x="628650" y="290512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About $2.01 per paid repeat job in 2033, before customer acquisition and company overhead.</a:t>
            </a:r>
          </a:p>
        </p:txBody>
      </p:sp>
      <p:sp>
        <p:nvSpPr>
          <p:cNvPr id="7" name="A company-level funding gap">
            <a:extLst xmlns:a="http://schemas.openxmlformats.org/drawingml/2006/main">
              <a:ext uri="{FF2B5EF4-FFF2-40B4-BE49-F238E27FC236}">
                <a16:creationId xmlns:a16="http://schemas.microsoft.com/office/drawing/2014/main" id="{EB93E085-B73E-498E-9C02-81413D7CBDF6}"/>
              </a:ext>
            </a:extLst>
          </p:cNvPr>
          <p:cNvSpPr>
            <a:spLocks xmlns:a="http://schemas.openxmlformats.org/drawingml/2006/main" noGrp="1"/>
          </p:cNvSpPr>
          <p:nvPr/>
        </p:nvSpPr>
        <p:spPr>
          <a:xfrm xmlns:a="http://schemas.openxmlformats.org/drawingml/2006/main">
            <a:off x="6419850" y="238125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company-level funding gap</a:t>
            </a:r>
          </a:p>
        </p:txBody>
      </p:sp>
      <p:sp>
        <p:nvSpPr>
          <p:cNvPr id="8" name="$1.03m of annual revenue does not cover ten paid e">
            <a:extLst xmlns:a="http://schemas.openxmlformats.org/drawingml/2006/main">
              <a:ext uri="{FF2B5EF4-FFF2-40B4-BE49-F238E27FC236}">
                <a16:creationId xmlns:a16="http://schemas.microsoft.com/office/drawing/2014/main" id="{2F16C335-4E5E-4BEB-814E-BD6B3BB54066}"/>
              </a:ext>
            </a:extLst>
          </p:cNvPr>
          <p:cNvSpPr>
            <a:spLocks xmlns:a="http://schemas.openxmlformats.org/drawingml/2006/main" noGrp="1"/>
          </p:cNvSpPr>
          <p:nvPr/>
        </p:nvSpPr>
        <p:spPr>
          <a:xfrm xmlns:a="http://schemas.openxmlformats.org/drawingml/2006/main">
            <a:off x="6419850" y="290512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$1.03m of annual revenue does not cover ten paid employees, acquisition and regional operations. EBITDA is ($1.07)m.</a:t>
            </a:r>
          </a:p>
        </p:txBody>
      </p:sp>
      <p:sp>
        <p:nvSpPr>
          <p:cNvPr id="9" name="A pricing sensitivity">
            <a:extLst xmlns:a="http://schemas.openxmlformats.org/drawingml/2006/main">
              <a:ext uri="{FF2B5EF4-FFF2-40B4-BE49-F238E27FC236}">
                <a16:creationId xmlns:a16="http://schemas.microsoft.com/office/drawing/2014/main" id="{A0CF22B6-C446-4FFB-B7CE-A78053160602}"/>
              </a:ext>
            </a:extLst>
          </p:cNvPr>
          <p:cNvSpPr>
            <a:spLocks xmlns:a="http://schemas.openxmlformats.org/drawingml/2006/main" noGrp="1"/>
          </p:cNvSpPr>
          <p:nvPr/>
        </p:nvSpPr>
        <p:spPr>
          <a:xfrm xmlns:a="http://schemas.openxmlformats.org/drawingml/2006/main">
            <a:off x="628650" y="428625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pricing sensitivity</a:t>
            </a:r>
          </a:p>
        </p:txBody>
      </p:sp>
      <p:sp>
        <p:nvSpPr>
          <p:cNvPr id="10" name="At fixed volume and costs, the average service fee">
            <a:extLst xmlns:a="http://schemas.openxmlformats.org/drawingml/2006/main">
              <a:ext uri="{FF2B5EF4-FFF2-40B4-BE49-F238E27FC236}">
                <a16:creationId xmlns:a16="http://schemas.microsoft.com/office/drawing/2014/main" id="{18C76999-04C6-4F9A-8422-EA6D98F12297}"/>
              </a:ext>
            </a:extLst>
          </p:cNvPr>
          <p:cNvSpPr>
            <a:spLocks xmlns:a="http://schemas.openxmlformats.org/drawingml/2006/main" noGrp="1"/>
          </p:cNvSpPr>
          <p:nvPr/>
        </p:nvSpPr>
        <p:spPr>
          <a:xfrm xmlns:a="http://schemas.openxmlformats.org/drawingml/2006/main">
            <a:off x="628650" y="481012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At fixed volume and costs, the average service fee needs to rise from $3.11 to about $7.54 per paid job for EBITDA break-even.</a:t>
            </a:r>
          </a:p>
        </p:txBody>
      </p:sp>
      <p:sp>
        <p:nvSpPr>
          <p:cNvPr id="11" name="Evidence before faster expansion">
            <a:extLst xmlns:a="http://schemas.openxmlformats.org/drawingml/2006/main">
              <a:ext uri="{FF2B5EF4-FFF2-40B4-BE49-F238E27FC236}">
                <a16:creationId xmlns:a16="http://schemas.microsoft.com/office/drawing/2014/main" id="{B78071A7-E6AC-48F2-8DB5-B84D93BD7C3D}"/>
              </a:ext>
            </a:extLst>
          </p:cNvPr>
          <p:cNvSpPr>
            <a:spLocks xmlns:a="http://schemas.openxmlformats.org/drawingml/2006/main" noGrp="1"/>
          </p:cNvSpPr>
          <p:nvPr/>
        </p:nvSpPr>
        <p:spPr>
          <a:xfrm xmlns:a="http://schemas.openxmlformats.org/drawingml/2006/main">
            <a:off x="6419850" y="428625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Evidence before faster expansion</a:t>
            </a:r>
          </a:p>
        </p:txBody>
      </p:sp>
      <p:sp>
        <p:nvSpPr>
          <p:cNvPr id="12" name="Test fee acceptance, leaner staffing and paid rete">
            <a:extLst xmlns:a="http://schemas.openxmlformats.org/drawingml/2006/main">
              <a:ext uri="{FF2B5EF4-FFF2-40B4-BE49-F238E27FC236}">
                <a16:creationId xmlns:a16="http://schemas.microsoft.com/office/drawing/2014/main" id="{32AB5062-2D61-4EF3-89A6-16851537EF6D}"/>
              </a:ext>
            </a:extLst>
          </p:cNvPr>
          <p:cNvSpPr>
            <a:spLocks xmlns:a="http://schemas.openxmlformats.org/drawingml/2006/main" noGrp="1"/>
          </p:cNvSpPr>
          <p:nvPr/>
        </p:nvSpPr>
        <p:spPr>
          <a:xfrm xmlns:a="http://schemas.openxmlformats.org/drawingml/2006/main">
            <a:off x="6419850" y="481012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fee acceptance, leaner staffing and paid retention. Each new market needs its own demand forecast and launch budget.</a:t>
            </a:r>
          </a:p>
        </p:txBody>
      </p:sp>
      <p:sp>
        <p:nvSpPr>
          <p:cNvPr id="13" name="The fee sensitivity includes the small payout-cost">
            <a:extLst xmlns:a="http://schemas.openxmlformats.org/drawingml/2006/main">
              <a:ext uri="{FF2B5EF4-FFF2-40B4-BE49-F238E27FC236}">
                <a16:creationId xmlns:a16="http://schemas.microsoft.com/office/drawing/2014/main" id="{ACCAA46D-468A-4240-A253-AD8AE1D8E54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fee sensitivity includes the small payout-cost reduction from retaining a higher fee. It assumes no customer or provider response and is not a validated price.</a:t>
            </a:r>
          </a:p>
        </p:txBody>
      </p:sp>
    </p:spTree>
    <p:extLst>
      <p:ext uri="{BB962C8B-B14F-4D97-AF65-F5344CB8AC3E}">
        <p14:creationId xmlns:p14="http://schemas.microsoft.com/office/powerpoint/2010/main" val="749168281"/>
      </p:ext>
    </p:extLst>
  </p:cSld>
</p:sld>
</file>

<file path=ppt/slides/slide2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Illustrative funding for a pricing pilot">
            <a:extLst xmlns:a="http://schemas.openxmlformats.org/drawingml/2006/main">
              <a:ext uri="{FF2B5EF4-FFF2-40B4-BE49-F238E27FC236}">
                <a16:creationId xmlns:a16="http://schemas.microsoft.com/office/drawing/2014/main" id="{8D7E3600-F130-46FB-A788-0B047D30A09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Illustrative funding for a pricing pilot</a:t>
            </a:r>
          </a:p>
        </p:txBody>
      </p:sp>
      <p:sp>
        <p:nvSpPr>
          <p:cNvPr id="2" name="The two-year base budget tests commercial adoption">
            <a:extLst xmlns:a="http://schemas.openxmlformats.org/drawingml/2006/main">
              <a:ext uri="{FF2B5EF4-FFF2-40B4-BE49-F238E27FC236}">
                <a16:creationId xmlns:a16="http://schemas.microsoft.com/office/drawing/2014/main" id="{1D2EDABC-6917-411C-A21B-591D5A0011F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F3F5010B-9322-46A8-84D3-C5C43FAC311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8">
            <a:extLst xmlns:a="http://schemas.openxmlformats.org/drawingml/2006/main">
              <a:ext uri="{FF2B5EF4-FFF2-40B4-BE49-F238E27FC236}">
                <a16:creationId xmlns:a16="http://schemas.microsoft.com/office/drawing/2014/main" id="{CE31E7C7-E281-4D75-9FFB-348EA012719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28</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$720,000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and provider acquisition</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$69,451</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Corporate + local operating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$195,420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$46,744</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($81,887)</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$949,729</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$525,271</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CA7DA6CF-85AA-4613-8131-FA5CC99EE980}"/>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Validate fee acceptance and retention before finan">
            <a:extLst xmlns:a="http://schemas.openxmlformats.org/drawingml/2006/main">
              <a:ext uri="{FF2B5EF4-FFF2-40B4-BE49-F238E27FC236}">
                <a16:creationId xmlns:a16="http://schemas.microsoft.com/office/drawing/2014/main" id="{2BBAF0C7-6563-4063-A7A4-7E9701A30027}"/>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Validate fee acceptance and retention before financing expansion.</a:t>
            </a:r>
          </a:p>
        </p:txBody>
      </p:sp>
      <p:sp>
        <p:nvSpPr>
          <p:cNvPr id="8" name="$5.39m">
            <a:extLst xmlns:a="http://schemas.openxmlformats.org/drawingml/2006/main">
              <a:ext uri="{FF2B5EF4-FFF2-40B4-BE49-F238E27FC236}">
                <a16:creationId xmlns:a16="http://schemas.microsoft.com/office/drawing/2014/main" id="{A88BBCF8-6FA2-4B68-BE9C-44621BEFFFD5}"/>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$5.39m</a:t>
            </a:r>
          </a:p>
        </p:txBody>
      </p:sp>
      <p:sp>
        <p:nvSpPr>
          <p:cNvPr id="9" name="Peak cumulative cash deficit before financing unde">
            <a:extLst xmlns:a="http://schemas.openxmlformats.org/drawingml/2006/main">
              <a:ext uri="{FF2B5EF4-FFF2-40B4-BE49-F238E27FC236}">
                <a16:creationId xmlns:a16="http://schemas.microsoft.com/office/drawing/2014/main" id="{F5A255AF-1CAD-495B-817B-4E7504270555}"/>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Peak cumulative cash deficit before financing under the revised base case.</a:t>
            </a:r>
          </a:p>
        </p:txBody>
      </p:sp>
      <p:sp>
        <p:nvSpPr>
          <p:cNvPr id="10" name="Adding the $0.75m 2033 fixed-cost buffer gives $6.">
            <a:extLst xmlns:a="http://schemas.openxmlformats.org/drawingml/2006/main">
              <a:ext uri="{FF2B5EF4-FFF2-40B4-BE49-F238E27FC236}">
                <a16:creationId xmlns:a16="http://schemas.microsoft.com/office/drawing/2014/main" id="{BC8BFD08-0534-4F43-99A2-1E01A9ABC96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Adding the $0.75m 2033 fixed-cost buffer gives $6.14m, before financing fees. The $1.5m round is an initial pilot illustration; follow-on capital would be needed.</a:t>
            </a:r>
          </a:p>
        </p:txBody>
      </p:sp>
    </p:spTree>
    <p:extLst>
      <p:ext uri="{BB962C8B-B14F-4D97-AF65-F5344CB8AC3E}">
        <p14:creationId xmlns:p14="http://schemas.microsoft.com/office/powerpoint/2010/main" val="398227234"/>
      </p:ext>
    </p:extLst>
  </p:cSld>
</p:sld>
</file>

<file path=ppt/slides/slide2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wning payments does not mean free payments">
            <a:extLst xmlns:a="http://schemas.openxmlformats.org/drawingml/2006/main">
              <a:ext uri="{FF2B5EF4-FFF2-40B4-BE49-F238E27FC236}">
                <a16:creationId xmlns:a16="http://schemas.microsoft.com/office/drawing/2014/main" id="{C72FB32B-12BA-49B4-A29A-C74FC3A04B7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Owning payments does not mean free payments</a:t>
            </a:r>
          </a:p>
        </p:txBody>
      </p:sp>
      <p:sp>
        <p:nvSpPr>
          <p:cNvPr id="2" name="An internal transaction engine can replace softwar">
            <a:extLst xmlns:a="http://schemas.openxmlformats.org/drawingml/2006/main">
              <a:ext uri="{FF2B5EF4-FFF2-40B4-BE49-F238E27FC236}">
                <a16:creationId xmlns:a16="http://schemas.microsoft.com/office/drawing/2014/main" id="{1FB7067F-5707-4D5F-B494-6B0CF60149F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internal transaction engine can replace software layers. Banks and payment networks still carry costs.</a:t>
            </a:r>
          </a:p>
        </p:txBody>
      </p:sp>
      <p:sp>
        <p:nvSpPr>
          <p:cNvPr id="3" name="YardMatch">
            <a:extLst xmlns:a="http://schemas.openxmlformats.org/drawingml/2006/main">
              <a:ext uri="{FF2B5EF4-FFF2-40B4-BE49-F238E27FC236}">
                <a16:creationId xmlns:a16="http://schemas.microsoft.com/office/drawing/2014/main" id="{ACD5A8DB-D07B-4A56-993D-63D4E3DA51E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9">
            <a:extLst xmlns:a="http://schemas.openxmlformats.org/drawingml/2006/main">
              <a:ext uri="{FF2B5EF4-FFF2-40B4-BE49-F238E27FC236}">
                <a16:creationId xmlns:a16="http://schemas.microsoft.com/office/drawing/2014/main" id="{D8221C15-DFA9-4FD3-B9AF-4450F4BBEFC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29</a:t>
            </a:r>
          </a:p>
        </p:txBody>
      </p:sp>
      <p:graphicFrame>
        <p:nvGraphicFramePr>
          <p:cNvPr id="12" name=""/>
          <p:cNvGraphicFramePr/>
          <p:nvPr/>
        </p:nvGraphicFramePr>
        <p:xfrm>
          <a:off xmlns:a="http://schemas.openxmlformats.org/drawingml/2006/main" x="609600" y="2362200"/>
          <a:ext xmlns:a="http://schemas.openxmlformats.org/drawingml/2006/main" cx="10972800" cy="3009900"/>
        </p:xfrm>
        <a:graphic xmlns:a="http://schemas.openxmlformats.org/drawingml/2006/main">
          <a:graphicData uri="http://schemas.openxmlformats.org/drawingml/2006/table">
            <a:tbl>
              <a:tblPr/>
              <a:tblGrid>
                <a:gridCol w="4191000"/>
                <a:gridCol w="6781800"/>
              </a:tblGrid>
              <a:tr h="601980">
                <a:tc>
                  <a:txBody>
                    <a:bodyPr lIns="114300" tIns="76200" rIns="114300" bIns="76200">
                      <a:noAutofit/>
                    </a:bodyPr>
                    <a:lstStyle/>
                    <a:p>
                      <a:pPr algn="l"/>
                      <a:r>
                        <a:rPr sz="1800" b="1">
                          <a:solidFill>
                            <a:srgbClr val="FFFFFF"/>
                          </a:solidFill>
                          <a:latin typeface="Arial"/>
                          <a:ea typeface="Arial"/>
                          <a:cs typeface="Arial"/>
                        </a:rPr>
                        <a:t>Cost category</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What a build can change</a:t>
                      </a:r>
                    </a:p>
                  </a:txBody>
                  <a:tcPr marL="91440" marR="91440" marT="45720" marB="45720" anchor="ctr">
                    <a:solidFill>
                      <a:srgbClr val="205938"/>
                    </a:solidFill>
                  </a:tcPr>
                </a:tc>
              </a:tr>
              <a:tr h="601980">
                <a:tc>
                  <a:txBody>
                    <a:bodyPr lIns="114300" tIns="76200" rIns="114300" bIns="76200">
                      <a:noAutofit/>
                    </a:bodyPr>
                    <a:lstStyle/>
                    <a:p>
                      <a:pPr algn="l"/>
                      <a:r>
                        <a:rPr sz="1800" b="0">
                          <a:solidFill>
                            <a:srgbClr val="14281D"/>
                          </a:solidFill>
                          <a:latin typeface="Arial"/>
                          <a:ea typeface="Arial"/>
                          <a:cs typeface="Arial"/>
                        </a:rPr>
                        <a:t>Gateway, ledger and reconciliation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Own the workflow; maintain and support it</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Card networks and acquiring banks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Negotiate rates; interchange and banking costs remain</a:t>
                      </a:r>
                    </a:p>
                  </a:txBody>
                  <a:tcPr marL="91440" marR="91440" marT="45720" marB="45720" anchor="ctr">
                    <a:solidFill>
                      <a:srgbClr val="F7F5EF"/>
                    </a:solidFill>
                  </a:tcPr>
                </a:tc>
              </a:tr>
              <a:tr h="601980">
                <a:tc>
                  <a:txBody>
                    <a:bodyPr lIns="114300" tIns="76200" rIns="114300" bIns="76200">
                      <a:noAutofit/>
                    </a:bodyPr>
                    <a:lstStyle/>
                    <a:p>
                      <a:pPr algn="l"/>
                      <a:r>
                        <a:rPr sz="1800" b="0">
                          <a:solidFill>
                            <a:srgbClr val="14281D"/>
                          </a:solidFill>
                          <a:latin typeface="Arial"/>
                          <a:ea typeface="Arial"/>
                          <a:cs typeface="Arial"/>
                        </a:rPr>
                        <a:t>ACH, payouts and verification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Replace vendors; bank and rail costs remain</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Fraud, disputes and security</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Fund operations and retain risk controls</a:t>
                      </a:r>
                    </a:p>
                  </a:txBody>
                  <a:tcPr marL="91440" marR="91440" marT="45720" marB="45720" anchor="ctr">
                    <a:solidFill>
                      <a:srgbClr val="F7F5EF"/>
                    </a:solidFill>
                  </a:tcPr>
                </a:tc>
              </a:tr>
            </a:tbl>
          </a:graphicData>
        </a:graphic>
      </p:graphicFrame>
      <p:sp>
        <p:nvSpPr>
          <p:cNvPr id="6" name="Negotiate pricing before funding a replacement eng">
            <a:extLst xmlns:a="http://schemas.openxmlformats.org/drawingml/2006/main">
              <a:ext uri="{FF2B5EF4-FFF2-40B4-BE49-F238E27FC236}">
                <a16:creationId xmlns:a16="http://schemas.microsoft.com/office/drawing/2014/main" id="{B348A89B-7195-49DE-A031-2FBB0DC5261C}"/>
              </a:ext>
            </a:extLst>
          </p:cNvPr>
          <p:cNvSpPr>
            <a:spLocks xmlns:a="http://schemas.openxmlformats.org/drawingml/2006/main" noGrp="1"/>
          </p:cNvSpPr>
          <p:nvPr/>
        </p:nvSpPr>
        <p:spPr>
          <a:xfrm xmlns:a="http://schemas.openxmlformats.org/drawingml/2006/main">
            <a:off x="628650" y="55054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Negotiate pricing before funding a replacement engine</a:t>
            </a:r>
          </a:p>
        </p:txBody>
      </p:sp>
      <p:sp>
        <p:nvSpPr>
          <p:cNvPr id="7" name="Base forecast keeps Stripe. Build options use repl">
            <a:extLst xmlns:a="http://schemas.openxmlformats.org/drawingml/2006/main">
              <a:ext uri="{FF2B5EF4-FFF2-40B4-BE49-F238E27FC236}">
                <a16:creationId xmlns:a16="http://schemas.microsoft.com/office/drawing/2014/main" id="{7E2D4718-A0E7-44B6-96F8-20884C10CAE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forecast keeps Stripe. Build options use replacement processing rates, development cost and incremental annual operations. No zero-cost payments assumption is used.</a:t>
            </a:r>
          </a:p>
        </p:txBody>
      </p:sp>
    </p:spTree>
    <p:extLst>
      <p:ext uri="{BB962C8B-B14F-4D97-AF65-F5344CB8AC3E}">
        <p14:creationId xmlns:p14="http://schemas.microsoft.com/office/powerpoint/2010/main" val="1810561185"/>
      </p:ext>
    </p:extLst>
  </p:cSld>
</p:sld>
</file>

<file path=ppt/slides/slide3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ear-two or year-three build: wait for the scale">
            <a:extLst xmlns:a="http://schemas.openxmlformats.org/drawingml/2006/main">
              <a:ext uri="{FF2B5EF4-FFF2-40B4-BE49-F238E27FC236}">
                <a16:creationId xmlns:a16="http://schemas.microsoft.com/office/drawing/2014/main" id="{DC7E9CF8-4621-40E1-936C-744185B8474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Year-two or year-three build: wait for the scale</a:t>
            </a:r>
          </a:p>
        </p:txBody>
      </p:sp>
      <p:sp>
        <p:nvSpPr>
          <p:cNvPr id="2" name="Same base volumes and proposed fees. Savings are m">
            <a:extLst xmlns:a="http://schemas.openxmlformats.org/drawingml/2006/main">
              <a:ext uri="{FF2B5EF4-FFF2-40B4-BE49-F238E27FC236}">
                <a16:creationId xmlns:a16="http://schemas.microsoft.com/office/drawing/2014/main" id="{4E2C6B46-635A-43CD-8E7B-344AFB1A386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Same base volumes and proposed fees. Savings are measured against continuing with Stripe.</a:t>
            </a:r>
          </a:p>
        </p:txBody>
      </p:sp>
      <p:sp>
        <p:nvSpPr>
          <p:cNvPr id="3" name="YardMatch">
            <a:extLst xmlns:a="http://schemas.openxmlformats.org/drawingml/2006/main">
              <a:ext uri="{FF2B5EF4-FFF2-40B4-BE49-F238E27FC236}">
                <a16:creationId xmlns:a16="http://schemas.microsoft.com/office/drawing/2014/main" id="{9FD50BF5-05DB-4C0C-A275-765A00FBC70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0">
            <a:extLst xmlns:a="http://schemas.openxmlformats.org/drawingml/2006/main">
              <a:ext uri="{FF2B5EF4-FFF2-40B4-BE49-F238E27FC236}">
                <a16:creationId xmlns:a16="http://schemas.microsoft.com/office/drawing/2014/main" id="{3CC8E224-5412-4607-A071-9FBD00E3499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30</a:t>
            </a:r>
          </a:p>
        </p:txBody>
      </p:sp>
      <p:graphicFrame>
        <p:nvGraphicFramePr>
          <p:cNvPr id="11" name=""/>
          <p:cNvGraphicFramePr/>
          <p:nvPr/>
        </p:nvGraphicFramePr>
        <p:xfrm>
          <a:off xmlns:a="http://schemas.openxmlformats.org/drawingml/2006/main" x="609600" y="2343150"/>
          <a:ext xmlns:a="http://schemas.openxmlformats.org/drawingml/2006/main" cx="10972800" cy="3152775"/>
        </p:xfrm>
        <a:graphic xmlns:a="http://schemas.openxmlformats.org/drawingml/2006/main">
          <a:graphicData uri="http://schemas.openxmlformats.org/drawingml/2006/table">
            <a:tbl>
              <a:tblPr/>
              <a:tblGrid>
                <a:gridCol w="5429250"/>
                <a:gridCol w="2771775"/>
                <a:gridCol w="2771775"/>
              </a:tblGrid>
              <a:tr h="525463">
                <a:tc>
                  <a:txBody>
                    <a:bodyPr lIns="114300" tIns="76200" rIns="114300" bIns="76200">
                      <a:noAutofit/>
                    </a:bodyPr>
                    <a:lstStyle/>
                    <a:p>
                      <a:pPr algn="l"/>
                      <a:r>
                        <a:rPr sz="1725" b="1">
                          <a:solidFill>
                            <a:srgbClr val="FFFFFF"/>
                          </a:solidFill>
                          <a:latin typeface="Arial"/>
                          <a:ea typeface="Arial"/>
                          <a:cs typeface="Arial"/>
                        </a:rPr>
                        <a:t>Build assumption / outcome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2028</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2029</a:t>
                      </a:r>
                    </a:p>
                  </a:txBody>
                  <a:tcPr marL="91440" marR="91440" marT="45720" marB="45720" anchor="ctr">
                    <a:solidFill>
                      <a:srgbClr val="205938"/>
                    </a:solidFill>
                  </a:tcPr>
                </a:tc>
              </a:tr>
              <a:tr h="525463">
                <a:tc>
                  <a:txBody>
                    <a:bodyPr lIns="114300" tIns="76200" rIns="114300" bIns="76200">
                      <a:noAutofit/>
                    </a:bodyPr>
                    <a:lstStyle/>
                    <a:p>
                      <a:pPr algn="l"/>
                      <a:r>
                        <a:rPr sz="1725" b="0">
                          <a:solidFill>
                            <a:srgbClr val="14281D"/>
                          </a:solidFill>
                          <a:latin typeface="Arial"/>
                          <a:ea typeface="Arial"/>
                          <a:cs typeface="Arial"/>
                        </a:rPr>
                        <a:t>Build + migration cost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Annual operations at launch</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r>
              <a:tr h="525463">
                <a:tc>
                  <a:txBody>
                    <a:bodyPr lIns="114300" tIns="76200" rIns="114300" bIns="76200">
                      <a:noAutofit/>
                    </a:bodyPr>
                    <a:lstStyle/>
                    <a:p>
                      <a:pPr algn="l"/>
                      <a:r>
                        <a:rPr sz="1725" b="0">
                          <a:solidFill>
                            <a:srgbClr val="14281D"/>
                          </a:solidFill>
                          <a:latin typeface="Arial"/>
                          <a:ea typeface="Arial"/>
                          <a:cs typeface="Arial"/>
                        </a:rPr>
                        <a:t>2033 provider processing savings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$0.19m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$0.19m</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2033 net platform benefit</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($295,547)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($285,418)</a:t>
                      </a:r>
                    </a:p>
                  </a:txBody>
                  <a:tcPr marL="91440" marR="91440" marT="45720" marB="45720" anchor="ctr">
                    <a:solidFill>
                      <a:srgbClr val="F7F5EF"/>
                    </a:solidFill>
                  </a:tcPr>
                </a:tc>
              </a:tr>
              <a:tr h="525463">
                <a:tc>
                  <a:txBody>
                    <a:bodyPr lIns="114300" tIns="76200" rIns="114300" bIns="76200">
                      <a:noAutofit/>
                    </a:bodyPr>
                    <a:lstStyle/>
                    <a:p>
                      <a:pPr algn="l"/>
                      <a:r>
                        <a:rPr sz="1725" b="1">
                          <a:solidFill>
                            <a:srgbClr val="14281D"/>
                          </a:solidFill>
                          <a:latin typeface="Arial"/>
                          <a:ea typeface="Arial"/>
                          <a:cs typeface="Arial"/>
                        </a:rPr>
                        <a:t>Cumulative platform impact to 2033</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($2,409,814)</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($2,063,853)</a:t>
                      </a:r>
                    </a:p>
                  </a:txBody>
                  <a:tcPr marL="91440" marR="91440" marT="45720" marB="45720" anchor="ctr">
                    <a:solidFill>
                      <a:srgbClr val="E8EDDF"/>
                    </a:solidFill>
                  </a:tcPr>
                </a:tc>
              </a:tr>
            </a:tbl>
          </a:graphicData>
        </a:graphic>
      </p:graphicFrame>
      <p:sp>
        <p:nvSpPr>
          <p:cNvPr id="6" name="Neither build option covers annual run costs or re">
            <a:extLst xmlns:a="http://schemas.openxmlformats.org/drawingml/2006/main">
              <a:ext uri="{FF2B5EF4-FFF2-40B4-BE49-F238E27FC236}">
                <a16:creationId xmlns:a16="http://schemas.microsoft.com/office/drawing/2014/main" id="{EED0D3FC-2B1F-494F-B0C1-4CC29005728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Neither build option covers annual run costs or recovers the investment by 2033 at the modeled regional scale. Gate a build on quoted costs and payback, not a calendar date.</a:t>
            </a:r>
          </a:p>
        </p:txBody>
      </p:sp>
    </p:spTree>
    <p:extLst>
      <p:ext uri="{BB962C8B-B14F-4D97-AF65-F5344CB8AC3E}">
        <p14:creationId xmlns:p14="http://schemas.microsoft.com/office/powerpoint/2010/main" val="6985976"/>
      </p:ext>
    </p:extLst>
  </p:cSld>
</p:sld>
</file>

<file path=ppt/slides/slide3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E5D6DAD8-A548-42FF-97F0-97E23651854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A2077297-BD0C-481C-B7A8-4EF8DFF6369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18CB42A7-AE16-4144-9772-94B6274AA9A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1">
            <a:extLst xmlns:a="http://schemas.openxmlformats.org/drawingml/2006/main">
              <a:ext uri="{FF2B5EF4-FFF2-40B4-BE49-F238E27FC236}">
                <a16:creationId xmlns:a16="http://schemas.microsoft.com/office/drawing/2014/main" id="{5C9C4B69-DABA-489C-8F53-E58AACE20C0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31</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556DABA2-8B7A-472F-9E20-ADAD3C64C27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1907768627"/>
      </p:ext>
    </p:extLst>
  </p:cSld>
</p:sld>
</file>

<file path=ppt/slides/slide3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8F2DEA53-1877-4423-91C8-716551805D9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458D9627-FBDA-40EF-B75D-B2730B3EF49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BCDB8937-BB61-42EC-9BCB-072368F2FE7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2">
            <a:extLst xmlns:a="http://schemas.openxmlformats.org/drawingml/2006/main">
              <a:ext uri="{FF2B5EF4-FFF2-40B4-BE49-F238E27FC236}">
                <a16:creationId xmlns:a16="http://schemas.microsoft.com/office/drawing/2014/main" id="{E584DD14-224B-48F1-8970-7F15B7029F3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32</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0072F0A3-A908-41E6-AD5E-53CD8F4695A1}"/>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36200BA2-23C3-43EA-B8E2-13A1FC357694}"/>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0E8AA05D-C957-49F2-83F5-075D0660CFF2}"/>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446C59F6-BBAA-4990-B79D-E5E45410422F}"/>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C66B2F7B-2D8F-4A7D-8A22-CC26ACE6CBF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150377714"/>
      </p:ext>
    </p:extLst>
  </p:cSld>
</p:sld>
</file>

<file path=ppt/slides/slide3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B675C694-3731-467E-80EB-D2BA02A6C83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6965A53E-4B04-4EE9-A53C-D75DDE26F34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2D204DE1-6BA3-4F6B-97D7-84463B5F6AC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3">
            <a:extLst xmlns:a="http://schemas.openxmlformats.org/drawingml/2006/main">
              <a:ext uri="{FF2B5EF4-FFF2-40B4-BE49-F238E27FC236}">
                <a16:creationId xmlns:a16="http://schemas.microsoft.com/office/drawing/2014/main" id="{23FC3556-F4E8-49A2-95FF-FCAC39842C7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33</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240 launch households; measure second-season paid retention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Repeat bookings persist under the proposed total fees</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Pilot CAC around $55; test a path below $50</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At least $0.50 per repeat job across the actual service mix</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Reliable service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639FC5AB-E05B-44AB-82BC-DE8BD773645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1030414215"/>
      </p:ext>
    </p:extLst>
  </p:cSld>
</p:sld>
</file>

<file path=ppt/slides/slide3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46EF0802-221A-4E9F-95BF-B426CD5FFCD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C5435638-190D-4C22-A579-F88DD36C9A6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D278E73B-863A-4AA4-A543-F8DDFC6DF3B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4">
            <a:extLst xmlns:a="http://schemas.openxmlformats.org/drawingml/2006/main">
              <a:ext uri="{FF2B5EF4-FFF2-40B4-BE49-F238E27FC236}">
                <a16:creationId xmlns:a16="http://schemas.microsoft.com/office/drawing/2014/main" id="{AA010E56-5AA6-40D7-818C-2546C609421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34</a:t>
            </a:r>
          </a:p>
        </p:txBody>
      </p:sp>
      <p:sp>
        <p:nvSpPr>
          <p:cNvPr id="5" name="Households and paid visits">
            <a:extLst xmlns:a="http://schemas.openxmlformats.org/drawingml/2006/main">
              <a:ext uri="{FF2B5EF4-FFF2-40B4-BE49-F238E27FC236}">
                <a16:creationId xmlns:a16="http://schemas.microsoft.com/office/drawing/2014/main" id="{8BDAA70E-1B07-46AE-A92B-65BC0132437C}"/>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FD8A23BC-CC4E-4E20-8483-E5AEA457AD69}"/>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base. Maintenance and separate projects then reflect capture and completion.</a:t>
            </a:r>
          </a:p>
        </p:txBody>
      </p:sp>
      <p:sp>
        <p:nvSpPr>
          <p:cNvPr id="7" name="Retained service economics">
            <a:extLst xmlns:a="http://schemas.openxmlformats.org/drawingml/2006/main">
              <a:ext uri="{FF2B5EF4-FFF2-40B4-BE49-F238E27FC236}">
                <a16:creationId xmlns:a16="http://schemas.microsoft.com/office/drawing/2014/main" id="{A4ED429B-C596-4005-9B93-AEC02DF9BF11}"/>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Retained service economics</a:t>
            </a:r>
          </a:p>
        </p:txBody>
      </p:sp>
      <p:sp>
        <p:nvSpPr>
          <p:cNvPr id="8" name="The 2031 base mix retains $2.05 per repeat job aft">
            <a:extLst xmlns:a="http://schemas.openxmlformats.org/drawingml/2006/main">
              <a:ext uri="{FF2B5EF4-FFF2-40B4-BE49-F238E27FC236}">
                <a16:creationId xmlns:a16="http://schemas.microsoft.com/office/drawing/2014/main" id="{EA13E66C-16E9-42CD-B908-CD68F0EEC02E}"/>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2031 base mix retains $2.05 per repeat job after variable costs. Processing is recovered at cost; acquisition and fixed overhead remain separate.</a:t>
            </a:r>
          </a:p>
        </p:txBody>
      </p:sp>
      <p:sp>
        <p:nvSpPr>
          <p:cNvPr id="9" name="Profit and cash">
            <a:extLst xmlns:a="http://schemas.openxmlformats.org/drawingml/2006/main">
              <a:ext uri="{FF2B5EF4-FFF2-40B4-BE49-F238E27FC236}">
                <a16:creationId xmlns:a16="http://schemas.microsoft.com/office/drawing/2014/main" id="{3A5CD2C2-8458-41CF-8B0B-37FDA0E5A0A9}"/>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B79660A0-C3A4-452D-AFC3-71A04044F159}"/>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CB68AA28-C1D6-4A32-89AE-59998BDBC2FD}"/>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147 of five-year contri">
            <a:extLst xmlns:a="http://schemas.openxmlformats.org/drawingml/2006/main">
              <a:ext uri="{FF2B5EF4-FFF2-40B4-BE49-F238E27FC236}">
                <a16:creationId xmlns:a16="http://schemas.microsoft.com/office/drawing/2014/main" id="{B9FD7EAA-19F8-4501-B19C-343364BB7EA3}"/>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$147 of five-year contribution versus $48 CAC, or 3.0x. This assumes retention and unchanged cohort economics.</a:t>
            </a:r>
          </a:p>
        </p:txBody>
      </p:sp>
    </p:spTree>
    <p:extLst>
      <p:ext uri="{BB962C8B-B14F-4D97-AF65-F5344CB8AC3E}">
        <p14:creationId xmlns:p14="http://schemas.microsoft.com/office/powerpoint/2010/main" val="1858176949"/>
      </p:ext>
    </p:extLst>
  </p:cSld>
</p:sld>
</file>

<file path=ppt/slides/slide3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1" name="Sources and basis">
            <a:extLst xmlns:a="http://schemas.openxmlformats.org/drawingml/2006/main">
              <a:ext uri="{FF2B5EF4-FFF2-40B4-BE49-F238E27FC236}">
                <a16:creationId xmlns:a16="http://schemas.microsoft.com/office/drawing/2014/main" id="{FF73A253-4563-4677-A3A4-E1328BBE37D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0, 2026. Financial projections">
            <a:extLst xmlns:a="http://schemas.openxmlformats.org/drawingml/2006/main">
              <a:ext uri="{FF2B5EF4-FFF2-40B4-BE49-F238E27FC236}">
                <a16:creationId xmlns:a16="http://schemas.microsoft.com/office/drawing/2014/main" id="{46160000-6422-46AB-B0E3-037C7865955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20,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22ABC566-24E6-4B22-B643-B8F698CC3B2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5">
            <a:extLst xmlns:a="http://schemas.openxmlformats.org/drawingml/2006/main">
              <a:ext uri="{FF2B5EF4-FFF2-40B4-BE49-F238E27FC236}">
                <a16:creationId xmlns:a16="http://schemas.microsoft.com/office/drawing/2014/main" id="{5E98590C-7DBF-4134-97D1-CC622D864D0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35</a:t>
            </a:r>
          </a:p>
        </p:txBody>
      </p:sp>
      <p:sp>
        <p:nvSpPr>
          <p:cNvPr id="5" name="Company materials">
            <a:extLst xmlns:a="http://schemas.openxmlformats.org/drawingml/2006/main">
              <a:ext uri="{FF2B5EF4-FFF2-40B4-BE49-F238E27FC236}">
                <a16:creationId xmlns:a16="http://schemas.microsoft.com/office/drawing/2014/main" id="{6F4B99F5-0E2C-4DDE-B247-D1D572D37012}"/>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15BCF96E-CC1F-4F28-A2EA-E1CDBDBC5968}"/>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F64D3BD4-BDDD-4F4B-9B2A-CF3D9E077BAB}"/>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CE80FC23-EDE6-4B32-BB15-C94FFBCB1E47}"/>
              </a:ext>
            </a:extLst>
          </p:cNvPr>
          <p:cNvSpPr>
            <a:spLocks xmlns:a="http://schemas.openxmlformats.org/drawingml/2006/main" noGrp="1"/>
          </p:cNvSpPr>
          <p:nvPr/>
        </p:nvSpPr>
        <p:spPr>
          <a:xfrm xmlns:a="http://schemas.openxmlformats.org/drawingml/2006/main">
            <a:off x="62865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6adfb0bea9884f88"/>
              </a:rPr>
              <a:t>Stripe Payments pricing</a:t>
            </a:r>
          </a:p>
        </p:txBody>
      </p:sp>
      <p:sp>
        <p:nvSpPr>
          <p:cNvPr id="9" name="Stripe Connect pricing">
            <a:extLst xmlns:a="http://schemas.openxmlformats.org/drawingml/2006/main">
              <a:ext uri="{FF2B5EF4-FFF2-40B4-BE49-F238E27FC236}">
                <a16:creationId xmlns:a16="http://schemas.microsoft.com/office/drawing/2014/main" id="{A1CF4FD7-922C-4820-85CB-B331FD5FE21C}"/>
              </a:ext>
            </a:extLst>
          </p:cNvPr>
          <p:cNvSpPr>
            <a:spLocks xmlns:a="http://schemas.openxmlformats.org/drawingml/2006/main" noGrp="1"/>
          </p:cNvSpPr>
          <p:nvPr/>
        </p:nvSpPr>
        <p:spPr>
          <a:xfrm xmlns:a="http://schemas.openxmlformats.org/drawingml/2006/main">
            <a:off x="62865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4869f167d46542ae"/>
              </a:rPr>
              <a:t>Stripe Connect pricing</a:t>
            </a:r>
          </a:p>
        </p:txBody>
      </p:sp>
      <p:sp>
        <p:nvSpPr>
          <p:cNvPr id="10" name="Stripe Financial Connections">
            <a:extLst xmlns:a="http://schemas.openxmlformats.org/drawingml/2006/main">
              <a:ext uri="{FF2B5EF4-FFF2-40B4-BE49-F238E27FC236}">
                <a16:creationId xmlns:a16="http://schemas.microsoft.com/office/drawing/2014/main" id="{4D213F1C-0286-41C8-BD31-BA7464BF10AC}"/>
              </a:ext>
            </a:extLst>
          </p:cNvPr>
          <p:cNvSpPr>
            <a:spLocks xmlns:a="http://schemas.openxmlformats.org/drawingml/2006/main" noGrp="1"/>
          </p:cNvSpPr>
          <p:nvPr/>
        </p:nvSpPr>
        <p:spPr>
          <a:xfrm xmlns:a="http://schemas.openxmlformats.org/drawingml/2006/main">
            <a:off x="62865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d2407ee593fb48b0"/>
              </a:rPr>
              <a:t>Stripe Financial Connections</a:t>
            </a:r>
          </a:p>
        </p:txBody>
      </p:sp>
      <p:sp>
        <p:nvSpPr>
          <p:cNvPr id="11" name="Zocdoc: current pricing help">
            <a:extLst xmlns:a="http://schemas.openxmlformats.org/drawingml/2006/main">
              <a:ext uri="{FF2B5EF4-FFF2-40B4-BE49-F238E27FC236}">
                <a16:creationId xmlns:a16="http://schemas.microsoft.com/office/drawing/2014/main" id="{EC2E2A8A-54ED-46F2-B3D7-1AEFDCA67A64}"/>
              </a:ext>
            </a:extLst>
          </p:cNvPr>
          <p:cNvSpPr>
            <a:spLocks xmlns:a="http://schemas.openxmlformats.org/drawingml/2006/main" noGrp="1"/>
          </p:cNvSpPr>
          <p:nvPr/>
        </p:nvSpPr>
        <p:spPr>
          <a:xfrm xmlns:a="http://schemas.openxmlformats.org/drawingml/2006/main">
            <a:off x="62865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f9fc6d9646874833"/>
              </a:rPr>
              <a:t>Zocdoc: current pricing help</a:t>
            </a:r>
          </a:p>
        </p:txBody>
      </p:sp>
      <p:sp>
        <p:nvSpPr>
          <p:cNvPr id="12" name="Zocdoc: published booking-fee range">
            <a:extLst xmlns:a="http://schemas.openxmlformats.org/drawingml/2006/main">
              <a:ext uri="{FF2B5EF4-FFF2-40B4-BE49-F238E27FC236}">
                <a16:creationId xmlns:a16="http://schemas.microsoft.com/office/drawing/2014/main" id="{C1D990FF-9D8F-4279-8CCD-C31C8BE9EB3B}"/>
              </a:ext>
            </a:extLst>
          </p:cNvPr>
          <p:cNvSpPr>
            <a:spLocks xmlns:a="http://schemas.openxmlformats.org/drawingml/2006/main" noGrp="1"/>
          </p:cNvSpPr>
          <p:nvPr/>
        </p:nvSpPr>
        <p:spPr>
          <a:xfrm xmlns:a="http://schemas.openxmlformats.org/drawingml/2006/main">
            <a:off x="62865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0910b542c68e4a51"/>
              </a:rPr>
              <a:t>Zocdoc: published booking-fee range</a:t>
            </a:r>
          </a:p>
        </p:txBody>
      </p:sp>
      <p:sp>
        <p:nvSpPr>
          <p:cNvPr id="13" name="Visa: interchange and merchant fees">
            <a:extLst xmlns:a="http://schemas.openxmlformats.org/drawingml/2006/main">
              <a:ext uri="{FF2B5EF4-FFF2-40B4-BE49-F238E27FC236}">
                <a16:creationId xmlns:a16="http://schemas.microsoft.com/office/drawing/2014/main" id="{EDF78DCB-5536-452C-9857-39D490426A27}"/>
              </a:ext>
            </a:extLst>
          </p:cNvPr>
          <p:cNvSpPr>
            <a:spLocks xmlns:a="http://schemas.openxmlformats.org/drawingml/2006/main" noGrp="1"/>
          </p:cNvSpPr>
          <p:nvPr/>
        </p:nvSpPr>
        <p:spPr>
          <a:xfrm xmlns:a="http://schemas.openxmlformats.org/drawingml/2006/main">
            <a:off x="62865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2afbb9944e734c65"/>
              </a:rPr>
              <a:t>Visa: interchange and merchant fees</a:t>
            </a:r>
          </a:p>
        </p:txBody>
      </p:sp>
      <p:sp>
        <p:nvSpPr>
          <p:cNvPr id="14" name="Federal Reserve: ACH fees">
            <a:extLst xmlns:a="http://schemas.openxmlformats.org/drawingml/2006/main">
              <a:ext uri="{FF2B5EF4-FFF2-40B4-BE49-F238E27FC236}">
                <a16:creationId xmlns:a16="http://schemas.microsoft.com/office/drawing/2014/main" id="{5C6F5BDC-A384-4F97-801A-99C1E1B34395}"/>
              </a:ext>
            </a:extLst>
          </p:cNvPr>
          <p:cNvSpPr>
            <a:spLocks xmlns:a="http://schemas.openxmlformats.org/drawingml/2006/main" noGrp="1"/>
          </p:cNvSpPr>
          <p:nvPr/>
        </p:nvSpPr>
        <p:spPr>
          <a:xfrm xmlns:a="http://schemas.openxmlformats.org/drawingml/2006/main">
            <a:off x="640080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4d01a36db1974e2e"/>
              </a:rPr>
              <a:t>Federal Reserve: ACH fees</a:t>
            </a:r>
          </a:p>
        </p:txBody>
      </p:sp>
      <p:sp>
        <p:nvSpPr>
          <p:cNvPr id="15" name="PCI Security Standards Council">
            <a:extLst xmlns:a="http://schemas.openxmlformats.org/drawingml/2006/main">
              <a:ext uri="{FF2B5EF4-FFF2-40B4-BE49-F238E27FC236}">
                <a16:creationId xmlns:a16="http://schemas.microsoft.com/office/drawing/2014/main" id="{42242A6F-90D7-46D7-9AB2-DDE1F34FA7BA}"/>
              </a:ext>
            </a:extLst>
          </p:cNvPr>
          <p:cNvSpPr>
            <a:spLocks xmlns:a="http://schemas.openxmlformats.org/drawingml/2006/main" noGrp="1"/>
          </p:cNvSpPr>
          <p:nvPr/>
        </p:nvSpPr>
        <p:spPr>
          <a:xfrm xmlns:a="http://schemas.openxmlformats.org/drawingml/2006/main">
            <a:off x="640080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90acea12fcc74a39"/>
              </a:rPr>
              <a:t>PCI Security Standards Council</a:t>
            </a:r>
          </a:p>
        </p:txBody>
      </p:sp>
      <p:sp>
        <p:nvSpPr>
          <p:cNvPr id="16" name="Census QuickFacts: Barnegat">
            <a:extLst xmlns:a="http://schemas.openxmlformats.org/drawingml/2006/main">
              <a:ext uri="{FF2B5EF4-FFF2-40B4-BE49-F238E27FC236}">
                <a16:creationId xmlns:a16="http://schemas.microsoft.com/office/drawing/2014/main" id="{084992EC-9EE8-443D-A0C1-AEEEB3992EEB}"/>
              </a:ext>
            </a:extLst>
          </p:cNvPr>
          <p:cNvSpPr>
            <a:spLocks xmlns:a="http://schemas.openxmlformats.org/drawingml/2006/main" noGrp="1"/>
          </p:cNvSpPr>
          <p:nvPr/>
        </p:nvSpPr>
        <p:spPr>
          <a:xfrm xmlns:a="http://schemas.openxmlformats.org/drawingml/2006/main">
            <a:off x="640080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96f20fe9458b4a40"/>
              </a:rPr>
              <a:t>Census QuickFacts: Barnegat</a:t>
            </a:r>
          </a:p>
        </p:txBody>
      </p:sp>
      <p:sp>
        <p:nvSpPr>
          <p:cNvPr id="17" name="Jobber: software pricing">
            <a:extLst xmlns:a="http://schemas.openxmlformats.org/drawingml/2006/main">
              <a:ext uri="{FF2B5EF4-FFF2-40B4-BE49-F238E27FC236}">
                <a16:creationId xmlns:a16="http://schemas.microsoft.com/office/drawing/2014/main" id="{20EB8EE8-0F48-45BF-B542-952E6F10B600}"/>
              </a:ext>
            </a:extLst>
          </p:cNvPr>
          <p:cNvSpPr>
            <a:spLocks xmlns:a="http://schemas.openxmlformats.org/drawingml/2006/main" noGrp="1"/>
          </p:cNvSpPr>
          <p:nvPr/>
        </p:nvSpPr>
        <p:spPr>
          <a:xfrm xmlns:a="http://schemas.openxmlformats.org/drawingml/2006/main">
            <a:off x="640080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e4874af4b42e46f4"/>
              </a:rPr>
              <a:t>Jobber: software pricing</a:t>
            </a:r>
          </a:p>
        </p:txBody>
      </p:sp>
      <p:sp>
        <p:nvSpPr>
          <p:cNvPr id="18" name="Zocdoc: Sponsored Results cost">
            <a:extLst xmlns:a="http://schemas.openxmlformats.org/drawingml/2006/main">
              <a:ext uri="{FF2B5EF4-FFF2-40B4-BE49-F238E27FC236}">
                <a16:creationId xmlns:a16="http://schemas.microsoft.com/office/drawing/2014/main" id="{7E722C1F-D384-4803-AC12-3E580D257697}"/>
              </a:ext>
            </a:extLst>
          </p:cNvPr>
          <p:cNvSpPr>
            <a:spLocks xmlns:a="http://schemas.openxmlformats.org/drawingml/2006/main" noGrp="1"/>
          </p:cNvSpPr>
          <p:nvPr/>
        </p:nvSpPr>
        <p:spPr>
          <a:xfrm xmlns:a="http://schemas.openxmlformats.org/drawingml/2006/main">
            <a:off x="640080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70daf81d4aaa4eb6"/>
              </a:rPr>
              <a:t>Zocdoc: Sponsored Results cost</a:t>
            </a:r>
          </a:p>
        </p:txBody>
      </p:sp>
      <p:sp>
        <p:nvSpPr>
          <p:cNvPr id="19" name="Stripe Billing pricing">
            <a:extLst xmlns:a="http://schemas.openxmlformats.org/drawingml/2006/main">
              <a:ext uri="{FF2B5EF4-FFF2-40B4-BE49-F238E27FC236}">
                <a16:creationId xmlns:a16="http://schemas.microsoft.com/office/drawing/2014/main" id="{FAA9C0DF-E9D0-4E41-AA4E-D6AE99A51B2D}"/>
              </a:ext>
            </a:extLst>
          </p:cNvPr>
          <p:cNvSpPr>
            <a:spLocks xmlns:a="http://schemas.openxmlformats.org/drawingml/2006/main" noGrp="1"/>
          </p:cNvSpPr>
          <p:nvPr/>
        </p:nvSpPr>
        <p:spPr>
          <a:xfrm xmlns:a="http://schemas.openxmlformats.org/drawingml/2006/main">
            <a:off x="640080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66ad573a9b4d43c5"/>
              </a:rPr>
              <a:t>Stripe Billing pricing</a:t>
            </a:r>
          </a:p>
        </p:txBody>
      </p:sp>
      <p:sp>
        <p:nvSpPr>
          <p:cNvPr id="20" name="External references are linked. Full citations are">
            <a:extLst xmlns:a="http://schemas.openxmlformats.org/drawingml/2006/main">
              <a:ext uri="{FF2B5EF4-FFF2-40B4-BE49-F238E27FC236}">
                <a16:creationId xmlns:a16="http://schemas.microsoft.com/office/drawing/2014/main" id="{0A4E5F75-7970-4017-A26C-E365964C8DC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1018036701"/>
      </p:ext>
    </p:extLst>
  </p:cSld>
</p:sld>
</file>

<file path=ppt/slides/slide3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Geographic evidence and planning inputs">
            <a:extLst xmlns:a="http://schemas.openxmlformats.org/drawingml/2006/main">
              <a:ext uri="{FF2B5EF4-FFF2-40B4-BE49-F238E27FC236}">
                <a16:creationId xmlns:a16="http://schemas.microsoft.com/office/drawing/2014/main" id="{0412BC97-A275-4CF4-A134-6195A3401CF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Geographic evidence and planning inputs</a:t>
            </a:r>
          </a:p>
        </p:txBody>
      </p:sp>
      <p:sp>
        <p:nvSpPr>
          <p:cNvPr id="2" name="Census QuickFacts sources 1–7. All links open the ">
            <a:extLst xmlns:a="http://schemas.openxmlformats.org/drawingml/2006/main">
              <a:ext uri="{FF2B5EF4-FFF2-40B4-BE49-F238E27FC236}">
                <a16:creationId xmlns:a16="http://schemas.microsoft.com/office/drawing/2014/main" id="{2CC30304-0C0B-49A5-9087-5A3DE3865EF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QuickFacts sources 1–7. All links open the underlying municipal table.</a:t>
            </a:r>
          </a:p>
        </p:txBody>
      </p:sp>
      <p:sp>
        <p:nvSpPr>
          <p:cNvPr id="3" name="YardMatch">
            <a:extLst xmlns:a="http://schemas.openxmlformats.org/drawingml/2006/main">
              <a:ext uri="{FF2B5EF4-FFF2-40B4-BE49-F238E27FC236}">
                <a16:creationId xmlns:a16="http://schemas.microsoft.com/office/drawing/2014/main" id="{F77B3404-9867-47E4-ADED-FBA356C7D0E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6">
            <a:extLst xmlns:a="http://schemas.openxmlformats.org/drawingml/2006/main">
              <a:ext uri="{FF2B5EF4-FFF2-40B4-BE49-F238E27FC236}">
                <a16:creationId xmlns:a16="http://schemas.microsoft.com/office/drawing/2014/main" id="{03F60486-11B7-4708-B6AE-C6083710194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36</a:t>
            </a:r>
          </a:p>
        </p:txBody>
      </p:sp>
      <p:graphicFrame>
        <p:nvGraphicFramePr>
          <p:cNvPr id="11" name=""/>
          <p:cNvGraphicFramePr/>
          <p:nvPr/>
        </p:nvGraphicFramePr>
        <p:xfrm>
          <a:off xmlns:a="http://schemas.openxmlformats.org/drawingml/2006/main" x="609600" y="2324100"/>
          <a:ext xmlns:a="http://schemas.openxmlformats.org/drawingml/2006/main" cx="10972800" cy="3333750"/>
        </p:xfrm>
        <a:graphic xmlns:a="http://schemas.openxmlformats.org/drawingml/2006/main">
          <a:graphicData uri="http://schemas.openxmlformats.org/drawingml/2006/table">
            <a:tbl>
              <a:tblPr/>
              <a:tblGrid>
                <a:gridCol w="4324350"/>
                <a:gridCol w="2047875"/>
                <a:gridCol w="2047875"/>
                <a:gridCol w="2552700"/>
              </a:tblGrid>
              <a:tr h="416719">
                <a:tc>
                  <a:txBody>
                    <a:bodyPr lIns="114300" tIns="76200" rIns="114300" bIns="76200">
                      <a:noAutofit/>
                    </a:bodyPr>
                    <a:lstStyle/>
                    <a:p>
                      <a:pPr algn="l"/>
                      <a:r>
                        <a:rPr sz="1725" b="1">
                          <a:solidFill>
                            <a:srgbClr val="FFFFFF"/>
                          </a:solidFill>
                          <a:latin typeface="Arial"/>
                          <a:ea typeface="Arial"/>
                          <a:cs typeface="Arial"/>
                        </a:rPr>
                        <a:t>Municipality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Households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Owner share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7fa03e92f0ee4735"/>
                        </a:rPr>
                        <a:t>Barnegat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10,265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$91,540</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9ee12b9fbf3242dc"/>
                        </a:rPr>
                        <a:t>Stafford</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12,007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90.3%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$117,612</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bd341be622354d88"/>
                        </a:rPr>
                        <a:t>Lacey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11,338</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88.1%</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$102,624</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3f30c85498914434"/>
                        </a:rPr>
                        <a:t>Ocean / Waretown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3,908</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88.3%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$100,524</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0864a75cba324670"/>
                        </a:rPr>
                        <a:t>Berkeley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21,950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$66,008</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4109a4bd52e340fb"/>
                        </a:rPr>
                        <a:t>Toms River</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38,047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82.1%</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$99,547</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5fd1237a91a144e0"/>
                        </a:rPr>
                        <a:t>Brick</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30,289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82.2%</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$106,130</a:t>
                      </a:r>
                    </a:p>
                  </a:txBody>
                  <a:tcPr marL="91440" marR="91440" marT="45720" marB="45720" anchor="ctr">
                    <a:solidFill>
                      <a:srgbClr val="FFFFFF"/>
                    </a:solidFill>
                  </a:tcPr>
                </a:tc>
              </a:tr>
            </a:tbl>
          </a:graphicData>
        </a:graphic>
      </p:graphicFrame>
      <p:sp>
        <p:nvSpPr>
          <p:cNvPr id="6" name="Lawn eligibility, outsourcing, lot size, price pre">
            <a:extLst xmlns:a="http://schemas.openxmlformats.org/drawingml/2006/main">
              <a:ext uri="{FF2B5EF4-FFF2-40B4-BE49-F238E27FC236}">
                <a16:creationId xmlns:a16="http://schemas.microsoft.com/office/drawing/2014/main" id="{B469C234-2085-4E54-9F4D-A866DF88EB0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Lawn eligibility, outsourcing, lot size, price premiums, launch timing and capacity are YardMatch assumptions, not Census findings. Editable sources and inputs appear in the workbook.</a:t>
            </a:r>
          </a:p>
        </p:txBody>
      </p:sp>
    </p:spTree>
    <p:extLst>
      <p:ext uri="{BB962C8B-B14F-4D97-AF65-F5344CB8AC3E}">
        <p14:creationId xmlns:p14="http://schemas.microsoft.com/office/powerpoint/2010/main" val="2140618074"/>
      </p:ext>
    </p:extLst>
  </p:cSld>
</p:sld>
</file>

<file path=ppt/slides/slide3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Geographic evidence and planning inputs">
            <a:extLst xmlns:a="http://schemas.openxmlformats.org/drawingml/2006/main">
              <a:ext uri="{FF2B5EF4-FFF2-40B4-BE49-F238E27FC236}">
                <a16:creationId xmlns:a16="http://schemas.microsoft.com/office/drawing/2014/main" id="{517F1937-C343-44F1-AC01-2D148659A3C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Geographic evidence and planning inputs</a:t>
            </a:r>
          </a:p>
        </p:txBody>
      </p:sp>
      <p:sp>
        <p:nvSpPr>
          <p:cNvPr id="2" name="Census QuickFacts sources 8–14. All links open the">
            <a:extLst xmlns:a="http://schemas.openxmlformats.org/drawingml/2006/main">
              <a:ext uri="{FF2B5EF4-FFF2-40B4-BE49-F238E27FC236}">
                <a16:creationId xmlns:a16="http://schemas.microsoft.com/office/drawing/2014/main" id="{8CDDFE04-3326-45FC-ABA6-9F145DB171A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QuickFacts sources 8–14. All links open the underlying municipal table.</a:t>
            </a:r>
          </a:p>
        </p:txBody>
      </p:sp>
      <p:sp>
        <p:nvSpPr>
          <p:cNvPr id="3" name="YardMatch">
            <a:extLst xmlns:a="http://schemas.openxmlformats.org/drawingml/2006/main">
              <a:ext uri="{FF2B5EF4-FFF2-40B4-BE49-F238E27FC236}">
                <a16:creationId xmlns:a16="http://schemas.microsoft.com/office/drawing/2014/main" id="{1C4C52A0-008E-46E9-8A09-6FFC2F218F6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7">
            <a:extLst xmlns:a="http://schemas.openxmlformats.org/drawingml/2006/main">
              <a:ext uri="{FF2B5EF4-FFF2-40B4-BE49-F238E27FC236}">
                <a16:creationId xmlns:a16="http://schemas.microsoft.com/office/drawing/2014/main" id="{C35794D9-77E7-422A-9552-B5240B1DFE9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37</a:t>
            </a:r>
          </a:p>
        </p:txBody>
      </p:sp>
      <p:graphicFrame>
        <p:nvGraphicFramePr>
          <p:cNvPr id="11" name=""/>
          <p:cNvGraphicFramePr/>
          <p:nvPr/>
        </p:nvGraphicFramePr>
        <p:xfrm>
          <a:off xmlns:a="http://schemas.openxmlformats.org/drawingml/2006/main" x="609600" y="2324100"/>
          <a:ext xmlns:a="http://schemas.openxmlformats.org/drawingml/2006/main" cx="10972800" cy="3333750"/>
        </p:xfrm>
        <a:graphic xmlns:a="http://schemas.openxmlformats.org/drawingml/2006/main">
          <a:graphicData uri="http://schemas.openxmlformats.org/drawingml/2006/table">
            <a:tbl>
              <a:tblPr/>
              <a:tblGrid>
                <a:gridCol w="4324350"/>
                <a:gridCol w="2047875"/>
                <a:gridCol w="2047875"/>
                <a:gridCol w="2552700"/>
              </a:tblGrid>
              <a:tr h="416719">
                <a:tc>
                  <a:txBody>
                    <a:bodyPr lIns="114300" tIns="76200" rIns="114300" bIns="76200">
                      <a:noAutofit/>
                    </a:bodyPr>
                    <a:lstStyle/>
                    <a:p>
                      <a:pPr algn="l"/>
                      <a:r>
                        <a:rPr sz="1725" b="1">
                          <a:solidFill>
                            <a:srgbClr val="FFFFFF"/>
                          </a:solidFill>
                          <a:latin typeface="Arial"/>
                          <a:ea typeface="Arial"/>
                          <a:cs typeface="Arial"/>
                        </a:rPr>
                        <a:t>Municipality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Households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Owner share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86c2d886a1fa446d"/>
                        </a:rPr>
                        <a:t>Jackson</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20,633</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87.0%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$115,511</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707f6533b87440f5"/>
                        </a:rPr>
                        <a:t>Howell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19,134</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88.8%</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$134,854</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080a7d9fe6704f6f"/>
                        </a:rPr>
                        <a:t>Wall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10,124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83.4%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$142,768</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83dd0bda17c44f3a"/>
                        </a:rPr>
                        <a:t>Middletown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25,211</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85.7%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$141,810</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2921a6d222c145f1"/>
                        </a:rPr>
                        <a:t>Holmdel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6,429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91.6%</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$165,013</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bdd90c80bb734057"/>
                        </a:rPr>
                        <a:t>Colts Neck</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3,610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94.3%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$199,573</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e2163f96b6304af6"/>
                        </a:rPr>
                        <a:t>Rumson</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2,451</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92.9%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$250,000+</a:t>
                      </a:r>
                    </a:p>
                  </a:txBody>
                  <a:tcPr marL="91440" marR="91440" marT="45720" marB="45720" anchor="ctr">
                    <a:solidFill>
                      <a:srgbClr val="FFFFFF"/>
                    </a:solidFill>
                  </a:tcPr>
                </a:tc>
              </a:tr>
            </a:tbl>
          </a:graphicData>
        </a:graphic>
      </p:graphicFrame>
      <p:sp>
        <p:nvSpPr>
          <p:cNvPr id="6" name="Lawn eligibility, outsourcing, lot size, price pre">
            <a:extLst xmlns:a="http://schemas.openxmlformats.org/drawingml/2006/main">
              <a:ext uri="{FF2B5EF4-FFF2-40B4-BE49-F238E27FC236}">
                <a16:creationId xmlns:a16="http://schemas.microsoft.com/office/drawing/2014/main" id="{9E5FD7C4-1C06-4C38-83FE-D48A2A85689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Lawn eligibility, outsourcing, lot size, price premiums, launch timing and capacity are YardMatch assumptions, not Census findings. Editable sources and inputs appear in the workbook.</a:t>
            </a:r>
          </a:p>
        </p:txBody>
      </p:sp>
    </p:spTree>
    <p:extLst>
      <p:ext uri="{BB962C8B-B14F-4D97-AF65-F5344CB8AC3E}">
        <p14:creationId xmlns:p14="http://schemas.microsoft.com/office/powerpoint/2010/main" val="14339177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2026-09-20T23:53:18.8390000Z</dcterms:created>
  <dcterms:modified xsi:type="dcterms:W3CDTF">2026-09-20T23:53:18.8390000Z</dcterms:modified>
</coreProperties>
</file>