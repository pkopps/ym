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636612f0ba842fb" /><Relationship Type="http://schemas.openxmlformats.org/officeDocument/2006/relationships/extended-properties" Target="/docProps/app.xml" Id="Rea52af2d12b64471" /><Relationship Type="http://schemas.openxmlformats.org/officeDocument/2006/relationships/officeDocument" Target="/ppt/presentation.xml" Id="R0f8d5e62cefe40bc" /></Relationships>
</file>

<file path=ppt/presentation.xml><?xml version="1.0" encoding="utf-8"?>
<p:presentation xmlns:p="http://schemas.openxmlformats.org/presentationml/2006/main">
  <p:sldMasterIdLst>
    <p:sldMasterId xmlns:r="http://schemas.openxmlformats.org/officeDocument/2006/relationships" id="2147483648" r:id="Rea64167840af4527"/>
  </p:sldMasterIdLst>
  <p:notesMasterIdLst>
    <p:notesMasterId xmlns:r="http://schemas.openxmlformats.org/officeDocument/2006/relationships" r:id="R19212144d72b4ceb"/>
  </p:notesMasterIdLst>
  <p:sldIdLst>
    <p:sldId xmlns:r="http://schemas.openxmlformats.org/officeDocument/2006/relationships" id="256" r:id="R8ec6f135509e41d1"/>
    <p:sldId xmlns:r="http://schemas.openxmlformats.org/officeDocument/2006/relationships" id="257" r:id="R19d8349261534cb3"/>
    <p:sldId xmlns:r="http://schemas.openxmlformats.org/officeDocument/2006/relationships" id="258" r:id="R46582d1e2e4a4709"/>
    <p:sldId xmlns:r="http://schemas.openxmlformats.org/officeDocument/2006/relationships" id="259" r:id="Rae167766f9004fea"/>
    <p:sldId xmlns:r="http://schemas.openxmlformats.org/officeDocument/2006/relationships" id="260" r:id="R988033757c784e1b"/>
    <p:sldId xmlns:r="http://schemas.openxmlformats.org/officeDocument/2006/relationships" id="261" r:id="Rc68b6646160841b0"/>
    <p:sldId xmlns:r="http://schemas.openxmlformats.org/officeDocument/2006/relationships" id="262" r:id="Rcfeee361eaf34092"/>
    <p:sldId xmlns:r="http://schemas.openxmlformats.org/officeDocument/2006/relationships" id="263" r:id="R9700c3688b7042fb"/>
    <p:sldId xmlns:r="http://schemas.openxmlformats.org/officeDocument/2006/relationships" id="264" r:id="R6d709a8d7b26403a"/>
    <p:sldId xmlns:r="http://schemas.openxmlformats.org/officeDocument/2006/relationships" id="265" r:id="Rd84214d2ba574e65"/>
    <p:sldId xmlns:r="http://schemas.openxmlformats.org/officeDocument/2006/relationships" id="266" r:id="R8a36c3b9d22948fe"/>
    <p:sldId xmlns:r="http://schemas.openxmlformats.org/officeDocument/2006/relationships" id="267" r:id="R6e73df644ec64291"/>
    <p:sldId xmlns:r="http://schemas.openxmlformats.org/officeDocument/2006/relationships" id="268" r:id="R78e912c4831f4ae1"/>
    <p:sldId xmlns:r="http://schemas.openxmlformats.org/officeDocument/2006/relationships" id="269" r:id="R6876fa63c9484eac"/>
    <p:sldId xmlns:r="http://schemas.openxmlformats.org/officeDocument/2006/relationships" id="270" r:id="R9c4b9f5d9d2244bb"/>
    <p:sldId xmlns:r="http://schemas.openxmlformats.org/officeDocument/2006/relationships" id="271" r:id="R8dbeb3771d6447f4"/>
    <p:sldId xmlns:r="http://schemas.openxmlformats.org/officeDocument/2006/relationships" id="272" r:id="Re430c633c1b74e27"/>
    <p:sldId xmlns:r="http://schemas.openxmlformats.org/officeDocument/2006/relationships" id="273" r:id="Rbc20f502aaac479e"/>
    <p:sldId xmlns:r="http://schemas.openxmlformats.org/officeDocument/2006/relationships" id="274" r:id="R653e0ab4ce9d4299"/>
    <p:sldId xmlns:r="http://schemas.openxmlformats.org/officeDocument/2006/relationships" id="275" r:id="Ra82ee4fbd44c4739"/>
    <p:sldId xmlns:r="http://schemas.openxmlformats.org/officeDocument/2006/relationships" id="276" r:id="Rada57399b73243ff"/>
    <p:sldId xmlns:r="http://schemas.openxmlformats.org/officeDocument/2006/relationships" id="277" r:id="Rd92e2cf20dce4601"/>
    <p:sldId xmlns:r="http://schemas.openxmlformats.org/officeDocument/2006/relationships" id="278" r:id="Rbd9f6d0722e9440c"/>
    <p:sldId xmlns:r="http://schemas.openxmlformats.org/officeDocument/2006/relationships" id="279" r:id="Rb8bf3551bc9a4c06"/>
    <p:sldId xmlns:r="http://schemas.openxmlformats.org/officeDocument/2006/relationships" id="280" r:id="R8cf0c71b5d1e4cb0"/>
    <p:sldId xmlns:r="http://schemas.openxmlformats.org/officeDocument/2006/relationships" id="281" r:id="Ra197a5f2429d45cb"/>
    <p:sldId xmlns:r="http://schemas.openxmlformats.org/officeDocument/2006/relationships" id="282" r:id="Rc189744ef4554e27"/>
    <p:sldId xmlns:r="http://schemas.openxmlformats.org/officeDocument/2006/relationships" id="283" r:id="Rdc0acdea30a14cae"/>
    <p:sldId xmlns:r="http://schemas.openxmlformats.org/officeDocument/2006/relationships" id="284" r:id="Re5e42174ceac4f4f"/>
    <p:sldId xmlns:r="http://schemas.openxmlformats.org/officeDocument/2006/relationships" id="285" r:id="Rd23e2f96c9024d32"/>
    <p:sldId xmlns:r="http://schemas.openxmlformats.org/officeDocument/2006/relationships" id="286" r:id="R33bdcf2965ee4680"/>
    <p:sldId xmlns:r="http://schemas.openxmlformats.org/officeDocument/2006/relationships" id="287" r:id="Rf4ddcff7e2b3461b"/>
    <p:sldId xmlns:r="http://schemas.openxmlformats.org/officeDocument/2006/relationships" id="288" r:id="R7f17905abfc94368"/>
    <p:sldId xmlns:r="http://schemas.openxmlformats.org/officeDocument/2006/relationships" id="289" r:id="Rb6cfb94645a0450f"/>
    <p:sldId xmlns:r="http://schemas.openxmlformats.org/officeDocument/2006/relationships" id="290" r:id="R6332819ca95b4799"/>
    <p:sldId xmlns:r="http://schemas.openxmlformats.org/officeDocument/2006/relationships" id="291" r:id="R17ea17a297c74301"/>
    <p:sldId xmlns:r="http://schemas.openxmlformats.org/officeDocument/2006/relationships" id="292" r:id="Ra03752c5236f4f4c"/>
    <p:sldId xmlns:r="http://schemas.openxmlformats.org/officeDocument/2006/relationships" id="293" r:id="Rce7f6b64feae4c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097a6233c64d69" /><Relationship Type="http://schemas.openxmlformats.org/officeDocument/2006/relationships/slideMaster" Target="/ppt/slideMasters/slideMaster1.xml" Id="Rea64167840af4527" /><Relationship Type="http://schemas.openxmlformats.org/officeDocument/2006/relationships/notesMaster" Target="/ppt/notesMasters/notesMaster1.xml" Id="R19212144d72b4ceb" /><Relationship Type="http://schemas.openxmlformats.org/officeDocument/2006/relationships/presProps" Target="/ppt/presProps.xml" Id="R9bab8f0e0e3e425f" /><Relationship Type="http://schemas.openxmlformats.org/officeDocument/2006/relationships/tableStyles" Target="/ppt/tableStyles.xml" Id="R6552d52f73284058" /><Relationship Type="http://schemas.openxmlformats.org/officeDocument/2006/relationships/slide" Target="/ppt/slides/slide1.xml" Id="R8ec6f135509e41d1" /><Relationship Type="http://schemas.openxmlformats.org/officeDocument/2006/relationships/slide" Target="/ppt/slides/slide2.xml" Id="R19d8349261534cb3" /><Relationship Type="http://schemas.openxmlformats.org/officeDocument/2006/relationships/slide" Target="/ppt/slides/slide3.xml" Id="R46582d1e2e4a4709" /><Relationship Type="http://schemas.openxmlformats.org/officeDocument/2006/relationships/slide" Target="/ppt/slides/slide4.xml" Id="Rae167766f9004fea" /><Relationship Type="http://schemas.openxmlformats.org/officeDocument/2006/relationships/slide" Target="/ppt/slides/slide5.xml" Id="R988033757c784e1b" /><Relationship Type="http://schemas.openxmlformats.org/officeDocument/2006/relationships/slide" Target="/ppt/slides/slide6.xml" Id="Rc68b6646160841b0" /><Relationship Type="http://schemas.openxmlformats.org/officeDocument/2006/relationships/slide" Target="/ppt/slides/slide7.xml" Id="Rcfeee361eaf34092" /><Relationship Type="http://schemas.openxmlformats.org/officeDocument/2006/relationships/slide" Target="/ppt/slides/slide8.xml" Id="R9700c3688b7042fb" /><Relationship Type="http://schemas.openxmlformats.org/officeDocument/2006/relationships/slide" Target="/ppt/slides/slide9.xml" Id="R6d709a8d7b26403a" /><Relationship Type="http://schemas.openxmlformats.org/officeDocument/2006/relationships/slide" Target="/ppt/slides/slide10.xml" Id="Rd84214d2ba574e65" /><Relationship Type="http://schemas.openxmlformats.org/officeDocument/2006/relationships/slide" Target="/ppt/slides/slide11.xml" Id="R8a36c3b9d22948fe" /><Relationship Type="http://schemas.openxmlformats.org/officeDocument/2006/relationships/slide" Target="/ppt/slides/slide12.xml" Id="R6e73df644ec64291" /><Relationship Type="http://schemas.openxmlformats.org/officeDocument/2006/relationships/slide" Target="/ppt/slides/slide13.xml" Id="R78e912c4831f4ae1" /><Relationship Type="http://schemas.openxmlformats.org/officeDocument/2006/relationships/slide" Target="/ppt/slides/slide14.xml" Id="R6876fa63c9484eac" /><Relationship Type="http://schemas.openxmlformats.org/officeDocument/2006/relationships/slide" Target="/ppt/slides/slide15.xml" Id="R9c4b9f5d9d2244bb" /><Relationship Type="http://schemas.openxmlformats.org/officeDocument/2006/relationships/slide" Target="/ppt/slides/slide16.xml" Id="R8dbeb3771d6447f4" /><Relationship Type="http://schemas.openxmlformats.org/officeDocument/2006/relationships/slide" Target="/ppt/slides/slide17.xml" Id="Re430c633c1b74e27" /><Relationship Type="http://schemas.openxmlformats.org/officeDocument/2006/relationships/slide" Target="/ppt/slides/slide18.xml" Id="Rbc20f502aaac479e" /><Relationship Type="http://schemas.openxmlformats.org/officeDocument/2006/relationships/slide" Target="/ppt/slides/slide19.xml" Id="R653e0ab4ce9d4299" /><Relationship Type="http://schemas.openxmlformats.org/officeDocument/2006/relationships/slide" Target="/ppt/slides/slide20.xml" Id="Ra82ee4fbd44c4739" /><Relationship Type="http://schemas.openxmlformats.org/officeDocument/2006/relationships/slide" Target="/ppt/slides/slide21.xml" Id="Rada57399b73243ff" /><Relationship Type="http://schemas.openxmlformats.org/officeDocument/2006/relationships/slide" Target="/ppt/slides/slide22.xml" Id="Rd92e2cf20dce4601" /><Relationship Type="http://schemas.openxmlformats.org/officeDocument/2006/relationships/slide" Target="/ppt/slides/slide23.xml" Id="Rbd9f6d0722e9440c" /><Relationship Type="http://schemas.openxmlformats.org/officeDocument/2006/relationships/slide" Target="/ppt/slides/slide24.xml" Id="Rb8bf3551bc9a4c06" /><Relationship Type="http://schemas.openxmlformats.org/officeDocument/2006/relationships/slide" Target="/ppt/slides/slide25.xml" Id="R8cf0c71b5d1e4cb0" /><Relationship Type="http://schemas.openxmlformats.org/officeDocument/2006/relationships/slide" Target="/ppt/slides/slide26.xml" Id="Ra197a5f2429d45cb" /><Relationship Type="http://schemas.openxmlformats.org/officeDocument/2006/relationships/slide" Target="/ppt/slides/slide27.xml" Id="Rc189744ef4554e27" /><Relationship Type="http://schemas.openxmlformats.org/officeDocument/2006/relationships/slide" Target="/ppt/slides/slide28.xml" Id="Rdc0acdea30a14cae" /><Relationship Type="http://schemas.openxmlformats.org/officeDocument/2006/relationships/slide" Target="/ppt/slides/slide29.xml" Id="Re5e42174ceac4f4f" /><Relationship Type="http://schemas.openxmlformats.org/officeDocument/2006/relationships/slide" Target="/ppt/slides/slide30.xml" Id="Rd23e2f96c9024d32" /><Relationship Type="http://schemas.openxmlformats.org/officeDocument/2006/relationships/slide" Target="/ppt/slides/slide31.xml" Id="R33bdcf2965ee4680" /><Relationship Type="http://schemas.openxmlformats.org/officeDocument/2006/relationships/slide" Target="/ppt/slides/slide32.xml" Id="Rf4ddcff7e2b3461b" /><Relationship Type="http://schemas.openxmlformats.org/officeDocument/2006/relationships/slide" Target="/ppt/slides/slide33.xml" Id="R7f17905abfc94368" /><Relationship Type="http://schemas.openxmlformats.org/officeDocument/2006/relationships/slide" Target="/ppt/slides/slide34.xml" Id="Rb6cfb94645a0450f" /><Relationship Type="http://schemas.openxmlformats.org/officeDocument/2006/relationships/slide" Target="/ppt/slides/slide35.xml" Id="R6332819ca95b4799" /><Relationship Type="http://schemas.openxmlformats.org/officeDocument/2006/relationships/slide" Target="/ppt/slides/slide36.xml" Id="R17ea17a297c74301" /><Relationship Type="http://schemas.openxmlformats.org/officeDocument/2006/relationships/slide" Target="/ppt/slides/slide37.xml" Id="Ra03752c5236f4f4c" /><Relationship Type="http://schemas.openxmlformats.org/officeDocument/2006/relationships/slide" Target="/ppt/slides/slide38.xml" Id="Rce7f6b64feae4c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b0488206c047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630d507cf3436e" /><Relationship Type="http://schemas.openxmlformats.org/officeDocument/2006/relationships/notesMaster" Target="/ppt/notesMasters/notesMaster1.xml" Id="R984bd2261e3545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4701b8e43f476a" /><Relationship Type="http://schemas.openxmlformats.org/officeDocument/2006/relationships/notesMaster" Target="/ppt/notesMasters/notesMaster1.xml" Id="R418f6cfb10974e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0599b3b85342c5" /><Relationship Type="http://schemas.openxmlformats.org/officeDocument/2006/relationships/notesMaster" Target="/ppt/notesMasters/notesMaster1.xml" Id="R76045366a9c847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e311a649464133" /><Relationship Type="http://schemas.openxmlformats.org/officeDocument/2006/relationships/notesMaster" Target="/ppt/notesMasters/notesMaster1.xml" Id="Rc55b32d3668a44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6b56db03f74235" /><Relationship Type="http://schemas.openxmlformats.org/officeDocument/2006/relationships/notesMaster" Target="/ppt/notesMasters/notesMaster1.xml" Id="R3831b507650f4e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4969ca3c5943ff" /><Relationship Type="http://schemas.openxmlformats.org/officeDocument/2006/relationships/notesMaster" Target="/ppt/notesMasters/notesMaster1.xml" Id="R3fea1cf9c0d644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36bb38c29b4313" /><Relationship Type="http://schemas.openxmlformats.org/officeDocument/2006/relationships/notesMaster" Target="/ppt/notesMasters/notesMaster1.xml" Id="R133e61c438304954"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9b3123a00f4c14" /><Relationship Type="http://schemas.openxmlformats.org/officeDocument/2006/relationships/notesMaster" Target="/ppt/notesMasters/notesMaster1.xml" Id="R2b9b22e86f994b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26f3ad66034710" /><Relationship Type="http://schemas.openxmlformats.org/officeDocument/2006/relationships/notesMaster" Target="/ppt/notesMasters/notesMaster1.xml" Id="Rd761d29f56b245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879a49b9f047c1" /><Relationship Type="http://schemas.openxmlformats.org/officeDocument/2006/relationships/notesMaster" Target="/ppt/notesMasters/notesMaster1.xml" Id="Ra769bea7922e4da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f8b0a02bc7d4b32" /><Relationship Type="http://schemas.openxmlformats.org/officeDocument/2006/relationships/notesMaster" Target="/ppt/notesMasters/notesMaster1.xml" Id="Ref1c8b198e0d407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2547b78fd947b2" /><Relationship Type="http://schemas.openxmlformats.org/officeDocument/2006/relationships/notesMaster" Target="/ppt/notesMasters/notesMaster1.xml" Id="R7026a17cb85a400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fb93f1e08b4d8f" /><Relationship Type="http://schemas.openxmlformats.org/officeDocument/2006/relationships/notesMaster" Target="/ppt/notesMasters/notesMaster1.xml" Id="Rdcb6826c95384d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8a0159f33d4946" /><Relationship Type="http://schemas.openxmlformats.org/officeDocument/2006/relationships/notesMaster" Target="/ppt/notesMasters/notesMaster1.xml" Id="R0971928dc8634a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3fdcdd6a3e4c4b" /><Relationship Type="http://schemas.openxmlformats.org/officeDocument/2006/relationships/notesMaster" Target="/ppt/notesMasters/notesMaster1.xml" Id="Rfccc6375052f47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234ae81f5544edf" /><Relationship Type="http://schemas.openxmlformats.org/officeDocument/2006/relationships/notesMaster" Target="/ppt/notesMasters/notesMaster1.xml" Id="R64cd869ccb3c491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7c05fff840e4f6f" /><Relationship Type="http://schemas.openxmlformats.org/officeDocument/2006/relationships/notesMaster" Target="/ppt/notesMasters/notesMaster1.xml" Id="R0bc89de63a4b4fb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da0ba87182c48f7" /><Relationship Type="http://schemas.openxmlformats.org/officeDocument/2006/relationships/notesMaster" Target="/ppt/notesMasters/notesMaster1.xml" Id="Rb51bf60be5e043b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bbeaef26d4d4590" /><Relationship Type="http://schemas.openxmlformats.org/officeDocument/2006/relationships/notesMaster" Target="/ppt/notesMasters/notesMaster1.xml" Id="R95ef5649ccdc4ed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2e46733f0644463" /><Relationship Type="http://schemas.openxmlformats.org/officeDocument/2006/relationships/notesMaster" Target="/ppt/notesMasters/notesMaster1.xml" Id="Rb7030f93028145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38a475e4971463e" /><Relationship Type="http://schemas.openxmlformats.org/officeDocument/2006/relationships/notesMaster" Target="/ppt/notesMasters/notesMaster1.xml" Id="R75f694d68a6a4d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dbb9590ad824da5" /><Relationship Type="http://schemas.openxmlformats.org/officeDocument/2006/relationships/notesMaster" Target="/ppt/notesMasters/notesMaster1.xml" Id="R46eebae623b1416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7527f5b92af4a64" /><Relationship Type="http://schemas.openxmlformats.org/officeDocument/2006/relationships/notesMaster" Target="/ppt/notesMasters/notesMaster1.xml" Id="R74193e6df3fa4e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0dd7dbc27ad4ae7" /><Relationship Type="http://schemas.openxmlformats.org/officeDocument/2006/relationships/notesMaster" Target="/ppt/notesMasters/notesMaster1.xml" Id="Ra46b06577729456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1e2ec07f5a54bc2" /><Relationship Type="http://schemas.openxmlformats.org/officeDocument/2006/relationships/notesMaster" Target="/ppt/notesMasters/notesMaster1.xml" Id="Rcd406c72a1a346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5693fb1e5f543f5" /><Relationship Type="http://schemas.openxmlformats.org/officeDocument/2006/relationships/notesMaster" Target="/ppt/notesMasters/notesMaster1.xml" Id="R5ce724a90291417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ffff21dd19e481e" /><Relationship Type="http://schemas.openxmlformats.org/officeDocument/2006/relationships/notesMaster" Target="/ppt/notesMasters/notesMaster1.xml" Id="R90e5281ef1e541a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db3e736f4a34167" /><Relationship Type="http://schemas.openxmlformats.org/officeDocument/2006/relationships/notesMaster" Target="/ppt/notesMasters/notesMaster1.xml" Id="Re7cba10971ae411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935a262e7d441d1" /><Relationship Type="http://schemas.openxmlformats.org/officeDocument/2006/relationships/notesMaster" Target="/ppt/notesMasters/notesMaster1.xml" Id="R6ae143f302cb400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227bb7e5cae4d91" /><Relationship Type="http://schemas.openxmlformats.org/officeDocument/2006/relationships/notesMaster" Target="/ppt/notesMasters/notesMaster1.xml" Id="R5f53f92a583d407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3095aa67d264746" /><Relationship Type="http://schemas.openxmlformats.org/officeDocument/2006/relationships/notesMaster" Target="/ppt/notesMasters/notesMaster1.xml" Id="Rdc4e39a4c771481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77268822d14cc7" /><Relationship Type="http://schemas.openxmlformats.org/officeDocument/2006/relationships/notesMaster" Target="/ppt/notesMasters/notesMaster1.xml" Id="Rc25b59895b444ed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46a04d42d124244" /><Relationship Type="http://schemas.openxmlformats.org/officeDocument/2006/relationships/notesMaster" Target="/ppt/notesMasters/notesMaster1.xml" Id="Raf5969d3f74b4f0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271935f4e5147ec" /><Relationship Type="http://schemas.openxmlformats.org/officeDocument/2006/relationships/notesMaster" Target="/ppt/notesMasters/notesMaster1.xml" Id="Rb615eda93e314b3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591333b97e34534" /><Relationship Type="http://schemas.openxmlformats.org/officeDocument/2006/relationships/notesMaster" Target="/ppt/notesMasters/notesMaster1.xml" Id="R59ac3f3335094af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20d5972369e4b96" /><Relationship Type="http://schemas.openxmlformats.org/officeDocument/2006/relationships/notesMaster" Target="/ppt/notesMasters/notesMaster1.xml" Id="Rc10e08cde5474e7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cb98974f6ed4bcc" /><Relationship Type="http://schemas.openxmlformats.org/officeDocument/2006/relationships/notesMaster" Target="/ppt/notesMasters/notesMaster1.xml" Id="Rc63807b4f2ad4a4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fbc4e4608074235" /><Relationship Type="http://schemas.openxmlformats.org/officeDocument/2006/relationships/notesMaster" Target="/ppt/notesMasters/notesMaster1.xml" Id="R8026582351fc4b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Investor discussion draft. September 21, 2026. 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Customer and provider problems are product hypotheses, not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Map is conceptual. No measured route savings or density effect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Typical $45, large $65, very large $90. Planning tiers based on serviceable property scope, not income or ZIP code. Classify at first match and disclose the fee before acceptance. Thresholds require provider quote validation. New-customer town/lot mix determines finder revenue; waivers are proportional within each town. No later service or size change with the same provider generates another finder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https://www.zocdoc.com/about/understanding-your-bill/ publicly lists $30-$140 by specialty/location but also refers to annual licensing. Treat as published reference, not a verified current nationwide quote. Current provider help says no upfront/subscription to join, Sponsored Results can cost extra and Practice Solutions has a monthly per-provider fee. Older https://www.zocdoc.com/about/newpricing/ says Practice Solutions is free; current help is prioritized.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YardMatch-Barnegat-Partner-Pitch.pdf, September 2026, pages 1-9. Product illustrations and sample data are conceptual, not commercial 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YardMatch-Investor-Model.xlsx, assumptions and formula-driven Operating model, prepared September 21, 2026. All 2027-2033 figures are illustrative forecasts, not actuals or promises. US dollars. No commercial actuals supplied. Standard US card rate 2.9% + $0.30. ACH 0.8% capped at $5. Platform fee 4% for card or 2% for ACH, no minimum. Initial bank-link cost and Connect account/payout fees borne by YardMatch. Repeat contribution uses 2031 volume allocation. No provider labor or equipment expense deducted.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Service mix schedule. Starting prices: $60, $85, $120, $300, $1,000. Base maintenance visits 20: 60% basic, 30% bundled, 10% expanded. Separate cleanup projects 0.60 and large projects 0.03 per full-season household. New households get half-year exposure. One combined visit is one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Town forecast weights are based on full-season household exposure. Town-specific price tiers use 1.00 / 1.15 / 1.30, with lot factors 1.00 / 1.35 / 1.80. Correlated joint weights replace the former independent demographic mixes. All town price and lot assumptions are unvalidated. Income is not proof of lot size or willingness to pay.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Census ACS 2020-2024; income in 2024 dollars. Rumson median income is top-coded at $250,000+. Higher house value does not itself establish turf 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 YardMatch-Investor-Model.xlsx, assumptions and formula-driven Operating model, prepared September 21, 2026. All 2027-2033 figures are illustrative forecasts, not actuals or promises. US dollars. No commercial actuals supplied. These are proposed experiments and decision gates, not completed milestones.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Sources: repository README.md, ROADMAP.md and docs/agent-status/engineer.md, reviewed September 20, 2026. Local engineering checkpoint evidence is not independent production verification. No founder biography or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These effects are hypotheses, not measured network effects or proven competitive advantages.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streams sheet. Proposed products, not shipped features or validated demand. Market reference checked September 20, 2026: https://www.getjobber.com/pricing/ lists Core at $49/month, no commitment, one user, and Connect at $139/month, no commitment, one user. These are feature/billing references, not direct product equivalence.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Provider-owned crew engagement and compensation follow ROADMAP.md. Proposed optional Teams features must add value beyond essential tools already included in the core service. Worker-paid job access, wage deductions and mandatory paid credentials are excluded from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Primary source: https://www.zocdoc.com/provider-help/en/articles/8709753-how-much-does-sponsored-results-cost . Zocdoc charges sponsored fees above booking fees using bid-based advertising. YardMatch proposal differs: completed-first-job fee, no repeat-pair charge, one disclosed option within qualified backups. ROADMAP.md currently keeps sponsorship dormant and main recommendations quality-first. This is a commercial experiment, not an approved ranking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Pro-only adoption 30%, Teams adoption 12%, nine paid months, using the active-provider totals in the town forecast. Subscription net revenue after 2% credits/noncollection. Sponsorship: 12% provider participation, 27% first-job eligibility, 30% sponsored selection, capped by budget. No incremental households or GMV assumed. Subscription launch 2028, $120k build, annual fixed costs start $60k grow 35%; sponsorship launch 2030, $50k build, annual costs start $30k grow 30%. Variable delivery, card processing and 0.7% Billing fees also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New households enter halfway through the season. Annual household retention applies before the next service season. Cases share one formula-driven build.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Revenue is finder fees after welcome waivers plus 4% of card-paid service GMV and 2% of ACH-paid service GMV, with no minimum. Processing recovery offsets expense and is excluded from net marketplace revenue. Charts are editable snapshots of the Base model, not a live workbook 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EBITDA excludes depreciation, interest and taxes. EBIT includes equipment depreciation. Net income proxy uses an illustrative 25% tax on positive EBIT with no NOL benefit. Free cash flow includes equipment capex and a 1% annual-GMV restricted risk cash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No probability weights are assigned. Upside is a target case, not a forecast with validated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Previous plan: MAX($4.49,1%) plus processing. Selected: 4% card / 2% ACH, no minimum. Alternative: 4% card / 2.5% ACH, no minimum. Alternative is a comparison, not selected pricing. Processing recovered at cost in all columns. $40 CAC and property finder tiers remain. No adoption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One operating model is recalculated for each snapshot. Only 2033 ACH share changes, keeping earlier years unchanged. Same share applies to every service category, so share of jobs equals share of GMV. Processing cost recovery, payout cost and new bank-link allowance recalculate. No customer incentives or growth benefit assumed. ACH requires homeowner authorization: https://docs.stripe.com/payments/ach-direct-debit/accept-a-payment . ACH can fail or be disputed after an apparent success; loss and risk allowances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Financing illustration: $1.5m gross less $25k transaction expenses. Model opens with zero cash. 2027-2028 budget recalculates from the revised job mix. A finite pilot must validate proposed pricing and unit economics before growth funding. Annual model does not establish exact monthly runway.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https://usa.visa.com/support/small-business/regulations-fees.html explains interchange and acquiring-bank merchant discounts. https://www.frbservices.org/resources/fees/ach-2026 lists financial-institution ACH fees, not end-merchant prices. https://www.pcisecuritystandards.org/standards/pci-dss/ covers card-data security obligations. Source: YardMatch-Investor-Model.xlsx, assumptions and formula-driven Operating model, prepared September 21, 2026. All 2027-2033 figures are illustrative forecasts, not actuals or promises. US dollars. No commercial actuals supplied. Alternative assumptions are unquoted estimates.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Payments sheet: $600k build expensed half before launch and half at launch; $300k incremental annual operations growing 3%. Assumed alternative card 2.35%+$0.12, ACH min(0.10%+$0.25,$1.50), payout 0.10%+$0.10, active account $1/month. Unquoted estimates inclusive of replacement processing/network costs. Provider recovery stays 100%, so card/ACH savings are passed through. Table impact is pre-tax and includes build/run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Patrick instruction: 70% to Patrick, 30% to other initial owners, then dilute per round. Assumes new share issuance, no secondary sales or convertible instruments.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Equity proceeds arithmetic only. No exit multiple or transaction probability assumed. Initial price implies $6m pre-money and $7.5m post-money. These valuations are not supported by comparable transactions or an agreed term sheet. Equity value assumes distributable proceeds with no senior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Proposed validation gates, not achieved results. Figures chosen as operating test thresholds rather than claimed industry benchmarks.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YardMatch-Investor-Model.xlsx, assumptions and formula-driven Operating model, prepared September 21, 2026. All 2027-2033 figures are illustrative forecasts, not actuals or promises. US dollars. No commercial actuals supplied. Cohort calculation is undiscounted, five-year contribution using 2031 base economics. No customer lifetime value has been observed.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YardMatch-Barnegat-Partner-Pitch.pdf, September 2026, pages 1-9. Product illustrations and sample data are conceptual, not commercial traction. Payments pricing rechecked September 21, 2026, other payment sources checked September 20: https://stripe.com/pricing ; https://stripe.com/connect/pricing ; https://support.stripe.com/questions/monetizing-payments-with-stripe-connect ; https://stripe.com/financial-connections . US domestic card and platform-controlled Connect assumptions. Exact commercial account terms require confirmation. Source checked September 20, 2026: https://www.zocdoc.com/provider-help/en/articles/10859404-understanding-zocdoc-pricing-and-billing . Discovery versus reputation bookings, one-time new patient/provider connection fee. Not every new-doctor booking is chargeable. YardMatch behavior is a planning hypothesis. Source: US Census Bureau QuickFacts, Barnegat township, Ocean County, New Jersey, 2020-2024 estimates. https://www.census.gov/quickfacts/fact/table/barnegattownshipoceancountynewjersey/PST045225 . 10,265 households and 88.0% owner occupancy. Lawn eligibility and outsourcing propensities are separate planning assumptions in Town inputs. Source: YardMatch-Investor-Model.xlsx, assumptions and formula-driven Operating model, prepared September 21, 2026. All 2027-2033 figures are illustrative forecasts, not actuals or promises. US dollars. No commercial actuals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Barnegat: https://www.census.gov/quickfacts/fact/table/barnegattownshipoceancountynewjersey/PST045225 ; Stafford: https://www.census.gov/quickfacts/fact/table/staffordtownshipoceancountynewjersey/PST045225 ; Lacey: https://www.census.gov/quickfacts/fact/table/laceytownshipoceancountynewjersey/PST045225 ; Ocean / Waretown: https://www.census.gov/quickfacts/fact/table/oceantownshipoceancountynewjersey/PST045225 ; Berkeley: https://www.census.gov/quickfacts/fact/table/berkeleytownshipoceancountynewjersey/PST045225 ; Toms River: https://www.census.gov/quickfacts/fact/table/tomsrivertownshipoceancountynewjersey/PST045225 ; Brick: https://www.census.gov/quickfacts/fact/table/bricktownshipoceancountynewjersey/PST045225 ; Jackson: https://www.census.gov/quickfacts/fact/table/jacksontownshipoceancountynewjersey/PST045225 ; Howell: https://www.census.gov/quickfacts/fact/table/howelltownshipmonmouthcountynewjersey/PST045225 ; Wall: https://www.census.gov/quickfacts/fact/table/walltownshipmonmouthcountynewjersey/PST045225 ; Middletown: https://www.census.gov/quickfacts/fact/table/middletowntownshipmonmouthcountynewjersey/PST045225 ; Holmdel: https://www.census.gov/quickfacts/fact/table/holmdeltownshipmonmouthcountynewjersey/PST045225 ; Colts Neck: https://www.census.gov/quickfacts/fact/table/coltsnecktownshipmonmouthcountynewjersey/PST045225 ; Rumson: https://www.census.gov/quickfacts/fact/table/rumsonboroughnewjersey/PST045225 ACS 2020-2024 occupied-household and owner-occupancy estimates. Income in 2024 dollars. Figures are held constant through the forecast; no Census prediction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b250dc4cbd41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0e6cbe2a7b41f1" /><Relationship Type="http://schemas.openxmlformats.org/officeDocument/2006/relationships/slideLayout" Target="/ppt/slideLayouts/slideLayout1.xml" Id="R23c733232b6b4e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c733232b6b4e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7b3c46e5cd46a8" /><Relationship Type="http://schemas.openxmlformats.org/officeDocument/2006/relationships/image" Target="/ppt/media/image.png" Id="R989f28934ef74fe4" /><Relationship Type="http://schemas.openxmlformats.org/officeDocument/2006/relationships/notesSlide" Target="/ppt/notesSlides/notesSlide1.xml" Id="R8625bead427e48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b80e35d2bb41ef" /><Relationship Type="http://schemas.openxmlformats.org/officeDocument/2006/relationships/notesSlide" Target="/ppt/notesSlides/notesSlide2.xml" Id="R20a4e6b5255647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c1c1ad6eb847bc" /><Relationship Type="http://schemas.openxmlformats.org/officeDocument/2006/relationships/notesSlide" Target="/ppt/notesSlides/notesSlide3.xml" Id="Rac15f866342743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d11ddf28564daa" /><Relationship Type="http://schemas.openxmlformats.org/officeDocument/2006/relationships/image" Target="/ppt/media/image2.png" Id="R0103b94b707e4427" /><Relationship Type="http://schemas.openxmlformats.org/officeDocument/2006/relationships/notesSlide" Target="/ppt/notesSlides/notesSlide4.xml" Id="R742c01dcf5c24e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6af4f6069d45c8" /><Relationship Type="http://schemas.openxmlformats.org/officeDocument/2006/relationships/image" Target="/ppt/media/image3.png" Id="R1f947e61a8e24e60" /><Relationship Type="http://schemas.openxmlformats.org/officeDocument/2006/relationships/notesSlide" Target="/ppt/notesSlides/notesSlide5.xml" Id="R010beecda4034e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9619cdf1944f8d" /><Relationship Type="http://schemas.openxmlformats.org/officeDocument/2006/relationships/notesSlide" Target="/ppt/notesSlides/notesSlide6.xml" Id="R76381495fe6841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97237f913544667" /><Relationship Type="http://schemas.openxmlformats.org/officeDocument/2006/relationships/notesSlide" Target="/ppt/notesSlides/notesSlide7.xml" Id="R4e54f86694b94c2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813411321ab46dc" /><Relationship Type="http://schemas.openxmlformats.org/officeDocument/2006/relationships/notesSlide" Target="/ppt/notesSlides/notesSlide8.xml" Id="R2d4723807f304b9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0e4226a85624739" /><Relationship Type="http://schemas.openxmlformats.org/officeDocument/2006/relationships/notesSlide" Target="/ppt/notesSlides/notesSlide9.xml" Id="Rcc60b33b66fd47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bd4a37fe6574d2d" /><Relationship Type="http://schemas.openxmlformats.org/officeDocument/2006/relationships/notesSlide" Target="/ppt/notesSlides/notesSlide10.xml" Id="R7c0f4fd1917c40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cf4edc9b6074fa6" /><Relationship Type="http://schemas.openxmlformats.org/officeDocument/2006/relationships/notesSlide" Target="/ppt/notesSlides/notesSlide11.xml" Id="Rd35fa58dd8254cd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36f6a1b46e4541" /><Relationship Type="http://schemas.openxmlformats.org/officeDocument/2006/relationships/notesSlide" Target="/ppt/notesSlides/notesSlide12.xml" Id="Rd2a26dcc2dae4dd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3a6e7cd91f040e0" /><Relationship Type="http://schemas.openxmlformats.org/officeDocument/2006/relationships/notesSlide" Target="/ppt/notesSlides/notesSlide13.xml" Id="R2f6aa87a86874bd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6b7b99f0d2d4da3" /><Relationship Type="http://schemas.openxmlformats.org/officeDocument/2006/relationships/notesSlide" Target="/ppt/notesSlides/notesSlide14.xml" Id="R14eec27d3b9f4a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c166696ed054843" /><Relationship Type="http://schemas.openxmlformats.org/officeDocument/2006/relationships/notesSlide" Target="/ppt/notesSlides/notesSlide15.xml" Id="R54400ba9ce5c4bc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2c022fbb0e42d7" /><Relationship Type="http://schemas.openxmlformats.org/officeDocument/2006/relationships/notesSlide" Target="/ppt/notesSlides/notesSlide16.xml" Id="R91e8bc701f2e49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6d9e08244d478d" /><Relationship Type="http://schemas.openxmlformats.org/officeDocument/2006/relationships/notesSlide" Target="/ppt/notesSlides/notesSlide17.xml" Id="R59e6f1165d8c464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c7f78a1ad1c408f" /><Relationship Type="http://schemas.openxmlformats.org/officeDocument/2006/relationships/notesSlide" Target="/ppt/notesSlides/notesSlide18.xml" Id="R51cd90f7c8b04a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db0fe6a4ee34463" /><Relationship Type="http://schemas.openxmlformats.org/officeDocument/2006/relationships/notesSlide" Target="/ppt/notesSlides/notesSlide19.xml" Id="R7023dfcc21794fb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b61fdbd01ae4d6f" /><Relationship Type="http://schemas.openxmlformats.org/officeDocument/2006/relationships/notesSlide" Target="/ppt/notesSlides/notesSlide20.xml" Id="Ra611577a89d646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5c252cdad714024" /><Relationship Type="http://schemas.openxmlformats.org/officeDocument/2006/relationships/notesSlide" Target="/ppt/notesSlides/notesSlide21.xml" Id="R45986a6a930b47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6d62b9556c24b4f" /><Relationship Type="http://schemas.openxmlformats.org/officeDocument/2006/relationships/notesSlide" Target="/ppt/notesSlides/notesSlide22.xml" Id="Rfd873179fe1645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3b5f370eaf44a9d" /><Relationship Type="http://schemas.openxmlformats.org/officeDocument/2006/relationships/notesSlide" Target="/ppt/notesSlides/notesSlide23.xml" Id="R3fe7380cd3a5430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90ca8669d17445b" /><Relationship Type="http://schemas.openxmlformats.org/officeDocument/2006/relationships/chart" Target="/ppt/slides/charts/chart1.xml" Id="R2968195ee6354fa9" /><Relationship Type="http://schemas.openxmlformats.org/officeDocument/2006/relationships/notesSlide" Target="/ppt/notesSlides/notesSlide24.xml" Id="Rf43ab9743b0645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5e62d04c3d4e5e" /><Relationship Type="http://schemas.openxmlformats.org/officeDocument/2006/relationships/notesSlide" Target="/ppt/notesSlides/notesSlide25.xml" Id="R70b7a839c657442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fc426e406fb45f8" /><Relationship Type="http://schemas.openxmlformats.org/officeDocument/2006/relationships/notesSlide" Target="/ppt/notesSlides/notesSlide26.xml" Id="Rcb4ba31d1e504e7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ef9bc138e8014c05" /><Relationship Type="http://schemas.openxmlformats.org/officeDocument/2006/relationships/notesSlide" Target="/ppt/notesSlides/notesSlide27.xml" Id="R0434397e5309470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dd0801efcc64069" /><Relationship Type="http://schemas.openxmlformats.org/officeDocument/2006/relationships/notesSlide" Target="/ppt/notesSlides/notesSlide28.xml" Id="R7cdc0047aa7641a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a195b39198a4f91" /><Relationship Type="http://schemas.openxmlformats.org/officeDocument/2006/relationships/notesSlide" Target="/ppt/notesSlides/notesSlide29.xml" Id="R73f7b7d850ff455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80a327a345f4464" /><Relationship Type="http://schemas.openxmlformats.org/officeDocument/2006/relationships/notesSlide" Target="/ppt/notesSlides/notesSlide30.xml" Id="R474facd9ad85460e"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d026efab8e154f01" /><Relationship Type="http://schemas.openxmlformats.org/officeDocument/2006/relationships/notesSlide" Target="/ppt/notesSlides/notesSlide31.xml" Id="R64ed5ae2e18d462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016b92a21df41e7" /><Relationship Type="http://schemas.openxmlformats.org/officeDocument/2006/relationships/notesSlide" Target="/ppt/notesSlides/notesSlide32.xml" Id="R6c2a5e37c6c542e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bbf3e9f00c54967" /><Relationship Type="http://schemas.openxmlformats.org/officeDocument/2006/relationships/notesSlide" Target="/ppt/notesSlides/notesSlide33.xml" Id="R98440131407448e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e57a01a4dcb4f0d" /><Relationship Type="http://schemas.openxmlformats.org/officeDocument/2006/relationships/notesSlide" Target="/ppt/notesSlides/notesSlide34.xml" Id="R3c5ea2802edf481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2d5c81547214f62" /><Relationship Type="http://schemas.openxmlformats.org/officeDocument/2006/relationships/notesSlide" Target="/ppt/notesSlides/notesSlide35.xml" Id="Ra6efe6701b4b4e6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55d0aba171f413a" /><Relationship Type="http://schemas.openxmlformats.org/officeDocument/2006/relationships/hyperlink" Target="https://stripe.com/pricing" TargetMode="External" Id="R44cad295eeef49f9" /><Relationship Type="http://schemas.openxmlformats.org/officeDocument/2006/relationships/hyperlink" Target="https://stripe.com/connect/pricing" TargetMode="External" Id="Rcb5d14e9eb4b465f" /><Relationship Type="http://schemas.openxmlformats.org/officeDocument/2006/relationships/hyperlink" Target="https://stripe.com/financial-connections" TargetMode="External" Id="R48fd9b309a2d4048" /><Relationship Type="http://schemas.openxmlformats.org/officeDocument/2006/relationships/hyperlink" Target="https://www.zocdoc.com/provider-help/en/articles/10859404-understanding-zocdoc-pricing-and-billing" TargetMode="External" Id="Rd9d339a4372348a9" /><Relationship Type="http://schemas.openxmlformats.org/officeDocument/2006/relationships/hyperlink" Target="https://www.zocdoc.com/about/understanding-your-bill/" TargetMode="External" Id="Ra85d79fe5caa46a7" /><Relationship Type="http://schemas.openxmlformats.org/officeDocument/2006/relationships/hyperlink" Target="https://usa.visa.com/support/small-business/regulations-fees.html" TargetMode="External" Id="R2ed63299ae7e4fe9" /><Relationship Type="http://schemas.openxmlformats.org/officeDocument/2006/relationships/hyperlink" Target="https://www.frbservices.org/resources/fees/ach-2026" TargetMode="External" Id="R6638610760824897" /><Relationship Type="http://schemas.openxmlformats.org/officeDocument/2006/relationships/hyperlink" Target="https://www.pcisecuritystandards.org/standards/pci-dss/" TargetMode="External" Id="R68901354806840a7" /><Relationship Type="http://schemas.openxmlformats.org/officeDocument/2006/relationships/hyperlink" Target="https://www.census.gov/quickfacts/fact/table/barnegattownshipoceancountynewjersey/PST045225" TargetMode="External" Id="R9758f507320f4639" /><Relationship Type="http://schemas.openxmlformats.org/officeDocument/2006/relationships/hyperlink" Target="https://www.getjobber.com/pricing/" TargetMode="External" Id="R41588ee5ee0249da" /><Relationship Type="http://schemas.openxmlformats.org/officeDocument/2006/relationships/hyperlink" Target="https://www.zocdoc.com/provider-help/en/articles/8709753-how-much-does-sponsored-results-cost" TargetMode="External" Id="Rc6e8390e5b744e8a" /><Relationship Type="http://schemas.openxmlformats.org/officeDocument/2006/relationships/hyperlink" Target="https://stripe.com/billing/pricing" TargetMode="External" Id="Rd71701c6d1374afc" /><Relationship Type="http://schemas.openxmlformats.org/officeDocument/2006/relationships/notesSlide" Target="/ppt/notesSlides/notesSlide36.xml" Id="R7e3b0e2c80c14a5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5b5528f30574153" /><Relationship Type="http://schemas.openxmlformats.org/officeDocument/2006/relationships/hyperlink" Target="https://www.census.gov/quickfacts/fact/table/barnegattownshipoceancountynewjersey/PST045225" TargetMode="External" Id="R53b10431a5434e1d" /><Relationship Type="http://schemas.openxmlformats.org/officeDocument/2006/relationships/hyperlink" Target="https://www.census.gov/quickfacts/fact/table/staffordtownshipoceancountynewjersey/PST045225" TargetMode="External" Id="R8d432959b03843a7" /><Relationship Type="http://schemas.openxmlformats.org/officeDocument/2006/relationships/hyperlink" Target="https://www.census.gov/quickfacts/fact/table/laceytownshipoceancountynewjersey/PST045225" TargetMode="External" Id="R1388d0998f2e43cd" /><Relationship Type="http://schemas.openxmlformats.org/officeDocument/2006/relationships/hyperlink" Target="https://www.census.gov/quickfacts/fact/table/oceantownshipoceancountynewjersey/PST045225" TargetMode="External" Id="R59d1e5b665e2416e" /><Relationship Type="http://schemas.openxmlformats.org/officeDocument/2006/relationships/hyperlink" Target="https://www.census.gov/quickfacts/fact/table/berkeleytownshipoceancountynewjersey/PST045225" TargetMode="External" Id="Rfeff6be0c320473f" /><Relationship Type="http://schemas.openxmlformats.org/officeDocument/2006/relationships/hyperlink" Target="https://www.census.gov/quickfacts/fact/table/tomsrivertownshipoceancountynewjersey/PST045225" TargetMode="External" Id="R966d1bc08c634ea2" /><Relationship Type="http://schemas.openxmlformats.org/officeDocument/2006/relationships/hyperlink" Target="https://www.census.gov/quickfacts/fact/table/bricktownshipoceancountynewjersey/PST045225" TargetMode="External" Id="R7bf963d5e3fd434d" /><Relationship Type="http://schemas.openxmlformats.org/officeDocument/2006/relationships/notesSlide" Target="/ppt/notesSlides/notesSlide37.xml" Id="Rde3e6727d8ce44a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7d73049b7f84bc5" /><Relationship Type="http://schemas.openxmlformats.org/officeDocument/2006/relationships/hyperlink" Target="https://www.census.gov/quickfacts/fact/table/jacksontownshipoceancountynewjersey/PST045225" TargetMode="External" Id="R5b508099dcc94ebe" /><Relationship Type="http://schemas.openxmlformats.org/officeDocument/2006/relationships/hyperlink" Target="https://www.census.gov/quickfacts/fact/table/howelltownshipmonmouthcountynewjersey/PST045225" TargetMode="External" Id="R3531cfa703c447ef" /><Relationship Type="http://schemas.openxmlformats.org/officeDocument/2006/relationships/hyperlink" Target="https://www.census.gov/quickfacts/fact/table/walltownshipmonmouthcountynewjersey/PST045225" TargetMode="External" Id="Rc84775e585ad406f" /><Relationship Type="http://schemas.openxmlformats.org/officeDocument/2006/relationships/hyperlink" Target="https://www.census.gov/quickfacts/fact/table/middletowntownshipmonmouthcountynewjersey/PST045225" TargetMode="External" Id="R222ef6956a0d4d78" /><Relationship Type="http://schemas.openxmlformats.org/officeDocument/2006/relationships/hyperlink" Target="https://www.census.gov/quickfacts/fact/table/holmdeltownshipmonmouthcountynewjersey/PST045225" TargetMode="External" Id="R767f350277284273" /><Relationship Type="http://schemas.openxmlformats.org/officeDocument/2006/relationships/hyperlink" Target="https://www.census.gov/quickfacts/fact/table/coltsnecktownshipmonmouthcountynewjersey/PST045225" TargetMode="External" Id="R0b35f43dc9e54b67" /><Relationship Type="http://schemas.openxmlformats.org/officeDocument/2006/relationships/hyperlink" Target="https://www.census.gov/quickfacts/fact/table/rumsonboroughnewjersey/PST045225" TargetMode="External" Id="R07e33f2789054466" /><Relationship Type="http://schemas.openxmlformats.org/officeDocument/2006/relationships/notesSlide" Target="/ppt/notesSlides/notesSlide38.xml" Id="R6b8655232e45422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Finder fees after waivers</c:v>
          </c:tx>
          <c:spPr>
            <a:solidFill xmlns:a="http://schemas.openxmlformats.org/drawingml/2006/main">
              <a:srgbClr val="8EAA79"/>
            </a:solidFill>
          </c:spPr>
          <c:cat>
            <c:numRef>
              <c:f>'Chart Data'!$A$2:$A$8</c:f>
              <c:numCache>
                <c:formatCode>General</c:formatCode>
                <c:ptCount val="7"/>
                <c:pt idx="0">
                  <c:v>2027</c:v>
                </c:pt>
                <c:pt idx="1">
                  <c:v>2028</c:v>
                </c:pt>
                <c:pt idx="2">
                  <c:v>2029</c:v>
                </c:pt>
                <c:pt idx="3">
                  <c:v>2030</c:v>
                </c:pt>
                <c:pt idx="4">
                  <c:v>2031</c:v>
                </c:pt>
                <c:pt idx="5">
                  <c:v>2032</c:v>
                </c:pt>
                <c:pt idx="6">
                  <c:v>2033</c:v>
                </c:pt>
              </c:numCache>
            </c:numRef>
          </c:cat>
          <c:val>
            <c:numRef>
              <c:f>'Chart Data'!$B$2:$B$8</c:f>
              <c:numCache>
                <c:formatCode>$0.0</c:formatCode>
                <c:ptCount val="7"/>
                <c:pt idx="0">
                  <c:v>0.012226</c:v>
                </c:pt>
                <c:pt idx="1">
                  <c:v>0.050178</c:v>
                </c:pt>
                <c:pt idx="2">
                  <c:v>0.104879</c:v>
                </c:pt>
                <c:pt idx="3">
                  <c:v>0.171307</c:v>
                </c:pt>
                <c:pt idx="4">
                  <c:v>0.233759</c:v>
                </c:pt>
                <c:pt idx="5">
                  <c:v>0.301908</c:v>
                </c:pt>
                <c:pt idx="6">
                  <c:v>0.341678</c:v>
                </c:pt>
              </c:numCache>
            </c:numRef>
          </c:val>
        </c:ser>
        <c:ser>
          <c:idx val="1"/>
          <c:order val="1"/>
          <c:tx>
            <c:v>Service fees</c:v>
          </c:tx>
          <c:spPr>
            <a:solidFill xmlns:a="http://schemas.openxmlformats.org/drawingml/2006/main">
              <a:srgbClr val="205938"/>
            </a:solidFill>
          </c:spPr>
          <c:cat>
            <c:numRef>
              <c:f>'Chart Data'!$C$2:$C$8</c:f>
              <c:numCache>
                <c:formatCode>General</c:formatCode>
                <c:ptCount val="7"/>
                <c:pt idx="0">
                  <c:v>2027</c:v>
                </c:pt>
                <c:pt idx="1">
                  <c:v>2028</c:v>
                </c:pt>
                <c:pt idx="2">
                  <c:v>2029</c:v>
                </c:pt>
                <c:pt idx="3">
                  <c:v>2030</c:v>
                </c:pt>
                <c:pt idx="4">
                  <c:v>2031</c:v>
                </c:pt>
                <c:pt idx="5">
                  <c:v>2032</c:v>
                </c:pt>
                <c:pt idx="6">
                  <c:v>2033</c:v>
                </c:pt>
              </c:numCache>
            </c:numRef>
          </c:cat>
          <c:val>
            <c:numRef>
              <c:f>'Chart Data'!$D$2:$D$8</c:f>
              <c:numCache>
                <c:formatCode>$0.0</c:formatCode>
                <c:ptCount val="7"/>
                <c:pt idx="0">
                  <c:v>0.007385</c:v>
                </c:pt>
                <c:pt idx="1">
                  <c:v>0.04228</c:v>
                </c:pt>
                <c:pt idx="2">
                  <c:v>0.120918</c:v>
                </c:pt>
                <c:pt idx="3">
                  <c:v>0.25251</c:v>
                </c:pt>
                <c:pt idx="4">
                  <c:v>0.433823</c:v>
                </c:pt>
                <c:pt idx="5">
                  <c:v>0.671673</c:v>
                </c:pt>
                <c:pt idx="6">
                  <c:v>0.938446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DF"/>
            </a:solidFill>
          </a:ln>
        </c:spPr>
        <c:txPr>
          <a:bodyPr xmlns:a="http://schemas.openxmlformats.org/drawingml/2006/main" anchorCtr="1"/>
          <a:lstStyle xmlns:a="http://schemas.openxmlformats.org/drawingml/2006/main"/>
          <a:p xmlns:a="http://schemas.openxmlformats.org/drawingml/2006/main">
            <a:pPr>
              <a:defRPr sz="1350">
                <a:solidFill>
                  <a:srgbClr val="14281D"/>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9DFD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756A"/>
                </a:solidFill>
                <a:latin typeface="Arial"/>
                <a:ea typeface="Arial"/>
                <a:cs typeface="Arial"/>
              </a:defRPr>
            </a:pPr>
          </a:p>
        </c:txPr>
        <c:crossAx val="48650112"/>
        <c:crossBetween val="between"/>
        <c:majorUnit val="0.3"/>
      </c:valAx>
      <c:spPr>
        <a:solidFill xmlns:a="http://schemas.openxmlformats.org/drawingml/2006/main">
          <a:srgbClr val="F7F5E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14281D"/>
              </a:solidFill>
              <a:latin typeface="Arial"/>
              <a:ea typeface="Arial"/>
              <a:cs typeface="Arial"/>
            </a:defRPr>
          </a:pPr>
        </a:p>
      </c:txPr>
    </c:legend>
    <c:plotVisOnly val="1"/>
  </c:chart>
  <c:spPr>
    <a:solidFill xmlns:a="http://schemas.openxmlformats.org/drawingml/2006/main">
      <a:srgbClr val="F7F5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ardMatch">
            <a:extLst xmlns:a="http://schemas.openxmlformats.org/drawingml/2006/main">
              <a:ext uri="{FF2B5EF4-FFF2-40B4-BE49-F238E27FC236}">
                <a16:creationId xmlns:a16="http://schemas.microsoft.com/office/drawing/2014/main" id="{B9D95F13-7232-45D4-AD66-C8DDECCA3F4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2" name="01">
            <a:extLst xmlns:a="http://schemas.openxmlformats.org/drawingml/2006/main">
              <a:ext uri="{FF2B5EF4-FFF2-40B4-BE49-F238E27FC236}">
                <a16:creationId xmlns:a16="http://schemas.microsoft.com/office/drawing/2014/main" id="{3CBE1140-E809-4D93-95C5-19EC77399D6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89f28934ef74fe4"/>
          <a:stretch xmlns:a="http://schemas.openxmlformats.org/drawingml/2006/main"/>
        </p:blipFill>
        <p:spPr>
          <a:xfrm xmlns:a="http://schemas.openxmlformats.org/drawingml/2006/main">
            <a:off x="552450" y="461963"/>
            <a:ext cx="4714875" cy="1571625"/>
          </a:xfrm>
          <a:prstGeom xmlns:a="http://schemas.openxmlformats.org/drawingml/2006/main" prst="rect">
            <a:avLst/>
          </a:prstGeom>
        </p:spPr>
      </p:pic>
      <p:sp>
        <p:nvSpPr>
          <p:cNvPr id="4" name="Investing in YardMatch">
            <a:extLst xmlns:a="http://schemas.openxmlformats.org/drawingml/2006/main">
              <a:ext uri="{FF2B5EF4-FFF2-40B4-BE49-F238E27FC236}">
                <a16:creationId xmlns:a16="http://schemas.microsoft.com/office/drawing/2014/main" id="{DE3BA274-F959-4DB2-825B-1860BF5BB9E4}"/>
              </a:ext>
            </a:extLst>
          </p:cNvPr>
          <p:cNvSpPr>
            <a:spLocks xmlns:a="http://schemas.openxmlformats.org/drawingml/2006/main" noGrp="1"/>
          </p:cNvSpPr>
          <p:nvPr/>
        </p:nvSpPr>
        <p:spPr>
          <a:xfrm xmlns:a="http://schemas.openxmlformats.org/drawingml/2006/main">
            <a:off x="609600" y="2466975"/>
            <a:ext cx="105727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0">
                <a:solidFill>
                  <a:srgbClr val="205938"/>
                </a:solidFill>
                <a:latin typeface="Georgia"/>
                <a:ea typeface="Georgia"/>
                <a:cs typeface="Georgia"/>
              </a:defRPr>
            </a:pPr>
            <a:r>
              <a:rPr sz="5100" b="0">
                <a:solidFill>
                  <a:srgbClr val="205938"/>
                </a:solidFill>
                <a:latin typeface="Georgia"/>
                <a:ea typeface="Georgia"/>
                <a:cs typeface="Georgia"/>
              </a:rPr>
              <a:t>Investing in YardMatch</a:t>
            </a:r>
          </a:p>
        </p:txBody>
      </p:sp>
      <p:sp>
        <p:nvSpPr>
          <p:cNvPr id="5" name="A managed marketplace for homeowners and local ser">
            <a:extLst xmlns:a="http://schemas.openxmlformats.org/drawingml/2006/main">
              <a:ext uri="{FF2B5EF4-FFF2-40B4-BE49-F238E27FC236}">
                <a16:creationId xmlns:a16="http://schemas.microsoft.com/office/drawing/2014/main" id="{938EFD02-72E3-40E8-929D-9404EC08BE0B}"/>
              </a:ext>
            </a:extLst>
          </p:cNvPr>
          <p:cNvSpPr>
            <a:spLocks xmlns:a="http://schemas.openxmlformats.org/drawingml/2006/main" noGrp="1"/>
          </p:cNvSpPr>
          <p:nvPr/>
        </p:nvSpPr>
        <p:spPr>
          <a:xfrm xmlns:a="http://schemas.openxmlformats.org/drawingml/2006/main">
            <a:off x="647700" y="4552950"/>
            <a:ext cx="971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A managed marketplace for homeowners and local service businesses</a:t>
            </a:r>
          </a:p>
        </p:txBody>
      </p:sp>
      <p:sp>
        <p:nvSpPr>
          <p:cNvPr id="6" name="Investor discussion draft&#10;September 2026">
            <a:extLst xmlns:a="http://schemas.openxmlformats.org/drawingml/2006/main">
              <a:ext uri="{FF2B5EF4-FFF2-40B4-BE49-F238E27FC236}">
                <a16:creationId xmlns:a16="http://schemas.microsoft.com/office/drawing/2014/main" id="{EB161070-B6F4-4A05-9045-4AE6BBB40705}"/>
              </a:ext>
            </a:extLst>
          </p:cNvPr>
          <p:cNvSpPr>
            <a:spLocks xmlns:a="http://schemas.openxmlformats.org/drawingml/2006/main" noGrp="1"/>
          </p:cNvSpPr>
          <p:nvPr/>
        </p:nvSpPr>
        <p:spPr>
          <a:xfrm xmlns:a="http://schemas.openxmlformats.org/drawingml/2006/main">
            <a:off x="647700" y="5505450"/>
            <a:ext cx="7429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Investor discussion draft</a:t>
            </a:r>
          </a:p>
          <a:p xmlns:a="http://schemas.openxmlformats.org/drawingml/2006/main">
            <a:pPr algn="l">
              <a:defRPr sz="1500" b="0">
                <a:solidFill>
                  <a:srgbClr val="66756A"/>
                </a:solidFill>
                <a:latin typeface="Arial"/>
                <a:ea typeface="Arial"/>
                <a:cs typeface="Arial"/>
              </a:defRPr>
            </a:pPr>
            <a:r>
              <a:rPr sz="1500" b="0">
                <a:solidFill>
                  <a:srgbClr val="66756A"/>
                </a:solidFill>
                <a:latin typeface="Arial"/>
                <a:ea typeface="Arial"/>
                <a:cs typeface="Arial"/>
              </a:rPr>
              <a:t>September 2026</a:t>
            </a:r>
          </a:p>
        </p:txBody>
      </p:sp>
    </p:spTree>
    <p:extLst>
      <p:ext uri="{BB962C8B-B14F-4D97-AF65-F5344CB8AC3E}">
        <p14:creationId xmlns:p14="http://schemas.microsoft.com/office/powerpoint/2010/main" val="166706526"/>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The investment thesis">
            <a:extLst xmlns:a="http://schemas.openxmlformats.org/drawingml/2006/main">
              <a:ext uri="{FF2B5EF4-FFF2-40B4-BE49-F238E27FC236}">
                <a16:creationId xmlns:a16="http://schemas.microsoft.com/office/drawing/2014/main" id="{F6F5732C-D28C-400F-9629-5FE78CD2C06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investment thesis</a:t>
            </a:r>
          </a:p>
        </p:txBody>
      </p:sp>
      <p:sp>
        <p:nvSpPr>
          <p:cNvPr id="2" name="Own a share of the company that helps local servic">
            <a:extLst xmlns:a="http://schemas.openxmlformats.org/drawingml/2006/main">
              <a:ext uri="{FF2B5EF4-FFF2-40B4-BE49-F238E27FC236}">
                <a16:creationId xmlns:a16="http://schemas.microsoft.com/office/drawing/2014/main" id="{20D62764-236B-435A-8B97-DB2B58FB478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Own a share of the company that helps local service relationships form and continue.</a:t>
            </a:r>
          </a:p>
        </p:txBody>
      </p:sp>
      <p:sp>
        <p:nvSpPr>
          <p:cNvPr id="3" name="YardMatch">
            <a:extLst xmlns:a="http://schemas.openxmlformats.org/drawingml/2006/main">
              <a:ext uri="{FF2B5EF4-FFF2-40B4-BE49-F238E27FC236}">
                <a16:creationId xmlns:a16="http://schemas.microsoft.com/office/drawing/2014/main" id="{2A4095C8-A4C1-4C30-B0A3-E13F4A86F24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2">
            <a:extLst xmlns:a="http://schemas.openxmlformats.org/drawingml/2006/main">
              <a:ext uri="{FF2B5EF4-FFF2-40B4-BE49-F238E27FC236}">
                <a16:creationId xmlns:a16="http://schemas.microsoft.com/office/drawing/2014/main" id="{9D0A9900-A425-4871-9AAE-9DD1B0F6656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02</a:t>
            </a:r>
          </a:p>
        </p:txBody>
      </p:sp>
      <p:sp>
        <p:nvSpPr>
          <p:cNvPr id="5" name="A useful first transaction">
            <a:extLst xmlns:a="http://schemas.openxmlformats.org/drawingml/2006/main">
              <a:ext uri="{FF2B5EF4-FFF2-40B4-BE49-F238E27FC236}">
                <a16:creationId xmlns:a16="http://schemas.microsoft.com/office/drawing/2014/main" id="{1C44712D-A979-4F6C-B4AB-79314CA5F80F}"/>
              </a:ext>
            </a:extLst>
          </p:cNvPr>
          <p:cNvSpPr>
            <a:spLocks xmlns:a="http://schemas.openxmlformats.org/drawingml/2006/main" noGrp="1"/>
          </p:cNvSpPr>
          <p:nvPr/>
        </p:nvSpPr>
        <p:spPr>
          <a:xfrm xmlns:a="http://schemas.openxmlformats.org/drawingml/2006/main">
            <a:off x="628650" y="249555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useful first transaction</a:t>
            </a:r>
          </a:p>
        </p:txBody>
      </p:sp>
      <p:sp>
        <p:nvSpPr>
          <p:cNvPr id="6" name="A qualified recommendation helps a homeowner book ">
            <a:extLst xmlns:a="http://schemas.openxmlformats.org/drawingml/2006/main">
              <a:ext uri="{FF2B5EF4-FFF2-40B4-BE49-F238E27FC236}">
                <a16:creationId xmlns:a16="http://schemas.microsoft.com/office/drawing/2014/main" id="{1A557AE4-F155-4E6C-B3CC-A402C7B8B1B1}"/>
              </a:ext>
            </a:extLst>
          </p:cNvPr>
          <p:cNvSpPr>
            <a:spLocks xmlns:a="http://schemas.openxmlformats.org/drawingml/2006/main" noGrp="1"/>
          </p:cNvSpPr>
          <p:nvPr/>
        </p:nvSpPr>
        <p:spPr>
          <a:xfrm xmlns:a="http://schemas.openxmlformats.org/drawingml/2006/main">
            <a:off x="628650" y="3019425"/>
            <a:ext cx="49720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 qualified recommendation helps a homeowner book and gives a provider a new customer.</a:t>
            </a:r>
          </a:p>
        </p:txBody>
      </p:sp>
      <p:sp>
        <p:nvSpPr>
          <p:cNvPr id="7" name="An ongoing reason to return">
            <a:extLst xmlns:a="http://schemas.openxmlformats.org/drawingml/2006/main">
              <a:ext uri="{FF2B5EF4-FFF2-40B4-BE49-F238E27FC236}">
                <a16:creationId xmlns:a16="http://schemas.microsoft.com/office/drawing/2014/main" id="{DFDEE9B5-A816-48C6-8D41-4911ACDA477A}"/>
              </a:ext>
            </a:extLst>
          </p:cNvPr>
          <p:cNvSpPr>
            <a:spLocks xmlns:a="http://schemas.openxmlformats.org/drawingml/2006/main" noGrp="1"/>
          </p:cNvSpPr>
          <p:nvPr/>
        </p:nvSpPr>
        <p:spPr>
          <a:xfrm xmlns:a="http://schemas.openxmlformats.org/drawingml/2006/main">
            <a:off x="6381750" y="24955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An ongoing reason to return</a:t>
            </a:r>
          </a:p>
        </p:txBody>
      </p:sp>
      <p:sp>
        <p:nvSpPr>
          <p:cNvPr id="8" name="Schedules, service history, arrival updates and is">
            <a:extLst xmlns:a="http://schemas.openxmlformats.org/drawingml/2006/main">
              <a:ext uri="{FF2B5EF4-FFF2-40B4-BE49-F238E27FC236}">
                <a16:creationId xmlns:a16="http://schemas.microsoft.com/office/drawing/2014/main" id="{728E0757-B743-4937-B048-3B3050A02374}"/>
              </a:ext>
            </a:extLst>
          </p:cNvPr>
          <p:cNvSpPr>
            <a:spLocks xmlns:a="http://schemas.openxmlformats.org/drawingml/2006/main" noGrp="1"/>
          </p:cNvSpPr>
          <p:nvPr/>
        </p:nvSpPr>
        <p:spPr>
          <a:xfrm xmlns:a="http://schemas.openxmlformats.org/drawingml/2006/main">
            <a:off x="6381750" y="301942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Schedules, service history, arrival updates and issue resolution keep later visits connected.</a:t>
            </a:r>
          </a:p>
        </p:txBody>
      </p:sp>
      <p:sp>
        <p:nvSpPr>
          <p:cNvPr id="9" name="The opportunity depends on profitable repeat use">
            <a:extLst xmlns:a="http://schemas.openxmlformats.org/drawingml/2006/main">
              <a:ext uri="{FF2B5EF4-FFF2-40B4-BE49-F238E27FC236}">
                <a16:creationId xmlns:a16="http://schemas.microsoft.com/office/drawing/2014/main" id="{B0A27898-C03E-473B-8E6B-1DCEDE35FFC6}"/>
              </a:ext>
            </a:extLst>
          </p:cNvPr>
          <p:cNvSpPr>
            <a:spLocks xmlns:a="http://schemas.openxmlformats.org/drawingml/2006/main" noGrp="1"/>
          </p:cNvSpPr>
          <p:nvPr/>
        </p:nvSpPr>
        <p:spPr>
          <a:xfrm xmlns:a="http://schemas.openxmlformats.org/drawingml/2006/main">
            <a:off x="628650" y="4581525"/>
            <a:ext cx="10715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05938"/>
                </a:solidFill>
                <a:latin typeface="Arial"/>
                <a:ea typeface="Arial"/>
                <a:cs typeface="Arial"/>
              </a:defRPr>
            </a:pPr>
            <a:r>
              <a:rPr sz="2475" b="1">
                <a:solidFill>
                  <a:srgbClr val="205938"/>
                </a:solidFill>
                <a:latin typeface="Arial"/>
                <a:ea typeface="Arial"/>
                <a:cs typeface="Arial"/>
              </a:rPr>
              <a:t>The opportunity depends on profitable repeat use</a:t>
            </a:r>
          </a:p>
        </p:txBody>
      </p:sp>
      <p:sp>
        <p:nvSpPr>
          <p:cNvPr id="10" name="Property-based finder fees and recurring service f">
            <a:extLst xmlns:a="http://schemas.openxmlformats.org/drawingml/2006/main">
              <a:ext uri="{FF2B5EF4-FFF2-40B4-BE49-F238E27FC236}">
                <a16:creationId xmlns:a16="http://schemas.microsoft.com/office/drawing/2014/main" id="{91762A23-EDF8-4CC3-BB92-968DA2AB17BB}"/>
              </a:ext>
            </a:extLst>
          </p:cNvPr>
          <p:cNvSpPr>
            <a:spLocks xmlns:a="http://schemas.openxmlformats.org/drawingml/2006/main" noGrp="1"/>
          </p:cNvSpPr>
          <p:nvPr/>
        </p:nvSpPr>
        <p:spPr>
          <a:xfrm xmlns:a="http://schemas.openxmlformats.org/drawingml/2006/main">
            <a:off x="628650" y="5181600"/>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4281D"/>
                </a:solidFill>
                <a:latin typeface="Arial"/>
                <a:ea typeface="Arial"/>
                <a:cs typeface="Arial"/>
              </a:defRPr>
            </a:pPr>
            <a:r>
              <a:rPr sz="1950" b="0">
                <a:solidFill>
                  <a:srgbClr val="14281D"/>
                </a:solidFill>
                <a:latin typeface="Arial"/>
                <a:ea typeface="Arial"/>
                <a:cs typeface="Arial"/>
              </a:rPr>
              <a:t>Property-based finder fees and recurring service fees can fund ongoing care. Providers also cover payment processing at cost. A pilot must validate acceptance and retention.</a:t>
            </a:r>
          </a:p>
        </p:txBody>
      </p:sp>
      <p:sp>
        <p:nvSpPr>
          <p:cNvPr id="11" name="Investment hypothesis. Core forecasts use finder a">
            <a:extLst xmlns:a="http://schemas.openxmlformats.org/drawingml/2006/main">
              <a:ext uri="{FF2B5EF4-FFF2-40B4-BE49-F238E27FC236}">
                <a16:creationId xmlns:a16="http://schemas.microsoft.com/office/drawing/2014/main" id="{6797B45D-64B1-4B55-AE89-C893BF85FE86}"/>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Investment hypothesis. Core forecasts use finder and service fees. Optional provider subscriptions and sponsorship appear as separate expansion cases.</a:t>
            </a:r>
          </a:p>
        </p:txBody>
      </p:sp>
    </p:spTree>
    <p:extLst>
      <p:ext uri="{BB962C8B-B14F-4D97-AF65-F5344CB8AC3E}">
        <p14:creationId xmlns:p14="http://schemas.microsoft.com/office/powerpoint/2010/main" val="153066987"/>
      </p:ext>
    </p:extLst>
  </p:cSld>
</p:sld>
</file>

<file path=ppt/slides/slide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ooking is only the start of the work">
            <a:extLst xmlns:a="http://schemas.openxmlformats.org/drawingml/2006/main">
              <a:ext uri="{FF2B5EF4-FFF2-40B4-BE49-F238E27FC236}">
                <a16:creationId xmlns:a16="http://schemas.microsoft.com/office/drawing/2014/main" id="{319FB2C2-4731-44E8-ACD1-020F8786F79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Booking is only the start of the work</a:t>
            </a:r>
          </a:p>
        </p:txBody>
      </p:sp>
      <p:sp>
        <p:nvSpPr>
          <p:cNvPr id="2" name="YardMatch connects the customer request to the pro">
            <a:extLst xmlns:a="http://schemas.openxmlformats.org/drawingml/2006/main">
              <a:ext uri="{FF2B5EF4-FFF2-40B4-BE49-F238E27FC236}">
                <a16:creationId xmlns:a16="http://schemas.microsoft.com/office/drawing/2014/main" id="{4463D6E6-24E0-4E5C-8FA6-BF20A83743F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YardMatch connects the customer request to the provider’s schedule and the crew’s actual visit.</a:t>
            </a:r>
          </a:p>
        </p:txBody>
      </p:sp>
      <p:sp>
        <p:nvSpPr>
          <p:cNvPr id="3" name="YardMatch">
            <a:extLst xmlns:a="http://schemas.openxmlformats.org/drawingml/2006/main">
              <a:ext uri="{FF2B5EF4-FFF2-40B4-BE49-F238E27FC236}">
                <a16:creationId xmlns:a16="http://schemas.microsoft.com/office/drawing/2014/main" id="{B893472C-34BF-40FA-8204-4691EC9CC3A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3">
            <a:extLst xmlns:a="http://schemas.openxmlformats.org/drawingml/2006/main">
              <a:ext uri="{FF2B5EF4-FFF2-40B4-BE49-F238E27FC236}">
                <a16:creationId xmlns:a16="http://schemas.microsoft.com/office/drawing/2014/main" id="{3A31CA29-AD17-4CB0-8119-171C1CD15FD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03</a:t>
            </a:r>
          </a:p>
        </p:txBody>
      </p:sp>
      <p:graphicFrame>
        <p:nvGraphicFramePr>
          <p:cNvPr id="11" name=""/>
          <p:cNvGraphicFramePr/>
          <p:nvPr/>
        </p:nvGraphicFramePr>
        <p:xfrm>
          <a:off xmlns:a="http://schemas.openxmlformats.org/drawingml/2006/main" x="609600" y="2352675"/>
          <a:ext xmlns:a="http://schemas.openxmlformats.org/drawingml/2006/main" cx="10972800" cy="3209925"/>
        </p:xfrm>
        <a:graphic xmlns:a="http://schemas.openxmlformats.org/drawingml/2006/main">
          <a:graphicData uri="http://schemas.openxmlformats.org/drawingml/2006/table">
            <a:tbl>
              <a:tblPr/>
              <a:tblGrid>
                <a:gridCol w="3333750"/>
                <a:gridCol w="3429000"/>
                <a:gridCol w="4210050"/>
              </a:tblGrid>
              <a:tr h="802481">
                <a:tc>
                  <a:txBody>
                    <a:bodyPr lIns="114300" tIns="76200" rIns="114300" bIns="76200">
                      <a:noAutofit/>
                    </a:bodyPr>
                    <a:lstStyle/>
                    <a:p>
                      <a:pPr algn="l"/>
                      <a:r>
                        <a:rPr sz="1875" b="1">
                          <a:solidFill>
                            <a:srgbClr val="FFFFFF"/>
                          </a:solidFill>
                          <a:latin typeface="Arial"/>
                          <a:ea typeface="Arial"/>
                          <a:cs typeface="Arial"/>
                        </a:rPr>
                        <a:t>Customer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need</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YardMatch response</a:t>
                      </a:r>
                    </a:p>
                  </a:txBody>
                  <a:tcPr marL="91440" marR="91440" marT="45720" marB="45720" anchor="ctr">
                    <a:solidFill>
                      <a:srgbClr val="205938"/>
                    </a:solidFill>
                  </a:tcPr>
                </a:tc>
              </a:tr>
              <a:tr h="802481">
                <a:tc>
                  <a:txBody>
                    <a:bodyPr lIns="114300" tIns="76200" rIns="114300" bIns="76200">
                      <a:noAutofit/>
                    </a:bodyPr>
                    <a:lstStyle/>
                    <a:p>
                      <a:pPr algn="l"/>
                      <a:r>
                        <a:rPr sz="1875" b="0">
                          <a:solidFill>
                            <a:srgbClr val="14281D"/>
                          </a:solidFill>
                          <a:latin typeface="Arial"/>
                          <a:ea typeface="Arial"/>
                          <a:cs typeface="Arial"/>
                        </a:rPr>
                        <a:t>A suitable, available business</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New work that fits the route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One recommendation and a few qualified backups</a:t>
                      </a:r>
                    </a:p>
                  </a:txBody>
                  <a:tcPr marL="91440" marR="91440" marT="45720" marB="45720" anchor="ctr">
                    <a:solidFill>
                      <a:srgbClr val="FFFFFF"/>
                    </a:solidFill>
                  </a:tcPr>
                </a:tc>
              </a:tr>
              <a:tr h="802481">
                <a:tc>
                  <a:txBody>
                    <a:bodyPr lIns="114300" tIns="76200" rIns="114300" bIns="76200">
                      <a:noAutofit/>
                    </a:bodyPr>
                    <a:lstStyle/>
                    <a:p>
                      <a:pPr algn="l"/>
                      <a:r>
                        <a:rPr sz="1875" b="0">
                          <a:solidFill>
                            <a:srgbClr val="14281D"/>
                          </a:solidFill>
                          <a:latin typeface="Arial"/>
                          <a:ea typeface="Arial"/>
                          <a:cs typeface="Arial"/>
                        </a:rPr>
                        <a:t>Confidence about arrival</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A schedule crews can execute</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Shared job details and arrival updates</a:t>
                      </a:r>
                    </a:p>
                  </a:txBody>
                  <a:tcPr marL="91440" marR="91440" marT="45720" marB="45720" anchor="ctr">
                    <a:solidFill>
                      <a:srgbClr val="F7F5EF"/>
                    </a:solidFill>
                  </a:tcPr>
                </a:tc>
              </a:tr>
              <a:tr h="802481">
                <a:tc>
                  <a:txBody>
                    <a:bodyPr lIns="114300" tIns="76200" rIns="114300" bIns="76200">
                      <a:noAutofit/>
                    </a:bodyPr>
                    <a:lstStyle/>
                    <a:p>
                      <a:pPr algn="l"/>
                      <a:r>
                        <a:rPr sz="1875" b="0">
                          <a:solidFill>
                            <a:srgbClr val="14281D"/>
                          </a:solidFill>
                          <a:latin typeface="Arial"/>
                          <a:ea typeface="Arial"/>
                          <a:cs typeface="Arial"/>
                        </a:rPr>
                        <a:t>A dependable next visit</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Repeat business without another finder fee</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Rebooking, service records and follow-up</a:t>
                      </a:r>
                    </a:p>
                  </a:txBody>
                  <a:tcPr marL="91440" marR="91440" marT="45720" marB="45720" anchor="ctr">
                    <a:solidFill>
                      <a:srgbClr val="FFFFFF"/>
                    </a:solidFill>
                  </a:tcPr>
                </a:tc>
              </a:tr>
            </a:tbl>
          </a:graphicData>
        </a:graphic>
      </p:graphicFrame>
      <p:sp>
        <p:nvSpPr>
          <p:cNvPr id="6" name="Local referrals can supply trust. Direct texting a">
            <a:extLst xmlns:a="http://schemas.openxmlformats.org/drawingml/2006/main">
              <a:ext uri="{FF2B5EF4-FFF2-40B4-BE49-F238E27FC236}">
                <a16:creationId xmlns:a16="http://schemas.microsoft.com/office/drawing/2014/main" id="{970F1053-6297-4228-B62E-09157F4DD30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Local referrals can supply trust. Direct texting and field-service tools can coordinate work. YardMatch aims to connect discovery with the ongoing job.</a:t>
            </a:r>
          </a:p>
        </p:txBody>
      </p:sp>
    </p:spTree>
    <p:extLst>
      <p:ext uri="{BB962C8B-B14F-4D97-AF65-F5344CB8AC3E}">
        <p14:creationId xmlns:p14="http://schemas.microsoft.com/office/powerpoint/2010/main" val="609595721"/>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ne service experience across three roles">
            <a:extLst xmlns:a="http://schemas.openxmlformats.org/drawingml/2006/main">
              <a:ext uri="{FF2B5EF4-FFF2-40B4-BE49-F238E27FC236}">
                <a16:creationId xmlns:a16="http://schemas.microsoft.com/office/drawing/2014/main" id="{6A649676-C05F-4702-9CDE-648FA817889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One service experience across three roles</a:t>
            </a:r>
          </a:p>
        </p:txBody>
      </p:sp>
      <p:sp>
        <p:nvSpPr>
          <p:cNvPr id="2" name="Customer, provider and crew share the job while ea">
            <a:extLst xmlns:a="http://schemas.openxmlformats.org/drawingml/2006/main">
              <a:ext uri="{FF2B5EF4-FFF2-40B4-BE49-F238E27FC236}">
                <a16:creationId xmlns:a16="http://schemas.microsoft.com/office/drawing/2014/main" id="{21161EAC-B270-41CD-AE88-FEA2DB3D7D1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Customer, provider and crew share the job while each sees the information needed for their role.</a:t>
            </a:r>
          </a:p>
        </p:txBody>
      </p:sp>
      <p:sp>
        <p:nvSpPr>
          <p:cNvPr id="3" name="YardMatch">
            <a:extLst xmlns:a="http://schemas.openxmlformats.org/drawingml/2006/main">
              <a:ext uri="{FF2B5EF4-FFF2-40B4-BE49-F238E27FC236}">
                <a16:creationId xmlns:a16="http://schemas.microsoft.com/office/drawing/2014/main" id="{0499DB45-C737-42F5-876F-ACE095C7443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4">
            <a:extLst xmlns:a="http://schemas.openxmlformats.org/drawingml/2006/main">
              <a:ext uri="{FF2B5EF4-FFF2-40B4-BE49-F238E27FC236}">
                <a16:creationId xmlns:a16="http://schemas.microsoft.com/office/drawing/2014/main" id="{DE76BDAF-86C3-4AB9-BA69-0E5FBC29A50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103b94b707e4427"/>
          <a:stretch xmlns:a="http://schemas.openxmlformats.org/drawingml/2006/main"/>
        </p:blipFill>
        <p:spPr>
          <a:xfrm xmlns:a="http://schemas.openxmlformats.org/drawingml/2006/main">
            <a:off x="5110163" y="2276475"/>
            <a:ext cx="5286375" cy="3524250"/>
          </a:xfrm>
          <a:prstGeom xmlns:a="http://schemas.openxmlformats.org/drawingml/2006/main" prst="rect">
            <a:avLst/>
          </a:prstGeom>
        </p:spPr>
      </p:pic>
      <p:sp>
        <p:nvSpPr>
          <p:cNvPr id="6" name="Customer&#10;Book and follow the visit&#10;&#10;Provider&#10;Sched">
            <a:extLst xmlns:a="http://schemas.openxmlformats.org/drawingml/2006/main">
              <a:ext uri="{FF2B5EF4-FFF2-40B4-BE49-F238E27FC236}">
                <a16:creationId xmlns:a16="http://schemas.microsoft.com/office/drawing/2014/main" id="{96F1EBD5-5FDE-4992-9771-39ABFBD0F7DE}"/>
              </a:ext>
            </a:extLst>
          </p:cNvPr>
          <p:cNvSpPr>
            <a:spLocks xmlns:a="http://schemas.openxmlformats.org/drawingml/2006/main" noGrp="1"/>
          </p:cNvSpPr>
          <p:nvPr/>
        </p:nvSpPr>
        <p:spPr>
          <a:xfrm xmlns:a="http://schemas.openxmlformats.org/drawingml/2006/main">
            <a:off x="628650" y="2428875"/>
            <a:ext cx="319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Customer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Book and follow the visit</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Provider</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Schedule and assign work</a:t>
            </a:r>
          </a:p>
          <a:p xmlns:a="http://schemas.openxmlformats.org/drawingml/2006/main">
            <a:r>
              <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Crew</a:t>
            </a:r>
          </a:p>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Know the place and task</a:t>
            </a:r>
          </a:p>
        </p:txBody>
      </p:sp>
      <p:sp>
        <p:nvSpPr>
          <p:cNvPr id="7" name="Illustrative screens and sample data from the part">
            <a:extLst xmlns:a="http://schemas.openxmlformats.org/drawingml/2006/main">
              <a:ext uri="{FF2B5EF4-FFF2-40B4-BE49-F238E27FC236}">
                <a16:creationId xmlns:a16="http://schemas.microsoft.com/office/drawing/2014/main" id="{BCFDBAD5-9F34-461A-BF96-9DEDA6A13E4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Illustrative screens and sample data from the partner pitch. They do not show live customers or app-store availability.</a:t>
            </a:r>
          </a:p>
        </p:txBody>
      </p:sp>
    </p:spTree>
    <p:extLst>
      <p:ext uri="{BB962C8B-B14F-4D97-AF65-F5344CB8AC3E}">
        <p14:creationId xmlns:p14="http://schemas.microsoft.com/office/powerpoint/2010/main" val="1943118268"/>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Local density benefits both sides">
            <a:extLst xmlns:a="http://schemas.openxmlformats.org/drawingml/2006/main">
              <a:ext uri="{FF2B5EF4-FFF2-40B4-BE49-F238E27FC236}">
                <a16:creationId xmlns:a16="http://schemas.microsoft.com/office/drawing/2014/main" id="{228AAE90-8105-4DEF-A105-EA398561FD4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Local density benefits both sides</a:t>
            </a:r>
          </a:p>
        </p:txBody>
      </p:sp>
      <p:sp>
        <p:nvSpPr>
          <p:cNvPr id="2" name="Nearby bookings can fit existing routes and make a">
            <a:extLst xmlns:a="http://schemas.openxmlformats.org/drawingml/2006/main">
              <a:ext uri="{FF2B5EF4-FFF2-40B4-BE49-F238E27FC236}">
                <a16:creationId xmlns:a16="http://schemas.microsoft.com/office/drawing/2014/main" id="{CDA57FAA-66D2-4024-926C-C2094867701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Nearby bookings can fit existing routes and make a provider’s customer base more valuable.</a:t>
            </a:r>
          </a:p>
        </p:txBody>
      </p:sp>
      <p:sp>
        <p:nvSpPr>
          <p:cNvPr id="3" name="YardMatch">
            <a:extLst xmlns:a="http://schemas.openxmlformats.org/drawingml/2006/main">
              <a:ext uri="{FF2B5EF4-FFF2-40B4-BE49-F238E27FC236}">
                <a16:creationId xmlns:a16="http://schemas.microsoft.com/office/drawing/2014/main" id="{5AFE10DD-933A-4243-866E-D7623BA7D78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5">
            <a:extLst xmlns:a="http://schemas.openxmlformats.org/drawingml/2006/main">
              <a:ext uri="{FF2B5EF4-FFF2-40B4-BE49-F238E27FC236}">
                <a16:creationId xmlns:a16="http://schemas.microsoft.com/office/drawing/2014/main" id="{21E1B018-BFC9-4863-BC9D-CE6A6A7F250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f947e61a8e24e60"/>
          <a:stretch xmlns:a="http://schemas.openxmlformats.org/drawingml/2006/main"/>
        </p:blipFill>
        <p:spPr>
          <a:xfrm xmlns:a="http://schemas.openxmlformats.org/drawingml/2006/main">
            <a:off x="1458823" y="2381250"/>
            <a:ext cx="5635804" cy="3171825"/>
          </a:xfrm>
          <a:prstGeom xmlns:a="http://schemas.openxmlformats.org/drawingml/2006/main" prst="rect">
            <a:avLst/>
          </a:prstGeom>
        </p:spPr>
      </p:pic>
      <p:sp>
        <p:nvSpPr>
          <p:cNvPr id="6" name="Provider control">
            <a:extLst xmlns:a="http://schemas.openxmlformats.org/drawingml/2006/main">
              <a:ext uri="{FF2B5EF4-FFF2-40B4-BE49-F238E27FC236}">
                <a16:creationId xmlns:a16="http://schemas.microsoft.com/office/drawing/2014/main" id="{2D5F2DA5-F7D8-41EA-82FA-4A9D2793DBE2}"/>
              </a:ext>
            </a:extLst>
          </p:cNvPr>
          <p:cNvSpPr>
            <a:spLocks xmlns:a="http://schemas.openxmlformats.org/drawingml/2006/main" noGrp="1"/>
          </p:cNvSpPr>
          <p:nvPr/>
        </p:nvSpPr>
        <p:spPr>
          <a:xfrm xmlns:a="http://schemas.openxmlformats.org/drawingml/2006/main">
            <a:off x="8401050" y="23907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Provider control</a:t>
            </a:r>
          </a:p>
        </p:txBody>
      </p:sp>
      <p:sp>
        <p:nvSpPr>
          <p:cNvPr id="7" name="The business chooses its service area, capacity an">
            <a:extLst xmlns:a="http://schemas.openxmlformats.org/drawingml/2006/main">
              <a:ext uri="{FF2B5EF4-FFF2-40B4-BE49-F238E27FC236}">
                <a16:creationId xmlns:a16="http://schemas.microsoft.com/office/drawing/2014/main" id="{C43A3AA6-B7DC-4995-9AD9-C5E10D6AAFEB}"/>
              </a:ext>
            </a:extLst>
          </p:cNvPr>
          <p:cNvSpPr>
            <a:spLocks xmlns:a="http://schemas.openxmlformats.org/drawingml/2006/main" noGrp="1"/>
          </p:cNvSpPr>
          <p:nvPr/>
        </p:nvSpPr>
        <p:spPr>
          <a:xfrm xmlns:a="http://schemas.openxmlformats.org/drawingml/2006/main">
            <a:off x="8401050" y="2905125"/>
            <a:ext cx="309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business chooses its service area, capacity and crew assignments.</a:t>
            </a:r>
          </a:p>
        </p:txBody>
      </p:sp>
      <p:sp>
        <p:nvSpPr>
          <p:cNvPr id="8" name="Customer trust">
            <a:extLst xmlns:a="http://schemas.openxmlformats.org/drawingml/2006/main">
              <a:ext uri="{FF2B5EF4-FFF2-40B4-BE49-F238E27FC236}">
                <a16:creationId xmlns:a16="http://schemas.microsoft.com/office/drawing/2014/main" id="{908EDEDC-93AB-40EA-A812-ECB6623F9787}"/>
              </a:ext>
            </a:extLst>
          </p:cNvPr>
          <p:cNvSpPr>
            <a:spLocks xmlns:a="http://schemas.openxmlformats.org/drawingml/2006/main" noGrp="1"/>
          </p:cNvSpPr>
          <p:nvPr/>
        </p:nvSpPr>
        <p:spPr>
          <a:xfrm xmlns:a="http://schemas.openxmlformats.org/drawingml/2006/main">
            <a:off x="8401050" y="41814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05938"/>
                </a:solidFill>
                <a:latin typeface="Arial"/>
                <a:ea typeface="Arial"/>
                <a:cs typeface="Arial"/>
              </a:defRPr>
            </a:pPr>
            <a:r>
              <a:rPr sz="2175" b="1">
                <a:solidFill>
                  <a:srgbClr val="205938"/>
                </a:solidFill>
                <a:latin typeface="Arial"/>
                <a:ea typeface="Arial"/>
                <a:cs typeface="Arial"/>
              </a:rPr>
              <a:t>Customer trust</a:t>
            </a:r>
          </a:p>
        </p:txBody>
      </p:sp>
      <p:sp>
        <p:nvSpPr>
          <p:cNvPr id="9" name="Recommendations favor service fit and reliability.">
            <a:extLst xmlns:a="http://schemas.openxmlformats.org/drawingml/2006/main">
              <a:ext uri="{FF2B5EF4-FFF2-40B4-BE49-F238E27FC236}">
                <a16:creationId xmlns:a16="http://schemas.microsoft.com/office/drawing/2014/main" id="{89472353-4192-427C-BF30-A2091A273C81}"/>
              </a:ext>
            </a:extLst>
          </p:cNvPr>
          <p:cNvSpPr>
            <a:spLocks xmlns:a="http://schemas.openxmlformats.org/drawingml/2006/main" noGrp="1"/>
          </p:cNvSpPr>
          <p:nvPr/>
        </p:nvSpPr>
        <p:spPr>
          <a:xfrm xmlns:a="http://schemas.openxmlformats.org/drawingml/2006/main">
            <a:off x="8401050" y="4695825"/>
            <a:ext cx="3095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Recommendations favor service fit and reliability. Paid placement does not set the order.</a:t>
            </a:r>
          </a:p>
        </p:txBody>
      </p:sp>
      <p:sp>
        <p:nvSpPr>
          <p:cNvPr id="10" name="Route savings and retention effects remain to be m">
            <a:extLst xmlns:a="http://schemas.openxmlformats.org/drawingml/2006/main">
              <a:ext uri="{FF2B5EF4-FFF2-40B4-BE49-F238E27FC236}">
                <a16:creationId xmlns:a16="http://schemas.microsoft.com/office/drawing/2014/main" id="{9AC7441F-6C1C-48D9-88A0-D38422C3192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Route savings and retention effects remain to be measured. Providers handle equipment, insurance, supervision and crew pay.</a:t>
            </a:r>
          </a:p>
        </p:txBody>
      </p:sp>
    </p:spTree>
    <p:extLst>
      <p:ext uri="{BB962C8B-B14F-4D97-AF65-F5344CB8AC3E}">
        <p14:creationId xmlns:p14="http://schemas.microsoft.com/office/powerpoint/2010/main" val="291696525"/>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Finder fees increase with property scope">
            <a:extLst xmlns:a="http://schemas.openxmlformats.org/drawingml/2006/main">
              <a:ext uri="{FF2B5EF4-FFF2-40B4-BE49-F238E27FC236}">
                <a16:creationId xmlns:a16="http://schemas.microsoft.com/office/drawing/2014/main" id="{9A59F776-7703-41EB-A14A-5C862C8D7760}"/>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Finder fees increase with property scope</a:t>
            </a:r>
          </a:p>
        </p:txBody>
      </p:sp>
      <p:sp>
        <p:nvSpPr>
          <p:cNvPr id="2" name="Proposed acquisition fees, paid by the provider on">
            <a:extLst xmlns:a="http://schemas.openxmlformats.org/drawingml/2006/main">
              <a:ext uri="{FF2B5EF4-FFF2-40B4-BE49-F238E27FC236}">
                <a16:creationId xmlns:a16="http://schemas.microsoft.com/office/drawing/2014/main" id="{DAA7A147-3758-4184-B7CA-121AF338A90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acquisition fees, paid by the provider once per new customer/provider relationship.</a:t>
            </a:r>
          </a:p>
        </p:txBody>
      </p:sp>
      <p:sp>
        <p:nvSpPr>
          <p:cNvPr id="3" name="YardMatch">
            <a:extLst xmlns:a="http://schemas.openxmlformats.org/drawingml/2006/main">
              <a:ext uri="{FF2B5EF4-FFF2-40B4-BE49-F238E27FC236}">
                <a16:creationId xmlns:a16="http://schemas.microsoft.com/office/drawing/2014/main" id="{9356FA9B-0E95-47E9-900A-4C4B45542D9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6">
            <a:extLst xmlns:a="http://schemas.openxmlformats.org/drawingml/2006/main">
              <a:ext uri="{FF2B5EF4-FFF2-40B4-BE49-F238E27FC236}">
                <a16:creationId xmlns:a16="http://schemas.microsoft.com/office/drawing/2014/main" id="{9C1551EC-7E5C-45EE-A36E-16BDCF1B709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06</a:t>
            </a:r>
          </a:p>
        </p:txBody>
      </p:sp>
      <p:graphicFrame>
        <p:nvGraphicFramePr>
          <p:cNvPr id="13" name=""/>
          <p:cNvGraphicFramePr/>
          <p:nvPr/>
        </p:nvGraphicFramePr>
        <p:xfrm>
          <a:off xmlns:a="http://schemas.openxmlformats.org/drawingml/2006/main" x="609600" y="2333625"/>
          <a:ext xmlns:a="http://schemas.openxmlformats.org/drawingml/2006/main" cx="10972800" cy="2324100"/>
        </p:xfrm>
        <a:graphic xmlns:a="http://schemas.openxmlformats.org/drawingml/2006/main">
          <a:graphicData uri="http://schemas.openxmlformats.org/drawingml/2006/table">
            <a:tbl>
              <a:tblPr/>
              <a:tblGrid>
                <a:gridCol w="3009900"/>
                <a:gridCol w="1990725"/>
                <a:gridCol w="2838450"/>
                <a:gridCol w="3133725"/>
              </a:tblGrid>
              <a:tr h="581025">
                <a:tc>
                  <a:txBody>
                    <a:bodyPr lIns="114300" tIns="76200" rIns="114300" bIns="76200">
                      <a:noAutofit/>
                    </a:bodyPr>
                    <a:lstStyle/>
                    <a:p>
                      <a:pPr algn="l"/>
                      <a:r>
                        <a:rPr sz="1875" b="1">
                          <a:solidFill>
                            <a:srgbClr val="FFFFFF"/>
                          </a:solidFill>
                          <a:latin typeface="Arial"/>
                          <a:ea typeface="Arial"/>
                          <a:cs typeface="Arial"/>
                        </a:rPr>
                        <a:t>Property tier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Finder fee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Example first bill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proceeds / card</a:t>
                      </a:r>
                    </a:p>
                  </a:txBody>
                  <a:tcPr marL="91440" marR="91440" marT="45720" marB="45720" anchor="ctr">
                    <a:solidFill>
                      <a:srgbClr val="205938"/>
                    </a:solidFill>
                  </a:tcPr>
                </a:tc>
              </a:tr>
              <a:tr h="581025">
                <a:tc>
                  <a:txBody>
                    <a:bodyPr lIns="114300" tIns="76200" rIns="114300" bIns="76200">
                      <a:noAutofit/>
                    </a:bodyPr>
                    <a:lstStyle/>
                    <a:p>
                      <a:pPr algn="l"/>
                      <a:r>
                        <a:rPr sz="1875" b="0">
                          <a:solidFill>
                            <a:srgbClr val="14281D"/>
                          </a:solidFill>
                          <a:latin typeface="Arial"/>
                          <a:ea typeface="Arial"/>
                          <a:cs typeface="Arial"/>
                        </a:rPr>
                        <a:t>Typical</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$10.56</a:t>
                      </a:r>
                    </a:p>
                  </a:txBody>
                  <a:tcPr marL="91440" marR="91440" marT="45720" marB="45720" anchor="ctr">
                    <a:solidFill>
                      <a:srgbClr val="FFFFFF"/>
                    </a:solidFill>
                  </a:tcPr>
                </a:tc>
              </a:tr>
              <a:tr h="581025">
                <a:tc>
                  <a:txBody>
                    <a:bodyPr lIns="114300" tIns="76200" rIns="114300" bIns="76200">
                      <a:noAutofit/>
                    </a:bodyPr>
                    <a:lstStyle/>
                    <a:p>
                      <a:pPr algn="l"/>
                      <a:r>
                        <a:rPr sz="1875" b="0">
                          <a:solidFill>
                            <a:srgbClr val="14281D"/>
                          </a:solidFill>
                          <a:latin typeface="Arial"/>
                          <a:ea typeface="Arial"/>
                          <a:cs typeface="Arial"/>
                        </a:rPr>
                        <a:t>Large</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$81</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$10.11</a:t>
                      </a:r>
                    </a:p>
                  </a:txBody>
                  <a:tcPr marL="91440" marR="91440" marT="45720" marB="45720" anchor="ctr">
                    <a:solidFill>
                      <a:srgbClr val="F7F5EF"/>
                    </a:solidFill>
                  </a:tcPr>
                </a:tc>
              </a:tr>
              <a:tr h="581025">
                <a:tc>
                  <a:txBody>
                    <a:bodyPr lIns="114300" tIns="76200" rIns="114300" bIns="76200">
                      <a:noAutofit/>
                    </a:bodyPr>
                    <a:lstStyle/>
                    <a:p>
                      <a:pPr algn="l"/>
                      <a:r>
                        <a:rPr sz="1875" b="0">
                          <a:solidFill>
                            <a:srgbClr val="14281D"/>
                          </a:solidFill>
                          <a:latin typeface="Arial"/>
                          <a:ea typeface="Arial"/>
                          <a:cs typeface="Arial"/>
                        </a:rPr>
                        <a:t>Very large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$90</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$10.25</a:t>
                      </a:r>
                    </a:p>
                  </a:txBody>
                  <a:tcPr marL="91440" marR="91440" marT="45720" marB="45720" anchor="ctr">
                    <a:solidFill>
                      <a:srgbClr val="FFFFFF"/>
                    </a:solidFill>
                  </a:tcPr>
                </a:tc>
              </a:tr>
            </a:tbl>
          </a:graphicData>
        </a:graphic>
      </p:graphicFrame>
      <p:sp>
        <p:nvSpPr>
          <p:cNvPr id="6" name="Recurring fee: 4% card or 2% ACH, no minimum">
            <a:extLst xmlns:a="http://schemas.openxmlformats.org/drawingml/2006/main">
              <a:ext uri="{FF2B5EF4-FFF2-40B4-BE49-F238E27FC236}">
                <a16:creationId xmlns:a16="http://schemas.microsoft.com/office/drawing/2014/main" id="{7C57BBB1-26B8-4BEB-BE11-F7D64D300098}"/>
              </a:ext>
            </a:extLst>
          </p:cNvPr>
          <p:cNvSpPr>
            <a:spLocks xmlns:a="http://schemas.openxmlformats.org/drawingml/2006/main" noGrp="1"/>
          </p:cNvSpPr>
          <p:nvPr/>
        </p:nvSpPr>
        <p:spPr>
          <a:xfrm xmlns:a="http://schemas.openxmlformats.org/drawingml/2006/main">
            <a:off x="628650" y="4876800"/>
            <a:ext cx="1085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05938"/>
                </a:solidFill>
                <a:latin typeface="Arial"/>
                <a:ea typeface="Arial"/>
                <a:cs typeface="Arial"/>
              </a:defRPr>
            </a:pPr>
            <a:r>
              <a:rPr sz="2325" b="1">
                <a:solidFill>
                  <a:srgbClr val="205938"/>
                </a:solidFill>
                <a:latin typeface="Arial"/>
                <a:ea typeface="Arial"/>
                <a:cs typeface="Arial"/>
              </a:rPr>
              <a:t>Recurring fee: 4% card or 2% ACH, no minimum</a:t>
            </a:r>
          </a:p>
        </p:txBody>
      </p:sp>
      <p:sp>
        <p:nvSpPr>
          <p:cNvPr id="7" name="Providers also cover actual card / ACH processing ">
            <a:extLst xmlns:a="http://schemas.openxmlformats.org/drawingml/2006/main">
              <a:ext uri="{FF2B5EF4-FFF2-40B4-BE49-F238E27FC236}">
                <a16:creationId xmlns:a16="http://schemas.microsoft.com/office/drawing/2014/main" id="{CFD7F92A-C73F-4FA4-82F1-865A3914CC2C}"/>
              </a:ext>
            </a:extLst>
          </p:cNvPr>
          <p:cNvSpPr>
            <a:spLocks xmlns:a="http://schemas.openxmlformats.org/drawingml/2006/main" noGrp="1"/>
          </p:cNvSpPr>
          <p:nvPr/>
        </p:nvSpPr>
        <p:spPr>
          <a:xfrm xmlns:a="http://schemas.openxmlformats.org/drawingml/2006/main">
            <a:off x="628650" y="54102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Providers also cover actual card / ACH processing on each service.</a:t>
            </a:r>
          </a:p>
        </p:txBody>
      </p:sp>
      <p:sp>
        <p:nvSpPr>
          <p:cNvPr id="8" name="First-job examples use basic mowing, property fact">
            <a:extLst xmlns:a="http://schemas.openxmlformats.org/drawingml/2006/main">
              <a:ext uri="{FF2B5EF4-FFF2-40B4-BE49-F238E27FC236}">
                <a16:creationId xmlns:a16="http://schemas.microsoft.com/office/drawing/2014/main" id="{AA17874A-3668-41AF-90E2-B303D9E7945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First-job examples use basic mowing, property factors of 1.00 / 1.35 / 1.80, and card processing. Proceeds exclude provider labor and materials. First-client finder waiver remains. Validate acceptance and actual yard-size bands.</a:t>
            </a:r>
          </a:p>
        </p:txBody>
      </p:sp>
    </p:spTree>
    <p:extLst>
      <p:ext uri="{BB962C8B-B14F-4D97-AF65-F5344CB8AC3E}">
        <p14:creationId xmlns:p14="http://schemas.microsoft.com/office/powerpoint/2010/main" val="90183375"/>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What Zocdoc charges its providers">
            <a:extLst xmlns:a="http://schemas.openxmlformats.org/drawingml/2006/main">
              <a:ext uri="{FF2B5EF4-FFF2-40B4-BE49-F238E27FC236}">
                <a16:creationId xmlns:a16="http://schemas.microsoft.com/office/drawing/2014/main" id="{5FA31FAF-2017-41B7-9413-04597DF0FA2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Zocdoc charges its providers</a:t>
            </a:r>
          </a:p>
        </p:txBody>
      </p:sp>
      <p:sp>
        <p:nvSpPr>
          <p:cNvPr id="2" name="A useful acquisition benchmark, with a different c">
            <a:extLst xmlns:a="http://schemas.openxmlformats.org/drawingml/2006/main">
              <a:ext uri="{FF2B5EF4-FFF2-40B4-BE49-F238E27FC236}">
                <a16:creationId xmlns:a16="http://schemas.microsoft.com/office/drawing/2014/main" id="{DFCC7334-BCD9-4F31-AD7E-24DCDA0ED8AF}"/>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useful acquisition benchmark, with a different charging event and repeat-use pattern.</a:t>
            </a:r>
          </a:p>
        </p:txBody>
      </p:sp>
      <p:sp>
        <p:nvSpPr>
          <p:cNvPr id="3" name="YardMatch">
            <a:extLst xmlns:a="http://schemas.openxmlformats.org/drawingml/2006/main">
              <a:ext uri="{FF2B5EF4-FFF2-40B4-BE49-F238E27FC236}">
                <a16:creationId xmlns:a16="http://schemas.microsoft.com/office/drawing/2014/main" id="{1CEB1813-9C44-42BE-AD8E-D37870C5ED1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7">
            <a:extLst xmlns:a="http://schemas.openxmlformats.org/drawingml/2006/main">
              <a:ext uri="{FF2B5EF4-FFF2-40B4-BE49-F238E27FC236}">
                <a16:creationId xmlns:a16="http://schemas.microsoft.com/office/drawing/2014/main" id="{C8D94931-C740-4C10-8B4E-6DF4D56FEF6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07</a:t>
            </a:r>
          </a:p>
        </p:txBody>
      </p:sp>
      <p:sp>
        <p:nvSpPr>
          <p:cNvPr id="5" name="$30–$140">
            <a:extLst xmlns:a="http://schemas.openxmlformats.org/drawingml/2006/main">
              <a:ext uri="{FF2B5EF4-FFF2-40B4-BE49-F238E27FC236}">
                <a16:creationId xmlns:a16="http://schemas.microsoft.com/office/drawing/2014/main" id="{689E86D6-D33A-4957-AC6D-116F16A11C50}"/>
              </a:ext>
            </a:extLst>
          </p:cNvPr>
          <p:cNvSpPr>
            <a:spLocks xmlns:a="http://schemas.openxmlformats.org/drawingml/2006/main" noGrp="1"/>
          </p:cNvSpPr>
          <p:nvPr/>
        </p:nvSpPr>
        <p:spPr>
          <a:xfrm xmlns:a="http://schemas.openxmlformats.org/drawingml/2006/main">
            <a:off x="628650" y="2305050"/>
            <a:ext cx="4914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205938"/>
                </a:solidFill>
                <a:latin typeface="Arial"/>
                <a:ea typeface="Arial"/>
                <a:cs typeface="Arial"/>
              </a:defRPr>
            </a:pPr>
            <a:r>
              <a:rPr sz="4800" b="1">
                <a:solidFill>
                  <a:srgbClr val="205938"/>
                </a:solidFill>
                <a:latin typeface="Arial"/>
                <a:ea typeface="Arial"/>
                <a:cs typeface="Arial"/>
              </a:rPr>
              <a:t>$30–$140</a:t>
            </a:r>
          </a:p>
        </p:txBody>
      </p:sp>
      <p:sp>
        <p:nvSpPr>
          <p:cNvPr id="6" name="Published range for a new-patient booking">
            <a:extLst xmlns:a="http://schemas.openxmlformats.org/drawingml/2006/main">
              <a:ext uri="{FF2B5EF4-FFF2-40B4-BE49-F238E27FC236}">
                <a16:creationId xmlns:a16="http://schemas.microsoft.com/office/drawing/2014/main" id="{4881C9B0-4FB7-4D91-AC01-769BEB27AE82}"/>
              </a:ext>
            </a:extLst>
          </p:cNvPr>
          <p:cNvSpPr>
            <a:spLocks xmlns:a="http://schemas.openxmlformats.org/drawingml/2006/main" noGrp="1"/>
          </p:cNvSpPr>
          <p:nvPr/>
        </p:nvSpPr>
        <p:spPr>
          <a:xfrm xmlns:a="http://schemas.openxmlformats.org/drawingml/2006/main">
            <a:off x="647700" y="3171825"/>
            <a:ext cx="47529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4281D"/>
                </a:solidFill>
                <a:latin typeface="Arial"/>
                <a:ea typeface="Arial"/>
                <a:cs typeface="Arial"/>
              </a:defRPr>
            </a:pPr>
            <a:r>
              <a:rPr sz="2100" b="0">
                <a:solidFill>
                  <a:srgbClr val="14281D"/>
                </a:solidFill>
                <a:latin typeface="Arial"/>
                <a:ea typeface="Arial"/>
                <a:cs typeface="Arial"/>
              </a:rPr>
              <a:t>Published range for a new-patient booking</a:t>
            </a:r>
          </a:p>
        </p:txBody>
      </p:sp>
      <p:sp>
        <p:nvSpPr>
          <p:cNvPr id="7" name="Exact quote varies">
            <a:extLst xmlns:a="http://schemas.openxmlformats.org/drawingml/2006/main">
              <a:ext uri="{FF2B5EF4-FFF2-40B4-BE49-F238E27FC236}">
                <a16:creationId xmlns:a16="http://schemas.microsoft.com/office/drawing/2014/main" id="{28C18986-D7B3-4A40-B7AC-B50299481249}"/>
              </a:ext>
            </a:extLst>
          </p:cNvPr>
          <p:cNvSpPr>
            <a:spLocks xmlns:a="http://schemas.openxmlformats.org/drawingml/2006/main" noGrp="1"/>
          </p:cNvSpPr>
          <p:nvPr/>
        </p:nvSpPr>
        <p:spPr>
          <a:xfrm xmlns:a="http://schemas.openxmlformats.org/drawingml/2006/main">
            <a:off x="6429375" y="2343150"/>
            <a:ext cx="4981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Exact quote varies</a:t>
            </a:r>
          </a:p>
        </p:txBody>
      </p:sp>
      <p:sp>
        <p:nvSpPr>
          <p:cNvPr id="8" name="Current help confirms specialty and location affec">
            <a:extLst xmlns:a="http://schemas.openxmlformats.org/drawingml/2006/main">
              <a:ext uri="{FF2B5EF4-FFF2-40B4-BE49-F238E27FC236}">
                <a16:creationId xmlns:a16="http://schemas.microsoft.com/office/drawing/2014/main" id="{E7EFD855-BCC8-4FB0-81FB-90871A3220A8}"/>
              </a:ext>
            </a:extLst>
          </p:cNvPr>
          <p:cNvSpPr>
            <a:spLocks xmlns:a="http://schemas.openxmlformats.org/drawingml/2006/main" noGrp="1"/>
          </p:cNvSpPr>
          <p:nvPr/>
        </p:nvSpPr>
        <p:spPr>
          <a:xfrm xmlns:a="http://schemas.openxmlformats.org/drawingml/2006/main">
            <a:off x="6448425" y="2943225"/>
            <a:ext cx="49625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Current help confirms specialty and location affect the fee. Providers see their actual price in the dashboard.</a:t>
            </a:r>
          </a:p>
        </p:txBody>
      </p:sp>
      <p:graphicFrame>
        <p:nvGraphicFramePr>
          <p:cNvPr id="19" name=""/>
          <p:cNvGraphicFramePr/>
          <p:nvPr/>
        </p:nvGraphicFramePr>
        <p:xfrm>
          <a:off xmlns:a="http://schemas.openxmlformats.org/drawingml/2006/main" x="609600" y="4410075"/>
          <a:ext xmlns:a="http://schemas.openxmlformats.org/drawingml/2006/main" cx="10972800" cy="1314450"/>
        </p:xfrm>
        <a:graphic xmlns:a="http://schemas.openxmlformats.org/drawingml/2006/main">
          <a:graphicData uri="http://schemas.openxmlformats.org/drawingml/2006/table">
            <a:tbl>
              <a:tblPr/>
              <a:tblGrid>
                <a:gridCol w="5381625"/>
                <a:gridCol w="5591175"/>
              </a:tblGrid>
              <a:tr h="438150">
                <a:tc>
                  <a:txBody>
                    <a:bodyPr lIns="114300" tIns="76200" rIns="114300" bIns="76200">
                      <a:noAutofit/>
                    </a:bodyPr>
                    <a:lstStyle/>
                    <a:p>
                      <a:pPr algn="l"/>
                      <a:r>
                        <a:rPr sz="1650" b="1">
                          <a:solidFill>
                            <a:srgbClr val="FFFFFF"/>
                          </a:solidFill>
                          <a:latin typeface="Arial"/>
                          <a:ea typeface="Arial"/>
                          <a:cs typeface="Arial"/>
                        </a:rPr>
                        <a:t>Zocdoc Marketplace rule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Implication for YardMatch</a:t>
                      </a:r>
                    </a:p>
                  </a:txBody>
                  <a:tcPr marL="91440" marR="91440" marT="45720" marB="45720" anchor="ctr">
                    <a:solidFill>
                      <a:srgbClr val="205938"/>
                    </a:solidFill>
                  </a:tcPr>
                </a:tc>
              </a:tr>
              <a:tr h="438150">
                <a:tc>
                  <a:txBody>
                    <a:bodyPr lIns="114300" tIns="76200" rIns="114300" bIns="76200">
                      <a:noAutofit/>
                    </a:bodyPr>
                    <a:lstStyle/>
                    <a:p>
                      <a:pPr algn="l"/>
                      <a:r>
                        <a:rPr sz="1650" b="0">
                          <a:solidFill>
                            <a:srgbClr val="14281D"/>
                          </a:solidFill>
                          <a:latin typeface="Arial"/>
                          <a:ea typeface="Arial"/>
                          <a:cs typeface="Arial"/>
                        </a:rPr>
                        <a:t>Charges at booking, even a no-show</a:t>
                      </a:r>
                    </a:p>
                  </a:txBody>
                  <a:tcPr marL="91440" marR="91440" marT="45720" marB="45720" anchor="ctr">
                    <a:solidFill>
                      <a:srgbClr val="FFFFFF"/>
                    </a:solidFill>
                  </a:tcPr>
                </a:tc>
                <a:tc>
                  <a:txBody>
                    <a:bodyPr lIns="114300" tIns="76200" rIns="114300" bIns="76200">
                      <a:noAutofit/>
                    </a:bodyPr>
                    <a:lstStyle/>
                    <a:p>
                      <a:pPr algn="l"/>
                      <a:r>
                        <a:rPr sz="1650" b="0">
                          <a:solidFill>
                            <a:srgbClr val="14281D"/>
                          </a:solidFill>
                          <a:latin typeface="Arial"/>
                          <a:ea typeface="Arial"/>
                          <a:cs typeface="Arial"/>
                        </a:rPr>
                        <a:t>Our finder fee follows a paid completed job</a:t>
                      </a:r>
                    </a:p>
                  </a:txBody>
                  <a:tcPr marL="91440" marR="91440" marT="45720" marB="45720" anchor="ctr">
                    <a:solidFill>
                      <a:srgbClr val="FFFFFF"/>
                    </a:solidFill>
                  </a:tcPr>
                </a:tc>
              </a:tr>
              <a:tr h="438150">
                <a:tc>
                  <a:txBody>
                    <a:bodyPr lIns="114300" tIns="76200" rIns="114300" bIns="76200">
                      <a:noAutofit/>
                    </a:bodyPr>
                    <a:lstStyle/>
                    <a:p>
                      <a:pPr algn="l"/>
                      <a:r>
                        <a:rPr sz="1650" b="0">
                          <a:solidFill>
                            <a:srgbClr val="14281D"/>
                          </a:solidFill>
                          <a:latin typeface="Arial"/>
                          <a:ea typeface="Arial"/>
                          <a:cs typeface="Arial"/>
                        </a:rPr>
                        <a:t>Repeat visits to the same provider are free</a:t>
                      </a:r>
                    </a:p>
                  </a:txBody>
                  <a:tcPr marL="91440" marR="91440" marT="45720" marB="45720" anchor="ctr">
                    <a:solidFill>
                      <a:srgbClr val="F7F5EF"/>
                    </a:solidFill>
                  </a:tcPr>
                </a:tc>
                <a:tc>
                  <a:txBody>
                    <a:bodyPr lIns="114300" tIns="76200" rIns="114300" bIns="76200">
                      <a:noAutofit/>
                    </a:bodyPr>
                    <a:lstStyle/>
                    <a:p>
                      <a:pPr algn="l"/>
                      <a:r>
                        <a:rPr sz="1650" b="0">
                          <a:solidFill>
                            <a:srgbClr val="14281D"/>
                          </a:solidFill>
                          <a:latin typeface="Arial"/>
                          <a:ea typeface="Arial"/>
                          <a:cs typeface="Arial"/>
                        </a:rPr>
                        <a:t>Our retained service fee funds ongoing work</a:t>
                      </a:r>
                    </a:p>
                  </a:txBody>
                  <a:tcPr marL="91440" marR="91440" marT="45720" marB="45720" anchor="ctr">
                    <a:solidFill>
                      <a:srgbClr val="F7F5EF"/>
                    </a:solidFill>
                  </a:tcPr>
                </a:tc>
              </a:tr>
            </a:tbl>
          </a:graphicData>
        </a:graphic>
      </p:graphicFrame>
      <p:sp>
        <p:nvSpPr>
          <p:cNvPr id="10" name="The range appears on a page with older license lan">
            <a:extLst xmlns:a="http://schemas.openxmlformats.org/drawingml/2006/main">
              <a:ext uri="{FF2B5EF4-FFF2-40B4-BE49-F238E27FC236}">
                <a16:creationId xmlns:a16="http://schemas.microsoft.com/office/drawing/2014/main" id="{07A499E3-E8A3-438B-AD44-02A16E988FE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range appears on a page with older license language; it is not a current universal quote. Joining is free; paid add-ons exist. Current help and published range are linked in sources.</a:t>
            </a:r>
          </a:p>
        </p:txBody>
      </p:sp>
    </p:spTree>
    <p:extLst>
      <p:ext uri="{BB962C8B-B14F-4D97-AF65-F5344CB8AC3E}">
        <p14:creationId xmlns:p14="http://schemas.microsoft.com/office/powerpoint/2010/main" val="309836812"/>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Zocdoc monetizes a different relationship pattern">
            <a:extLst xmlns:a="http://schemas.openxmlformats.org/drawingml/2006/main">
              <a:ext uri="{FF2B5EF4-FFF2-40B4-BE49-F238E27FC236}">
                <a16:creationId xmlns:a16="http://schemas.microsoft.com/office/drawing/2014/main" id="{4D93D97D-8029-409B-BF9A-86C5D9F8640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Zocdoc monetizes a different relationship pattern</a:t>
            </a:r>
          </a:p>
        </p:txBody>
      </p:sp>
      <p:sp>
        <p:nvSpPr>
          <p:cNvPr id="2" name="A new service category does not automatically crea">
            <a:extLst xmlns:a="http://schemas.openxmlformats.org/drawingml/2006/main">
              <a:ext uri="{FF2B5EF4-FFF2-40B4-BE49-F238E27FC236}">
                <a16:creationId xmlns:a16="http://schemas.microsoft.com/office/drawing/2014/main" id="{DE4CD9FF-CAEA-4FB4-932B-5B2B9434E48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new service category does not automatically create a new YardMatch finder fee.</a:t>
            </a:r>
          </a:p>
        </p:txBody>
      </p:sp>
      <p:sp>
        <p:nvSpPr>
          <p:cNvPr id="3" name="YardMatch">
            <a:extLst xmlns:a="http://schemas.openxmlformats.org/drawingml/2006/main">
              <a:ext uri="{FF2B5EF4-FFF2-40B4-BE49-F238E27FC236}">
                <a16:creationId xmlns:a16="http://schemas.microsoft.com/office/drawing/2014/main" id="{0404ED4C-C5CE-4BE9-82FF-0E516705772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8">
            <a:extLst xmlns:a="http://schemas.openxmlformats.org/drawingml/2006/main">
              <a:ext uri="{FF2B5EF4-FFF2-40B4-BE49-F238E27FC236}">
                <a16:creationId xmlns:a16="http://schemas.microsoft.com/office/drawing/2014/main" id="{8CFA3C09-56A3-4146-ACAB-BBA053D0044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08</a:t>
            </a:r>
          </a:p>
        </p:txBody>
      </p:sp>
      <p:graphicFrame>
        <p:nvGraphicFramePr>
          <p:cNvPr id="11" name=""/>
          <p:cNvGraphicFramePr/>
          <p:nvPr/>
        </p:nvGraphicFramePr>
        <p:xfrm>
          <a:off xmlns:a="http://schemas.openxmlformats.org/drawingml/2006/main" x="609600" y="2343150"/>
          <a:ext xmlns:a="http://schemas.openxmlformats.org/drawingml/2006/main" cx="10972800" cy="3190875"/>
        </p:xfrm>
        <a:graphic xmlns:a="http://schemas.openxmlformats.org/drawingml/2006/main">
          <a:graphicData uri="http://schemas.openxmlformats.org/drawingml/2006/table">
            <a:tbl>
              <a:tblPr/>
              <a:tblGrid>
                <a:gridCol w="2238375"/>
                <a:gridCol w="4114800"/>
                <a:gridCol w="4619625"/>
              </a:tblGrid>
              <a:tr h="638175">
                <a:tc>
                  <a:txBody>
                    <a:bodyPr lIns="114300" tIns="76200" rIns="114300" bIns="76200">
                      <a:noAutofit/>
                    </a:bodyPr>
                    <a:lstStyle/>
                    <a:p>
                      <a:r>
                        <a:rPr sz="1725" b="1">
                          <a:solidFill>
                            <a:srgbClr val="FFFFFF"/>
                          </a:solidFill>
                          <a:latin typeface="Arial"/>
                          <a:ea typeface="Arial"/>
                          <a:cs typeface="Arial"/>
                        </a:rPr>
                        <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Zocdoc</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YardMatch</a:t>
                      </a:r>
                    </a:p>
                  </a:txBody>
                  <a:tcPr marL="91440" marR="91440" marT="45720" marB="45720" anchor="ctr">
                    <a:solidFill>
                      <a:srgbClr val="205938"/>
                    </a:solidFill>
                  </a:tcPr>
                </a:tc>
              </a:tr>
              <a:tr h="638175">
                <a:tc>
                  <a:txBody>
                    <a:bodyPr lIns="114300" tIns="76200" rIns="114300" bIns="76200">
                      <a:noAutofit/>
                    </a:bodyPr>
                    <a:lstStyle/>
                    <a:p>
                      <a:pPr algn="l"/>
                      <a:r>
                        <a:rPr sz="1725" b="0">
                          <a:solidFill>
                            <a:srgbClr val="14281D"/>
                          </a:solidFill>
                          <a:latin typeface="Arial"/>
                          <a:ea typeface="Arial"/>
                          <a:cs typeface="Arial"/>
                        </a:rPr>
                        <a:t>Fee event</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New patient/provider discovery booking</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First paid job in a new customer/provider pair</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Return to the same provider</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discovery fee</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No new finder fee. Service + processing fees apply.</a:t>
                      </a:r>
                    </a:p>
                  </a:txBody>
                  <a:tcPr marL="91440" marR="91440" marT="45720" marB="45720" anchor="ctr">
                    <a:solidFill>
                      <a:srgbClr val="F7F5EF"/>
                    </a:solidFill>
                  </a:tcPr>
                </a:tc>
              </a:tr>
              <a:tr h="638175">
                <a:tc>
                  <a:txBody>
                    <a:bodyPr lIns="114300" tIns="76200" rIns="114300" bIns="76200">
                      <a:noAutofit/>
                    </a:bodyPr>
                    <a:lstStyle/>
                    <a:p>
                      <a:pPr algn="l"/>
                      <a:r>
                        <a:rPr sz="1725" b="0">
                          <a:solidFill>
                            <a:srgbClr val="14281D"/>
                          </a:solidFill>
                          <a:latin typeface="Arial"/>
                          <a:ea typeface="Arial"/>
                          <a:cs typeface="Arial"/>
                        </a:rPr>
                        <a:t>New category</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introduce a different doctor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May use the same landscaping company</a:t>
                      </a:r>
                    </a:p>
                  </a:txBody>
                  <a:tcPr marL="91440" marR="91440" marT="45720" marB="45720" anchor="ctr">
                    <a:solidFill>
                      <a:srgbClr val="FFFFFF"/>
                    </a:solidFill>
                  </a:tcPr>
                </a:tc>
              </a:tr>
              <a:tr h="638175">
                <a:tc>
                  <a:txBody>
                    <a:bodyPr lIns="114300" tIns="76200" rIns="114300" bIns="76200">
                      <a:noAutofit/>
                    </a:bodyPr>
                    <a:lstStyle/>
                    <a:p>
                      <a:pPr algn="l"/>
                      <a:r>
                        <a:rPr sz="1725" b="0">
                          <a:solidFill>
                            <a:srgbClr val="14281D"/>
                          </a:solidFill>
                          <a:latin typeface="Arial"/>
                          <a:ea typeface="Arial"/>
                          <a:cs typeface="Arial"/>
                        </a:rPr>
                        <a:t>Core revenue opportunity</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qualifying new provider connections</a:t>
                      </a:r>
                    </a:p>
                  </a:txBody>
                  <a:tcPr marL="91440" marR="91440" marT="45720" marB="45720" anchor="ctr">
                    <a:solidFill>
                      <a:srgbClr val="F7F5EF"/>
                    </a:solidFill>
                  </a:tcPr>
                </a:tc>
                <a:tc>
                  <a:txBody>
                    <a:bodyPr lIns="114300" tIns="76200" rIns="114300" bIns="76200">
                      <a:noAutofit/>
                    </a:bodyPr>
                    <a:lstStyle/>
                    <a:p>
                      <a:pPr algn="l"/>
                      <a:r>
                        <a:rPr sz="1725" b="0">
                          <a:solidFill>
                            <a:srgbClr val="14281D"/>
                          </a:solidFill>
                          <a:latin typeface="Arial"/>
                          <a:ea typeface="Arial"/>
                          <a:cs typeface="Arial"/>
                        </a:rPr>
                        <a:t>More profitable paid visits over time</a:t>
                      </a:r>
                    </a:p>
                  </a:txBody>
                  <a:tcPr marL="91440" marR="91440" marT="45720" marB="45720" anchor="ctr">
                    <a:solidFill>
                      <a:srgbClr val="F7F5EF"/>
                    </a:solidFill>
                  </a:tcPr>
                </a:tc>
              </a:tr>
            </a:tbl>
          </a:graphicData>
        </a:graphic>
      </p:graphicFrame>
      <p:sp>
        <p:nvSpPr>
          <p:cNvPr id="6" name="Zocdoc also exempts reputation and certain partner">
            <a:extLst xmlns:a="http://schemas.openxmlformats.org/drawingml/2006/main">
              <a:ext uri="{FF2B5EF4-FFF2-40B4-BE49-F238E27FC236}">
                <a16:creationId xmlns:a16="http://schemas.microsoft.com/office/drawing/2014/main" id="{90912A4C-61D8-49DA-B197-29920FFF6C6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Zocdoc also exempts reputation and certain partner bookings. Fewer providers per YardMatch household is a hypothesis. Cross-category finder-fee revenue is zero in this forecast.</a:t>
            </a:r>
          </a:p>
        </p:txBody>
      </p:sp>
    </p:spTree>
    <p:extLst>
      <p:ext uri="{BB962C8B-B14F-4D97-AF65-F5344CB8AC3E}">
        <p14:creationId xmlns:p14="http://schemas.microsoft.com/office/powerpoint/2010/main" val="133464865"/>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9" name="A larger job pays a proportionate service fee">
            <a:extLst xmlns:a="http://schemas.openxmlformats.org/drawingml/2006/main">
              <a:ext uri="{FF2B5EF4-FFF2-40B4-BE49-F238E27FC236}">
                <a16:creationId xmlns:a16="http://schemas.microsoft.com/office/drawing/2014/main" id="{9AF64DBD-3C08-4470-A9E2-62293BCF2F4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larger job pays a proportionate service fee</a:t>
            </a:r>
          </a:p>
        </p:txBody>
      </p:sp>
      <p:sp>
        <p:nvSpPr>
          <p:cNvPr id="2" name="Recurring provider charges include the platform fe">
            <a:extLst xmlns:a="http://schemas.openxmlformats.org/drawingml/2006/main">
              <a:ext uri="{FF2B5EF4-FFF2-40B4-BE49-F238E27FC236}">
                <a16:creationId xmlns:a16="http://schemas.microsoft.com/office/drawing/2014/main" id="{653A8020-500A-46FA-8FEC-886FE86EF55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Recurring provider charges include the platform fee and payment processing, with no finder fee on repeats.</a:t>
            </a:r>
          </a:p>
        </p:txBody>
      </p:sp>
      <p:sp>
        <p:nvSpPr>
          <p:cNvPr id="3" name="YardMatch">
            <a:extLst xmlns:a="http://schemas.openxmlformats.org/drawingml/2006/main">
              <a:ext uri="{FF2B5EF4-FFF2-40B4-BE49-F238E27FC236}">
                <a16:creationId xmlns:a16="http://schemas.microsoft.com/office/drawing/2014/main" id="{4B5F2CA8-5D90-4A6F-A036-636A39BBD46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09">
            <a:extLst xmlns:a="http://schemas.openxmlformats.org/drawingml/2006/main">
              <a:ext uri="{FF2B5EF4-FFF2-40B4-BE49-F238E27FC236}">
                <a16:creationId xmlns:a16="http://schemas.microsoft.com/office/drawing/2014/main" id="{E0C9B046-C514-43DC-BC14-7F6289558FF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09</a:t>
            </a:r>
          </a:p>
        </p:txBody>
      </p:sp>
      <p:graphicFrame>
        <p:nvGraphicFramePr>
          <p:cNvPr id="13" name=""/>
          <p:cNvGraphicFramePr/>
          <p:nvPr/>
        </p:nvGraphicFramePr>
        <p:xfrm>
          <a:off xmlns:a="http://schemas.openxmlformats.org/drawingml/2006/main" x="609600" y="2390775"/>
          <a:ext xmlns:a="http://schemas.openxmlformats.org/drawingml/2006/main" cx="8191500" cy="3114675"/>
        </p:xfrm>
        <a:graphic xmlns:a="http://schemas.openxmlformats.org/drawingml/2006/main">
          <a:graphicData uri="http://schemas.openxmlformats.org/drawingml/2006/table">
            <a:tbl>
              <a:tblPr/>
              <a:tblGrid>
                <a:gridCol w="1524000"/>
                <a:gridCol w="2476500"/>
                <a:gridCol w="2095500"/>
                <a:gridCol w="2095500"/>
              </a:tblGrid>
              <a:tr h="519113">
                <a:tc>
                  <a:txBody>
                    <a:bodyPr lIns="114300" tIns="76200" rIns="114300" bIns="76200">
                      <a:noAutofit/>
                    </a:bodyPr>
                    <a:lstStyle/>
                    <a:p>
                      <a:pPr algn="l"/>
                      <a:r>
                        <a:rPr sz="1725" b="1">
                          <a:solidFill>
                            <a:srgbClr val="FFFFFF"/>
                          </a:solidFill>
                          <a:latin typeface="Arial"/>
                          <a:ea typeface="Arial"/>
                          <a:cs typeface="Arial"/>
                        </a:rPr>
                        <a:t>Service bill</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Fee card / ACH</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Total if card</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Total if ACH</a:t>
                      </a:r>
                    </a:p>
                  </a:txBody>
                  <a:tcPr marL="91440" marR="91440" marT="45720" marB="45720" anchor="ctr">
                    <a:solidFill>
                      <a:srgbClr val="205938"/>
                    </a:solidFill>
                  </a:tcPr>
                </a:tc>
              </a:tr>
              <a:tr h="519113">
                <a:tc>
                  <a:txBody>
                    <a:bodyPr lIns="114300" tIns="76200" rIns="114300" bIns="76200">
                      <a:noAutofit/>
                    </a:bodyPr>
                    <a:lstStyle/>
                    <a:p>
                      <a:pPr algn="l"/>
                      <a:r>
                        <a:rPr sz="1725"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$2.40 / $1.20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$4.44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$1.68</a:t>
                      </a:r>
                    </a:p>
                  </a:txBody>
                  <a:tcPr marL="91440" marR="91440" marT="45720" marB="45720" anchor="ctr">
                    <a:solidFill>
                      <a:srgbClr val="FFFFFF"/>
                    </a:solidFill>
                  </a:tcPr>
                </a:tc>
              </a:tr>
              <a:tr h="519113">
                <a:tc>
                  <a:txBody>
                    <a:bodyPr lIns="114300" tIns="76200" rIns="114300" bIns="76200">
                      <a:noAutofit/>
                    </a:bodyPr>
                    <a:lstStyle/>
                    <a:p>
                      <a:pPr algn="l"/>
                      <a:r>
                        <a:rPr sz="1725" b="0">
                          <a:solidFill>
                            <a:srgbClr val="14281D"/>
                          </a:solidFill>
                          <a:latin typeface="Arial"/>
                          <a:ea typeface="Arial"/>
                          <a:cs typeface="Arial"/>
                        </a:rPr>
                        <a:t>$100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$4.00 / $2.00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$7.20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$2.80</a:t>
                      </a:r>
                    </a:p>
                  </a:txBody>
                  <a:tcPr marL="91440" marR="91440" marT="45720" marB="45720" anchor="ctr">
                    <a:solidFill>
                      <a:srgbClr val="F7F5EF"/>
                    </a:solidFill>
                  </a:tcPr>
                </a:tc>
              </a:tr>
              <a:tr h="519113">
                <a:tc>
                  <a:txBody>
                    <a:bodyPr lIns="114300" tIns="76200" rIns="114300" bIns="76200">
                      <a:noAutofit/>
                    </a:bodyPr>
                    <a:lstStyle/>
                    <a:p>
                      <a:pPr algn="l"/>
                      <a:r>
                        <a:rPr sz="1725" b="0">
                          <a:solidFill>
                            <a:srgbClr val="14281D"/>
                          </a:solidFill>
                          <a:latin typeface="Arial"/>
                          <a:ea typeface="Arial"/>
                          <a:cs typeface="Arial"/>
                        </a:rPr>
                        <a:t>$300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$12.00 / $6.00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$8.40</a:t>
                      </a:r>
                    </a:p>
                  </a:txBody>
                  <a:tcPr marL="91440" marR="91440" marT="45720" marB="45720" anchor="ctr">
                    <a:solidFill>
                      <a:srgbClr val="FFFFFF"/>
                    </a:solidFill>
                  </a:tcPr>
                </a:tc>
              </a:tr>
              <a:tr h="519113">
                <a:tc>
                  <a:txBody>
                    <a:bodyPr lIns="114300" tIns="76200" rIns="114300" bIns="76200">
                      <a:noAutofit/>
                    </a:bodyPr>
                    <a:lstStyle/>
                    <a:p>
                      <a:pPr algn="l"/>
                      <a:r>
                        <a:rPr sz="1725" b="0">
                          <a:solidFill>
                            <a:srgbClr val="14281D"/>
                          </a:solidFill>
                          <a:latin typeface="Arial"/>
                          <a:ea typeface="Arial"/>
                          <a:cs typeface="Arial"/>
                        </a:rPr>
                        <a:t>$1,000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$40.00 / $20.00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$69.30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a:t>
                      </a:r>
                    </a:p>
                  </a:txBody>
                  <a:tcPr marL="91440" marR="91440" marT="45720" marB="45720" anchor="ctr">
                    <a:solidFill>
                      <a:srgbClr val="F7F5EF"/>
                    </a:solidFill>
                  </a:tcPr>
                </a:tc>
              </a:tr>
              <a:tr h="519113">
                <a:tc>
                  <a:txBody>
                    <a:bodyPr lIns="114300" tIns="76200" rIns="114300" bIns="76200">
                      <a:noAutofit/>
                    </a:bodyPr>
                    <a:lstStyle/>
                    <a:p>
                      <a:pPr algn="l"/>
                      <a:r>
                        <a:rPr sz="1725" b="0">
                          <a:solidFill>
                            <a:srgbClr val="14281D"/>
                          </a:solidFill>
                          <a:latin typeface="Arial"/>
                          <a:ea typeface="Arial"/>
                          <a:cs typeface="Arial"/>
                        </a:rPr>
                        <a:t>$2,500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$100.00 / $50.00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$172.80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$55.00</a:t>
                      </a:r>
                    </a:p>
                  </a:txBody>
                  <a:tcPr marL="91440" marR="91440" marT="45720" marB="45720" anchor="ctr">
                    <a:solidFill>
                      <a:srgbClr val="FFFFFF"/>
                    </a:solidFill>
                  </a:tcPr>
                </a:tc>
              </a:tr>
            </a:tbl>
          </a:graphicData>
        </a:graphic>
      </p:graphicFrame>
      <p:sp>
        <p:nvSpPr>
          <p:cNvPr id="6" name="$2.60">
            <a:extLst xmlns:a="http://schemas.openxmlformats.org/drawingml/2006/main">
              <a:ext uri="{FF2B5EF4-FFF2-40B4-BE49-F238E27FC236}">
                <a16:creationId xmlns:a16="http://schemas.microsoft.com/office/drawing/2014/main" id="{1D52A051-BA33-4ACC-9020-17329D319515}"/>
              </a:ext>
            </a:extLst>
          </p:cNvPr>
          <p:cNvSpPr>
            <a:spLocks xmlns:a="http://schemas.openxmlformats.org/drawingml/2006/main" noGrp="1"/>
          </p:cNvSpPr>
          <p:nvPr/>
        </p:nvSpPr>
        <p:spPr>
          <a:xfrm xmlns:a="http://schemas.openxmlformats.org/drawingml/2006/main">
            <a:off x="9172575" y="2562225"/>
            <a:ext cx="23526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205938"/>
                </a:solidFill>
                <a:latin typeface="Arial"/>
                <a:ea typeface="Arial"/>
                <a:cs typeface="Arial"/>
              </a:defRPr>
            </a:pPr>
            <a:r>
              <a:rPr sz="3600" b="1">
                <a:solidFill>
                  <a:srgbClr val="205938"/>
                </a:solidFill>
                <a:latin typeface="Arial"/>
                <a:ea typeface="Arial"/>
                <a:cs typeface="Arial"/>
              </a:rPr>
              <a:t>$2.60</a:t>
            </a:r>
          </a:p>
        </p:txBody>
      </p:sp>
      <p:sp>
        <p:nvSpPr>
          <p:cNvPr id="7" name="Average repeat contribution in the 2031 base mix">
            <a:extLst xmlns:a="http://schemas.openxmlformats.org/drawingml/2006/main">
              <a:ext uri="{FF2B5EF4-FFF2-40B4-BE49-F238E27FC236}">
                <a16:creationId xmlns:a16="http://schemas.microsoft.com/office/drawing/2014/main" id="{AC6683FE-7FD8-4A07-9703-E6BEC2450CD2}"/>
              </a:ext>
            </a:extLst>
          </p:cNvPr>
          <p:cNvSpPr>
            <a:spLocks xmlns:a="http://schemas.openxmlformats.org/drawingml/2006/main" noGrp="1"/>
          </p:cNvSpPr>
          <p:nvPr/>
        </p:nvSpPr>
        <p:spPr>
          <a:xfrm xmlns:a="http://schemas.openxmlformats.org/drawingml/2006/main">
            <a:off x="9191625" y="3305175"/>
            <a:ext cx="2333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Average repeat contribution in the 2031 base mix</a:t>
            </a:r>
          </a:p>
        </p:txBody>
      </p:sp>
      <p:sp>
        <p:nvSpPr>
          <p:cNvPr id="8" name="The homeowner must pay by ACH to qualify. Processi">
            <a:extLst xmlns:a="http://schemas.openxmlformats.org/drawingml/2006/main">
              <a:ext uri="{FF2B5EF4-FFF2-40B4-BE49-F238E27FC236}">
                <a16:creationId xmlns:a16="http://schemas.microsoft.com/office/drawing/2014/main" id="{8EE8AE52-B0F8-4281-B2A4-0F6E01C723E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homeowner must pay by ACH to qualify. Processing savings already go to providers. The lower platform fee is an additional YardMatch-funded discount. No automatic adoption lift is assumed.</a:t>
            </a:r>
          </a:p>
        </p:txBody>
      </p:sp>
    </p:spTree>
    <p:extLst>
      <p:ext uri="{BB962C8B-B14F-4D97-AF65-F5344CB8AC3E}">
        <p14:creationId xmlns:p14="http://schemas.microsoft.com/office/powerpoint/2010/main" val="1776866296"/>
      </p:ext>
    </p:extLst>
  </p:cSld>
</p:sld>
</file>

<file path=ppt/slides/slide1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60 is the starting price for basic mowing">
            <a:extLst xmlns:a="http://schemas.openxmlformats.org/drawingml/2006/main">
              <a:ext uri="{FF2B5EF4-FFF2-40B4-BE49-F238E27FC236}">
                <a16:creationId xmlns:a16="http://schemas.microsoft.com/office/drawing/2014/main" id="{244059AD-F8CE-4595-92CC-FA4203324E9F}"/>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$60 is the starting price for basic mowing</a:t>
            </a:r>
          </a:p>
        </p:txBody>
      </p:sp>
      <p:sp>
        <p:nvSpPr>
          <p:cNvPr id="2" name="Illustrative 2027 inputs before neighborhood and p">
            <a:extLst xmlns:a="http://schemas.openxmlformats.org/drawingml/2006/main">
              <a:ext uri="{FF2B5EF4-FFF2-40B4-BE49-F238E27FC236}">
                <a16:creationId xmlns:a16="http://schemas.microsoft.com/office/drawing/2014/main" id="{E07320A2-7CA3-4F6B-AAFD-A16FA2A75DC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2027 inputs before neighborhood and property adjustments. These are assumptions, not provider quotes.</a:t>
            </a:r>
          </a:p>
        </p:txBody>
      </p:sp>
      <p:sp>
        <p:nvSpPr>
          <p:cNvPr id="3" name="YardMatch">
            <a:extLst xmlns:a="http://schemas.openxmlformats.org/drawingml/2006/main">
              <a:ext uri="{FF2B5EF4-FFF2-40B4-BE49-F238E27FC236}">
                <a16:creationId xmlns:a16="http://schemas.microsoft.com/office/drawing/2014/main" id="{706BE05F-FD73-4654-AF6D-17892B063EC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0">
            <a:extLst xmlns:a="http://schemas.openxmlformats.org/drawingml/2006/main">
              <a:ext uri="{FF2B5EF4-FFF2-40B4-BE49-F238E27FC236}">
                <a16:creationId xmlns:a16="http://schemas.microsoft.com/office/drawing/2014/main" id="{CBC29C91-1D5D-4730-9548-48DA5E2938F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10</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5429250"/>
                <a:gridCol w="1905000"/>
                <a:gridCol w="3638550"/>
              </a:tblGrid>
              <a:tr h="563563">
                <a:tc>
                  <a:txBody>
                    <a:bodyPr lIns="114300" tIns="76200" rIns="114300" bIns="76200">
                      <a:noAutofit/>
                    </a:bodyPr>
                    <a:lstStyle/>
                    <a:p>
                      <a:pPr algn="l"/>
                      <a:r>
                        <a:rPr sz="1800" b="1">
                          <a:solidFill>
                            <a:srgbClr val="FFFFFF"/>
                          </a:solidFill>
                          <a:latin typeface="Arial"/>
                          <a:ea typeface="Arial"/>
                          <a:cs typeface="Arial"/>
                        </a:rPr>
                        <a:t>Service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Starting price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Scheduled jobs / household</a:t>
                      </a:r>
                    </a:p>
                  </a:txBody>
                  <a:tcPr marL="91440" marR="91440" marT="45720" marB="45720" anchor="ctr">
                    <a:solidFill>
                      <a:srgbClr val="205938"/>
                    </a:solidFill>
                  </a:tcPr>
                </a:tc>
              </a:tr>
              <a:tr h="563563">
                <a:tc>
                  <a:txBody>
                    <a:bodyPr lIns="114300" tIns="76200" rIns="114300" bIns="76200">
                      <a:noAutofit/>
                    </a:bodyPr>
                    <a:lstStyle/>
                    <a:p>
                      <a:pPr algn="l"/>
                      <a:r>
                        <a:rPr sz="1800" b="0">
                          <a:solidFill>
                            <a:srgbClr val="14281D"/>
                          </a:solidFill>
                          <a:latin typeface="Arial"/>
                          <a:ea typeface="Arial"/>
                          <a:cs typeface="Arial"/>
                        </a:rPr>
                        <a:t>Basic mowing</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Mowing + edging / trimming</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6.00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Expanded maintenance bundle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2.00</a:t>
                      </a:r>
                    </a:p>
                  </a:txBody>
                  <a:tcPr marL="91440" marR="91440" marT="45720" marB="45720" anchor="ctr">
                    <a:solidFill>
                      <a:srgbClr val="FFFFFF"/>
                    </a:solidFill>
                  </a:tcPr>
                </a:tc>
              </a:tr>
              <a:tr h="563563">
                <a:tc>
                  <a:txBody>
                    <a:bodyPr lIns="114300" tIns="76200" rIns="114300" bIns="76200">
                      <a:noAutofit/>
                    </a:bodyPr>
                    <a:lstStyle/>
                    <a:p>
                      <a:pPr algn="l"/>
                      <a:r>
                        <a:rPr sz="1800" b="0">
                          <a:solidFill>
                            <a:srgbClr val="14281D"/>
                          </a:solidFill>
                          <a:latin typeface="Arial"/>
                          <a:ea typeface="Arial"/>
                          <a:cs typeface="Arial"/>
                        </a:rPr>
                        <a:t>Mulch / seasonal cleanup</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0.60</a:t>
                      </a:r>
                    </a:p>
                  </a:txBody>
                  <a:tcPr marL="91440" marR="91440" marT="45720" marB="45720" anchor="ctr">
                    <a:solidFill>
                      <a:srgbClr val="F7F5EF"/>
                    </a:solidFill>
                  </a:tcPr>
                </a:tc>
              </a:tr>
              <a:tr h="563563">
                <a:tc>
                  <a:txBody>
                    <a:bodyPr lIns="114300" tIns="76200" rIns="114300" bIns="76200">
                      <a:noAutofit/>
                    </a:bodyPr>
                    <a:lstStyle/>
                    <a:p>
                      <a:pPr algn="l"/>
                      <a:r>
                        <a:rPr sz="1800" b="0">
                          <a:solidFill>
                            <a:srgbClr val="14281D"/>
                          </a:solidFill>
                          <a:latin typeface="Arial"/>
                          <a:ea typeface="Arial"/>
                          <a:cs typeface="Arial"/>
                        </a:rPr>
                        <a:t>Tree / larger property project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0.03</a:t>
                      </a:r>
                    </a:p>
                  </a:txBody>
                  <a:tcPr marL="91440" marR="91440" marT="45720" marB="45720" anchor="ctr">
                    <a:solidFill>
                      <a:srgbClr val="FFFFFF"/>
                    </a:solidFill>
                  </a:tcPr>
                </a:tc>
              </a:tr>
            </a:tbl>
          </a:graphicData>
        </a:graphic>
      </p:graphicFrame>
      <p:sp>
        <p:nvSpPr>
          <p:cNvPr id="6" name="2027 base: 20 maintenance visits plus 0.63 project">
            <a:extLst xmlns:a="http://schemas.openxmlformats.org/drawingml/2006/main">
              <a:ext uri="{FF2B5EF4-FFF2-40B4-BE49-F238E27FC236}">
                <a16:creationId xmlns:a16="http://schemas.microsoft.com/office/drawing/2014/main" id="{E89DB013-EBE5-4F33-9F3C-6481B795381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2027 base: 20 maintenance visits plus 0.63 project jobs per full-season household before capture and completion. Bundles count once. Project visits pay the service fee plus processing, with no new finder fee for the same provider.</a:t>
            </a:r>
          </a:p>
        </p:txBody>
      </p:sp>
    </p:spTree>
    <p:extLst>
      <p:ext uri="{BB962C8B-B14F-4D97-AF65-F5344CB8AC3E}">
        <p14:creationId xmlns:p14="http://schemas.microsoft.com/office/powerpoint/2010/main" val="538684059"/>
      </p:ext>
    </p:extLst>
  </p:cSld>
</p:sld>
</file>

<file path=ppt/slides/slide1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Property and neighborhood affect the ticket">
            <a:extLst xmlns:a="http://schemas.openxmlformats.org/drawingml/2006/main">
              <a:ext uri="{FF2B5EF4-FFF2-40B4-BE49-F238E27FC236}">
                <a16:creationId xmlns:a16="http://schemas.microsoft.com/office/drawing/2014/main" id="{331F45E2-D5A0-48C7-82E8-996387150A7A}"/>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Property and neighborhood affect the ticket</a:t>
            </a:r>
          </a:p>
        </p:txBody>
      </p:sp>
      <p:sp>
        <p:nvSpPr>
          <p:cNvPr id="2" name="Named town launches, service mix and 3% annual pri">
            <a:extLst xmlns:a="http://schemas.openxmlformats.org/drawingml/2006/main">
              <a:ext uri="{FF2B5EF4-FFF2-40B4-BE49-F238E27FC236}">
                <a16:creationId xmlns:a16="http://schemas.microsoft.com/office/drawing/2014/main" id="{24F33A1C-8B3E-4D6A-9E31-9B5FD330F4B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Named town launches, service mix and 3% annual price escalation determine the weighted average.</a:t>
            </a:r>
          </a:p>
        </p:txBody>
      </p:sp>
      <p:sp>
        <p:nvSpPr>
          <p:cNvPr id="3" name="YardMatch">
            <a:extLst xmlns:a="http://schemas.openxmlformats.org/drawingml/2006/main">
              <a:ext uri="{FF2B5EF4-FFF2-40B4-BE49-F238E27FC236}">
                <a16:creationId xmlns:a16="http://schemas.microsoft.com/office/drawing/2014/main" id="{6F6410A6-6723-452D-AAAD-235372EC514C}"/>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1">
            <a:extLst xmlns:a="http://schemas.openxmlformats.org/drawingml/2006/main">
              <a:ext uri="{FF2B5EF4-FFF2-40B4-BE49-F238E27FC236}">
                <a16:creationId xmlns:a16="http://schemas.microsoft.com/office/drawing/2014/main" id="{F885DB13-8E33-4317-AD27-0D91EF679A59}"/>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11</a:t>
            </a:r>
          </a:p>
        </p:txBody>
      </p:sp>
      <p:sp>
        <p:nvSpPr>
          <p:cNvPr id="5" name="Neighborhood">
            <a:extLst xmlns:a="http://schemas.openxmlformats.org/drawingml/2006/main">
              <a:ext uri="{FF2B5EF4-FFF2-40B4-BE49-F238E27FC236}">
                <a16:creationId xmlns:a16="http://schemas.microsoft.com/office/drawing/2014/main" id="{6A478181-7DA9-4881-A523-03385BC1CA3C}"/>
              </a:ext>
            </a:extLst>
          </p:cNvPr>
          <p:cNvSpPr>
            <a:spLocks xmlns:a="http://schemas.openxmlformats.org/drawingml/2006/main" noGrp="1"/>
          </p:cNvSpPr>
          <p:nvPr/>
        </p:nvSpPr>
        <p:spPr>
          <a:xfrm xmlns:a="http://schemas.openxmlformats.org/drawingml/2006/main">
            <a:off x="6286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Neighborhood</a:t>
            </a:r>
          </a:p>
        </p:txBody>
      </p:sp>
      <p:sp>
        <p:nvSpPr>
          <p:cNvPr id="6" name="Standard, +15%, or +30% pricing">
            <a:extLst xmlns:a="http://schemas.openxmlformats.org/drawingml/2006/main">
              <a:ext uri="{FF2B5EF4-FFF2-40B4-BE49-F238E27FC236}">
                <a16:creationId xmlns:a16="http://schemas.microsoft.com/office/drawing/2014/main" id="{0A7E31A7-03E6-4199-977E-2FA6677AB9A0}"/>
              </a:ext>
            </a:extLst>
          </p:cNvPr>
          <p:cNvSpPr>
            <a:spLocks xmlns:a="http://schemas.openxmlformats.org/drawingml/2006/main" noGrp="1"/>
          </p:cNvSpPr>
          <p:nvPr/>
        </p:nvSpPr>
        <p:spPr>
          <a:xfrm xmlns:a="http://schemas.openxmlformats.org/drawingml/2006/main">
            <a:off x="6286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Standard, +15%, or +30% pricing</a:t>
            </a:r>
          </a:p>
        </p:txBody>
      </p:sp>
      <p:sp>
        <p:nvSpPr>
          <p:cNvPr id="7" name="Property size">
            <a:extLst xmlns:a="http://schemas.openxmlformats.org/drawingml/2006/main">
              <a:ext uri="{FF2B5EF4-FFF2-40B4-BE49-F238E27FC236}">
                <a16:creationId xmlns:a16="http://schemas.microsoft.com/office/drawing/2014/main" id="{E4A942C2-8D39-4ACA-9F9B-F3EF646B8DD6}"/>
              </a:ext>
            </a:extLst>
          </p:cNvPr>
          <p:cNvSpPr>
            <a:spLocks xmlns:a="http://schemas.openxmlformats.org/drawingml/2006/main" noGrp="1"/>
          </p:cNvSpPr>
          <p:nvPr/>
        </p:nvSpPr>
        <p:spPr>
          <a:xfrm xmlns:a="http://schemas.openxmlformats.org/drawingml/2006/main">
            <a:off x="6381750" y="2343150"/>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Property size</a:t>
            </a:r>
          </a:p>
        </p:txBody>
      </p:sp>
      <p:sp>
        <p:nvSpPr>
          <p:cNvPr id="8" name="Typical, +35%, or +80% pricing">
            <a:extLst xmlns:a="http://schemas.openxmlformats.org/drawingml/2006/main">
              <a:ext uri="{FF2B5EF4-FFF2-40B4-BE49-F238E27FC236}">
                <a16:creationId xmlns:a16="http://schemas.microsoft.com/office/drawing/2014/main" id="{B3AA234E-4BFE-42A2-8EBB-AD8F2366267C}"/>
              </a:ext>
            </a:extLst>
          </p:cNvPr>
          <p:cNvSpPr>
            <a:spLocks xmlns:a="http://schemas.openxmlformats.org/drawingml/2006/main" noGrp="1"/>
          </p:cNvSpPr>
          <p:nvPr/>
        </p:nvSpPr>
        <p:spPr>
          <a:xfrm xmlns:a="http://schemas.openxmlformats.org/drawingml/2006/main">
            <a:off x="6381750" y="2809875"/>
            <a:ext cx="51720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Typical, +35%, or +80% pricing</a:t>
            </a:r>
          </a:p>
        </p:txBody>
      </p:sp>
      <p:graphicFrame>
        <p:nvGraphicFramePr>
          <p:cNvPr id="19" name=""/>
          <p:cNvGraphicFramePr/>
          <p:nvPr/>
        </p:nvGraphicFramePr>
        <p:xfrm>
          <a:off xmlns:a="http://schemas.openxmlformats.org/drawingml/2006/main" x="609600" y="3524250"/>
          <a:ext xmlns:a="http://schemas.openxmlformats.org/drawingml/2006/main" cx="10972800" cy="2162175"/>
        </p:xfrm>
        <a:graphic xmlns:a="http://schemas.openxmlformats.org/drawingml/2006/main">
          <a:graphicData uri="http://schemas.openxmlformats.org/drawingml/2006/table">
            <a:tbl>
              <a:tblPr/>
              <a:tblGrid>
                <a:gridCol w="4857750"/>
                <a:gridCol w="2038350"/>
                <a:gridCol w="2038350"/>
                <a:gridCol w="2038350"/>
              </a:tblGrid>
              <a:tr h="540544">
                <a:tc>
                  <a:txBody>
                    <a:bodyPr lIns="114300" tIns="76200" rIns="114300" bIns="76200">
                      <a:noAutofit/>
                    </a:bodyPr>
                    <a:lstStyle/>
                    <a:p>
                      <a:pPr algn="l"/>
                      <a:r>
                        <a:rPr sz="1875" b="1">
                          <a:solidFill>
                            <a:srgbClr val="FFFFFF"/>
                          </a:solidFill>
                          <a:latin typeface="Arial"/>
                          <a:ea typeface="Arial"/>
                          <a:cs typeface="Arial"/>
                        </a:rPr>
                        <a:t>Base case</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75" b="1">
                          <a:solidFill>
                            <a:srgbClr val="FFFFFF"/>
                          </a:solidFill>
                          <a:latin typeface="Arial"/>
                          <a:ea typeface="Arial"/>
                          <a:cs typeface="Arial"/>
                        </a:rPr>
                        <a:t>2033</a:t>
                      </a:r>
                    </a:p>
                  </a:txBody>
                  <a:tcPr marL="91440" marR="91440" marT="45720" marB="45720" anchor="ctr">
                    <a:solidFill>
                      <a:srgbClr val="205938"/>
                    </a:solidFill>
                  </a:tcPr>
                </a:tc>
              </a:tr>
              <a:tr h="540544">
                <a:tc>
                  <a:txBody>
                    <a:bodyPr lIns="114300" tIns="76200" rIns="114300" bIns="76200">
                      <a:noAutofit/>
                    </a:bodyPr>
                    <a:lstStyle/>
                    <a:p>
                      <a:pPr algn="l"/>
                      <a:r>
                        <a:rPr sz="1875" b="0">
                          <a:solidFill>
                            <a:srgbClr val="14281D"/>
                          </a:solidFill>
                          <a:latin typeface="Arial"/>
                          <a:ea typeface="Arial"/>
                          <a:cs typeface="Arial"/>
                        </a:rPr>
                        <a:t>Maintenance average price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$82.87</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$98.01</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$117.84</a:t>
                      </a:r>
                    </a:p>
                  </a:txBody>
                  <a:tcPr marL="91440" marR="91440" marT="45720" marB="45720" anchor="ctr">
                    <a:solidFill>
                      <a:srgbClr val="FFFFFF"/>
                    </a:solidFill>
                  </a:tcPr>
                </a:tc>
              </a:tr>
              <a:tr h="540544">
                <a:tc>
                  <a:txBody>
                    <a:bodyPr lIns="114300" tIns="76200" rIns="114300" bIns="76200">
                      <a:noAutofit/>
                    </a:bodyPr>
                    <a:lstStyle/>
                    <a:p>
                      <a:pPr algn="l"/>
                      <a:r>
                        <a:rPr sz="1875" b="1">
                          <a:solidFill>
                            <a:srgbClr val="14281D"/>
                          </a:solidFill>
                          <a:latin typeface="Arial"/>
                          <a:ea typeface="Arial"/>
                          <a:cs typeface="Arial"/>
                        </a:rPr>
                        <a:t>All-job average price</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$91.82</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$112.45</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$138.69</a:t>
                      </a:r>
                    </a:p>
                  </a:txBody>
                  <a:tcPr marL="91440" marR="91440" marT="45720" marB="45720" anchor="ctr">
                    <a:solidFill>
                      <a:srgbClr val="E8EDDF"/>
                    </a:solidFill>
                  </a:tcPr>
                </a:tc>
              </a:tr>
              <a:tr h="540544">
                <a:tc>
                  <a:txBody>
                    <a:bodyPr lIns="114300" tIns="76200" rIns="114300" bIns="76200">
                      <a:noAutofit/>
                    </a:bodyPr>
                    <a:lstStyle/>
                    <a:p>
                      <a:pPr algn="l"/>
                      <a:r>
                        <a:rPr sz="1875" b="0">
                          <a:solidFill>
                            <a:srgbClr val="14281D"/>
                          </a:solidFill>
                          <a:latin typeface="Arial"/>
                          <a:ea typeface="Arial"/>
                          <a:cs typeface="Arial"/>
                        </a:rPr>
                        <a:t>Separate projects / household</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0.63</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0.86</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1.08</a:t>
                      </a:r>
                    </a:p>
                  </a:txBody>
                  <a:tcPr marL="91440" marR="91440" marT="45720" marB="45720" anchor="ctr">
                    <a:solidFill>
                      <a:srgbClr val="FFFFFF"/>
                    </a:solidFill>
                  </a:tcPr>
                </a:tc>
              </a:tr>
            </a:tbl>
          </a:graphicData>
        </a:graphic>
      </p:graphicFrame>
      <p:sp>
        <p:nvSpPr>
          <p:cNvPr id="10" name="Multipliers compound. Example: $85 bundle × 1.15 n">
            <a:extLst xmlns:a="http://schemas.openxmlformats.org/drawingml/2006/main">
              <a:ext uri="{FF2B5EF4-FFF2-40B4-BE49-F238E27FC236}">
                <a16:creationId xmlns:a16="http://schemas.microsoft.com/office/drawing/2014/main" id="{A9AFF417-BE64-4C21-A33C-C5F117214E5B}"/>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Multipliers compound. Example: $85 bundle × 1.15 neighborhood × 1.35 property = $131.96 before later-year escalation. Town / lot weights stay correlated. Pricing assumptions are editable and need provider quotes.</a:t>
            </a:r>
          </a:p>
        </p:txBody>
      </p:sp>
    </p:spTree>
    <p:extLst>
      <p:ext uri="{BB962C8B-B14F-4D97-AF65-F5344CB8AC3E}">
        <p14:creationId xmlns:p14="http://schemas.microsoft.com/office/powerpoint/2010/main" val="652265181"/>
      </p:ext>
    </p:extLst>
  </p:cSld>
</p:sld>
</file>

<file path=ppt/slides/slide1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rnegat demand now has a defined funnel">
            <a:extLst xmlns:a="http://schemas.openxmlformats.org/drawingml/2006/main">
              <a:ext uri="{FF2B5EF4-FFF2-40B4-BE49-F238E27FC236}">
                <a16:creationId xmlns:a16="http://schemas.microsoft.com/office/drawing/2014/main" id="{0B86CD3D-C7E9-492C-BF32-0E96E96CAA3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Barnegat demand now has a defined funnel</a:t>
            </a:r>
          </a:p>
        </p:txBody>
      </p:sp>
      <p:sp>
        <p:nvSpPr>
          <p:cNvPr id="2" name="Census facts anchor the denominator. Lawn eligibil">
            <a:extLst xmlns:a="http://schemas.openxmlformats.org/drawingml/2006/main">
              <a:ext uri="{FF2B5EF4-FFF2-40B4-BE49-F238E27FC236}">
                <a16:creationId xmlns:a16="http://schemas.microsoft.com/office/drawing/2014/main" id="{6308A937-BDAF-4C92-B98A-DA8B4049594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facts anchor the denominator. Lawn eligibility and willingness to hire are assumptions.</a:t>
            </a:r>
          </a:p>
        </p:txBody>
      </p:sp>
      <p:sp>
        <p:nvSpPr>
          <p:cNvPr id="3" name="YardMatch">
            <a:extLst xmlns:a="http://schemas.openxmlformats.org/drawingml/2006/main">
              <a:ext uri="{FF2B5EF4-FFF2-40B4-BE49-F238E27FC236}">
                <a16:creationId xmlns:a16="http://schemas.microsoft.com/office/drawing/2014/main" id="{0823DA63-9993-4009-9765-BE04F5BF648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2">
            <a:extLst xmlns:a="http://schemas.openxmlformats.org/drawingml/2006/main">
              <a:ext uri="{FF2B5EF4-FFF2-40B4-BE49-F238E27FC236}">
                <a16:creationId xmlns:a16="http://schemas.microsoft.com/office/drawing/2014/main" id="{41FE773B-AB7E-4078-9495-068381573F2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12</a:t>
            </a:r>
          </a:p>
        </p:txBody>
      </p:sp>
      <p:graphicFrame>
        <p:nvGraphicFramePr>
          <p:cNvPr id="11" name=""/>
          <p:cNvGraphicFramePr/>
          <p:nvPr/>
        </p:nvGraphicFramePr>
        <p:xfrm>
          <a:off xmlns:a="http://schemas.openxmlformats.org/drawingml/2006/main" x="609600" y="2333625"/>
          <a:ext xmlns:a="http://schemas.openxmlformats.org/drawingml/2006/main" cx="10972800" cy="3152775"/>
        </p:xfrm>
        <a:graphic xmlns:a="http://schemas.openxmlformats.org/drawingml/2006/main">
          <a:graphicData uri="http://schemas.openxmlformats.org/drawingml/2006/table">
            <a:tbl>
              <a:tblPr/>
              <a:tblGrid>
                <a:gridCol w="8210550"/>
                <a:gridCol w="2762250"/>
              </a:tblGrid>
              <a:tr h="525463">
                <a:tc>
                  <a:txBody>
                    <a:bodyPr lIns="114300" tIns="76200" rIns="114300" bIns="76200">
                      <a:noAutofit/>
                    </a:bodyPr>
                    <a:lstStyle/>
                    <a:p>
                      <a:pPr algn="l"/>
                      <a:r>
                        <a:rPr sz="1875" b="1">
                          <a:solidFill>
                            <a:srgbClr val="FFFFFF"/>
                          </a:solidFill>
                          <a:latin typeface="Arial"/>
                          <a:ea typeface="Arial"/>
                          <a:cs typeface="Arial"/>
                        </a:rPr>
                        <a:t>Barnegat launch funnel</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Households</a:t>
                      </a:r>
                    </a:p>
                  </a:txBody>
                  <a:tcPr marL="91440" marR="91440" marT="45720" marB="45720" anchor="ctr">
                    <a:solidFill>
                      <a:srgbClr val="205938"/>
                    </a:solidFill>
                  </a:tcPr>
                </a:tc>
              </a:tr>
              <a:tr h="525463">
                <a:tc>
                  <a:txBody>
                    <a:bodyPr lIns="114300" tIns="76200" rIns="114300" bIns="76200">
                      <a:noAutofit/>
                    </a:bodyPr>
                    <a:lstStyle/>
                    <a:p>
                      <a:pPr algn="l"/>
                      <a:r>
                        <a:rPr sz="1875" b="0">
                          <a:solidFill>
                            <a:srgbClr val="14281D"/>
                          </a:solidFill>
                          <a:latin typeface="Arial"/>
                          <a:ea typeface="Arial"/>
                          <a:cs typeface="Arial"/>
                        </a:rPr>
                        <a:t>Census occupied households</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10,265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Owner-occupied estimate: 88%</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9,033</a:t>
                      </a:r>
                    </a:p>
                  </a:txBody>
                  <a:tcPr marL="91440" marR="91440" marT="45720" marB="45720" anchor="ctr">
                    <a:solidFill>
                      <a:srgbClr val="F7F5EF"/>
                    </a:solidFill>
                  </a:tcPr>
                </a:tc>
              </a:tr>
              <a:tr h="525463">
                <a:tc>
                  <a:txBody>
                    <a:bodyPr lIns="114300" tIns="76200" rIns="114300" bIns="76200">
                      <a:noAutofit/>
                    </a:bodyPr>
                    <a:lstStyle/>
                    <a:p>
                      <a:pPr algn="l"/>
                      <a:r>
                        <a:rPr sz="1875" b="0">
                          <a:solidFill>
                            <a:srgbClr val="14281D"/>
                          </a:solidFill>
                          <a:latin typeface="Arial"/>
                          <a:ea typeface="Arial"/>
                          <a:cs typeface="Arial"/>
                        </a:rPr>
                        <a:t>Assumed lawn-care eligibility: 75%</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6,775</a:t>
                      </a:r>
                    </a:p>
                  </a:txBody>
                  <a:tcPr marL="91440" marR="91440" marT="45720" marB="45720" anchor="ctr">
                    <a:solidFill>
                      <a:srgbClr val="FFFFFF"/>
                    </a:solidFill>
                  </a:tcPr>
                </a:tc>
              </a:tr>
              <a:tr h="525463">
                <a:tc>
                  <a:txBody>
                    <a:bodyPr lIns="114300" tIns="76200" rIns="114300" bIns="76200">
                      <a:noAutofit/>
                    </a:bodyPr>
                    <a:lstStyle/>
                    <a:p>
                      <a:pPr algn="l"/>
                      <a:r>
                        <a:rPr sz="1875" b="0">
                          <a:solidFill>
                            <a:srgbClr val="14281D"/>
                          </a:solidFill>
                          <a:latin typeface="Arial"/>
                          <a:ea typeface="Arial"/>
                          <a:cs typeface="Arial"/>
                        </a:rPr>
                        <a:t>Assumed propensity to hire: 45%</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3,049</a:t>
                      </a:r>
                    </a:p>
                  </a:txBody>
                  <a:tcPr marL="91440" marR="91440" marT="45720" marB="45720" anchor="ctr">
                    <a:solidFill>
                      <a:srgbClr val="F7F5EF"/>
                    </a:solidFill>
                  </a:tcPr>
                </a:tc>
              </a:tr>
              <a:tr h="525463">
                <a:tc>
                  <a:txBody>
                    <a:bodyPr lIns="114300" tIns="76200" rIns="114300" bIns="76200">
                      <a:noAutofit/>
                    </a:bodyPr>
                    <a:lstStyle/>
                    <a:p>
                      <a:pPr algn="l"/>
                      <a:r>
                        <a:rPr sz="1875" b="1">
                          <a:solidFill>
                            <a:srgbClr val="14281D"/>
                          </a:solidFill>
                          <a:latin typeface="Arial"/>
                          <a:ea typeface="Arial"/>
                          <a:cs typeface="Arial"/>
                        </a:rPr>
                        <a:t>2027 active customers after supply cap</a:t>
                      </a:r>
                    </a:p>
                  </a:txBody>
                  <a:tcPr marL="91440" marR="91440" marT="45720" marB="45720" anchor="ctr">
                    <a:solidFill>
                      <a:srgbClr val="E8EDDF"/>
                    </a:solidFill>
                  </a:tcPr>
                </a:tc>
                <a:tc>
                  <a:txBody>
                    <a:bodyPr lIns="114300" tIns="76200" rIns="114300" bIns="76200">
                      <a:noAutofit/>
                    </a:bodyPr>
                    <a:lstStyle/>
                    <a:p>
                      <a:pPr algn="r"/>
                      <a:r>
                        <a:rPr sz="1875" b="1">
                          <a:solidFill>
                            <a:srgbClr val="14281D"/>
                          </a:solidFill>
                          <a:latin typeface="Arial"/>
                          <a:ea typeface="Arial"/>
                          <a:cs typeface="Arial"/>
                        </a:rPr>
                        <a:t>240</a:t>
                      </a:r>
                    </a:p>
                  </a:txBody>
                  <a:tcPr marL="91440" marR="91440" marT="45720" marB="45720" anchor="ctr">
                    <a:solidFill>
                      <a:srgbClr val="E8EDDF"/>
                    </a:solidFill>
                  </a:tcPr>
                </a:tc>
              </a:tr>
            </a:tbl>
          </a:graphicData>
        </a:graphic>
      </p:graphicFrame>
      <p:sp>
        <p:nvSpPr>
          <p:cNvPr id="6" name="Base acquisition starts at 8% of the never-acquire">
            <a:extLst xmlns:a="http://schemas.openxmlformats.org/drawingml/2006/main">
              <a:ext uri="{FF2B5EF4-FFF2-40B4-BE49-F238E27FC236}">
                <a16:creationId xmlns:a16="http://schemas.microsoft.com/office/drawing/2014/main" id="{E402C180-F320-4B5F-8A30-703016A3FE2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acquisition starts at 8% of the never-acquired outsourcing pool. Six planned providers × 40 households cap launch at 240. No provider commitments or measured hiring propensity are claimed.</a:t>
            </a:r>
          </a:p>
        </p:txBody>
      </p:sp>
    </p:spTree>
    <p:extLst>
      <p:ext uri="{BB962C8B-B14F-4D97-AF65-F5344CB8AC3E}">
        <p14:creationId xmlns:p14="http://schemas.microsoft.com/office/powerpoint/2010/main" val="971639933"/>
      </p:ext>
    </p:extLst>
  </p:cSld>
</p:sld>
</file>

<file path=ppt/slides/slide1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 named rollout from Ocean to Monmouth County">
            <a:extLst xmlns:a="http://schemas.openxmlformats.org/drawingml/2006/main">
              <a:ext uri="{FF2B5EF4-FFF2-40B4-BE49-F238E27FC236}">
                <a16:creationId xmlns:a16="http://schemas.microsoft.com/office/drawing/2014/main" id="{1E6D5670-3423-4E72-95B5-FDFDBE12EF9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 named rollout from Ocean to Monmouth County</a:t>
            </a:r>
          </a:p>
        </p:txBody>
      </p:sp>
      <p:sp>
        <p:nvSpPr>
          <p:cNvPr id="2" name="Illustrative launch years. Each town has its own d">
            <a:extLst xmlns:a="http://schemas.openxmlformats.org/drawingml/2006/main">
              <a:ext uri="{FF2B5EF4-FFF2-40B4-BE49-F238E27FC236}">
                <a16:creationId xmlns:a16="http://schemas.microsoft.com/office/drawing/2014/main" id="{7D4B55CF-6FF8-48F5-AF10-3A4D8B36309B}"/>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launch years. Each town has its own demand pool, provider plan, acquisition cost and local budget.</a:t>
            </a:r>
          </a:p>
        </p:txBody>
      </p:sp>
      <p:sp>
        <p:nvSpPr>
          <p:cNvPr id="3" name="YardMatch">
            <a:extLst xmlns:a="http://schemas.openxmlformats.org/drawingml/2006/main">
              <a:ext uri="{FF2B5EF4-FFF2-40B4-BE49-F238E27FC236}">
                <a16:creationId xmlns:a16="http://schemas.microsoft.com/office/drawing/2014/main" id="{E6D8A24C-B346-47A4-96F9-DBFBCF9BC3D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3">
            <a:extLst xmlns:a="http://schemas.openxmlformats.org/drawingml/2006/main">
              <a:ext uri="{FF2B5EF4-FFF2-40B4-BE49-F238E27FC236}">
                <a16:creationId xmlns:a16="http://schemas.microsoft.com/office/drawing/2014/main" id="{5E184B9C-6646-46BC-87F6-D3337AF6E58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13</a:t>
            </a:r>
          </a:p>
        </p:txBody>
      </p:sp>
      <p:graphicFrame>
        <p:nvGraphicFramePr>
          <p:cNvPr id="11" name=""/>
          <p:cNvGraphicFramePr/>
          <p:nvPr/>
        </p:nvGraphicFramePr>
        <p:xfrm>
          <a:off xmlns:a="http://schemas.openxmlformats.org/drawingml/2006/main" x="609600" y="2333625"/>
          <a:ext xmlns:a="http://schemas.openxmlformats.org/drawingml/2006/main" cx="10972800" cy="3381375"/>
        </p:xfrm>
        <a:graphic xmlns:a="http://schemas.openxmlformats.org/drawingml/2006/main">
          <a:graphicData uri="http://schemas.openxmlformats.org/drawingml/2006/table">
            <a:tbl>
              <a:tblPr/>
              <a:tblGrid>
                <a:gridCol w="1466850"/>
                <a:gridCol w="7667625"/>
                <a:gridCol w="1838325"/>
              </a:tblGrid>
              <a:tr h="422672">
                <a:tc>
                  <a:txBody>
                    <a:bodyPr lIns="114300" tIns="76200" rIns="114300" bIns="76200">
                      <a:noAutofit/>
                    </a:bodyPr>
                    <a:lstStyle/>
                    <a:p>
                      <a:pPr algn="l"/>
                      <a:r>
                        <a:rPr sz="1800" b="1">
                          <a:solidFill>
                            <a:srgbClr val="FFFFFF"/>
                          </a:solidFill>
                          <a:latin typeface="Arial"/>
                          <a:ea typeface="Arial"/>
                          <a:cs typeface="Arial"/>
                        </a:rPr>
                        <a:t>Year</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New towns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Total towns</a:t>
                      </a:r>
                    </a:p>
                  </a:txBody>
                  <a:tcPr marL="91440" marR="91440" marT="45720" marB="45720" anchor="ctr">
                    <a:solidFill>
                      <a:srgbClr val="205938"/>
                    </a:solidFill>
                  </a:tcPr>
                </a:tc>
              </a:tr>
              <a:tr h="422672">
                <a:tc>
                  <a:txBody>
                    <a:bodyPr lIns="114300" tIns="76200" rIns="114300" bIns="76200">
                      <a:noAutofit/>
                    </a:bodyPr>
                    <a:lstStyle/>
                    <a:p>
                      <a:pPr algn="l"/>
                      <a:r>
                        <a:rPr sz="1800" b="0">
                          <a:solidFill>
                            <a:srgbClr val="14281D"/>
                          </a:solidFill>
                          <a:latin typeface="Arial"/>
                          <a:ea typeface="Arial"/>
                          <a:cs typeface="Arial"/>
                        </a:rPr>
                        <a:t>2027</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2028</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Stafford, Lacey, Ocean / Waretown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2029</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Berkeley, Toms River</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6</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2030</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Brick, Jackson</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2031</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Howell, Wall</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a:t>
                      </a:r>
                    </a:p>
                  </a:txBody>
                  <a:tcPr marL="91440" marR="91440" marT="45720" marB="45720" anchor="ctr">
                    <a:solidFill>
                      <a:srgbClr val="FFFFFF"/>
                    </a:solidFill>
                  </a:tcPr>
                </a:tc>
              </a:tr>
              <a:tr h="422672">
                <a:tc>
                  <a:txBody>
                    <a:bodyPr lIns="114300" tIns="76200" rIns="114300" bIns="76200">
                      <a:noAutofit/>
                    </a:bodyPr>
                    <a:lstStyle/>
                    <a:p>
                      <a:pPr algn="l"/>
                      <a:r>
                        <a:rPr sz="1800" b="0">
                          <a:solidFill>
                            <a:srgbClr val="14281D"/>
                          </a:solidFill>
                          <a:latin typeface="Arial"/>
                          <a:ea typeface="Arial"/>
                          <a:cs typeface="Arial"/>
                        </a:rPr>
                        <a:t>2032</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Middletown, Holmdel</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12</a:t>
                      </a:r>
                    </a:p>
                  </a:txBody>
                  <a:tcPr marL="91440" marR="91440" marT="45720" marB="45720" anchor="ctr">
                    <a:solidFill>
                      <a:srgbClr val="F7F5EF"/>
                    </a:solidFill>
                  </a:tcPr>
                </a:tc>
              </a:tr>
              <a:tr h="422672">
                <a:tc>
                  <a:txBody>
                    <a:bodyPr lIns="114300" tIns="76200" rIns="114300" bIns="76200">
                      <a:noAutofit/>
                    </a:bodyPr>
                    <a:lstStyle/>
                    <a:p>
                      <a:pPr algn="l"/>
                      <a:r>
                        <a:rPr sz="1800" b="0">
                          <a:solidFill>
                            <a:srgbClr val="14281D"/>
                          </a:solidFill>
                          <a:latin typeface="Arial"/>
                          <a:ea typeface="Arial"/>
                          <a:cs typeface="Arial"/>
                        </a:rPr>
                        <a:t>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Colts Neck, Rumson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bl>
          </a:graphicData>
        </a:graphic>
      </p:graphicFrame>
      <p:sp>
        <p:nvSpPr>
          <p:cNvPr id="6" name="Municipal boundaries avoid overlapping CDPs or cou">
            <a:extLst xmlns:a="http://schemas.openxmlformats.org/drawingml/2006/main">
              <a:ext uri="{FF2B5EF4-FFF2-40B4-BE49-F238E27FC236}">
                <a16:creationId xmlns:a16="http://schemas.microsoft.com/office/drawing/2014/main" id="{A8551DA8-11CD-4751-A8A3-7217AC5361D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Municipal boundaries avoid overlapping CDPs or county totals. Ocean / Waretown refers to Ocean township in Ocean County. Launches remain conditional on supply, paid retention and service reliability.</a:t>
            </a:r>
          </a:p>
        </p:txBody>
      </p:sp>
    </p:spTree>
    <p:extLst>
      <p:ext uri="{BB962C8B-B14F-4D97-AF65-F5344CB8AC3E}">
        <p14:creationId xmlns:p14="http://schemas.microsoft.com/office/powerpoint/2010/main" val="796104288"/>
      </p:ext>
    </p:extLst>
  </p:cSld>
</p:sld>
</file>

<file path=ppt/slides/slide1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Affluent towns affect demand and job value">
            <a:extLst xmlns:a="http://schemas.openxmlformats.org/drawingml/2006/main">
              <a:ext uri="{FF2B5EF4-FFF2-40B4-BE49-F238E27FC236}">
                <a16:creationId xmlns:a16="http://schemas.microsoft.com/office/drawing/2014/main" id="{B8DA315B-6C59-4D2B-813E-E5AD7334990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Affluent towns affect demand and job value</a:t>
            </a:r>
          </a:p>
        </p:txBody>
      </p:sp>
      <p:sp>
        <p:nvSpPr>
          <p:cNvPr id="2" name="Income and home values are observed. Outsourcing, ">
            <a:extLst xmlns:a="http://schemas.openxmlformats.org/drawingml/2006/main">
              <a:ext uri="{FF2B5EF4-FFF2-40B4-BE49-F238E27FC236}">
                <a16:creationId xmlns:a16="http://schemas.microsoft.com/office/drawing/2014/main" id="{15198681-51EA-4916-BE7B-5F4CF076D018}"/>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Income and home values are observed. Outsourcing, yard sizes and price tiers remain explicit hypotheses.</a:t>
            </a:r>
          </a:p>
        </p:txBody>
      </p:sp>
      <p:sp>
        <p:nvSpPr>
          <p:cNvPr id="3" name="YardMatch">
            <a:extLst xmlns:a="http://schemas.openxmlformats.org/drawingml/2006/main">
              <a:ext uri="{FF2B5EF4-FFF2-40B4-BE49-F238E27FC236}">
                <a16:creationId xmlns:a16="http://schemas.microsoft.com/office/drawing/2014/main" id="{8DA5D441-2A66-45BB-9089-389A0241E1D4}"/>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4">
            <a:extLst xmlns:a="http://schemas.openxmlformats.org/drawingml/2006/main">
              <a:ext uri="{FF2B5EF4-FFF2-40B4-BE49-F238E27FC236}">
                <a16:creationId xmlns:a16="http://schemas.microsoft.com/office/drawing/2014/main" id="{AD94E207-3996-42C9-BD86-C6FF61E3C730}"/>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14</a:t>
            </a:r>
          </a:p>
        </p:txBody>
      </p:sp>
      <p:graphicFrame>
        <p:nvGraphicFramePr>
          <p:cNvPr id="11" name=""/>
          <p:cNvGraphicFramePr/>
          <p:nvPr/>
        </p:nvGraphicFramePr>
        <p:xfrm>
          <a:off xmlns:a="http://schemas.openxmlformats.org/drawingml/2006/main" x="609600" y="2333625"/>
          <a:ext xmlns:a="http://schemas.openxmlformats.org/drawingml/2006/main" cx="10972800" cy="3267075"/>
        </p:xfrm>
        <a:graphic xmlns:a="http://schemas.openxmlformats.org/drawingml/2006/main">
          <a:graphicData uri="http://schemas.openxmlformats.org/drawingml/2006/table">
            <a:tbl>
              <a:tblPr/>
              <a:tblGrid>
                <a:gridCol w="2571750"/>
                <a:gridCol w="2381250"/>
                <a:gridCol w="2190750"/>
                <a:gridCol w="3829050"/>
              </a:tblGrid>
              <a:tr h="466725">
                <a:tc>
                  <a:txBody>
                    <a:bodyPr lIns="114300" tIns="76200" rIns="114300" bIns="76200">
                      <a:noAutofit/>
                    </a:bodyPr>
                    <a:lstStyle/>
                    <a:p>
                      <a:pPr algn="l"/>
                      <a:r>
                        <a:rPr sz="1725" b="1">
                          <a:solidFill>
                            <a:srgbClr val="FFFFFF"/>
                          </a:solidFill>
                          <a:latin typeface="Arial"/>
                          <a:ea typeface="Arial"/>
                          <a:cs typeface="Arial"/>
                        </a:rPr>
                        <a:t>Town</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Assumed hiring</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Large / very large lots</a:t>
                      </a:r>
                    </a:p>
                  </a:txBody>
                  <a:tcPr marL="91440" marR="91440" marT="45720" marB="45720" anchor="ctr">
                    <a:solidFill>
                      <a:srgbClr val="205938"/>
                    </a:solidFill>
                  </a:tcPr>
                </a:tc>
              </a:tr>
              <a:tr h="466725">
                <a:tc>
                  <a:txBody>
                    <a:bodyPr lIns="114300" tIns="76200" rIns="114300" bIns="76200">
                      <a:noAutofit/>
                    </a:bodyPr>
                    <a:lstStyle/>
                    <a:p>
                      <a:pPr algn="l"/>
                      <a:r>
                        <a:rPr sz="1725" b="0">
                          <a:solidFill>
                            <a:srgbClr val="14281D"/>
                          </a:solidFill>
                          <a:latin typeface="Arial"/>
                          <a:ea typeface="Arial"/>
                          <a:cs typeface="Arial"/>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 / 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 / 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55%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35% / 15%</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Holmdel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25%</a:t>
                      </a:r>
                    </a:p>
                  </a:txBody>
                  <a:tcPr marL="91440" marR="91440" marT="45720" marB="45720" anchor="ctr">
                    <a:solidFill>
                      <a:srgbClr val="F7F5EF"/>
                    </a:solidFill>
                  </a:tcPr>
                </a:tc>
              </a:tr>
              <a:tr h="466725">
                <a:tc>
                  <a:txBody>
                    <a:bodyPr lIns="114300" tIns="76200" rIns="114300" bIns="76200">
                      <a:noAutofit/>
                    </a:bodyPr>
                    <a:lstStyle/>
                    <a:p>
                      <a:pPr algn="l"/>
                      <a:r>
                        <a:rPr sz="1725" b="0">
                          <a:solidFill>
                            <a:srgbClr val="14281D"/>
                          </a:solidFill>
                          <a:latin typeface="Arial"/>
                          <a:ea typeface="Arial"/>
                          <a:cs typeface="Arial"/>
                        </a:rPr>
                        <a:t>Colts Neck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40% / 40%</a:t>
                      </a:r>
                    </a:p>
                  </a:txBody>
                  <a:tcPr marL="91440" marR="91440" marT="45720" marB="45720" anchor="ctr">
                    <a:solidFill>
                      <a:srgbClr val="FFFFFF"/>
                    </a:solidFill>
                  </a:tcPr>
                </a:tc>
              </a:tr>
              <a:tr h="466725">
                <a:tc>
                  <a:txBody>
                    <a:bodyPr lIns="114300" tIns="76200" rIns="114300" bIns="76200">
                      <a:noAutofit/>
                    </a:bodyPr>
                    <a:lstStyle/>
                    <a:p>
                      <a:pPr algn="l"/>
                      <a:r>
                        <a:rPr sz="1725" b="0">
                          <a:solidFill>
                            <a:srgbClr val="14281D"/>
                          </a:solidFill>
                          <a:latin typeface="Arial"/>
                          <a:ea typeface="Arial"/>
                          <a:cs typeface="Arial"/>
                        </a:rPr>
                        <a:t>Rumson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40% / 20%</a:t>
                      </a:r>
                    </a:p>
                  </a:txBody>
                  <a:tcPr marL="91440" marR="91440" marT="45720" marB="45720" anchor="ctr">
                    <a:solidFill>
                      <a:srgbClr val="F7F5EF"/>
                    </a:solidFill>
                  </a:tcPr>
                </a:tc>
              </a:tr>
            </a:tbl>
          </a:graphicData>
        </a:graphic>
      </p:graphicFrame>
      <p:sp>
        <p:nvSpPr>
          <p:cNvPr id="6" name="Hiring share applies only to eligible owner househ">
            <a:extLst xmlns:a="http://schemas.openxmlformats.org/drawingml/2006/main">
              <a:ext uri="{FF2B5EF4-FFF2-40B4-BE49-F238E27FC236}">
                <a16:creationId xmlns:a16="http://schemas.microsoft.com/office/drawing/2014/main" id="{61365C63-CEE5-4091-AAB1-EFF1410A02C7}"/>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Hiring share applies only to eligible owner households. Lot shares apply to modeled customers, not all housing. Premium towns also have higher cash CAC assumptions; no automatic retention improvement is assumed.</a:t>
            </a:r>
          </a:p>
        </p:txBody>
      </p:sp>
    </p:spTree>
    <p:extLst>
      <p:ext uri="{BB962C8B-B14F-4D97-AF65-F5344CB8AC3E}">
        <p14:creationId xmlns:p14="http://schemas.microsoft.com/office/powerpoint/2010/main" val="1694811622"/>
      </p:ext>
    </p:extLst>
  </p:cSld>
</p:sld>
</file>

<file path=ppt/slides/slide1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regional plan is bounded by demand and supply">
            <a:extLst xmlns:a="http://schemas.openxmlformats.org/drawingml/2006/main">
              <a:ext uri="{FF2B5EF4-FFF2-40B4-BE49-F238E27FC236}">
                <a16:creationId xmlns:a16="http://schemas.microsoft.com/office/drawing/2014/main" id="{C090634F-21A7-4FE9-880D-A713B93768D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regional plan is bounded by demand and supply</a:t>
            </a:r>
          </a:p>
        </p:txBody>
      </p:sp>
      <p:sp>
        <p:nvSpPr>
          <p:cNvPr id="2" name="The household curve is now a sum of town cohorts, ">
            <a:extLst xmlns:a="http://schemas.openxmlformats.org/drawingml/2006/main">
              <a:ext uri="{FF2B5EF4-FFF2-40B4-BE49-F238E27FC236}">
                <a16:creationId xmlns:a16="http://schemas.microsoft.com/office/drawing/2014/main" id="{6B195A7E-329F-48ED-8255-81CB49DEB6C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household curve is now a sum of town cohorts, with launch timing and local capacity enforced.</a:t>
            </a:r>
          </a:p>
        </p:txBody>
      </p:sp>
      <p:sp>
        <p:nvSpPr>
          <p:cNvPr id="3" name="YardMatch">
            <a:extLst xmlns:a="http://schemas.openxmlformats.org/drawingml/2006/main">
              <a:ext uri="{FF2B5EF4-FFF2-40B4-BE49-F238E27FC236}">
                <a16:creationId xmlns:a16="http://schemas.microsoft.com/office/drawing/2014/main" id="{BB719552-6276-40AA-A5A3-1BAF04DDB96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5">
            <a:extLst xmlns:a="http://schemas.openxmlformats.org/drawingml/2006/main">
              <a:ext uri="{FF2B5EF4-FFF2-40B4-BE49-F238E27FC236}">
                <a16:creationId xmlns:a16="http://schemas.microsoft.com/office/drawing/2014/main" id="{0E0B9783-672B-4710-B663-A75342BC7828}"/>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15</a:t>
            </a:r>
          </a:p>
        </p:txBody>
      </p:sp>
      <p:graphicFrame>
        <p:nvGraphicFramePr>
          <p:cNvPr id="11" name=""/>
          <p:cNvGraphicFramePr/>
          <p:nvPr/>
        </p:nvGraphicFramePr>
        <p:xfrm>
          <a:off xmlns:a="http://schemas.openxmlformats.org/drawingml/2006/main" x="609600" y="2333625"/>
          <a:ext xmlns:a="http://schemas.openxmlformats.org/drawingml/2006/main" cx="10972800" cy="3105150"/>
        </p:xfrm>
        <a:graphic xmlns:a="http://schemas.openxmlformats.org/drawingml/2006/main">
          <a:graphicData uri="http://schemas.openxmlformats.org/drawingml/2006/table">
            <a:tbl>
              <a:tblPr/>
              <a:tblGrid>
                <a:gridCol w="4657725"/>
                <a:gridCol w="2105025"/>
                <a:gridCol w="2105025"/>
                <a:gridCol w="2105025"/>
              </a:tblGrid>
              <a:tr h="517525">
                <a:tc>
                  <a:txBody>
                    <a:bodyPr lIns="114300" tIns="76200" rIns="114300" bIns="76200">
                      <a:noAutofit/>
                    </a:bodyPr>
                    <a:lstStyle/>
                    <a:p>
                      <a:pPr algn="l"/>
                      <a:r>
                        <a:rPr sz="1800" b="1">
                          <a:solidFill>
                            <a:srgbClr val="FFFFFF"/>
                          </a:solidFill>
                          <a:latin typeface="Arial"/>
                          <a:ea typeface="Arial"/>
                          <a:cs typeface="Arial"/>
                        </a:rPr>
                        <a:t>Base regional forecast</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800" b="1">
                          <a:solidFill>
                            <a:srgbClr val="FFFFFF"/>
                          </a:solidFill>
                          <a:latin typeface="Arial"/>
                          <a:ea typeface="Arial"/>
                          <a:cs typeface="Arial"/>
                        </a:rPr>
                        <a:t>2033</a:t>
                      </a:r>
                    </a:p>
                  </a:txBody>
                  <a:tcPr marL="91440" marR="91440" marT="45720" marB="45720" anchor="ctr">
                    <a:solidFill>
                      <a:srgbClr val="205938"/>
                    </a:solidFill>
                  </a:tcPr>
                </a:tc>
              </a:tr>
              <a:tr h="517525">
                <a:tc>
                  <a:txBody>
                    <a:bodyPr lIns="114300" tIns="76200" rIns="114300" bIns="76200">
                      <a:noAutofit/>
                    </a:bodyPr>
                    <a:lstStyle/>
                    <a:p>
                      <a:pPr algn="l"/>
                      <a:r>
                        <a:rPr sz="1800" b="0">
                          <a:solidFill>
                            <a:srgbClr val="14281D"/>
                          </a:solidFill>
                          <a:latin typeface="Arial"/>
                          <a:ea typeface="Arial"/>
                          <a:cs typeface="Arial"/>
                        </a:rPr>
                        <a:t>Launched towns</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8</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14</a:t>
                      </a:r>
                    </a:p>
                  </a:txBody>
                  <a:tcPr marL="91440" marR="91440" marT="45720" marB="45720" anchor="ctr">
                    <a:solidFill>
                      <a:srgbClr val="FFFFFF"/>
                    </a:solidFill>
                  </a:tcPr>
                </a:tc>
              </a:tr>
              <a:tr h="517525">
                <a:tc>
                  <a:txBody>
                    <a:bodyPr lIns="114300" tIns="76200" rIns="114300" bIns="76200">
                      <a:noAutofit/>
                    </a:bodyPr>
                    <a:lstStyle/>
                    <a:p>
                      <a:pPr algn="l"/>
                      <a:r>
                        <a:rPr sz="1800" b="0">
                          <a:solidFill>
                            <a:srgbClr val="14281D"/>
                          </a:solidFill>
                          <a:latin typeface="Arial"/>
                          <a:ea typeface="Arial"/>
                          <a:cs typeface="Arial"/>
                        </a:rPr>
                        <a:t>Assumed outsourcing households</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3,049</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44,015</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71,683</a:t>
                      </a:r>
                    </a:p>
                  </a:txBody>
                  <a:tcPr marL="91440" marR="91440" marT="45720" marB="45720" anchor="ctr">
                    <a:solidFill>
                      <a:srgbClr val="F7F5EF"/>
                    </a:solidFill>
                  </a:tcPr>
                </a:tc>
              </a:tr>
              <a:tr h="517525">
                <a:tc>
                  <a:txBody>
                    <a:bodyPr lIns="114300" tIns="76200" rIns="114300" bIns="76200">
                      <a:noAutofit/>
                    </a:bodyPr>
                    <a:lstStyle/>
                    <a:p>
                      <a:pPr algn="l"/>
                      <a:r>
                        <a:rPr sz="1800" b="1">
                          <a:solidFill>
                            <a:srgbClr val="14281D"/>
                          </a:solidFill>
                          <a:latin typeface="Arial"/>
                          <a:ea typeface="Arial"/>
                          <a:cs typeface="Arial"/>
                        </a:rPr>
                        <a:t>Active YardMatch households</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240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5,592</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16,570</a:t>
                      </a:r>
                    </a:p>
                  </a:txBody>
                  <a:tcPr marL="91440" marR="91440" marT="45720" marB="45720" anchor="ctr">
                    <a:solidFill>
                      <a:srgbClr val="E8EDDF"/>
                    </a:solidFill>
                  </a:tcPr>
                </a:tc>
              </a:tr>
              <a:tr h="517525">
                <a:tc>
                  <a:txBody>
                    <a:bodyPr lIns="114300" tIns="76200" rIns="114300" bIns="76200">
                      <a:noAutofit/>
                    </a:bodyPr>
                    <a:lstStyle/>
                    <a:p>
                      <a:pPr algn="l"/>
                      <a:r>
                        <a:rPr sz="1800" b="0">
                          <a:solidFill>
                            <a:srgbClr val="14281D"/>
                          </a:solidFill>
                          <a:latin typeface="Arial"/>
                          <a:ea typeface="Arial"/>
                          <a:cs typeface="Arial"/>
                        </a:rPr>
                        <a:t>Qualified household capacity</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5,920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18,600</a:t>
                      </a:r>
                    </a:p>
                  </a:txBody>
                  <a:tcPr marL="91440" marR="91440" marT="45720" marB="45720" anchor="ctr">
                    <a:solidFill>
                      <a:srgbClr val="F7F5EF"/>
                    </a:solidFill>
                  </a:tcPr>
                </a:tc>
              </a:tr>
              <a:tr h="517525">
                <a:tc>
                  <a:txBody>
                    <a:bodyPr lIns="114300" tIns="76200" rIns="114300" bIns="76200">
                      <a:noAutofit/>
                    </a:bodyPr>
                    <a:lstStyle/>
                    <a:p>
                      <a:pPr algn="l"/>
                      <a:r>
                        <a:rPr sz="1800" b="0">
                          <a:solidFill>
                            <a:srgbClr val="14281D"/>
                          </a:solidFill>
                          <a:latin typeface="Arial"/>
                          <a:ea typeface="Arial"/>
                          <a:cs typeface="Arial"/>
                        </a:rPr>
                        <a:t>Local launch + annual coverage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$18,000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$109,273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$163,585</a:t>
                      </a:r>
                    </a:p>
                  </a:txBody>
                  <a:tcPr marL="91440" marR="91440" marT="45720" marB="45720" anchor="ctr">
                    <a:solidFill>
                      <a:srgbClr val="FFFFFF"/>
                    </a:solidFill>
                  </a:tcPr>
                </a:tc>
              </a:tr>
            </a:tbl>
          </a:graphicData>
        </a:graphic>
      </p:graphicFrame>
      <p:sp>
        <p:nvSpPr>
          <p:cNvPr id="6" name="215,396 Census households across 14 towns support ">
            <a:extLst xmlns:a="http://schemas.openxmlformats.org/drawingml/2006/main">
              <a:ext uri="{FF2B5EF4-FFF2-40B4-BE49-F238E27FC236}">
                <a16:creationId xmlns:a16="http://schemas.microsoft.com/office/drawing/2014/main" id="{A078D133-49BD-4E97-8535-FB8C2128E04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215,396 Census households across 14 towns support an assumed 71,683-household outsourcing pool. The base captures 23% as active customers by 2033. No unnamed national expansion is included.</a:t>
            </a:r>
          </a:p>
        </p:txBody>
      </p:sp>
    </p:spTree>
    <p:extLst>
      <p:ext uri="{BB962C8B-B14F-4D97-AF65-F5344CB8AC3E}">
        <p14:creationId xmlns:p14="http://schemas.microsoft.com/office/powerpoint/2010/main" val="442007712"/>
      </p:ext>
    </p:extLst>
  </p:cSld>
</p:sld>
</file>

<file path=ppt/slides/slide1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Expansion follows verified local economics">
            <a:extLst xmlns:a="http://schemas.openxmlformats.org/drawingml/2006/main">
              <a:ext uri="{FF2B5EF4-FFF2-40B4-BE49-F238E27FC236}">
                <a16:creationId xmlns:a16="http://schemas.microsoft.com/office/drawing/2014/main" id="{2D8FF53F-4F0D-4E87-A621-9180A924CA4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Expansion follows verified local economics</a:t>
            </a:r>
          </a:p>
        </p:txBody>
      </p:sp>
      <p:sp>
        <p:nvSpPr>
          <p:cNvPr id="2" name="A proposed sequence for acquiring supply and deman">
            <a:extLst xmlns:a="http://schemas.openxmlformats.org/drawingml/2006/main">
              <a:ext uri="{FF2B5EF4-FFF2-40B4-BE49-F238E27FC236}">
                <a16:creationId xmlns:a16="http://schemas.microsoft.com/office/drawing/2014/main" id="{FAE2C777-863A-4387-9225-8EC6C366542D}"/>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 proposed sequence for acquiring supply and demand without sacrificing service reliability.</a:t>
            </a:r>
          </a:p>
        </p:txBody>
      </p:sp>
      <p:sp>
        <p:nvSpPr>
          <p:cNvPr id="3" name="YardMatch">
            <a:extLst xmlns:a="http://schemas.openxmlformats.org/drawingml/2006/main">
              <a:ext uri="{FF2B5EF4-FFF2-40B4-BE49-F238E27FC236}">
                <a16:creationId xmlns:a16="http://schemas.microsoft.com/office/drawing/2014/main" id="{7DFE5634-0A6B-4618-BC21-6602C5429FC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6">
            <a:extLst xmlns:a="http://schemas.openxmlformats.org/drawingml/2006/main">
              <a:ext uri="{FF2B5EF4-FFF2-40B4-BE49-F238E27FC236}">
                <a16:creationId xmlns:a16="http://schemas.microsoft.com/office/drawing/2014/main" id="{C6C5FD0F-28DF-41AF-A53E-7D14DEAE5A5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16</a:t>
            </a:r>
          </a:p>
        </p:txBody>
      </p:sp>
      <p:sp>
        <p:nvSpPr>
          <p:cNvPr id="5" name="1. Concentrated provider launch">
            <a:extLst xmlns:a="http://schemas.openxmlformats.org/drawingml/2006/main">
              <a:ext uri="{FF2B5EF4-FFF2-40B4-BE49-F238E27FC236}">
                <a16:creationId xmlns:a16="http://schemas.microsoft.com/office/drawing/2014/main" id="{DF838332-BEC3-4748-AD3E-B27EAF0A2CC9}"/>
              </a:ext>
            </a:extLst>
          </p:cNvPr>
          <p:cNvSpPr>
            <a:spLocks xmlns:a="http://schemas.openxmlformats.org/drawingml/2006/main" noGrp="1"/>
          </p:cNvSpPr>
          <p:nvPr/>
        </p:nvSpPr>
        <p:spPr>
          <a:xfrm xmlns:a="http://schemas.openxmlformats.org/drawingml/2006/main">
            <a:off x="62865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1. Concentrated provider launch</a:t>
            </a:r>
          </a:p>
        </p:txBody>
      </p:sp>
      <p:sp>
        <p:nvSpPr>
          <p:cNvPr id="6" name="Recruit qualified businesses around neighboring ro">
            <a:extLst xmlns:a="http://schemas.openxmlformats.org/drawingml/2006/main">
              <a:ext uri="{FF2B5EF4-FFF2-40B4-BE49-F238E27FC236}">
                <a16:creationId xmlns:a16="http://schemas.microsoft.com/office/drawing/2014/main" id="{5847023B-A49B-4960-BDFF-E176809F756B}"/>
              </a:ext>
            </a:extLst>
          </p:cNvPr>
          <p:cNvSpPr>
            <a:spLocks xmlns:a="http://schemas.openxmlformats.org/drawingml/2006/main" noGrp="1"/>
          </p:cNvSpPr>
          <p:nvPr/>
        </p:nvSpPr>
        <p:spPr>
          <a:xfrm xmlns:a="http://schemas.openxmlformats.org/drawingml/2006/main">
            <a:off x="62865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Recruit qualified businesses around neighboring routes. Use the first-client finder-fee waiver.</a:t>
            </a:r>
          </a:p>
        </p:txBody>
      </p:sp>
      <p:sp>
        <p:nvSpPr>
          <p:cNvPr id="7" name="2. Measured household acquisition">
            <a:extLst xmlns:a="http://schemas.openxmlformats.org/drawingml/2006/main">
              <a:ext uri="{FF2B5EF4-FFF2-40B4-BE49-F238E27FC236}">
                <a16:creationId xmlns:a16="http://schemas.microsoft.com/office/drawing/2014/main" id="{E5A5064D-6B92-4CAF-99CB-3A613C426B3A}"/>
              </a:ext>
            </a:extLst>
          </p:cNvPr>
          <p:cNvSpPr>
            <a:spLocks xmlns:a="http://schemas.openxmlformats.org/drawingml/2006/main" noGrp="1"/>
          </p:cNvSpPr>
          <p:nvPr/>
        </p:nvSpPr>
        <p:spPr>
          <a:xfrm xmlns:a="http://schemas.openxmlformats.org/drawingml/2006/main">
            <a:off x="6400800" y="2400300"/>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2. Measured household acquisition</a:t>
            </a:r>
          </a:p>
        </p:txBody>
      </p:sp>
      <p:sp>
        <p:nvSpPr>
          <p:cNvPr id="8" name="Test local search, neighborhood referrals and prov">
            <a:extLst xmlns:a="http://schemas.openxmlformats.org/drawingml/2006/main">
              <a:ext uri="{FF2B5EF4-FFF2-40B4-BE49-F238E27FC236}">
                <a16:creationId xmlns:a16="http://schemas.microsoft.com/office/drawing/2014/main" id="{3E21C72F-84BE-4FB1-A4E5-F99160A4AE15}"/>
              </a:ext>
            </a:extLst>
          </p:cNvPr>
          <p:cNvSpPr>
            <a:spLocks xmlns:a="http://schemas.openxmlformats.org/drawingml/2006/main" noGrp="1"/>
          </p:cNvSpPr>
          <p:nvPr/>
        </p:nvSpPr>
        <p:spPr>
          <a:xfrm xmlns:a="http://schemas.openxmlformats.org/drawingml/2006/main">
            <a:off x="6400800" y="2924175"/>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Test local search, neighborhood referrals and provider referrals. Count paying customers, not leads.</a:t>
            </a:r>
          </a:p>
        </p:txBody>
      </p:sp>
      <p:sp>
        <p:nvSpPr>
          <p:cNvPr id="9" name="3. A complete service season">
            <a:extLst xmlns:a="http://schemas.openxmlformats.org/drawingml/2006/main">
              <a:ext uri="{FF2B5EF4-FFF2-40B4-BE49-F238E27FC236}">
                <a16:creationId xmlns:a16="http://schemas.microsoft.com/office/drawing/2014/main" id="{2862B8A5-8C19-4D09-84D6-AE250C4EAB0E}"/>
              </a:ext>
            </a:extLst>
          </p:cNvPr>
          <p:cNvSpPr>
            <a:spLocks xmlns:a="http://schemas.openxmlformats.org/drawingml/2006/main" noGrp="1"/>
          </p:cNvSpPr>
          <p:nvPr/>
        </p:nvSpPr>
        <p:spPr>
          <a:xfrm xmlns:a="http://schemas.openxmlformats.org/drawingml/2006/main">
            <a:off x="62865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3. A complete service season</a:t>
            </a:r>
          </a:p>
        </p:txBody>
      </p:sp>
      <p:sp>
        <p:nvSpPr>
          <p:cNvPr id="10" name="Measure paid repeat visits, fee acceptance, servic">
            <a:extLst xmlns:a="http://schemas.openxmlformats.org/drawingml/2006/main">
              <a:ext uri="{FF2B5EF4-FFF2-40B4-BE49-F238E27FC236}">
                <a16:creationId xmlns:a16="http://schemas.microsoft.com/office/drawing/2014/main" id="{2FEBF9E3-CC07-464F-9BE6-629B2E517F39}"/>
              </a:ext>
            </a:extLst>
          </p:cNvPr>
          <p:cNvSpPr>
            <a:spLocks xmlns:a="http://schemas.openxmlformats.org/drawingml/2006/main" noGrp="1"/>
          </p:cNvSpPr>
          <p:nvPr/>
        </p:nvSpPr>
        <p:spPr>
          <a:xfrm xmlns:a="http://schemas.openxmlformats.org/drawingml/2006/main">
            <a:off x="62865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Measure paid repeat visits, fee acceptance, service quality and cost per completed job.</a:t>
            </a:r>
          </a:p>
        </p:txBody>
      </p:sp>
      <p:sp>
        <p:nvSpPr>
          <p:cNvPr id="11" name="4. A second local market">
            <a:extLst xmlns:a="http://schemas.openxmlformats.org/drawingml/2006/main">
              <a:ext uri="{FF2B5EF4-FFF2-40B4-BE49-F238E27FC236}">
                <a16:creationId xmlns:a16="http://schemas.microsoft.com/office/drawing/2014/main" id="{ED0F75EA-87D1-45FB-996F-6AE156DEFFF3}"/>
              </a:ext>
            </a:extLst>
          </p:cNvPr>
          <p:cNvSpPr>
            <a:spLocks xmlns:a="http://schemas.openxmlformats.org/drawingml/2006/main" noGrp="1"/>
          </p:cNvSpPr>
          <p:nvPr/>
        </p:nvSpPr>
        <p:spPr>
          <a:xfrm xmlns:a="http://schemas.openxmlformats.org/drawingml/2006/main">
            <a:off x="6400800" y="4257675"/>
            <a:ext cx="5010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4. A second local market</a:t>
            </a:r>
          </a:p>
        </p:txBody>
      </p:sp>
      <p:sp>
        <p:nvSpPr>
          <p:cNvPr id="12" name="Expand only after retention and acquisition econom">
            <a:extLst xmlns:a="http://schemas.openxmlformats.org/drawingml/2006/main">
              <a:ext uri="{FF2B5EF4-FFF2-40B4-BE49-F238E27FC236}">
                <a16:creationId xmlns:a16="http://schemas.microsoft.com/office/drawing/2014/main" id="{9475D4BF-7305-41A4-AC17-B052E07B25A7}"/>
              </a:ext>
            </a:extLst>
          </p:cNvPr>
          <p:cNvSpPr>
            <a:spLocks xmlns:a="http://schemas.openxmlformats.org/drawingml/2006/main" noGrp="1"/>
          </p:cNvSpPr>
          <p:nvPr/>
        </p:nvSpPr>
        <p:spPr>
          <a:xfrm xmlns:a="http://schemas.openxmlformats.org/drawingml/2006/main">
            <a:off x="6400800" y="4781550"/>
            <a:ext cx="50101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Expand only after retention and acquisition economics repeat across providers and neighborhoods.</a:t>
            </a:r>
          </a:p>
        </p:txBody>
      </p:sp>
    </p:spTree>
    <p:extLst>
      <p:ext uri="{BB962C8B-B14F-4D97-AF65-F5344CB8AC3E}">
        <p14:creationId xmlns:p14="http://schemas.microsoft.com/office/powerpoint/2010/main" val="580425607"/>
      </p:ext>
    </p:extLst>
  </p:cSld>
</p:sld>
</file>

<file path=ppt/slides/slide1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Product progress and commercial evidence">
            <a:extLst xmlns:a="http://schemas.openxmlformats.org/drawingml/2006/main">
              <a:ext uri="{FF2B5EF4-FFF2-40B4-BE49-F238E27FC236}">
                <a16:creationId xmlns:a16="http://schemas.microsoft.com/office/drawing/2014/main" id="{E0026962-24F0-41C5-8D7C-D6C858D6EF2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Product progress and commercial evidence</a:t>
            </a:r>
          </a:p>
        </p:txBody>
      </p:sp>
      <p:sp>
        <p:nvSpPr>
          <p:cNvPr id="2" name="An early company with working product workflows an">
            <a:extLst xmlns:a="http://schemas.openxmlformats.org/drawingml/2006/main">
              <a:ext uri="{FF2B5EF4-FFF2-40B4-BE49-F238E27FC236}">
                <a16:creationId xmlns:a16="http://schemas.microsoft.com/office/drawing/2014/main" id="{2F4A48F2-8398-4814-AFBA-7171700C347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early company with working product workflows and commercial assumptions still to validate.</a:t>
            </a:r>
          </a:p>
        </p:txBody>
      </p:sp>
      <p:sp>
        <p:nvSpPr>
          <p:cNvPr id="3" name="YardMatch">
            <a:extLst xmlns:a="http://schemas.openxmlformats.org/drawingml/2006/main">
              <a:ext uri="{FF2B5EF4-FFF2-40B4-BE49-F238E27FC236}">
                <a16:creationId xmlns:a16="http://schemas.microsoft.com/office/drawing/2014/main" id="{16C0A8B1-2CE3-46D2-A474-7E43DC3DB43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7">
            <a:extLst xmlns:a="http://schemas.openxmlformats.org/drawingml/2006/main">
              <a:ext uri="{FF2B5EF4-FFF2-40B4-BE49-F238E27FC236}">
                <a16:creationId xmlns:a16="http://schemas.microsoft.com/office/drawing/2014/main" id="{B682E6A2-2942-44B5-80B5-0B3AD2A5CA6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17</a:t>
            </a:r>
          </a:p>
        </p:txBody>
      </p:sp>
      <p:sp>
        <p:nvSpPr>
          <p:cNvPr id="5" name="Product foundation">
            <a:extLst xmlns:a="http://schemas.openxmlformats.org/drawingml/2006/main">
              <a:ext uri="{FF2B5EF4-FFF2-40B4-BE49-F238E27FC236}">
                <a16:creationId xmlns:a16="http://schemas.microsoft.com/office/drawing/2014/main" id="{1711E06A-DA69-49CA-AEFD-590893376915}"/>
              </a:ext>
            </a:extLst>
          </p:cNvPr>
          <p:cNvSpPr>
            <a:spLocks xmlns:a="http://schemas.openxmlformats.org/drawingml/2006/main" noGrp="1"/>
          </p:cNvSpPr>
          <p:nvPr/>
        </p:nvSpPr>
        <p:spPr>
          <a:xfrm xmlns:a="http://schemas.openxmlformats.org/drawingml/2006/main">
            <a:off x="62865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Product foundation</a:t>
            </a:r>
          </a:p>
        </p:txBody>
      </p:sp>
      <p:sp>
        <p:nvSpPr>
          <p:cNvPr id="6" name="Customer booking and rebooking, provider calendars">
            <a:extLst xmlns:a="http://schemas.openxmlformats.org/drawingml/2006/main">
              <a:ext uri="{FF2B5EF4-FFF2-40B4-BE49-F238E27FC236}">
                <a16:creationId xmlns:a16="http://schemas.microsoft.com/office/drawing/2014/main" id="{61861564-3E9E-402E-8195-091AB032B502}"/>
              </a:ext>
            </a:extLst>
          </p:cNvPr>
          <p:cNvSpPr>
            <a:spLocks xmlns:a="http://schemas.openxmlformats.org/drawingml/2006/main" noGrp="1"/>
          </p:cNvSpPr>
          <p:nvPr/>
        </p:nvSpPr>
        <p:spPr>
          <a:xfrm xmlns:a="http://schemas.openxmlformats.org/drawingml/2006/main">
            <a:off x="62865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Customer booking and rebooking, provider calendars and client maps, crew assignments, payments and ops workflows.</a:t>
            </a:r>
          </a:p>
        </p:txBody>
      </p:sp>
      <p:sp>
        <p:nvSpPr>
          <p:cNvPr id="7" name="Launch work remaining">
            <a:extLst xmlns:a="http://schemas.openxmlformats.org/drawingml/2006/main">
              <a:ext uri="{FF2B5EF4-FFF2-40B4-BE49-F238E27FC236}">
                <a16:creationId xmlns:a16="http://schemas.microsoft.com/office/drawing/2014/main" id="{15782E7C-6701-4BBC-8BDE-E912DDD9F60B}"/>
              </a:ext>
            </a:extLst>
          </p:cNvPr>
          <p:cNvSpPr>
            <a:spLocks xmlns:a="http://schemas.openxmlformats.org/drawingml/2006/main" noGrp="1"/>
          </p:cNvSpPr>
          <p:nvPr/>
        </p:nvSpPr>
        <p:spPr>
          <a:xfrm xmlns:a="http://schemas.openxmlformats.org/drawingml/2006/main">
            <a:off x="6400800" y="2400300"/>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Launch work remaining</a:t>
            </a:r>
          </a:p>
        </p:txBody>
      </p:sp>
      <p:sp>
        <p:nvSpPr>
          <p:cNvPr id="8" name="Live payment acceptance, provider onboarding, prod">
            <a:extLst xmlns:a="http://schemas.openxmlformats.org/drawingml/2006/main">
              <a:ext uri="{FF2B5EF4-FFF2-40B4-BE49-F238E27FC236}">
                <a16:creationId xmlns:a16="http://schemas.microsoft.com/office/drawing/2014/main" id="{921F9681-A111-40ED-9F97-B1A02327A501}"/>
              </a:ext>
            </a:extLst>
          </p:cNvPr>
          <p:cNvSpPr>
            <a:spLocks xmlns:a="http://schemas.openxmlformats.org/drawingml/2006/main" noGrp="1"/>
          </p:cNvSpPr>
          <p:nvPr/>
        </p:nvSpPr>
        <p:spPr>
          <a:xfrm xmlns:a="http://schemas.openxmlformats.org/drawingml/2006/main">
            <a:off x="6400800" y="2924175"/>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Live payment acceptance, provider onboarding, production readiness and store distribution need independent verification.</a:t>
            </a:r>
          </a:p>
        </p:txBody>
      </p:sp>
      <p:sp>
        <p:nvSpPr>
          <p:cNvPr id="9" name="Founder and operating team">
            <a:extLst xmlns:a="http://schemas.openxmlformats.org/drawingml/2006/main">
              <a:ext uri="{FF2B5EF4-FFF2-40B4-BE49-F238E27FC236}">
                <a16:creationId xmlns:a16="http://schemas.microsoft.com/office/drawing/2014/main" id="{F6124D41-1E02-425B-B00F-A50B453BFFB7}"/>
              </a:ext>
            </a:extLst>
          </p:cNvPr>
          <p:cNvSpPr>
            <a:spLocks xmlns:a="http://schemas.openxmlformats.org/drawingml/2006/main" noGrp="1"/>
          </p:cNvSpPr>
          <p:nvPr/>
        </p:nvSpPr>
        <p:spPr>
          <a:xfrm xmlns:a="http://schemas.openxmlformats.org/drawingml/2006/main">
            <a:off x="62865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Founder and operating team</a:t>
            </a:r>
          </a:p>
        </p:txBody>
      </p:sp>
      <p:sp>
        <p:nvSpPr>
          <p:cNvPr id="10" name="Patrick leads the company. The model budgets paid ">
            <a:extLst xmlns:a="http://schemas.openxmlformats.org/drawingml/2006/main">
              <a:ext uri="{FF2B5EF4-FFF2-40B4-BE49-F238E27FC236}">
                <a16:creationId xmlns:a16="http://schemas.microsoft.com/office/drawing/2014/main" id="{AB4CB66C-F1A3-4E8A-B78F-4BDA6D8BA4E3}"/>
              </a:ext>
            </a:extLst>
          </p:cNvPr>
          <p:cNvSpPr>
            <a:spLocks xmlns:a="http://schemas.openxmlformats.org/drawingml/2006/main" noGrp="1"/>
          </p:cNvSpPr>
          <p:nvPr/>
        </p:nvSpPr>
        <p:spPr>
          <a:xfrm xmlns:a="http://schemas.openxmlformats.org/drawingml/2006/main">
            <a:off x="62865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Patrick leads the company. The model budgets paid staff, including founder compensation. Other owner roles remain to be defined.</a:t>
            </a:r>
          </a:p>
        </p:txBody>
      </p:sp>
      <p:sp>
        <p:nvSpPr>
          <p:cNvPr id="11" name="Commercial evidence required">
            <a:extLst xmlns:a="http://schemas.openxmlformats.org/drawingml/2006/main">
              <a:ext uri="{FF2B5EF4-FFF2-40B4-BE49-F238E27FC236}">
                <a16:creationId xmlns:a16="http://schemas.microsoft.com/office/drawing/2014/main" id="{CDFC5730-6EC8-4824-97C3-07D3C99E46F2}"/>
              </a:ext>
            </a:extLst>
          </p:cNvPr>
          <p:cNvSpPr>
            <a:spLocks xmlns:a="http://schemas.openxmlformats.org/drawingml/2006/main" noGrp="1"/>
          </p:cNvSpPr>
          <p:nvPr/>
        </p:nvSpPr>
        <p:spPr>
          <a:xfrm xmlns:a="http://schemas.openxmlformats.org/drawingml/2006/main">
            <a:off x="6400800" y="4371975"/>
            <a:ext cx="5067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Commercial evidence required</a:t>
            </a:r>
          </a:p>
        </p:txBody>
      </p:sp>
      <p:sp>
        <p:nvSpPr>
          <p:cNvPr id="12" name="No verified revenue, paying customer base, signed ">
            <a:extLst xmlns:a="http://schemas.openxmlformats.org/drawingml/2006/main">
              <a:ext uri="{FF2B5EF4-FFF2-40B4-BE49-F238E27FC236}">
                <a16:creationId xmlns:a16="http://schemas.microsoft.com/office/drawing/2014/main" id="{38F8B994-E05A-46F3-BBE6-75C5CA42A01E}"/>
              </a:ext>
            </a:extLst>
          </p:cNvPr>
          <p:cNvSpPr>
            <a:spLocks xmlns:a="http://schemas.openxmlformats.org/drawingml/2006/main" noGrp="1"/>
          </p:cNvSpPr>
          <p:nvPr/>
        </p:nvSpPr>
        <p:spPr>
          <a:xfrm xmlns:a="http://schemas.openxmlformats.org/drawingml/2006/main">
            <a:off x="6400800" y="4895850"/>
            <a:ext cx="50673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No verified revenue, paying customer base, signed provider count or measured retention is claimed in this deck.</a:t>
            </a:r>
          </a:p>
        </p:txBody>
      </p:sp>
    </p:spTree>
    <p:extLst>
      <p:ext uri="{BB962C8B-B14F-4D97-AF65-F5344CB8AC3E}">
        <p14:creationId xmlns:p14="http://schemas.microsoft.com/office/powerpoint/2010/main" val="848158879"/>
      </p:ext>
    </p:extLst>
  </p:cSld>
</p:sld>
</file>

<file path=ppt/slides/slide1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What can increase the value of the company">
            <a:extLst xmlns:a="http://schemas.openxmlformats.org/drawingml/2006/main">
              <a:ext uri="{FF2B5EF4-FFF2-40B4-BE49-F238E27FC236}">
                <a16:creationId xmlns:a16="http://schemas.microsoft.com/office/drawing/2014/main" id="{C0B4F653-2705-40F2-8B6E-450A6174D57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What can increase the value of the company</a:t>
            </a:r>
          </a:p>
        </p:txBody>
      </p:sp>
      <p:sp>
        <p:nvSpPr>
          <p:cNvPr id="2" name="More paying households matter when the relationshi">
            <a:extLst xmlns:a="http://schemas.openxmlformats.org/drawingml/2006/main">
              <a:ext uri="{FF2B5EF4-FFF2-40B4-BE49-F238E27FC236}">
                <a16:creationId xmlns:a16="http://schemas.microsoft.com/office/drawing/2014/main" id="{BF6618D6-D983-498A-A664-C17F807DC7D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More paying households matter when the relationships remain profitable and stay on the platform.</a:t>
            </a:r>
          </a:p>
        </p:txBody>
      </p:sp>
      <p:sp>
        <p:nvSpPr>
          <p:cNvPr id="3" name="YardMatch">
            <a:extLst xmlns:a="http://schemas.openxmlformats.org/drawingml/2006/main">
              <a:ext uri="{FF2B5EF4-FFF2-40B4-BE49-F238E27FC236}">
                <a16:creationId xmlns:a16="http://schemas.microsoft.com/office/drawing/2014/main" id="{1D620DA1-D144-434F-845E-B121A2273800}"/>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8">
            <a:extLst xmlns:a="http://schemas.openxmlformats.org/drawingml/2006/main">
              <a:ext uri="{FF2B5EF4-FFF2-40B4-BE49-F238E27FC236}">
                <a16:creationId xmlns:a16="http://schemas.microsoft.com/office/drawing/2014/main" id="{C7B79F87-A96F-4AB4-A7A5-75EBBAF086B5}"/>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18</a:t>
            </a:r>
          </a:p>
        </p:txBody>
      </p:sp>
      <p:graphicFrame>
        <p:nvGraphicFramePr>
          <p:cNvPr id="11" name=""/>
          <p:cNvGraphicFramePr/>
          <p:nvPr/>
        </p:nvGraphicFramePr>
        <p:xfrm>
          <a:off xmlns:a="http://schemas.openxmlformats.org/drawingml/2006/main" x="609600" y="2400300"/>
          <a:ext xmlns:a="http://schemas.openxmlformats.org/drawingml/2006/main" cx="10972800" cy="3133725"/>
        </p:xfrm>
        <a:graphic xmlns:a="http://schemas.openxmlformats.org/drawingml/2006/main">
          <a:graphicData uri="http://schemas.openxmlformats.org/drawingml/2006/table">
            <a:tbl>
              <a:tblPr/>
              <a:tblGrid>
                <a:gridCol w="3400425"/>
                <a:gridCol w="7572375"/>
              </a:tblGrid>
              <a:tr h="626745">
                <a:tc>
                  <a:txBody>
                    <a:bodyPr lIns="114300" tIns="76200" rIns="114300" bIns="76200">
                      <a:noAutofit/>
                    </a:bodyPr>
                    <a:lstStyle/>
                    <a:p>
                      <a:pPr algn="l"/>
                      <a:r>
                        <a:rPr sz="1875" b="1">
                          <a:solidFill>
                            <a:srgbClr val="FFFFFF"/>
                          </a:solidFill>
                          <a:latin typeface="Arial"/>
                          <a:ea typeface="Arial"/>
                          <a:cs typeface="Arial"/>
                        </a:rPr>
                        <a:t>Value driver</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Evidence an investor can evaluate</a:t>
                      </a:r>
                    </a:p>
                  </a:txBody>
                  <a:tcPr marL="91440" marR="91440" marT="45720" marB="45720" anchor="ctr">
                    <a:solidFill>
                      <a:srgbClr val="205938"/>
                    </a:solidFill>
                  </a:tcPr>
                </a:tc>
              </a:tr>
              <a:tr h="626745">
                <a:tc>
                  <a:txBody>
                    <a:bodyPr lIns="114300" tIns="76200" rIns="114300" bIns="76200">
                      <a:noAutofit/>
                    </a:bodyPr>
                    <a:lstStyle/>
                    <a:p>
                      <a:pPr algn="l"/>
                      <a:r>
                        <a:rPr sz="1875" b="0">
                          <a:solidFill>
                            <a:srgbClr val="14281D"/>
                          </a:solidFill>
                          <a:latin typeface="Arial"/>
                          <a:ea typeface="Arial"/>
                          <a:cs typeface="Arial"/>
                        </a:rPr>
                        <a:t>Household retention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The next season’s paid bookings, not just app activity</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Provider density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More completed jobs per service area and less unfilled demand</a:t>
                      </a:r>
                    </a:p>
                  </a:txBody>
                  <a:tcPr marL="91440" marR="91440" marT="45720" marB="45720" anchor="ctr">
                    <a:solidFill>
                      <a:srgbClr val="F7F5EF"/>
                    </a:solidFill>
                  </a:tcPr>
                </a:tc>
              </a:tr>
              <a:tr h="626745">
                <a:tc>
                  <a:txBody>
                    <a:bodyPr lIns="114300" tIns="76200" rIns="114300" bIns="76200">
                      <a:noAutofit/>
                    </a:bodyPr>
                    <a:lstStyle/>
                    <a:p>
                      <a:pPr algn="l"/>
                      <a:r>
                        <a:rPr sz="1875" b="0">
                          <a:solidFill>
                            <a:srgbClr val="14281D"/>
                          </a:solidFill>
                          <a:latin typeface="Arial"/>
                          <a:ea typeface="Arial"/>
                          <a:cs typeface="Arial"/>
                        </a:rPr>
                        <a:t>Acquisition efficiency</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Contribution earned relative to cost per first paying household</a:t>
                      </a:r>
                    </a:p>
                  </a:txBody>
                  <a:tcPr marL="91440" marR="91440" marT="45720" marB="45720" anchor="ctr">
                    <a:solidFill>
                      <a:srgbClr val="FFFFFF"/>
                    </a:solidFill>
                  </a:tcPr>
                </a:tc>
              </a:tr>
              <a:tr h="626745">
                <a:tc>
                  <a:txBody>
                    <a:bodyPr lIns="114300" tIns="76200" rIns="114300" bIns="76200">
                      <a:noAutofit/>
                    </a:bodyPr>
                    <a:lstStyle/>
                    <a:p>
                      <a:pPr algn="l"/>
                      <a:r>
                        <a:rPr sz="1875" b="0">
                          <a:solidFill>
                            <a:srgbClr val="14281D"/>
                          </a:solidFill>
                          <a:latin typeface="Arial"/>
                          <a:ea typeface="Arial"/>
                          <a:cs typeface="Arial"/>
                        </a:rPr>
                        <a:t>Operational reliability</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On-time visits, fewer service issues and resolved payment failures</a:t>
                      </a:r>
                    </a:p>
                  </a:txBody>
                  <a:tcPr marL="91440" marR="91440" marT="45720" marB="45720" anchor="ctr">
                    <a:solidFill>
                      <a:srgbClr val="F7F5EF"/>
                    </a:solidFill>
                  </a:tcPr>
                </a:tc>
              </a:tr>
            </a:tbl>
          </a:graphicData>
        </a:graphic>
      </p:graphicFrame>
      <p:sp>
        <p:nvSpPr>
          <p:cNvPr id="6" name="The model includes completed project fees with exi">
            <a:extLst xmlns:a="http://schemas.openxmlformats.org/drawingml/2006/main">
              <a:ext uri="{FF2B5EF4-FFF2-40B4-BE49-F238E27FC236}">
                <a16:creationId xmlns:a16="http://schemas.microsoft.com/office/drawing/2014/main" id="{4862E822-73FB-40EA-BEF2-51953EDBA06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The model includes completed project fees with existing providers. Core forecasts exclude optional provider products. Those expansion cases do not add extra finder fees for the same relationship.</a:t>
            </a:r>
          </a:p>
        </p:txBody>
      </p:sp>
    </p:spTree>
    <p:extLst>
      <p:ext uri="{BB962C8B-B14F-4D97-AF65-F5344CB8AC3E}">
        <p14:creationId xmlns:p14="http://schemas.microsoft.com/office/powerpoint/2010/main" val="406691088"/>
      </p:ext>
    </p:extLst>
  </p:cSld>
</p:sld>
</file>

<file path=ppt/slides/slide1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Provider subscriptions add a software business">
            <a:extLst xmlns:a="http://schemas.openxmlformats.org/drawingml/2006/main">
              <a:ext uri="{FF2B5EF4-FFF2-40B4-BE49-F238E27FC236}">
                <a16:creationId xmlns:a16="http://schemas.microsoft.com/office/drawing/2014/main" id="{EB362851-392D-498F-9D1C-E5A66122BB27}"/>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Provider subscriptions add a software business</a:t>
            </a:r>
          </a:p>
        </p:txBody>
      </p:sp>
      <p:sp>
        <p:nvSpPr>
          <p:cNvPr id="2" name="Proposed monthly prices for optional features. Tra">
            <a:extLst xmlns:a="http://schemas.openxmlformats.org/drawingml/2006/main">
              <a:ext uri="{FF2B5EF4-FFF2-40B4-BE49-F238E27FC236}">
                <a16:creationId xmlns:a16="http://schemas.microsoft.com/office/drawing/2014/main" id="{8494EF43-7FAC-4344-B770-CEE133E76F8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monthly prices for optional features. Transaction fees still apply.</a:t>
            </a:r>
          </a:p>
        </p:txBody>
      </p:sp>
      <p:sp>
        <p:nvSpPr>
          <p:cNvPr id="3" name="YardMatch">
            <a:extLst xmlns:a="http://schemas.openxmlformats.org/drawingml/2006/main">
              <a:ext uri="{FF2B5EF4-FFF2-40B4-BE49-F238E27FC236}">
                <a16:creationId xmlns:a16="http://schemas.microsoft.com/office/drawing/2014/main" id="{151AB725-127A-4B6A-BB4B-4A35E48F11F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19">
            <a:extLst xmlns:a="http://schemas.openxmlformats.org/drawingml/2006/main">
              <a:ext uri="{FF2B5EF4-FFF2-40B4-BE49-F238E27FC236}">
                <a16:creationId xmlns:a16="http://schemas.microsoft.com/office/drawing/2014/main" id="{C31DA35F-FFDC-427B-884E-3ED1F0A2EED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19</a:t>
            </a:r>
          </a:p>
        </p:txBody>
      </p:sp>
      <p:graphicFrame>
        <p:nvGraphicFramePr>
          <p:cNvPr id="11" name=""/>
          <p:cNvGraphicFramePr/>
          <p:nvPr/>
        </p:nvGraphicFramePr>
        <p:xfrm>
          <a:off xmlns:a="http://schemas.openxmlformats.org/drawingml/2006/main" x="609600" y="2343150"/>
          <a:ext xmlns:a="http://schemas.openxmlformats.org/drawingml/2006/main" cx="10972800" cy="3028950"/>
        </p:xfrm>
        <a:graphic xmlns:a="http://schemas.openxmlformats.org/drawingml/2006/main">
          <a:graphicData uri="http://schemas.openxmlformats.org/drawingml/2006/table">
            <a:tbl>
              <a:tblPr/>
              <a:tblGrid>
                <a:gridCol w="2895600"/>
                <a:gridCol w="2352675"/>
                <a:gridCol w="5724525"/>
              </a:tblGrid>
              <a:tr h="757238">
                <a:tc>
                  <a:txBody>
                    <a:bodyPr lIns="114300" tIns="76200" rIns="114300" bIns="76200">
                      <a:noAutofit/>
                    </a:bodyPr>
                    <a:lstStyle/>
                    <a:p>
                      <a:pPr algn="l"/>
                      <a:r>
                        <a:rPr sz="1875" b="1">
                          <a:solidFill>
                            <a:srgbClr val="FFFFFF"/>
                          </a:solidFill>
                          <a:latin typeface="Arial"/>
                          <a:ea typeface="Arial"/>
                          <a:cs typeface="Arial"/>
                        </a:rPr>
                        <a:t>Plan</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Provider price</a:t>
                      </a:r>
                    </a:p>
                  </a:txBody>
                  <a:tcPr marL="91440" marR="91440" marT="45720" marB="45720" anchor="ctr">
                    <a:solidFill>
                      <a:srgbClr val="205938"/>
                    </a:solidFill>
                  </a:tcPr>
                </a:tc>
                <a:tc>
                  <a:txBody>
                    <a:bodyPr lIns="114300" tIns="76200" rIns="114300" bIns="76200">
                      <a:noAutofit/>
                    </a:bodyPr>
                    <a:lstStyle/>
                    <a:p>
                      <a:pPr algn="l"/>
                      <a:r>
                        <a:rPr sz="1875" b="1">
                          <a:solidFill>
                            <a:srgbClr val="FFFFFF"/>
                          </a:solidFill>
                          <a:latin typeface="Arial"/>
                          <a:ea typeface="Arial"/>
                          <a:cs typeface="Arial"/>
                        </a:rPr>
                        <a:t>Reason to pay</a:t>
                      </a:r>
                    </a:p>
                  </a:txBody>
                  <a:tcPr marL="91440" marR="91440" marT="45720" marB="45720" anchor="ctr">
                    <a:solidFill>
                      <a:srgbClr val="205938"/>
                    </a:solidFill>
                  </a:tcPr>
                </a:tc>
              </a:tr>
              <a:tr h="757238">
                <a:tc>
                  <a:txBody>
                    <a:bodyPr lIns="114300" tIns="76200" rIns="114300" bIns="76200">
                      <a:noAutofit/>
                    </a:bodyPr>
                    <a:lstStyle/>
                    <a:p>
                      <a:pPr algn="l"/>
                      <a:r>
                        <a:rPr sz="1875" b="0">
                          <a:solidFill>
                            <a:srgbClr val="14281D"/>
                          </a:solidFill>
                          <a:latin typeface="Arial"/>
                          <a:ea typeface="Arial"/>
                          <a:cs typeface="Arial"/>
                        </a:rPr>
                        <a:t>Core marketplace</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$0 subscription</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Booking, job details, crew assignments and essential communication</a:t>
                      </a:r>
                    </a:p>
                  </a:txBody>
                  <a:tcPr marL="91440" marR="91440" marT="45720" marB="45720" anchor="ctr">
                    <a:solidFill>
                      <a:srgbClr val="FFFFFF"/>
                    </a:solidFill>
                  </a:tcPr>
                </a:tc>
              </a:tr>
              <a:tr h="757238">
                <a:tc>
                  <a:txBody>
                    <a:bodyPr lIns="114300" tIns="76200" rIns="114300" bIns="76200">
                      <a:noAutofit/>
                    </a:bodyPr>
                    <a:lstStyle/>
                    <a:p>
                      <a:pPr algn="l"/>
                      <a:r>
                        <a:rPr sz="1875" b="0">
                          <a:solidFill>
                            <a:srgbClr val="14281D"/>
                          </a:solidFill>
                          <a:latin typeface="Arial"/>
                          <a:ea typeface="Arial"/>
                          <a:cs typeface="Arial"/>
                        </a:rPr>
                        <a:t>Pro</a:t>
                      </a:r>
                    </a:p>
                  </a:txBody>
                  <a:tcPr marL="91440" marR="91440" marT="45720" marB="45720" anchor="ctr">
                    <a:solidFill>
                      <a:srgbClr val="F7F5EF"/>
                    </a:solidFill>
                  </a:tcPr>
                </a:tc>
                <a:tc>
                  <a:txBody>
                    <a:bodyPr lIns="114300" tIns="76200" rIns="114300" bIns="76200">
                      <a:noAutofit/>
                    </a:bodyPr>
                    <a:lstStyle/>
                    <a:p>
                      <a:pPr algn="r"/>
                      <a:r>
                        <a:rPr sz="1875" b="0">
                          <a:solidFill>
                            <a:srgbClr val="14281D"/>
                          </a:solidFill>
                          <a:latin typeface="Arial"/>
                          <a:ea typeface="Arial"/>
                          <a:cs typeface="Arial"/>
                        </a:rPr>
                        <a:t>$49 / month</a:t>
                      </a:r>
                    </a:p>
                  </a:txBody>
                  <a:tcPr marL="91440" marR="91440" marT="45720" marB="45720" anchor="ctr">
                    <a:solidFill>
                      <a:srgbClr val="F7F5EF"/>
                    </a:solidFill>
                  </a:tcPr>
                </a:tc>
                <a:tc>
                  <a:txBody>
                    <a:bodyPr lIns="114300" tIns="76200" rIns="114300" bIns="76200">
                      <a:noAutofit/>
                    </a:bodyPr>
                    <a:lstStyle/>
                    <a:p>
                      <a:pPr algn="l"/>
                      <a:r>
                        <a:rPr sz="1875" b="0">
                          <a:solidFill>
                            <a:srgbClr val="14281D"/>
                          </a:solidFill>
                          <a:latin typeface="Arial"/>
                          <a:ea typeface="Arial"/>
                          <a:cs typeface="Arial"/>
                        </a:rPr>
                        <a:t>Job margin reports, quote follow-ups and advanced business reporting</a:t>
                      </a:r>
                    </a:p>
                  </a:txBody>
                  <a:tcPr marL="91440" marR="91440" marT="45720" marB="45720" anchor="ctr">
                    <a:solidFill>
                      <a:srgbClr val="F7F5EF"/>
                    </a:solidFill>
                  </a:tcPr>
                </a:tc>
              </a:tr>
              <a:tr h="757238">
                <a:tc>
                  <a:txBody>
                    <a:bodyPr lIns="114300" tIns="76200" rIns="114300" bIns="76200">
                      <a:noAutofit/>
                    </a:bodyPr>
                    <a:lstStyle/>
                    <a:p>
                      <a:pPr algn="l"/>
                      <a:r>
                        <a:rPr sz="1875" b="0">
                          <a:solidFill>
                            <a:srgbClr val="14281D"/>
                          </a:solidFill>
                          <a:latin typeface="Arial"/>
                          <a:ea typeface="Arial"/>
                          <a:cs typeface="Arial"/>
                        </a:rPr>
                        <a:t>Teams, including Pro</a:t>
                      </a:r>
                    </a:p>
                  </a:txBody>
                  <a:tcPr marL="91440" marR="91440" marT="45720" marB="45720" anchor="ctr">
                    <a:solidFill>
                      <a:srgbClr val="FFFFFF"/>
                    </a:solidFill>
                  </a:tcPr>
                </a:tc>
                <a:tc>
                  <a:txBody>
                    <a:bodyPr lIns="114300" tIns="76200" rIns="114300" bIns="76200">
                      <a:noAutofit/>
                    </a:bodyPr>
                    <a:lstStyle/>
                    <a:p>
                      <a:pPr algn="r"/>
                      <a:r>
                        <a:rPr sz="1875" b="0">
                          <a:solidFill>
                            <a:srgbClr val="14281D"/>
                          </a:solidFill>
                          <a:latin typeface="Arial"/>
                          <a:ea typeface="Arial"/>
                          <a:cs typeface="Arial"/>
                        </a:rPr>
                        <a:t>$99 / month</a:t>
                      </a:r>
                    </a:p>
                  </a:txBody>
                  <a:tcPr marL="91440" marR="91440" marT="45720" marB="45720" anchor="ctr">
                    <a:solidFill>
                      <a:srgbClr val="FFFFFF"/>
                    </a:solidFill>
                  </a:tcPr>
                </a:tc>
                <a:tc>
                  <a:txBody>
                    <a:bodyPr lIns="114300" tIns="76200" rIns="114300" bIns="76200">
                      <a:noAutofit/>
                    </a:bodyPr>
                    <a:lstStyle/>
                    <a:p>
                      <a:pPr algn="l"/>
                      <a:r>
                        <a:rPr sz="1875" b="0">
                          <a:solidFill>
                            <a:srgbClr val="14281D"/>
                          </a:solidFill>
                          <a:latin typeface="Arial"/>
                          <a:ea typeface="Arial"/>
                          <a:cs typeface="Arial"/>
                        </a:rPr>
                        <a:t>Timesheet approvals / exports, labor budgets and crew utilization</a:t>
                      </a:r>
                    </a:p>
                  </a:txBody>
                  <a:tcPr marL="91440" marR="91440" marT="45720" marB="45720" anchor="ctr">
                    <a:solidFill>
                      <a:srgbClr val="FFFFFF"/>
                    </a:solidFill>
                  </a:tcPr>
                </a:tc>
              </a:tr>
            </a:tbl>
          </a:graphicData>
        </a:graphic>
      </p:graphicFrame>
      <p:sp>
        <p:nvSpPr>
          <p:cNvPr id="6" name="Pro and Teams are mutually exclusive. Core service">
            <a:extLst xmlns:a="http://schemas.openxmlformats.org/drawingml/2006/main">
              <a:ext uri="{FF2B5EF4-FFF2-40B4-BE49-F238E27FC236}">
                <a16:creationId xmlns:a16="http://schemas.microsoft.com/office/drawing/2014/main" id="{55F9AE86-E77C-4C7A-A87D-FD09C4F68E60}"/>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 and Teams are mutually exclusive. Core service delivery remains accessible. The optional model allows nine paid months per year and makes no assumed retention or customer-acquisition improvement.</a:t>
            </a:r>
          </a:p>
        </p:txBody>
      </p:sp>
    </p:spTree>
    <p:extLst>
      <p:ext uri="{BB962C8B-B14F-4D97-AF65-F5344CB8AC3E}">
        <p14:creationId xmlns:p14="http://schemas.microsoft.com/office/powerpoint/2010/main" val="1970619838"/>
      </p:ext>
    </p:extLst>
  </p:cSld>
</p:sld>
</file>

<file path=ppt/slides/slide2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Crew tools have a business buyer">
            <a:extLst xmlns:a="http://schemas.openxmlformats.org/drawingml/2006/main">
              <a:ext uri="{FF2B5EF4-FFF2-40B4-BE49-F238E27FC236}">
                <a16:creationId xmlns:a16="http://schemas.microsoft.com/office/drawing/2014/main" id="{2DB5C267-5BC6-4F35-B2C8-05F5110CD8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Crew tools have a business buyer</a:t>
            </a:r>
          </a:p>
        </p:txBody>
      </p:sp>
      <p:sp>
        <p:nvSpPr>
          <p:cNvPr id="2" name="Landscaping businesses pay for advanced team tools">
            <a:extLst xmlns:a="http://schemas.openxmlformats.org/drawingml/2006/main">
              <a:ext uri="{FF2B5EF4-FFF2-40B4-BE49-F238E27FC236}">
                <a16:creationId xmlns:a16="http://schemas.microsoft.com/office/drawing/2014/main" id="{45D3AC08-E521-4AC7-990C-3C6072C706D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Landscaping businesses pay for advanced team tools. Individual crew members pay $0.</a:t>
            </a:r>
          </a:p>
        </p:txBody>
      </p:sp>
      <p:sp>
        <p:nvSpPr>
          <p:cNvPr id="3" name="YardMatch">
            <a:extLst xmlns:a="http://schemas.openxmlformats.org/drawingml/2006/main">
              <a:ext uri="{FF2B5EF4-FFF2-40B4-BE49-F238E27FC236}">
                <a16:creationId xmlns:a16="http://schemas.microsoft.com/office/drawing/2014/main" id="{A78AD728-6DCC-4E0E-8E94-D930F1136F9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0">
            <a:extLst xmlns:a="http://schemas.openxmlformats.org/drawingml/2006/main">
              <a:ext uri="{FF2B5EF4-FFF2-40B4-BE49-F238E27FC236}">
                <a16:creationId xmlns:a16="http://schemas.microsoft.com/office/drawing/2014/main" id="{6CC64F99-937D-4A04-8C6C-1B794E38ECE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20</a:t>
            </a:r>
          </a:p>
        </p:txBody>
      </p:sp>
      <p:sp>
        <p:nvSpPr>
          <p:cNvPr id="5" name="Value for the business owner">
            <a:extLst xmlns:a="http://schemas.openxmlformats.org/drawingml/2006/main">
              <a:ext uri="{FF2B5EF4-FFF2-40B4-BE49-F238E27FC236}">
                <a16:creationId xmlns:a16="http://schemas.microsoft.com/office/drawing/2014/main" id="{1B2D7F00-CC2A-4C9D-BB9B-CAD0E8C11CEB}"/>
              </a:ext>
            </a:extLst>
          </p:cNvPr>
          <p:cNvSpPr>
            <a:spLocks xmlns:a="http://schemas.openxmlformats.org/drawingml/2006/main" noGrp="1"/>
          </p:cNvSpPr>
          <p:nvPr/>
        </p:nvSpPr>
        <p:spPr>
          <a:xfrm xmlns:a="http://schemas.openxmlformats.org/drawingml/2006/main">
            <a:off x="6286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Value for the business owner</a:t>
            </a:r>
          </a:p>
        </p:txBody>
      </p:sp>
      <p:sp>
        <p:nvSpPr>
          <p:cNvPr id="6" name="Connect approved time to labor budgets. Compare cr">
            <a:extLst xmlns:a="http://schemas.openxmlformats.org/drawingml/2006/main">
              <a:ext uri="{FF2B5EF4-FFF2-40B4-BE49-F238E27FC236}">
                <a16:creationId xmlns:a16="http://schemas.microsoft.com/office/drawing/2014/main" id="{50C76DC7-6D0F-4B28-A72B-6B9AB46EF40F}"/>
              </a:ext>
            </a:extLst>
          </p:cNvPr>
          <p:cNvSpPr>
            <a:spLocks xmlns:a="http://schemas.openxmlformats.org/drawingml/2006/main" noGrp="1"/>
          </p:cNvSpPr>
          <p:nvPr/>
        </p:nvSpPr>
        <p:spPr>
          <a:xfrm xmlns:a="http://schemas.openxmlformats.org/drawingml/2006/main">
            <a:off x="6286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Connect approved time to labor budgets. Compare crew utilization and job margin. Export records to existing payroll software.</a:t>
            </a:r>
          </a:p>
        </p:txBody>
      </p:sp>
      <p:sp>
        <p:nvSpPr>
          <p:cNvPr id="7" name="Access for the crew member">
            <a:extLst xmlns:a="http://schemas.openxmlformats.org/drawingml/2006/main">
              <a:ext uri="{FF2B5EF4-FFF2-40B4-BE49-F238E27FC236}">
                <a16:creationId xmlns:a16="http://schemas.microsoft.com/office/drawing/2014/main" id="{DFF45182-D384-401B-B1E4-9732B3F25B2C}"/>
              </a:ext>
            </a:extLst>
          </p:cNvPr>
          <p:cNvSpPr>
            <a:spLocks xmlns:a="http://schemas.openxmlformats.org/drawingml/2006/main" noGrp="1"/>
          </p:cNvSpPr>
          <p:nvPr/>
        </p:nvSpPr>
        <p:spPr>
          <a:xfrm xmlns:a="http://schemas.openxmlformats.org/drawingml/2006/main">
            <a:off x="6419850" y="2400300"/>
            <a:ext cx="5105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Access for the crew member</a:t>
            </a:r>
          </a:p>
        </p:txBody>
      </p:sp>
      <p:sp>
        <p:nvSpPr>
          <p:cNvPr id="8" name="View assignments, communicate about the job and su">
            <a:extLst xmlns:a="http://schemas.openxmlformats.org/drawingml/2006/main">
              <a:ext uri="{FF2B5EF4-FFF2-40B4-BE49-F238E27FC236}">
                <a16:creationId xmlns:a16="http://schemas.microsoft.com/office/drawing/2014/main" id="{B151D58F-2B0E-47C2-AAC1-629515447E3E}"/>
              </a:ext>
            </a:extLst>
          </p:cNvPr>
          <p:cNvSpPr>
            <a:spLocks xmlns:a="http://schemas.openxmlformats.org/drawingml/2006/main" noGrp="1"/>
          </p:cNvSpPr>
          <p:nvPr/>
        </p:nvSpPr>
        <p:spPr>
          <a:xfrm xmlns:a="http://schemas.openxmlformats.org/drawingml/2006/main">
            <a:off x="6419850" y="2924175"/>
            <a:ext cx="5105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View assignments, communicate about the job and submit essential service records through the core product.</a:t>
            </a:r>
          </a:p>
        </p:txBody>
      </p:sp>
      <p:sp>
        <p:nvSpPr>
          <p:cNvPr id="9" name="A $99 Teams plan includes the $49 Pro features">
            <a:extLst xmlns:a="http://schemas.openxmlformats.org/drawingml/2006/main">
              <a:ext uri="{FF2B5EF4-FFF2-40B4-BE49-F238E27FC236}">
                <a16:creationId xmlns:a16="http://schemas.microsoft.com/office/drawing/2014/main" id="{035CCE80-E0B5-44DC-BDFD-B495DA1FBAC2}"/>
              </a:ext>
            </a:extLst>
          </p:cNvPr>
          <p:cNvSpPr>
            <a:spLocks xmlns:a="http://schemas.openxmlformats.org/drawingml/2006/main" noGrp="1"/>
          </p:cNvSpPr>
          <p:nvPr/>
        </p:nvSpPr>
        <p:spPr>
          <a:xfrm xmlns:a="http://schemas.openxmlformats.org/drawingml/2006/main">
            <a:off x="628650" y="4695825"/>
            <a:ext cx="10858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05938"/>
                </a:solidFill>
                <a:latin typeface="Arial"/>
                <a:ea typeface="Arial"/>
                <a:cs typeface="Arial"/>
              </a:defRPr>
            </a:pPr>
            <a:r>
              <a:rPr sz="2400" b="1">
                <a:solidFill>
                  <a:srgbClr val="205938"/>
                </a:solidFill>
                <a:latin typeface="Arial"/>
                <a:ea typeface="Arial"/>
                <a:cs typeface="Arial"/>
              </a:rPr>
              <a:t>A $99 Teams plan includes the $49 Pro features</a:t>
            </a:r>
          </a:p>
        </p:txBody>
      </p:sp>
      <p:sp>
        <p:nvSpPr>
          <p:cNvPr id="10" name="Later options include employer-funded recruiting o">
            <a:extLst xmlns:a="http://schemas.openxmlformats.org/drawingml/2006/main">
              <a:ext uri="{FF2B5EF4-FFF2-40B4-BE49-F238E27FC236}">
                <a16:creationId xmlns:a16="http://schemas.microsoft.com/office/drawing/2014/main" id="{2D34FAD1-EFE1-43DE-8EAE-4991ABC8177F}"/>
              </a:ext>
            </a:extLst>
          </p:cNvPr>
          <p:cNvSpPr>
            <a:spLocks xmlns:a="http://schemas.openxmlformats.org/drawingml/2006/main" noGrp="1"/>
          </p:cNvSpPr>
          <p:nvPr/>
        </p:nvSpPr>
        <p:spPr>
          <a:xfrm xmlns:a="http://schemas.openxmlformats.org/drawingml/2006/main">
            <a:off x="628650" y="5238750"/>
            <a:ext cx="1085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Later options include employer-funded recruiting or optional training partnerships. Neither contributes revenue to this forecast.</a:t>
            </a:r>
          </a:p>
        </p:txBody>
      </p:sp>
      <p:sp>
        <p:nvSpPr>
          <p:cNvPr id="11" name="Basic coordination supports completion and retenti">
            <a:extLst xmlns:a="http://schemas.openxmlformats.org/drawingml/2006/main">
              <a:ext uri="{FF2B5EF4-FFF2-40B4-BE49-F238E27FC236}">
                <a16:creationId xmlns:a16="http://schemas.microsoft.com/office/drawing/2014/main" id="{37ECC9D2-F8A5-4A13-973C-584C4BFA5948}"/>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Basic coordination supports completion and retention. Charging workers to access required job tools would add adoption friction without a clear benefit.</a:t>
            </a:r>
          </a:p>
        </p:txBody>
      </p:sp>
    </p:spTree>
    <p:extLst>
      <p:ext uri="{BB962C8B-B14F-4D97-AF65-F5344CB8AC3E}">
        <p14:creationId xmlns:p14="http://schemas.microsoft.com/office/powerpoint/2010/main" val="1405578364"/>
      </p:ext>
    </p:extLst>
  </p:cSld>
</p:sld>
</file>

<file path=ppt/slides/slide2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Sponsored visibility can be a controlled pilot">
            <a:extLst xmlns:a="http://schemas.openxmlformats.org/drawingml/2006/main">
              <a:ext uri="{FF2B5EF4-FFF2-40B4-BE49-F238E27FC236}">
                <a16:creationId xmlns:a16="http://schemas.microsoft.com/office/drawing/2014/main" id="{79EE6934-0E41-4592-B71B-7F5C628852E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Sponsored visibility can be a controlled pilot</a:t>
            </a:r>
          </a:p>
        </p:txBody>
      </p:sp>
      <p:sp>
        <p:nvSpPr>
          <p:cNvPr id="2" name="Proposed fee: $15 extra after a new relationship c">
            <a:extLst xmlns:a="http://schemas.openxmlformats.org/drawingml/2006/main">
              <a:ext uri="{FF2B5EF4-FFF2-40B4-BE49-F238E27FC236}">
                <a16:creationId xmlns:a16="http://schemas.microsoft.com/office/drawing/2014/main" id="{B7B78C5E-0748-4117-93F0-1F8A7777149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Proposed fee: $15 extra after a new relationship completes a paid first job of $150 or more.</a:t>
            </a:r>
          </a:p>
        </p:txBody>
      </p:sp>
      <p:sp>
        <p:nvSpPr>
          <p:cNvPr id="3" name="YardMatch">
            <a:extLst xmlns:a="http://schemas.openxmlformats.org/drawingml/2006/main">
              <a:ext uri="{FF2B5EF4-FFF2-40B4-BE49-F238E27FC236}">
                <a16:creationId xmlns:a16="http://schemas.microsoft.com/office/drawing/2014/main" id="{6359D18D-6B5E-4A4C-AD0B-A34C1C157EF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1">
            <a:extLst xmlns:a="http://schemas.openxmlformats.org/drawingml/2006/main">
              <a:ext uri="{FF2B5EF4-FFF2-40B4-BE49-F238E27FC236}">
                <a16:creationId xmlns:a16="http://schemas.microsoft.com/office/drawing/2014/main" id="{ACBBA387-517E-4ADB-8388-C631D4C3005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21</a:t>
            </a:r>
          </a:p>
        </p:txBody>
      </p:sp>
      <p:graphicFrame>
        <p:nvGraphicFramePr>
          <p:cNvPr id="11" name=""/>
          <p:cNvGraphicFramePr/>
          <p:nvPr/>
        </p:nvGraphicFramePr>
        <p:xfrm>
          <a:off xmlns:a="http://schemas.openxmlformats.org/drawingml/2006/main" x="609600" y="2343150"/>
          <a:ext xmlns:a="http://schemas.openxmlformats.org/drawingml/2006/main" cx="10972800" cy="3057525"/>
        </p:xfrm>
        <a:graphic xmlns:a="http://schemas.openxmlformats.org/drawingml/2006/main">
          <a:graphicData uri="http://schemas.openxmlformats.org/drawingml/2006/table">
            <a:tbl>
              <a:tblPr/>
              <a:tblGrid>
                <a:gridCol w="4229100"/>
                <a:gridCol w="6743700"/>
              </a:tblGrid>
              <a:tr h="611505">
                <a:tc>
                  <a:txBody>
                    <a:bodyPr lIns="114300" tIns="76200" rIns="114300" bIns="76200">
                      <a:noAutofit/>
                    </a:bodyPr>
                    <a:lstStyle/>
                    <a:p>
                      <a:pPr algn="l"/>
                      <a:r>
                        <a:rPr sz="1800" b="1">
                          <a:solidFill>
                            <a:srgbClr val="FFFFFF"/>
                          </a:solidFill>
                          <a:latin typeface="Arial"/>
                          <a:ea typeface="Arial"/>
                          <a:cs typeface="Arial"/>
                        </a:rPr>
                        <a:t>Pilot rule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Customer and provider effect</a:t>
                      </a:r>
                    </a:p>
                  </a:txBody>
                  <a:tcPr marL="91440" marR="91440" marT="45720" marB="45720" anchor="ctr">
                    <a:solidFill>
                      <a:srgbClr val="205938"/>
                    </a:solidFill>
                  </a:tcPr>
                </a:tc>
              </a:tr>
              <a:tr h="611505">
                <a:tc>
                  <a:txBody>
                    <a:bodyPr lIns="114300" tIns="76200" rIns="114300" bIns="76200">
                      <a:noAutofit/>
                    </a:bodyPr>
                    <a:lstStyle/>
                    <a:p>
                      <a:pPr algn="l"/>
                      <a:r>
                        <a:rPr sz="1800" b="0">
                          <a:solidFill>
                            <a:srgbClr val="14281D"/>
                          </a:solidFill>
                          <a:latin typeface="Arial"/>
                          <a:ea typeface="Arial"/>
                          <a:cs typeface="Arial"/>
                        </a:rPr>
                        <a:t>One labeled sponsored option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More visibility within a small set of qualified backups</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Service fit, capacity and quality gates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Payment cannot qualify an unsuitable provider</a:t>
                      </a:r>
                    </a:p>
                  </a:txBody>
                  <a:tcPr marL="91440" marR="91440" marT="45720" marB="45720" anchor="ctr">
                    <a:solidFill>
                      <a:srgbClr val="F7F5EF"/>
                    </a:solidFill>
                  </a:tcPr>
                </a:tc>
              </a:tr>
              <a:tr h="611505">
                <a:tc>
                  <a:txBody>
                    <a:bodyPr lIns="114300" tIns="76200" rIns="114300" bIns="76200">
                      <a:noAutofit/>
                    </a:bodyPr>
                    <a:lstStyle/>
                    <a:p>
                      <a:pPr algn="l"/>
                      <a:r>
                        <a:rPr sz="1800" b="0">
                          <a:solidFill>
                            <a:srgbClr val="14281D"/>
                          </a:solidFill>
                          <a:latin typeface="Arial"/>
                          <a:ea typeface="Arial"/>
                          <a:cs typeface="Arial"/>
                        </a:rPr>
                        <a:t>Quality-first main recommendation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Sponsorship does not buy the main recommendation</a:t>
                      </a:r>
                    </a:p>
                  </a:txBody>
                  <a:tcPr marL="91440" marR="91440" marT="45720" marB="45720" anchor="ctr">
                    <a:solidFill>
                      <a:srgbClr val="FFFFFF"/>
                    </a:solidFill>
                  </a:tcPr>
                </a:tc>
              </a:tr>
              <a:tr h="611505">
                <a:tc>
                  <a:txBody>
                    <a:bodyPr lIns="114300" tIns="76200" rIns="114300" bIns="76200">
                      <a:noAutofit/>
                    </a:bodyPr>
                    <a:lstStyle/>
                    <a:p>
                      <a:pPr algn="l"/>
                      <a:r>
                        <a:rPr sz="1800" b="0">
                          <a:solidFill>
                            <a:srgbClr val="14281D"/>
                          </a:solidFill>
                          <a:latin typeface="Arial"/>
                          <a:ea typeface="Arial"/>
                          <a:cs typeface="Arial"/>
                        </a:rPr>
                        <a:t>$150 monthly provider budget cap</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Pay only for an attributed, completed new relationship</a:t>
                      </a:r>
                    </a:p>
                  </a:txBody>
                  <a:tcPr marL="91440" marR="91440" marT="45720" marB="45720" anchor="ctr">
                    <a:solidFill>
                      <a:srgbClr val="F7F5EF"/>
                    </a:solidFill>
                  </a:tcPr>
                </a:tc>
              </a:tr>
            </a:tbl>
          </a:graphicData>
        </a:graphic>
      </p:graphicFrame>
      <p:sp>
        <p:nvSpPr>
          <p:cNvPr id="6" name="Fee is additional to the applicable $45 / $65 / $9">
            <a:extLst xmlns:a="http://schemas.openxmlformats.org/drawingml/2006/main">
              <a:ext uri="{FF2B5EF4-FFF2-40B4-BE49-F238E27FC236}">
                <a16:creationId xmlns:a16="http://schemas.microsoft.com/office/drawing/2014/main" id="{23EC2D2D-22D8-4882-9748-F801926A847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Fee is additional to the applicable $45 / $65 / $90 finder fee and recurring charges. No repeat-pair fee. Existing customers and canceled jobs are excluded. Measure incremental business with a holdout before wider rollout.</a:t>
            </a:r>
          </a:p>
        </p:txBody>
      </p:sp>
    </p:spTree>
    <p:extLst>
      <p:ext uri="{BB962C8B-B14F-4D97-AF65-F5344CB8AC3E}">
        <p14:creationId xmlns:p14="http://schemas.microsoft.com/office/powerpoint/2010/main" val="1424686052"/>
      </p:ext>
    </p:extLst>
  </p:cSld>
</p:sld>
</file>

<file path=ppt/slides/slide2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Optional products need more scale to pay back">
            <a:extLst xmlns:a="http://schemas.openxmlformats.org/drawingml/2006/main">
              <a:ext uri="{FF2B5EF4-FFF2-40B4-BE49-F238E27FC236}">
                <a16:creationId xmlns:a16="http://schemas.microsoft.com/office/drawing/2014/main" id="{29887AF3-5B4C-4228-AD4F-0FB1EFA376C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Optional products need more scale to pay back</a:t>
            </a:r>
          </a:p>
        </p:txBody>
      </p:sp>
      <p:sp>
        <p:nvSpPr>
          <p:cNvPr id="2" name="Illustrative 2033 results using the same base hous">
            <a:extLst xmlns:a="http://schemas.openxmlformats.org/drawingml/2006/main">
              <a:ext uri="{FF2B5EF4-FFF2-40B4-BE49-F238E27FC236}">
                <a16:creationId xmlns:a16="http://schemas.microsoft.com/office/drawing/2014/main" id="{95A4D98E-3548-4C32-9E31-3DD0BD77B9E3}"/>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Illustrative 2033 results using the same base household and provider volumes. Stripe remains in place.</a:t>
            </a:r>
          </a:p>
        </p:txBody>
      </p:sp>
      <p:sp>
        <p:nvSpPr>
          <p:cNvPr id="3" name="YardMatch">
            <a:extLst xmlns:a="http://schemas.openxmlformats.org/drawingml/2006/main">
              <a:ext uri="{FF2B5EF4-FFF2-40B4-BE49-F238E27FC236}">
                <a16:creationId xmlns:a16="http://schemas.microsoft.com/office/drawing/2014/main" id="{E8EE830B-F8C1-4640-8575-6C0BEA8819B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2">
            <a:extLst xmlns:a="http://schemas.openxmlformats.org/drawingml/2006/main">
              <a:ext uri="{FF2B5EF4-FFF2-40B4-BE49-F238E27FC236}">
                <a16:creationId xmlns:a16="http://schemas.microsoft.com/office/drawing/2014/main" id="{9F1C0205-6760-4BA2-9B54-81B7DC4454BC}"/>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22</a:t>
            </a:r>
          </a:p>
        </p:txBody>
      </p:sp>
      <p:graphicFrame>
        <p:nvGraphicFramePr>
          <p:cNvPr id="11" name=""/>
          <p:cNvGraphicFramePr/>
          <p:nvPr/>
        </p:nvGraphicFramePr>
        <p:xfrm>
          <a:off xmlns:a="http://schemas.openxmlformats.org/drawingml/2006/main" x="609600" y="2343150"/>
          <a:ext xmlns:a="http://schemas.openxmlformats.org/drawingml/2006/main" cx="10972800" cy="3124200"/>
        </p:xfrm>
        <a:graphic xmlns:a="http://schemas.openxmlformats.org/drawingml/2006/main">
          <a:graphicData uri="http://schemas.openxmlformats.org/drawingml/2006/table">
            <a:tbl>
              <a:tblPr/>
              <a:tblGrid>
                <a:gridCol w="4257675"/>
                <a:gridCol w="2238375"/>
                <a:gridCol w="2238375"/>
                <a:gridCol w="2238375"/>
              </a:tblGrid>
              <a:tr h="520700">
                <a:tc>
                  <a:txBody>
                    <a:bodyPr lIns="114300" tIns="76200" rIns="114300" bIns="76200">
                      <a:noAutofit/>
                    </a:bodyPr>
                    <a:lstStyle/>
                    <a:p>
                      <a:pPr algn="l"/>
                      <a:r>
                        <a:rPr sz="1725" b="1">
                          <a:solidFill>
                            <a:srgbClr val="FFFFFF"/>
                          </a:solidFill>
                          <a:latin typeface="Arial"/>
                          <a:ea typeface="Arial"/>
                          <a:cs typeface="Arial"/>
                        </a:rPr>
                        <a:t>2033 result</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Core only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Subscriptions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 Sponsorship</a:t>
                      </a:r>
                    </a:p>
                  </a:txBody>
                  <a:tcPr marL="91440" marR="91440" marT="45720" marB="45720" anchor="ctr">
                    <a:solidFill>
                      <a:srgbClr val="205938"/>
                    </a:solidFill>
                  </a:tcPr>
                </a:tc>
              </a:tr>
              <a:tr h="520700">
                <a:tc>
                  <a:txBody>
                    <a:bodyPr lIns="114300" tIns="76200" rIns="114300" bIns="76200">
                      <a:noAutofit/>
                    </a:bodyPr>
                    <a:lstStyle/>
                    <a:p>
                      <a:pPr algn="l"/>
                      <a:r>
                        <a:rPr sz="1725" b="0">
                          <a:solidFill>
                            <a:srgbClr val="14281D"/>
                          </a:solidFill>
                          <a:latin typeface="Arial"/>
                          <a:ea typeface="Arial"/>
                          <a:cs typeface="Arial"/>
                        </a:rPr>
                        <a:t>Optional annual net revenue</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$0.08m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$0.09m</a:t>
                      </a:r>
                    </a:p>
                  </a:txBody>
                  <a:tcPr marL="91440" marR="91440" marT="45720" marB="45720" anchor="ctr">
                    <a:solidFill>
                      <a:srgbClr val="FFFFFF"/>
                    </a:solidFill>
                  </a:tcPr>
                </a:tc>
              </a:tr>
              <a:tr h="520700">
                <a:tc>
                  <a:txBody>
                    <a:bodyPr lIns="114300" tIns="76200" rIns="114300" bIns="76200">
                      <a:noAutofit/>
                    </a:bodyPr>
                    <a:lstStyle/>
                    <a:p>
                      <a:pPr algn="l"/>
                      <a:r>
                        <a:rPr sz="1725" b="0">
                          <a:solidFill>
                            <a:srgbClr val="14281D"/>
                          </a:solidFill>
                          <a:latin typeface="Arial"/>
                          <a:ea typeface="Arial"/>
                          <a:cs typeface="Arial"/>
                        </a:rPr>
                        <a:t>Total net revenue</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$1.28m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$1.36m</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$1.37m</a:t>
                      </a:r>
                    </a:p>
                  </a:txBody>
                  <a:tcPr marL="91440" marR="91440" marT="45720" marB="45720" anchor="ctr">
                    <a:solidFill>
                      <a:srgbClr val="F7F5EF"/>
                    </a:solidFill>
                  </a:tcPr>
                </a:tc>
              </a:tr>
              <a:tr h="520700">
                <a:tc>
                  <a:txBody>
                    <a:bodyPr lIns="114300" tIns="76200" rIns="114300" bIns="76200">
                      <a:noAutofit/>
                    </a:bodyPr>
                    <a:lstStyle/>
                    <a:p>
                      <a:pPr algn="l"/>
                      <a:r>
                        <a:rPr sz="1725"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($0.04)m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($0.24)m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($0.30)m</a:t>
                      </a:r>
                    </a:p>
                  </a:txBody>
                  <a:tcPr marL="91440" marR="91440" marT="45720" marB="45720" anchor="ctr">
                    <a:solidFill>
                      <a:srgbClr val="E8EDDF"/>
                    </a:solidFill>
                  </a:tcPr>
                </a:tc>
              </a:tr>
              <a:tr h="520700">
                <a:tc>
                  <a:txBody>
                    <a:bodyPr lIns="114300" tIns="76200" rIns="114300" bIns="76200">
                      <a:noAutofit/>
                    </a:bodyPr>
                    <a:lstStyle/>
                    <a:p>
                      <a:pPr algn="l"/>
                      <a:r>
                        <a:rPr sz="1725"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($0.06)m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($0.27)m</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($0.33)m</a:t>
                      </a:r>
                    </a:p>
                  </a:txBody>
                  <a:tcPr marL="91440" marR="91440" marT="45720" marB="45720" anchor="ctr">
                    <a:solidFill>
                      <a:srgbClr val="E8EDDF"/>
                    </a:solidFill>
                  </a:tcPr>
                </a:tc>
              </a:tr>
              <a:tr h="520700">
                <a:tc>
                  <a:txBody>
                    <a:bodyPr lIns="114300" tIns="76200" rIns="114300" bIns="76200">
                      <a:noAutofit/>
                    </a:bodyPr>
                    <a:lstStyle/>
                    <a:p>
                      <a:pPr algn="l"/>
                      <a:r>
                        <a:rPr sz="1725"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725" b="0">
                          <a:solidFill>
                            <a:srgbClr val="14281D"/>
                          </a:solidFill>
                          <a:latin typeface="Arial"/>
                          <a:ea typeface="Arial"/>
                          <a:cs typeface="Arial"/>
                        </a:rPr>
                        <a:t>None by 2033</a:t>
                      </a:r>
                    </a:p>
                  </a:txBody>
                  <a:tcPr marL="91440" marR="91440" marT="45720" marB="45720" anchor="ctr">
                    <a:solidFill>
                      <a:srgbClr val="FFFFFF"/>
                    </a:solidFill>
                  </a:tcPr>
                </a:tc>
              </a:tr>
            </a:tbl>
          </a:graphicData>
        </a:graphic>
      </p:graphicFrame>
      <p:sp>
        <p:nvSpPr>
          <p:cNvPr id="6" name="Final column includes both subscriptions and spons">
            <a:extLst xmlns:a="http://schemas.openxmlformats.org/drawingml/2006/main">
              <a:ext uri="{FF2B5EF4-FFF2-40B4-BE49-F238E27FC236}">
                <a16:creationId xmlns:a16="http://schemas.microsoft.com/office/drawing/2014/main" id="{E73810BB-D64D-40AD-91AA-089E375776C2}"/>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Final column includes both subscriptions and sponsorship. Their combined 2033 EBITDA impact is ($261,736) after incremental costs. Early spending still increases cash needs. Adoption is unvalidated.</a:t>
            </a:r>
          </a:p>
        </p:txBody>
      </p:sp>
    </p:spTree>
    <p:extLst>
      <p:ext uri="{BB962C8B-B14F-4D97-AF65-F5344CB8AC3E}">
        <p14:creationId xmlns:p14="http://schemas.microsoft.com/office/powerpoint/2010/main" val="2140958448"/>
      </p:ext>
    </p:extLst>
  </p:cSld>
</p:sld>
</file>

<file path=ppt/slides/slide2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core forecast makes the assumptions visible">
            <a:extLst xmlns:a="http://schemas.openxmlformats.org/drawingml/2006/main">
              <a:ext uri="{FF2B5EF4-FFF2-40B4-BE49-F238E27FC236}">
                <a16:creationId xmlns:a16="http://schemas.microsoft.com/office/drawing/2014/main" id="{7F4B52B6-F3C4-4E21-9F7C-B5BB1195FC89}"/>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core forecast makes the assumptions visible</a:t>
            </a:r>
          </a:p>
        </p:txBody>
      </p:sp>
      <p:sp>
        <p:nvSpPr>
          <p:cNvPr id="2" name="2027-2033 calendar years. Optional subscriptions a">
            <a:extLst xmlns:a="http://schemas.openxmlformats.org/drawingml/2006/main">
              <a:ext uri="{FF2B5EF4-FFF2-40B4-BE49-F238E27FC236}">
                <a16:creationId xmlns:a16="http://schemas.microsoft.com/office/drawing/2014/main" id="{E1576DC1-D55A-41A5-A61C-D59B1C025B4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2027-2033 calendar years. Optional subscriptions and sponsorship are excluded from these core cases.</a:t>
            </a:r>
          </a:p>
        </p:txBody>
      </p:sp>
      <p:sp>
        <p:nvSpPr>
          <p:cNvPr id="3" name="YardMatch">
            <a:extLst xmlns:a="http://schemas.openxmlformats.org/drawingml/2006/main">
              <a:ext uri="{FF2B5EF4-FFF2-40B4-BE49-F238E27FC236}">
                <a16:creationId xmlns:a16="http://schemas.microsoft.com/office/drawing/2014/main" id="{A69E62A4-F486-4663-ADF0-F5B34923F741}"/>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3">
            <a:extLst xmlns:a="http://schemas.openxmlformats.org/drawingml/2006/main">
              <a:ext uri="{FF2B5EF4-FFF2-40B4-BE49-F238E27FC236}">
                <a16:creationId xmlns:a16="http://schemas.microsoft.com/office/drawing/2014/main" id="{1B53759B-94A7-4E04-9679-79F4A376A51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23</a:t>
            </a:r>
          </a:p>
        </p:txBody>
      </p:sp>
      <p:graphicFrame>
        <p:nvGraphicFramePr>
          <p:cNvPr id="11" name=""/>
          <p:cNvGraphicFramePr/>
          <p:nvPr/>
        </p:nvGraphicFramePr>
        <p:xfrm>
          <a:off xmlns:a="http://schemas.openxmlformats.org/drawingml/2006/main" x="609600" y="2352675"/>
          <a:ext xmlns:a="http://schemas.openxmlformats.org/drawingml/2006/main" cx="10972800" cy="3381375"/>
        </p:xfrm>
        <a:graphic xmlns:a="http://schemas.openxmlformats.org/drawingml/2006/main">
          <a:graphicData uri="http://schemas.openxmlformats.org/drawingml/2006/table">
            <a:tbl>
              <a:tblPr/>
              <a:tblGrid>
                <a:gridCol w="4857750"/>
                <a:gridCol w="2038350"/>
                <a:gridCol w="2038350"/>
                <a:gridCol w="2038350"/>
              </a:tblGrid>
              <a:tr h="483054">
                <a:tc>
                  <a:txBody>
                    <a:bodyPr lIns="114300" tIns="76200" rIns="114300" bIns="76200">
                      <a:noAutofit/>
                    </a:bodyPr>
                    <a:lstStyle/>
                    <a:p>
                      <a:pPr algn="l"/>
                      <a:r>
                        <a:rPr sz="1650" b="1">
                          <a:solidFill>
                            <a:srgbClr val="FFFFFF"/>
                          </a:solidFill>
                          <a:latin typeface="Arial"/>
                          <a:ea typeface="Arial"/>
                          <a:cs typeface="Arial"/>
                        </a:rPr>
                        <a:t>Driver</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Upside</a:t>
                      </a:r>
                    </a:p>
                  </a:txBody>
                  <a:tcPr marL="91440" marR="91440" marT="45720" marB="45720" anchor="ctr">
                    <a:solidFill>
                      <a:srgbClr val="205938"/>
                    </a:solidFill>
                  </a:tcPr>
                </a:tc>
              </a:tr>
              <a:tr h="483054">
                <a:tc>
                  <a:txBody>
                    <a:bodyPr lIns="114300" tIns="76200" rIns="114300" bIns="76200">
                      <a:noAutofit/>
                    </a:bodyPr>
                    <a:lstStyle/>
                    <a:p>
                      <a:pPr algn="l"/>
                      <a:r>
                        <a:rPr sz="1650" b="0">
                          <a:solidFill>
                            <a:srgbClr val="14281D"/>
                          </a:solidFill>
                          <a:latin typeface="Arial"/>
                          <a:ea typeface="Arial"/>
                          <a:cs typeface="Arial"/>
                        </a:rPr>
                        <a:t>New households,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117 / 3,750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240 / 6,324</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320 / 7,838</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Annual retention by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65%</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Maintenance visits per full season</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16</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24</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Visits kept on platform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95%</a:t>
                      </a:r>
                    </a:p>
                  </a:txBody>
                  <a:tcPr marL="91440" marR="91440" marT="45720" marB="45720" anchor="ctr">
                    <a:solidFill>
                      <a:srgbClr val="F7F5EF"/>
                    </a:solidFill>
                  </a:tcPr>
                </a:tc>
              </a:tr>
              <a:tr h="483054">
                <a:tc>
                  <a:txBody>
                    <a:bodyPr lIns="114300" tIns="76200" rIns="114300" bIns="76200">
                      <a:noAutofit/>
                    </a:bodyPr>
                    <a:lstStyle/>
                    <a:p>
                      <a:pPr algn="l"/>
                      <a:r>
                        <a:rPr sz="1650" b="0">
                          <a:solidFill>
                            <a:srgbClr val="14281D"/>
                          </a:solidFill>
                          <a:latin typeface="Arial"/>
                          <a:ea typeface="Arial"/>
                          <a:cs typeface="Arial"/>
                        </a:rPr>
                        <a:t>ACH share, 2027 / 2033</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 / 20%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10% / 60%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20% / 75%</a:t>
                      </a:r>
                    </a:p>
                  </a:txBody>
                  <a:tcPr marL="91440" marR="91440" marT="45720" marB="45720" anchor="ctr">
                    <a:solidFill>
                      <a:srgbClr val="FFFFFF"/>
                    </a:solidFill>
                  </a:tcPr>
                </a:tc>
              </a:tr>
              <a:tr h="483054">
                <a:tc>
                  <a:txBody>
                    <a:bodyPr lIns="114300" tIns="76200" rIns="114300" bIns="76200">
                      <a:noAutofit/>
                    </a:bodyPr>
                    <a:lstStyle/>
                    <a:p>
                      <a:pPr algn="l"/>
                      <a:r>
                        <a:rPr sz="1650" b="0">
                          <a:solidFill>
                            <a:srgbClr val="14281D"/>
                          </a:solidFill>
                          <a:latin typeface="Arial"/>
                          <a:ea typeface="Arial"/>
                          <a:cs typeface="Arial"/>
                        </a:rPr>
                        <a:t>Cash CAC, 2027 / 2033</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$74 / $54</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$55 / $40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$44 / $32</a:t>
                      </a:r>
                    </a:p>
                  </a:txBody>
                  <a:tcPr marL="91440" marR="91440" marT="45720" marB="45720" anchor="ctr">
                    <a:solidFill>
                      <a:srgbClr val="F7F5EF"/>
                    </a:solidFill>
                  </a:tcPr>
                </a:tc>
              </a:tr>
            </a:tbl>
          </a:graphicData>
        </a:graphic>
      </p:graphicFrame>
      <p:sp>
        <p:nvSpPr>
          <p:cNvPr id="6" name="Service mix adds project visits. Base: 95% complet">
            <a:extLst xmlns:a="http://schemas.openxmlformats.org/drawingml/2006/main">
              <a:ext uri="{FF2B5EF4-FFF2-40B4-BE49-F238E27FC236}">
                <a16:creationId xmlns:a16="http://schemas.microsoft.com/office/drawing/2014/main" id="{736DDEE9-60FA-4DB4-A219-D2BF15909CC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Service mix adds project visits. Base: 95% completion, eight payout-active months, 3 to 5 paid staff in the base. Downside prices are 15% higher. All cases use the proposed property-tier finder fees and recurring fee plus processing.</a:t>
            </a:r>
          </a:p>
        </p:txBody>
      </p:sp>
    </p:spTree>
    <p:extLst>
      <p:ext uri="{BB962C8B-B14F-4D97-AF65-F5344CB8AC3E}">
        <p14:creationId xmlns:p14="http://schemas.microsoft.com/office/powerpoint/2010/main" val="1913027249"/>
      </p:ext>
    </p:extLst>
  </p:cSld>
</p:sld>
</file>

<file path=ppt/slides/slide2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revenue reaches $1.3m in 2033">
            <a:extLst xmlns:a="http://schemas.openxmlformats.org/drawingml/2006/main">
              <a:ext uri="{FF2B5EF4-FFF2-40B4-BE49-F238E27FC236}">
                <a16:creationId xmlns:a16="http://schemas.microsoft.com/office/drawing/2014/main" id="{72301B50-0BB7-4488-9A74-01E6CDCC883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revenue reaches $1.3m in 2033</a:t>
            </a:r>
          </a:p>
        </p:txBody>
      </p:sp>
      <p:sp>
        <p:nvSpPr>
          <p:cNvPr id="2" name="Net marketplace revenue, US$ millions. Finder fees">
            <a:extLst xmlns:a="http://schemas.openxmlformats.org/drawingml/2006/main">
              <a:ext uri="{FF2B5EF4-FFF2-40B4-BE49-F238E27FC236}">
                <a16:creationId xmlns:a16="http://schemas.microsoft.com/office/drawing/2014/main" id="{6D880503-9AF0-444F-A71C-53EE24E5CF4C}"/>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Net marketplace revenue, US$ millions. Finder fees and recurring fees are distinct revenue streams.</a:t>
            </a:r>
          </a:p>
        </p:txBody>
      </p:sp>
      <p:sp>
        <p:nvSpPr>
          <p:cNvPr id="3" name="YardMatch">
            <a:extLst xmlns:a="http://schemas.openxmlformats.org/drawingml/2006/main">
              <a:ext uri="{FF2B5EF4-FFF2-40B4-BE49-F238E27FC236}">
                <a16:creationId xmlns:a16="http://schemas.microsoft.com/office/drawing/2014/main" id="{B935F5F6-18E5-4BAF-8F4D-0B325B3E268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4">
            <a:extLst xmlns:a="http://schemas.openxmlformats.org/drawingml/2006/main">
              <a:ext uri="{FF2B5EF4-FFF2-40B4-BE49-F238E27FC236}">
                <a16:creationId xmlns:a16="http://schemas.microsoft.com/office/drawing/2014/main" id="{E09D017F-29E5-4AE8-9E7A-4CD96D9D418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24</a:t>
            </a:r>
          </a:p>
        </p:txBody>
      </p:sp>
      <p:graphicFrame>
        <p:nvGraphicFramePr>
          <p:cNvPr id="11" name="Chart"/>
          <p:cNvGraphicFramePr/>
          <p:nvPr/>
        </p:nvGraphicFramePr>
        <p:xfrm>
          <a:off xmlns:a="http://schemas.openxmlformats.org/drawingml/2006/main" x="590550" y="2286000"/>
          <a:ext xmlns:a="http://schemas.openxmlformats.org/drawingml/2006/main" cx="11010900" cy="3362325"/>
        </p:xfrm>
        <a:graphic xmlns:a="http://schemas.openxmlformats.org/drawingml/2006/main">
          <a:graphicData uri="http://schemas.openxmlformats.org/drawingml/2006/chart">
            <c:chart xmlns:r="http://schemas.openxmlformats.org/officeDocument/2006/relationships" xmlns:c="http://schemas.openxmlformats.org/drawingml/2006/chart" r:id="R2968195ee6354fa9"/>
          </a:graphicData>
        </a:graphic>
      </p:graphicFrame>
      <p:sp>
        <p:nvSpPr>
          <p:cNvPr id="6" name="Base 2033: 16,570 year-end paying households, 0.24">
            <a:extLst xmlns:a="http://schemas.openxmlformats.org/drawingml/2006/main">
              <a:ext uri="{FF2B5EF4-FFF2-40B4-BE49-F238E27FC236}">
                <a16:creationId xmlns:a16="http://schemas.microsoft.com/office/drawing/2014/main" id="{FB7DAED2-FC7E-4AD8-8429-6B6638397D1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2033: 16,570 year-end paying households, 0.24m paid jobs and $33.5m GMV. Revenue excludes GMV and processing passed through at cost.</a:t>
            </a:r>
          </a:p>
        </p:txBody>
      </p:sp>
    </p:spTree>
    <p:extLst>
      <p:ext uri="{BB962C8B-B14F-4D97-AF65-F5344CB8AC3E}">
        <p14:creationId xmlns:p14="http://schemas.microsoft.com/office/powerpoint/2010/main" val="1522481581"/>
      </p:ext>
    </p:extLst>
  </p:cSld>
</p:sld>
</file>

<file path=ppt/slides/slide2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Base approaches EBITDA break-even in 2033">
            <a:extLst xmlns:a="http://schemas.openxmlformats.org/drawingml/2006/main">
              <a:ext uri="{FF2B5EF4-FFF2-40B4-BE49-F238E27FC236}">
                <a16:creationId xmlns:a16="http://schemas.microsoft.com/office/drawing/2014/main" id="{B939528A-92EE-4D1B-BEC3-3E3B5AF69062}"/>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Base approaches EBITDA break-even in 2033</a:t>
            </a:r>
          </a:p>
        </p:txBody>
      </p:sp>
      <p:sp>
        <p:nvSpPr>
          <p:cNvPr id="2" name="US$ millions. Recommended pricing; Stripe retained">
            <a:extLst xmlns:a="http://schemas.openxmlformats.org/drawingml/2006/main">
              <a:ext uri="{FF2B5EF4-FFF2-40B4-BE49-F238E27FC236}">
                <a16:creationId xmlns:a16="http://schemas.microsoft.com/office/drawing/2014/main" id="{6EBFBAED-58E4-4AC0-ADB3-6EC8C11C2ED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US$ millions. Recommended pricing; Stripe retained throughout. Growth and fee acceptance are assumptions.</a:t>
            </a:r>
          </a:p>
        </p:txBody>
      </p:sp>
      <p:sp>
        <p:nvSpPr>
          <p:cNvPr id="3" name="YardMatch">
            <a:extLst xmlns:a="http://schemas.openxmlformats.org/drawingml/2006/main">
              <a:ext uri="{FF2B5EF4-FFF2-40B4-BE49-F238E27FC236}">
                <a16:creationId xmlns:a16="http://schemas.microsoft.com/office/drawing/2014/main" id="{EF238AD0-513F-4B81-A638-E9F3FA02014A}"/>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5">
            <a:extLst xmlns:a="http://schemas.openxmlformats.org/drawingml/2006/main">
              <a:ext uri="{FF2B5EF4-FFF2-40B4-BE49-F238E27FC236}">
                <a16:creationId xmlns:a16="http://schemas.microsoft.com/office/drawing/2014/main" id="{081D380F-21FB-44B2-890F-63467D4F3FF6}"/>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25</a:t>
            </a:r>
          </a:p>
        </p:txBody>
      </p:sp>
      <p:graphicFrame>
        <p:nvGraphicFramePr>
          <p:cNvPr id="11" name=""/>
          <p:cNvGraphicFramePr/>
          <p:nvPr/>
        </p:nvGraphicFramePr>
        <p:xfrm>
          <a:off xmlns:a="http://schemas.openxmlformats.org/drawingml/2006/main" x="609600" y="2343150"/>
          <a:ext xmlns:a="http://schemas.openxmlformats.org/drawingml/2006/main" cx="10972800" cy="3228975"/>
        </p:xfrm>
        <a:graphic xmlns:a="http://schemas.openxmlformats.org/drawingml/2006/main">
          <a:graphicData uri="http://schemas.openxmlformats.org/drawingml/2006/table">
            <a:tbl>
              <a:tblPr/>
              <a:tblGrid>
                <a:gridCol w="2571750"/>
                <a:gridCol w="1200150"/>
                <a:gridCol w="1200150"/>
                <a:gridCol w="1200150"/>
                <a:gridCol w="1200150"/>
                <a:gridCol w="1200150"/>
                <a:gridCol w="1200150"/>
                <a:gridCol w="1200150"/>
              </a:tblGrid>
              <a:tr h="461282">
                <a:tc>
                  <a:txBody>
                    <a:bodyPr lIns="114300" tIns="76200" rIns="114300" bIns="76200">
                      <a:noAutofit/>
                    </a:bodyPr>
                    <a:lstStyle/>
                    <a:p>
                      <a:pPr algn="l"/>
                      <a:r>
                        <a:rPr sz="1500" b="1">
                          <a:solidFill>
                            <a:srgbClr val="FFFFFF"/>
                          </a:solidFill>
                          <a:latin typeface="Arial"/>
                          <a:ea typeface="Arial"/>
                          <a:cs typeface="Arial"/>
                        </a:rPr>
                        <a:t>Base forecast</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2027</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2028</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2029</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2030</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2031</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2032</a:t>
                      </a:r>
                    </a:p>
                  </a:txBody>
                  <a:tcPr marL="91440" marR="91440" marT="45720" marB="45720" anchor="ctr">
                    <a:solidFill>
                      <a:srgbClr val="205938"/>
                    </a:solidFill>
                  </a:tcPr>
                </a:tc>
                <a:tc>
                  <a:txBody>
                    <a:bodyPr lIns="114300" tIns="76200" rIns="114300" bIns="76200">
                      <a:noAutofit/>
                    </a:bodyPr>
                    <a:lstStyle/>
                    <a:p>
                      <a:pPr algn="r"/>
                      <a:r>
                        <a:rPr sz="1500" b="1">
                          <a:solidFill>
                            <a:srgbClr val="FFFFFF"/>
                          </a:solidFill>
                          <a:latin typeface="Arial"/>
                          <a:ea typeface="Arial"/>
                          <a:cs typeface="Arial"/>
                        </a:rPr>
                        <a:t>2033</a:t>
                      </a:r>
                    </a:p>
                  </a:txBody>
                  <a:tcPr marL="91440" marR="91440" marT="45720" marB="45720" anchor="ctr">
                    <a:solidFill>
                      <a:srgbClr val="205938"/>
                    </a:solidFill>
                  </a:tcPr>
                </a:tc>
              </a:tr>
              <a:tr h="461282">
                <a:tc>
                  <a:txBody>
                    <a:bodyPr lIns="114300" tIns="76200" rIns="114300" bIns="76200">
                      <a:noAutofit/>
                    </a:bodyPr>
                    <a:lstStyle/>
                    <a:p>
                      <a:pPr algn="l"/>
                      <a:r>
                        <a:rPr sz="1500" b="0">
                          <a:solidFill>
                            <a:srgbClr val="14281D"/>
                          </a:solidFill>
                          <a:latin typeface="Arial"/>
                          <a:ea typeface="Arial"/>
                          <a:cs typeface="Arial"/>
                        </a:rPr>
                        <a:t>Revenue</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$0.09</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$0.23</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$0.67</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$0.97</a:t>
                      </a:r>
                    </a:p>
                  </a:txBody>
                  <a:tcPr marL="91440" marR="91440" marT="45720" marB="45720" anchor="ctr">
                    <a:solidFill>
                      <a:srgbClr val="FFFFFF"/>
                    </a:solidFill>
                  </a:tcPr>
                </a:tc>
                <a:tc>
                  <a:txBody>
                    <a:bodyPr lIns="114300" tIns="76200" rIns="114300" bIns="76200">
                      <a:noAutofit/>
                    </a:bodyPr>
                    <a:lstStyle/>
                    <a:p>
                      <a:pPr algn="r"/>
                      <a:r>
                        <a:rPr sz="1500" b="0">
                          <a:solidFill>
                            <a:srgbClr val="14281D"/>
                          </a:solidFill>
                          <a:latin typeface="Arial"/>
                          <a:ea typeface="Arial"/>
                          <a:cs typeface="Arial"/>
                        </a:rPr>
                        <a:t>$1.28</a:t>
                      </a:r>
                    </a:p>
                  </a:txBody>
                  <a:tcPr marL="91440" marR="91440" marT="45720" marB="45720" anchor="ctr">
                    <a:solidFill>
                      <a:srgbClr val="FFFFFF"/>
                    </a:solidFill>
                  </a:tcPr>
                </a:tc>
              </a:tr>
              <a:tr h="461282">
                <a:tc>
                  <a:txBody>
                    <a:bodyPr lIns="114300" tIns="76200" rIns="114300" bIns="76200">
                      <a:noAutofit/>
                    </a:bodyPr>
                    <a:lstStyle/>
                    <a:p>
                      <a:pPr algn="l"/>
                      <a:r>
                        <a:rPr sz="1500" b="0">
                          <a:solidFill>
                            <a:srgbClr val="14281D"/>
                          </a:solidFill>
                          <a:latin typeface="Arial"/>
                          <a:ea typeface="Arial"/>
                          <a:cs typeface="Arial"/>
                        </a:rPr>
                        <a:t>Gross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$0.54</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$0.78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$1.01</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($0.50)</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($0.47)</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($0.04)</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Operating profit</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($0.42)</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($0.26)</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($0.06)</a:t>
                      </a:r>
                    </a:p>
                  </a:txBody>
                  <a:tcPr marL="91440" marR="91440" marT="45720" marB="45720" anchor="ctr">
                    <a:solidFill>
                      <a:srgbClr val="F7F5EF"/>
                    </a:solidFill>
                  </a:tcPr>
                </a:tc>
              </a:tr>
              <a:tr h="461282">
                <a:tc>
                  <a:txBody>
                    <a:bodyPr lIns="114300" tIns="76200" rIns="114300" bIns="76200">
                      <a:noAutofit/>
                    </a:bodyPr>
                    <a:lstStyle/>
                    <a:p>
                      <a:pPr algn="l"/>
                      <a:r>
                        <a:rPr sz="1500" b="1">
                          <a:solidFill>
                            <a:srgbClr val="14281D"/>
                          </a:solidFill>
                          <a:latin typeface="Arial"/>
                          <a:ea typeface="Arial"/>
                          <a:cs typeface="Arial"/>
                        </a:rPr>
                        <a:t>Net income proxy</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($0.38)</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($0.51)</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($0.49)</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($0.53)</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($0.42)</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($0.26)</a:t>
                      </a:r>
                    </a:p>
                  </a:txBody>
                  <a:tcPr marL="91440" marR="91440" marT="45720" marB="45720" anchor="ctr">
                    <a:solidFill>
                      <a:srgbClr val="E8EDDF"/>
                    </a:solidFill>
                  </a:tcPr>
                </a:tc>
                <a:tc>
                  <a:txBody>
                    <a:bodyPr lIns="114300" tIns="76200" rIns="114300" bIns="76200">
                      <a:noAutofit/>
                    </a:bodyPr>
                    <a:lstStyle/>
                    <a:p>
                      <a:pPr algn="r"/>
                      <a:r>
                        <a:rPr sz="1500" b="1">
                          <a:solidFill>
                            <a:srgbClr val="14281D"/>
                          </a:solidFill>
                          <a:latin typeface="Arial"/>
                          <a:ea typeface="Arial"/>
                          <a:cs typeface="Arial"/>
                        </a:rPr>
                        <a:t>($0.06)</a:t>
                      </a:r>
                    </a:p>
                  </a:txBody>
                  <a:tcPr marL="91440" marR="91440" marT="45720" marB="45720" anchor="ctr">
                    <a:solidFill>
                      <a:srgbClr val="E8EDDF"/>
                    </a:solidFill>
                  </a:tcPr>
                </a:tc>
              </a:tr>
              <a:tr h="461282">
                <a:tc>
                  <a:txBody>
                    <a:bodyPr lIns="114300" tIns="76200" rIns="114300" bIns="76200">
                      <a:noAutofit/>
                    </a:bodyPr>
                    <a:lstStyle/>
                    <a:p>
                      <a:pPr algn="l"/>
                      <a:r>
                        <a:rPr sz="150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($0.39)</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($0.53)</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($0.51)</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($0.58)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($0.48)</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($0.35)</a:t>
                      </a:r>
                    </a:p>
                  </a:txBody>
                  <a:tcPr marL="91440" marR="91440" marT="45720" marB="45720" anchor="ctr">
                    <a:solidFill>
                      <a:srgbClr val="F7F5EF"/>
                    </a:solidFill>
                  </a:tcPr>
                </a:tc>
                <a:tc>
                  <a:txBody>
                    <a:bodyPr lIns="114300" tIns="76200" rIns="114300" bIns="76200">
                      <a:noAutofit/>
                    </a:bodyPr>
                    <a:lstStyle/>
                    <a:p>
                      <a:pPr algn="r"/>
                      <a:r>
                        <a:rPr sz="1500" b="0">
                          <a:solidFill>
                            <a:srgbClr val="14281D"/>
                          </a:solidFill>
                          <a:latin typeface="Arial"/>
                          <a:ea typeface="Arial"/>
                          <a:cs typeface="Arial"/>
                        </a:rPr>
                        <a:t>($0.17)</a:t>
                      </a:r>
                    </a:p>
                  </a:txBody>
                  <a:tcPr marL="91440" marR="91440" marT="45720" marB="45720" anchor="ctr">
                    <a:solidFill>
                      <a:srgbClr val="F7F5EF"/>
                    </a:solidFill>
                  </a:tcPr>
                </a:tc>
              </a:tr>
            </a:tbl>
          </a:graphicData>
        </a:graphic>
      </p:graphicFrame>
      <p:sp>
        <p:nvSpPr>
          <p:cNvPr id="6" name="2033 net income proxy: ($0.06)m. Free cash flow: (">
            <a:extLst xmlns:a="http://schemas.openxmlformats.org/drawingml/2006/main">
              <a:ext uri="{FF2B5EF4-FFF2-40B4-BE49-F238E27FC236}">
                <a16:creationId xmlns:a16="http://schemas.microsoft.com/office/drawing/2014/main" id="{345A21DE-DE19-4A25-920D-68BFED411C0D}"/>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2033 net income proxy: ($0.06)m. Free cash flow: ($0.17)m. The selected 4% card / 2% ACH plan remains below EBITDA break-even through 2033. Free cash flow also funds equipment and restricted risk cash.</a:t>
            </a:r>
          </a:p>
        </p:txBody>
      </p:sp>
    </p:spTree>
    <p:extLst>
      <p:ext uri="{BB962C8B-B14F-4D97-AF65-F5344CB8AC3E}">
        <p14:creationId xmlns:p14="http://schemas.microsoft.com/office/powerpoint/2010/main" val="1394136310"/>
      </p:ext>
    </p:extLst>
  </p:cSld>
</p:sld>
</file>

<file path=ppt/slides/slide2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Returns depend on execution, not volume alone">
            <a:extLst xmlns:a="http://schemas.openxmlformats.org/drawingml/2006/main">
              <a:ext uri="{FF2B5EF4-FFF2-40B4-BE49-F238E27FC236}">
                <a16:creationId xmlns:a16="http://schemas.microsoft.com/office/drawing/2014/main" id="{46914D41-9F5A-457A-984F-08BBF2966CC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Returns depend on execution, not volume alone</a:t>
            </a:r>
          </a:p>
        </p:txBody>
      </p:sp>
      <p:sp>
        <p:nvSpPr>
          <p:cNvPr id="2" name="All three cases use the same platform fees. Servic">
            <a:extLst xmlns:a="http://schemas.openxmlformats.org/drawingml/2006/main">
              <a:ext uri="{FF2B5EF4-FFF2-40B4-BE49-F238E27FC236}">
                <a16:creationId xmlns:a16="http://schemas.microsoft.com/office/drawing/2014/main" id="{164B048B-A429-48AB-887E-C626877E8FEE}"/>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All three cases use the same platform fees. Service prices, retention, acquisition and payment mix change the outcome.</a:t>
            </a:r>
          </a:p>
        </p:txBody>
      </p:sp>
      <p:sp>
        <p:nvSpPr>
          <p:cNvPr id="3" name="YardMatch">
            <a:extLst xmlns:a="http://schemas.openxmlformats.org/drawingml/2006/main">
              <a:ext uri="{FF2B5EF4-FFF2-40B4-BE49-F238E27FC236}">
                <a16:creationId xmlns:a16="http://schemas.microsoft.com/office/drawing/2014/main" id="{B341F74D-4619-4A47-972B-588BD0F6A6C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6">
            <a:extLst xmlns:a="http://schemas.openxmlformats.org/drawingml/2006/main">
              <a:ext uri="{FF2B5EF4-FFF2-40B4-BE49-F238E27FC236}">
                <a16:creationId xmlns:a16="http://schemas.microsoft.com/office/drawing/2014/main" id="{346006F6-4D35-45A7-8003-CE5FB5C6112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26</a:t>
            </a:r>
          </a:p>
        </p:txBody>
      </p:sp>
      <p:graphicFrame>
        <p:nvGraphicFramePr>
          <p:cNvPr id="11" name=""/>
          <p:cNvGraphicFramePr/>
          <p:nvPr/>
        </p:nvGraphicFramePr>
        <p:xfrm>
          <a:off xmlns:a="http://schemas.openxmlformats.org/drawingml/2006/main" x="609600" y="2371725"/>
          <a:ext xmlns:a="http://schemas.openxmlformats.org/drawingml/2006/main" cx="10972800" cy="3057525"/>
        </p:xfrm>
        <a:graphic xmlns:a="http://schemas.openxmlformats.org/drawingml/2006/main">
          <a:graphicData uri="http://schemas.openxmlformats.org/drawingml/2006/table">
            <a:tbl>
              <a:tblPr/>
              <a:tblGrid>
                <a:gridCol w="4600575"/>
                <a:gridCol w="2124075"/>
                <a:gridCol w="2124075"/>
                <a:gridCol w="2124075"/>
              </a:tblGrid>
              <a:tr h="509588">
                <a:tc>
                  <a:txBody>
                    <a:bodyPr lIns="114300" tIns="76200" rIns="114300" bIns="76200">
                      <a:noAutofit/>
                    </a:bodyPr>
                    <a:lstStyle/>
                    <a:p>
                      <a:pPr algn="l"/>
                      <a:r>
                        <a:rPr sz="1800" b="1">
                          <a:solidFill>
                            <a:srgbClr val="FFFFFF"/>
                          </a:solidFill>
                          <a:latin typeface="Arial"/>
                          <a:ea typeface="Arial"/>
                          <a:cs typeface="Arial"/>
                        </a:rPr>
                        <a:t>Result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Downside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Base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Upside</a:t>
                      </a:r>
                    </a:p>
                  </a:txBody>
                  <a:tcPr marL="91440" marR="91440" marT="45720" marB="45720" anchor="ctr">
                    <a:solidFill>
                      <a:srgbClr val="205938"/>
                    </a:solidFill>
                  </a:tcPr>
                </a:tc>
              </a:tr>
              <a:tr h="509588">
                <a:tc>
                  <a:txBody>
                    <a:bodyPr lIns="114300" tIns="76200" rIns="114300" bIns="76200">
                      <a:noAutofit/>
                    </a:bodyPr>
                    <a:lstStyle/>
                    <a:p>
                      <a:pPr algn="l"/>
                      <a:r>
                        <a:rPr sz="1800" b="0">
                          <a:solidFill>
                            <a:srgbClr val="14281D"/>
                          </a:solidFill>
                          <a:latin typeface="Arial"/>
                          <a:ea typeface="Arial"/>
                          <a:cs typeface="Arial"/>
                        </a:rPr>
                        <a:t>2031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$0.36m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$0.67m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$0.93m</a:t>
                      </a:r>
                    </a:p>
                  </a:txBody>
                  <a:tcPr marL="91440" marR="91440" marT="45720" marB="45720" anchor="ctr">
                    <a:solidFill>
                      <a:srgbClr val="FFFFFF"/>
                    </a:solidFill>
                  </a:tcPr>
                </a:tc>
              </a:tr>
              <a:tr h="509588">
                <a:tc>
                  <a:txBody>
                    <a:bodyPr lIns="114300" tIns="76200" rIns="114300" bIns="76200">
                      <a:noAutofit/>
                    </a:bodyPr>
                    <a:lstStyle/>
                    <a:p>
                      <a:pPr algn="l"/>
                      <a:r>
                        <a:rPr sz="1800" b="0">
                          <a:solidFill>
                            <a:srgbClr val="14281D"/>
                          </a:solidFill>
                          <a:latin typeface="Arial"/>
                          <a:ea typeface="Arial"/>
                          <a:cs typeface="Arial"/>
                        </a:rPr>
                        <a:t>2031 EBITDA</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($0.58)m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($0.39)m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($0.22)m</a:t>
                      </a:r>
                    </a:p>
                  </a:txBody>
                  <a:tcPr marL="91440" marR="91440" marT="45720" marB="45720" anchor="ctr">
                    <a:solidFill>
                      <a:srgbClr val="F7F5EF"/>
                    </a:solidFill>
                  </a:tcPr>
                </a:tc>
              </a:tr>
              <a:tr h="509588">
                <a:tc>
                  <a:txBody>
                    <a:bodyPr lIns="114300" tIns="76200" rIns="114300" bIns="76200">
                      <a:noAutofit/>
                    </a:bodyPr>
                    <a:lstStyle/>
                    <a:p>
                      <a:pPr algn="l"/>
                      <a:r>
                        <a:rPr sz="1800" b="0">
                          <a:solidFill>
                            <a:srgbClr val="14281D"/>
                          </a:solidFill>
                          <a:latin typeface="Arial"/>
                          <a:ea typeface="Arial"/>
                          <a:cs typeface="Arial"/>
                        </a:rPr>
                        <a:t>2033 revenue</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$0.65m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$1.28m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$1.86m</a:t>
                      </a:r>
                    </a:p>
                  </a:txBody>
                  <a:tcPr marL="91440" marR="91440" marT="45720" marB="45720" anchor="ctr">
                    <a:solidFill>
                      <a:srgbClr val="FFFFFF"/>
                    </a:solidFill>
                  </a:tcPr>
                </a:tc>
              </a:tr>
              <a:tr h="509588">
                <a:tc>
                  <a:txBody>
                    <a:bodyPr lIns="114300" tIns="76200" rIns="114300" bIns="76200">
                      <a:noAutofit/>
                    </a:bodyPr>
                    <a:lstStyle/>
                    <a:p>
                      <a:pPr algn="l"/>
                      <a:r>
                        <a:rPr sz="1800" b="1">
                          <a:solidFill>
                            <a:srgbClr val="14281D"/>
                          </a:solidFill>
                          <a:latin typeface="Arial"/>
                          <a:ea typeface="Arial"/>
                          <a:cs typeface="Arial"/>
                        </a:rPr>
                        <a:t>2033 net income proxy</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($0.46)m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($0.06)m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$0.24m</a:t>
                      </a:r>
                    </a:p>
                  </a:txBody>
                  <a:tcPr marL="91440" marR="91440" marT="45720" marB="45720" anchor="ctr">
                    <a:solidFill>
                      <a:srgbClr val="E8EDDF"/>
                    </a:solidFill>
                  </a:tcPr>
                </a:tc>
              </a:tr>
              <a:tr h="509588">
                <a:tc>
                  <a:txBody>
                    <a:bodyPr lIns="114300" tIns="76200" rIns="114300" bIns="76200">
                      <a:noAutofit/>
                    </a:bodyPr>
                    <a:lstStyle/>
                    <a:p>
                      <a:pPr algn="l"/>
                      <a:r>
                        <a:rPr sz="1800" b="0">
                          <a:solidFill>
                            <a:srgbClr val="14281D"/>
                          </a:solidFill>
                          <a:latin typeface="Arial"/>
                          <a:ea typeface="Arial"/>
                          <a:cs typeface="Arial"/>
                        </a:rPr>
                        <a:t>First positive EBITDA year</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None by 2033</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2032</a:t>
                      </a:r>
                    </a:p>
                  </a:txBody>
                  <a:tcPr marL="91440" marR="91440" marT="45720" marB="45720" anchor="ctr">
                    <a:solidFill>
                      <a:srgbClr val="FFFFFF"/>
                    </a:solidFill>
                  </a:tcPr>
                </a:tc>
              </a:tr>
            </a:tbl>
          </a:graphicData>
        </a:graphic>
      </p:graphicFrame>
      <p:sp>
        <p:nvSpPr>
          <p:cNvPr id="6" name="First positive EBITDA: downside None by 2033, base">
            <a:extLst xmlns:a="http://schemas.openxmlformats.org/drawingml/2006/main">
              <a:ext uri="{FF2B5EF4-FFF2-40B4-BE49-F238E27FC236}">
                <a16:creationId xmlns:a16="http://schemas.microsoft.com/office/drawing/2014/main" id="{2CCC835F-25FC-40F0-ADB9-E5290CD40A2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First positive EBITDA: downside None by 2033, base None by 2033, upside 2032. All cases cap staffing at five. The model assumes fee acceptance and sufficient team capacity; validate both.</a:t>
            </a:r>
          </a:p>
        </p:txBody>
      </p:sp>
    </p:spTree>
    <p:extLst>
      <p:ext uri="{BB962C8B-B14F-4D97-AF65-F5344CB8AC3E}">
        <p14:creationId xmlns:p14="http://schemas.microsoft.com/office/powerpoint/2010/main" val="7166995"/>
      </p:ext>
    </p:extLst>
  </p:cSld>
</p:sld>
</file>

<file path=ppt/slides/slide2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The ACH discount changes the profit outlook">
            <a:extLst xmlns:a="http://schemas.openxmlformats.org/drawingml/2006/main">
              <a:ext uri="{FF2B5EF4-FFF2-40B4-BE49-F238E27FC236}">
                <a16:creationId xmlns:a16="http://schemas.microsoft.com/office/drawing/2014/main" id="{5DA8BD3E-9890-4DA0-A1C7-82658EE91FE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ACH discount changes the profit outlook</a:t>
            </a:r>
          </a:p>
        </p:txBody>
      </p:sp>
      <p:sp>
        <p:nvSpPr>
          <p:cNvPr id="2" name="2033 base comparison. Same service volume, 60% ACH">
            <a:extLst xmlns:a="http://schemas.openxmlformats.org/drawingml/2006/main">
              <a:ext uri="{FF2B5EF4-FFF2-40B4-BE49-F238E27FC236}">
                <a16:creationId xmlns:a16="http://schemas.microsoft.com/office/drawing/2014/main" id="{E219DC73-A0B1-4DFF-987F-6A6CEE20B12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2033 base comparison. Same service volume, 60% ACH share, five staff and $550,000 payroll.</a:t>
            </a:r>
          </a:p>
        </p:txBody>
      </p:sp>
      <p:sp>
        <p:nvSpPr>
          <p:cNvPr id="3" name="YardMatch">
            <a:extLst xmlns:a="http://schemas.openxmlformats.org/drawingml/2006/main">
              <a:ext uri="{FF2B5EF4-FFF2-40B4-BE49-F238E27FC236}">
                <a16:creationId xmlns:a16="http://schemas.microsoft.com/office/drawing/2014/main" id="{A87DC499-3094-420A-9F0B-7418F517B5E5}"/>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7">
            <a:extLst xmlns:a="http://schemas.openxmlformats.org/drawingml/2006/main">
              <a:ext uri="{FF2B5EF4-FFF2-40B4-BE49-F238E27FC236}">
                <a16:creationId xmlns:a16="http://schemas.microsoft.com/office/drawing/2014/main" id="{1BC5F2BB-F7EA-4AF5-A8ED-79334E8A1FED}"/>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27</a:t>
            </a:r>
          </a:p>
        </p:txBody>
      </p:sp>
      <p:graphicFrame>
        <p:nvGraphicFramePr>
          <p:cNvPr id="11" name=""/>
          <p:cNvGraphicFramePr/>
          <p:nvPr/>
        </p:nvGraphicFramePr>
        <p:xfrm>
          <a:off xmlns:a="http://schemas.openxmlformats.org/drawingml/2006/main" x="609600" y="2343150"/>
          <a:ext xmlns:a="http://schemas.openxmlformats.org/drawingml/2006/main" cx="10972800" cy="3133725"/>
        </p:xfrm>
        <a:graphic xmlns:a="http://schemas.openxmlformats.org/drawingml/2006/main">
          <a:graphicData uri="http://schemas.openxmlformats.org/drawingml/2006/table">
            <a:tbl>
              <a:tblPr/>
              <a:tblGrid>
                <a:gridCol w="3657600"/>
                <a:gridCol w="2190750"/>
                <a:gridCol w="2476500"/>
                <a:gridCol w="2647950"/>
              </a:tblGrid>
              <a:tr h="626745">
                <a:tc>
                  <a:txBody>
                    <a:bodyPr lIns="114300" tIns="76200" rIns="114300" bIns="76200">
                      <a:noAutofit/>
                    </a:bodyPr>
                    <a:lstStyle/>
                    <a:p>
                      <a:pPr algn="l"/>
                      <a:r>
                        <a:rPr sz="1650" b="1">
                          <a:solidFill>
                            <a:srgbClr val="FFFFFF"/>
                          </a:solidFill>
                          <a:latin typeface="Arial"/>
                          <a:ea typeface="Arial"/>
                          <a:cs typeface="Arial"/>
                        </a:rPr>
                        <a:t>2033 base comparison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Previous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Selected 4% / 2%</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Alternative 4% / 2.5%</a:t>
                      </a:r>
                    </a:p>
                  </a:txBody>
                  <a:tcPr marL="91440" marR="91440" marT="45720" marB="45720" anchor="ctr">
                    <a:solidFill>
                      <a:srgbClr val="205938"/>
                    </a:solidFill>
                  </a:tcPr>
                </a:tc>
              </a:tr>
              <a:tr h="626745">
                <a:tc>
                  <a:txBody>
                    <a:bodyPr lIns="114300" tIns="76200" rIns="114300" bIns="76200">
                      <a:noAutofit/>
                    </a:bodyPr>
                    <a:lstStyle/>
                    <a:p>
                      <a:pPr algn="l"/>
                      <a:r>
                        <a:rPr sz="1650" b="0">
                          <a:solidFill>
                            <a:srgbClr val="14281D"/>
                          </a:solidFill>
                          <a:latin typeface="Arial"/>
                          <a:ea typeface="Arial"/>
                          <a:cs typeface="Arial"/>
                        </a:rPr>
                        <a:t>Minimum platform fee</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$4.49</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$0</a:t>
                      </a:r>
                    </a:p>
                  </a:txBody>
                  <a:tcPr marL="91440" marR="91440" marT="45720" marB="45720" anchor="ctr">
                    <a:solidFill>
                      <a:srgbClr val="FFFFFF"/>
                    </a:solidFill>
                  </a:tcPr>
                </a:tc>
              </a:tr>
              <a:tr h="626745">
                <a:tc>
                  <a:txBody>
                    <a:bodyPr lIns="114300" tIns="76200" rIns="114300" bIns="76200">
                      <a:noAutofit/>
                    </a:bodyPr>
                    <a:lstStyle/>
                    <a:p>
                      <a:pPr algn="l"/>
                      <a:r>
                        <a:rPr sz="1650" b="0">
                          <a:solidFill>
                            <a:srgbClr val="14281D"/>
                          </a:solidFill>
                          <a:latin typeface="Arial"/>
                          <a:ea typeface="Arial"/>
                          <a:cs typeface="Arial"/>
                        </a:rPr>
                        <a:t>Total revenue</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$1.44m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$1.28m</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$1.38m</a:t>
                      </a:r>
                    </a:p>
                  </a:txBody>
                  <a:tcPr marL="91440" marR="91440" marT="45720" marB="45720" anchor="ctr">
                    <a:solidFill>
                      <a:srgbClr val="F7F5EF"/>
                    </a:solidFill>
                  </a:tcPr>
                </a:tc>
              </a:tr>
              <a:tr h="626745">
                <a:tc>
                  <a:txBody>
                    <a:bodyPr lIns="114300" tIns="76200" rIns="114300" bIns="76200">
                      <a:noAutofit/>
                    </a:bodyPr>
                    <a:lstStyle/>
                    <a:p>
                      <a:pPr algn="l"/>
                      <a:r>
                        <a:rPr sz="1650" b="1">
                          <a:solidFill>
                            <a:srgbClr val="14281D"/>
                          </a:solidFill>
                          <a:latin typeface="Arial"/>
                          <a:ea typeface="Arial"/>
                          <a:cs typeface="Arial"/>
                        </a:rPr>
                        <a:t>EBITDA</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$122,814</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($38,722)</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$62,077</a:t>
                      </a:r>
                    </a:p>
                  </a:txBody>
                  <a:tcPr marL="91440" marR="91440" marT="45720" marB="45720" anchor="ctr">
                    <a:solidFill>
                      <a:srgbClr val="E8EDDF"/>
                    </a:solidFill>
                  </a:tcPr>
                </a:tc>
              </a:tr>
              <a:tr h="626745">
                <a:tc>
                  <a:txBody>
                    <a:bodyPr lIns="114300" tIns="76200" rIns="114300" bIns="76200">
                      <a:noAutofit/>
                    </a:bodyPr>
                    <a:lstStyle/>
                    <a:p>
                      <a:pPr algn="l"/>
                      <a:r>
                        <a:rPr sz="1650" b="0">
                          <a:solidFill>
                            <a:srgbClr val="14281D"/>
                          </a:solidFill>
                          <a:latin typeface="Arial"/>
                          <a:ea typeface="Arial"/>
                          <a:cs typeface="Arial"/>
                        </a:rPr>
                        <a:t>Free cash flow</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($30,188)</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($167,270)</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($75,740)</a:t>
                      </a:r>
                    </a:p>
                  </a:txBody>
                  <a:tcPr marL="91440" marR="91440" marT="45720" marB="45720" anchor="ctr">
                    <a:solidFill>
                      <a:srgbClr val="F7F5EF"/>
                    </a:solidFill>
                  </a:tcPr>
                </a:tc>
              </a:tr>
            </a:tbl>
          </a:graphicData>
        </a:graphic>
      </p:graphicFrame>
      <p:sp>
        <p:nvSpPr>
          <p:cNvPr id="6" name="At 60% ACH share, the modeled ACH rate for zero EB">
            <a:extLst xmlns:a="http://schemas.openxmlformats.org/drawingml/2006/main">
              <a:ext uri="{FF2B5EF4-FFF2-40B4-BE49-F238E27FC236}">
                <a16:creationId xmlns:a16="http://schemas.microsoft.com/office/drawing/2014/main" id="{978EBF8D-5491-45A5-B233-4FE518888C13}"/>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At 60% ACH share, the modeled ACH rate for zero EBITDA is 2.19%, holding the 4% card fee and all other assumptions constant. Provider acceptance still needs testing.</a:t>
            </a:r>
          </a:p>
        </p:txBody>
      </p:sp>
    </p:spTree>
    <p:extLst>
      <p:ext uri="{BB962C8B-B14F-4D97-AF65-F5344CB8AC3E}">
        <p14:creationId xmlns:p14="http://schemas.microsoft.com/office/powerpoint/2010/main" val="1758571382"/>
      </p:ext>
    </p:extLst>
  </p:cSld>
</p:sld>
</file>

<file path=ppt/slides/slide2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ore ACH adoption lowers platform revenue">
            <a:extLst xmlns:a="http://schemas.openxmlformats.org/drawingml/2006/main">
              <a:ext uri="{FF2B5EF4-FFF2-40B4-BE49-F238E27FC236}">
                <a16:creationId xmlns:a16="http://schemas.microsoft.com/office/drawing/2014/main" id="{A156073E-B522-44F0-AEB5-932CD140752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More ACH adoption lowers platform revenue</a:t>
            </a:r>
          </a:p>
        </p:txBody>
      </p:sp>
      <p:sp>
        <p:nvSpPr>
          <p:cNvPr id="2" name="2033 sensitivity under the selected 4% card / 2% A">
            <a:extLst xmlns:a="http://schemas.openxmlformats.org/drawingml/2006/main">
              <a:ext uri="{FF2B5EF4-FFF2-40B4-BE49-F238E27FC236}">
                <a16:creationId xmlns:a16="http://schemas.microsoft.com/office/drawing/2014/main" id="{17D2F46C-9B14-4E9F-A925-CDE6D82AFB8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2033 sensitivity under the selected 4% card / 2% ACH fees. All service and customer volumes stay fixed.</a:t>
            </a:r>
          </a:p>
        </p:txBody>
      </p:sp>
      <p:sp>
        <p:nvSpPr>
          <p:cNvPr id="3" name="YardMatch">
            <a:extLst xmlns:a="http://schemas.openxmlformats.org/drawingml/2006/main">
              <a:ext uri="{FF2B5EF4-FFF2-40B4-BE49-F238E27FC236}">
                <a16:creationId xmlns:a16="http://schemas.microsoft.com/office/drawing/2014/main" id="{32190534-8C8F-41CB-90F9-178BFD2E8C63}"/>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8">
            <a:extLst xmlns:a="http://schemas.openxmlformats.org/drawingml/2006/main">
              <a:ext uri="{FF2B5EF4-FFF2-40B4-BE49-F238E27FC236}">
                <a16:creationId xmlns:a16="http://schemas.microsoft.com/office/drawing/2014/main" id="{E62F300E-E599-447F-AE58-C7B42164CC8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28</a:t>
            </a:r>
          </a:p>
        </p:txBody>
      </p:sp>
      <p:graphicFrame>
        <p:nvGraphicFramePr>
          <p:cNvPr id="11" name=""/>
          <p:cNvGraphicFramePr/>
          <p:nvPr/>
        </p:nvGraphicFramePr>
        <p:xfrm>
          <a:off xmlns:a="http://schemas.openxmlformats.org/drawingml/2006/main" x="609600" y="2343150"/>
          <a:ext xmlns:a="http://schemas.openxmlformats.org/drawingml/2006/main" cx="10972800" cy="3095625"/>
        </p:xfrm>
        <a:graphic xmlns:a="http://schemas.openxmlformats.org/drawingml/2006/main">
          <a:graphicData uri="http://schemas.openxmlformats.org/drawingml/2006/table">
            <a:tbl>
              <a:tblPr/>
              <a:tblGrid>
                <a:gridCol w="2857500"/>
                <a:gridCol w="3143250"/>
                <a:gridCol w="2486025"/>
                <a:gridCol w="2486025"/>
              </a:tblGrid>
              <a:tr h="515938">
                <a:tc>
                  <a:txBody>
                    <a:bodyPr lIns="114300" tIns="76200" rIns="114300" bIns="76200">
                      <a:noAutofit/>
                    </a:bodyPr>
                    <a:lstStyle/>
                    <a:p>
                      <a:pPr algn="l"/>
                      <a:r>
                        <a:rPr sz="1800" b="1">
                          <a:solidFill>
                            <a:srgbClr val="FFFFFF"/>
                          </a:solidFill>
                          <a:latin typeface="Arial"/>
                          <a:ea typeface="Arial"/>
                          <a:cs typeface="Arial"/>
                        </a:rPr>
                        <a:t>ACH share of jobs</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Blended platform rate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Net revenue</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EBITDA</a:t>
                      </a:r>
                    </a:p>
                  </a:txBody>
                  <a:tcPr marL="91440" marR="91440" marT="45720" marB="45720" anchor="ctr">
                    <a:solidFill>
                      <a:srgbClr val="205938"/>
                    </a:solidFill>
                  </a:tcPr>
                </a:tc>
              </a:tr>
              <a:tr h="515938">
                <a:tc>
                  <a:txBody>
                    <a:bodyPr lIns="114300" tIns="76200" rIns="114300" bIns="76200">
                      <a:noAutofit/>
                    </a:bodyPr>
                    <a:lstStyle/>
                    <a:p>
                      <a:pPr algn="l"/>
                      <a:r>
                        <a:rPr sz="1800"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4.0%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$1.68m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$372,109</a:t>
                      </a:r>
                    </a:p>
                  </a:txBody>
                  <a:tcPr marL="91440" marR="91440" marT="45720" marB="45720" anchor="ctr">
                    <a:solidFill>
                      <a:srgbClr val="FFFFFF"/>
                    </a:solidFill>
                  </a:tcPr>
                </a:tc>
              </a:tr>
              <a:tr h="515938">
                <a:tc>
                  <a:txBody>
                    <a:bodyPr lIns="114300" tIns="76200" rIns="114300" bIns="76200">
                      <a:noAutofit/>
                    </a:bodyPr>
                    <a:lstStyle/>
                    <a:p>
                      <a:pPr algn="l"/>
                      <a:r>
                        <a:rPr sz="1800" b="0">
                          <a:solidFill>
                            <a:srgbClr val="14281D"/>
                          </a:solidFill>
                          <a:latin typeface="Arial"/>
                          <a:ea typeface="Arial"/>
                          <a:cs typeface="Arial"/>
                        </a:rPr>
                        <a:t>30%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3.4%</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$1.48m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$167,078</a:t>
                      </a:r>
                    </a:p>
                  </a:txBody>
                  <a:tcPr marL="91440" marR="91440" marT="45720" marB="45720" anchor="ctr">
                    <a:solidFill>
                      <a:srgbClr val="F7F5EF"/>
                    </a:solidFill>
                  </a:tcPr>
                </a:tc>
              </a:tr>
              <a:tr h="515938">
                <a:tc>
                  <a:txBody>
                    <a:bodyPr lIns="114300" tIns="76200" rIns="114300" bIns="76200">
                      <a:noAutofit/>
                    </a:bodyPr>
                    <a:lstStyle/>
                    <a:p>
                      <a:pPr algn="l"/>
                      <a:r>
                        <a:rPr sz="1800" b="1">
                          <a:solidFill>
                            <a:srgbClr val="14281D"/>
                          </a:solidFill>
                          <a:latin typeface="Arial"/>
                          <a:ea typeface="Arial"/>
                          <a:cs typeface="Arial"/>
                        </a:rPr>
                        <a:t>60%</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2.8%</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$1.28m</a:t>
                      </a:r>
                    </a:p>
                  </a:txBody>
                  <a:tcPr marL="91440" marR="91440" marT="45720" marB="45720" anchor="ctr">
                    <a:solidFill>
                      <a:srgbClr val="E8EDDF"/>
                    </a:solidFill>
                  </a:tcPr>
                </a:tc>
                <a:tc>
                  <a:txBody>
                    <a:bodyPr lIns="114300" tIns="76200" rIns="114300" bIns="76200">
                      <a:noAutofit/>
                    </a:bodyPr>
                    <a:lstStyle/>
                    <a:p>
                      <a:pPr algn="r"/>
                      <a:r>
                        <a:rPr sz="1800" b="1">
                          <a:solidFill>
                            <a:srgbClr val="14281D"/>
                          </a:solidFill>
                          <a:latin typeface="Arial"/>
                          <a:ea typeface="Arial"/>
                          <a:cs typeface="Arial"/>
                        </a:rPr>
                        <a:t>($38,722)</a:t>
                      </a:r>
                    </a:p>
                  </a:txBody>
                  <a:tcPr marL="91440" marR="91440" marT="45720" marB="45720" anchor="ctr">
                    <a:solidFill>
                      <a:srgbClr val="E8EDDF"/>
                    </a:solidFill>
                  </a:tcPr>
                </a:tc>
              </a:tr>
              <a:tr h="515938">
                <a:tc>
                  <a:txBody>
                    <a:bodyPr lIns="114300" tIns="76200" rIns="114300" bIns="76200">
                      <a:noAutofit/>
                    </a:bodyPr>
                    <a:lstStyle/>
                    <a:p>
                      <a:pPr algn="l"/>
                      <a:r>
                        <a:rPr sz="1800" b="0">
                          <a:solidFill>
                            <a:srgbClr val="14281D"/>
                          </a:solidFill>
                          <a:latin typeface="Arial"/>
                          <a:ea typeface="Arial"/>
                          <a:cs typeface="Arial"/>
                        </a:rPr>
                        <a:t>80%</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2.4%</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$1.15m</a:t>
                      </a:r>
                    </a:p>
                  </a:txBody>
                  <a:tcPr marL="91440" marR="91440" marT="45720" marB="45720" anchor="ctr">
                    <a:solidFill>
                      <a:srgbClr val="F7F5EF"/>
                    </a:solidFill>
                  </a:tcPr>
                </a:tc>
                <a:tc>
                  <a:txBody>
                    <a:bodyPr lIns="114300" tIns="76200" rIns="114300" bIns="76200">
                      <a:noAutofit/>
                    </a:bodyPr>
                    <a:lstStyle/>
                    <a:p>
                      <a:pPr algn="r"/>
                      <a:r>
                        <a:rPr sz="1800" b="0">
                          <a:solidFill>
                            <a:srgbClr val="14281D"/>
                          </a:solidFill>
                          <a:latin typeface="Arial"/>
                          <a:ea typeface="Arial"/>
                          <a:cs typeface="Arial"/>
                        </a:rPr>
                        <a:t>($178,484)</a:t>
                      </a:r>
                    </a:p>
                  </a:txBody>
                  <a:tcPr marL="91440" marR="91440" marT="45720" marB="45720" anchor="ctr">
                    <a:solidFill>
                      <a:srgbClr val="F7F5EF"/>
                    </a:solidFill>
                  </a:tcPr>
                </a:tc>
              </a:tr>
              <a:tr h="515938">
                <a:tc>
                  <a:txBody>
                    <a:bodyPr lIns="114300" tIns="76200" rIns="114300" bIns="76200">
                      <a:noAutofit/>
                    </a:bodyPr>
                    <a:lstStyle/>
                    <a:p>
                      <a:pPr algn="l"/>
                      <a:r>
                        <a:rPr sz="1800" b="0">
                          <a:solidFill>
                            <a:srgbClr val="14281D"/>
                          </a:solidFill>
                          <a:latin typeface="Arial"/>
                          <a:ea typeface="Arial"/>
                          <a:cs typeface="Arial"/>
                        </a:rPr>
                        <a:t>100%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2.0%</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$1.01m</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($318,246)</a:t>
                      </a:r>
                    </a:p>
                  </a:txBody>
                  <a:tcPr marL="91440" marR="91440" marT="45720" marB="45720" anchor="ctr">
                    <a:solidFill>
                      <a:srgbClr val="FFFFFF"/>
                    </a:solidFill>
                  </a:tcPr>
                </a:tc>
              </a:tr>
            </a:tbl>
          </a:graphicData>
        </a:graphic>
      </p:graphicFrame>
      <p:sp>
        <p:nvSpPr>
          <p:cNvPr id="6" name="Providers benefit when homeowners switch to bank d">
            <a:extLst xmlns:a="http://schemas.openxmlformats.org/drawingml/2006/main">
              <a:ext uri="{FF2B5EF4-FFF2-40B4-BE49-F238E27FC236}">
                <a16:creationId xmlns:a16="http://schemas.microsoft.com/office/drawing/2014/main" id="{6412E0D7-E4A7-4A14-ABAF-EED2DFABB0DF}"/>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Providers benefit when homeowners switch to bank debit. Show the savings and offer a consent-based bank setup prompt. Budget any homeowner reward separately. Measure repeat use and failed payments before expanding the incentive.</a:t>
            </a:r>
          </a:p>
        </p:txBody>
      </p:sp>
    </p:spTree>
    <p:extLst>
      <p:ext uri="{BB962C8B-B14F-4D97-AF65-F5344CB8AC3E}">
        <p14:creationId xmlns:p14="http://schemas.microsoft.com/office/powerpoint/2010/main" val="216072648"/>
      </p:ext>
    </p:extLst>
  </p:cSld>
</p:sld>
</file>

<file path=ppt/slides/slide2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Illustrative funding for a pricing pilot">
            <a:extLst xmlns:a="http://schemas.openxmlformats.org/drawingml/2006/main">
              <a:ext uri="{FF2B5EF4-FFF2-40B4-BE49-F238E27FC236}">
                <a16:creationId xmlns:a16="http://schemas.microsoft.com/office/drawing/2014/main" id="{7EEA346F-3EF3-4DD1-B98F-4BD3071E49F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Illustrative funding for a pricing pilot</a:t>
            </a:r>
          </a:p>
        </p:txBody>
      </p:sp>
      <p:sp>
        <p:nvSpPr>
          <p:cNvPr id="2" name="The two-year base budget tests commercial adoption">
            <a:extLst xmlns:a="http://schemas.openxmlformats.org/drawingml/2006/main">
              <a:ext uri="{FF2B5EF4-FFF2-40B4-BE49-F238E27FC236}">
                <a16:creationId xmlns:a16="http://schemas.microsoft.com/office/drawing/2014/main" id="{A464528C-1CEB-4D41-848C-C085151D7A1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two-year base budget tests commercial adoption and leaves a reserve for the next financing decision.</a:t>
            </a:r>
          </a:p>
        </p:txBody>
      </p:sp>
      <p:sp>
        <p:nvSpPr>
          <p:cNvPr id="3" name="YardMatch">
            <a:extLst xmlns:a="http://schemas.openxmlformats.org/drawingml/2006/main">
              <a:ext uri="{FF2B5EF4-FFF2-40B4-BE49-F238E27FC236}">
                <a16:creationId xmlns:a16="http://schemas.microsoft.com/office/drawing/2014/main" id="{3755F7BE-11AA-4A0E-B7E6-2188F15EC077}"/>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29">
            <a:extLst xmlns:a="http://schemas.openxmlformats.org/drawingml/2006/main">
              <a:ext uri="{FF2B5EF4-FFF2-40B4-BE49-F238E27FC236}">
                <a16:creationId xmlns:a16="http://schemas.microsoft.com/office/drawing/2014/main" id="{5067481F-7623-418F-8008-A8F8B674042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29</a:t>
            </a:r>
          </a:p>
        </p:txBody>
      </p:sp>
      <p:graphicFrame>
        <p:nvGraphicFramePr>
          <p:cNvPr id="15" name=""/>
          <p:cNvGraphicFramePr/>
          <p:nvPr/>
        </p:nvGraphicFramePr>
        <p:xfrm>
          <a:off xmlns:a="http://schemas.openxmlformats.org/drawingml/2006/main" x="609600" y="2314575"/>
          <a:ext xmlns:a="http://schemas.openxmlformats.org/drawingml/2006/main" cx="6858000" cy="3371850"/>
        </p:xfrm>
        <a:graphic xmlns:a="http://schemas.openxmlformats.org/drawingml/2006/main">
          <a:graphicData uri="http://schemas.openxmlformats.org/drawingml/2006/table">
            <a:tbl>
              <a:tblPr/>
              <a:tblGrid>
                <a:gridCol w="4857750"/>
                <a:gridCol w="2000250"/>
              </a:tblGrid>
              <a:tr h="374650">
                <a:tc>
                  <a:txBody>
                    <a:bodyPr lIns="114300" tIns="76200" rIns="114300" bIns="76200">
                      <a:noAutofit/>
                    </a:bodyPr>
                    <a:lstStyle/>
                    <a:p>
                      <a:pPr algn="l"/>
                      <a:r>
                        <a:rPr sz="1650" b="1">
                          <a:solidFill>
                            <a:srgbClr val="FFFFFF"/>
                          </a:solidFill>
                          <a:latin typeface="Arial"/>
                          <a:ea typeface="Arial"/>
                          <a:cs typeface="Arial"/>
                        </a:rPr>
                        <a:t>2027-2028 base cash plan</a:t>
                      </a:r>
                    </a:p>
                  </a:txBody>
                  <a:tcPr marL="91440" marR="91440" marT="45720" marB="45720" anchor="ctr">
                    <a:solidFill>
                      <a:srgbClr val="205938"/>
                    </a:solidFill>
                  </a:tcPr>
                </a:tc>
                <a:tc>
                  <a:txBody>
                    <a:bodyPr lIns="114300" tIns="76200" rIns="114300" bIns="76200">
                      <a:noAutofit/>
                    </a:bodyPr>
                    <a:lstStyle/>
                    <a:p>
                      <a:pPr algn="l"/>
                      <a:r>
                        <a:rPr sz="1650" b="1">
                          <a:solidFill>
                            <a:srgbClr val="FFFFFF"/>
                          </a:solidFill>
                          <a:latin typeface="Arial"/>
                          <a:ea typeface="Arial"/>
                          <a:cs typeface="Arial"/>
                        </a:rPr>
                        <a:t>Amount</a:t>
                      </a:r>
                    </a:p>
                  </a:txBody>
                  <a:tcPr marL="91440" marR="91440" marT="45720" marB="45720" anchor="ctr">
                    <a:solidFill>
                      <a:srgbClr val="205938"/>
                    </a:solidFill>
                  </a:tcPr>
                </a:tc>
              </a:tr>
              <a:tr h="374650">
                <a:tc>
                  <a:txBody>
                    <a:bodyPr lIns="114300" tIns="76200" rIns="114300" bIns="76200">
                      <a:noAutofit/>
                    </a:bodyPr>
                    <a:lstStyle/>
                    <a:p>
                      <a:pPr algn="l"/>
                      <a:r>
                        <a:rPr sz="1650" b="0">
                          <a:solidFill>
                            <a:srgbClr val="14281D"/>
                          </a:solidFill>
                          <a:latin typeface="Arial"/>
                          <a:ea typeface="Arial"/>
                          <a:cs typeface="Arial"/>
                        </a:rPr>
                        <a:t>Payroll</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$706,667</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Customer and provider acquisition</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$68,383</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Corporate + local operating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$195,420</a:t>
                      </a:r>
                    </a:p>
                  </a:txBody>
                  <a:tcPr marL="91440" marR="91440" marT="45720" marB="45720" anchor="ctr">
                    <a:solidFill>
                      <a:srgbClr val="FFFFFF"/>
                    </a:solidFill>
                  </a:tcPr>
                </a:tc>
              </a:tr>
              <a:tr h="374650">
                <a:tc>
                  <a:txBody>
                    <a:bodyPr lIns="114300" tIns="76200" rIns="114300" bIns="76200">
                      <a:noAutofit/>
                    </a:bodyPr>
                    <a:lstStyle/>
                    <a:p>
                      <a:pPr algn="l"/>
                      <a:r>
                        <a:rPr sz="1650" b="0">
                          <a:solidFill>
                            <a:srgbClr val="14281D"/>
                          </a:solidFill>
                          <a:latin typeface="Arial"/>
                          <a:ea typeface="Arial"/>
                          <a:cs typeface="Arial"/>
                        </a:rPr>
                        <a:t>Capex and risk cash</a:t>
                      </a:r>
                    </a:p>
                  </a:txBody>
                  <a:tcPr marL="91440" marR="91440" marT="45720" marB="45720" anchor="ctr">
                    <a:solidFill>
                      <a:srgbClr val="F7F5EF"/>
                    </a:solidFill>
                  </a:tcPr>
                </a:tc>
                <a:tc>
                  <a:txBody>
                    <a:bodyPr lIns="114300" tIns="76200" rIns="114300" bIns="76200">
                      <a:noAutofit/>
                    </a:bodyPr>
                    <a:lstStyle/>
                    <a:p>
                      <a:pPr algn="r"/>
                      <a:r>
                        <a:rPr sz="1650" b="0">
                          <a:solidFill>
                            <a:srgbClr val="14281D"/>
                          </a:solidFill>
                          <a:latin typeface="Arial"/>
                          <a:ea typeface="Arial"/>
                          <a:cs typeface="Arial"/>
                        </a:rPr>
                        <a:t>$46,744</a:t>
                      </a:r>
                    </a:p>
                  </a:txBody>
                  <a:tcPr marL="91440" marR="91440" marT="45720" marB="45720" anchor="ctr">
                    <a:solidFill>
                      <a:srgbClr val="F7F5EF"/>
                    </a:solidFill>
                  </a:tcPr>
                </a:tc>
              </a:tr>
              <a:tr h="374650">
                <a:tc>
                  <a:txBody>
                    <a:bodyPr lIns="114300" tIns="76200" rIns="114300" bIns="76200">
                      <a:noAutofit/>
                    </a:bodyPr>
                    <a:lstStyle/>
                    <a:p>
                      <a:pPr algn="l"/>
                      <a:r>
                        <a:rPr sz="1650" b="0">
                          <a:solidFill>
                            <a:srgbClr val="14281D"/>
                          </a:solidFill>
                          <a:latin typeface="Arial"/>
                          <a:ea typeface="Arial"/>
                          <a:cs typeface="Arial"/>
                        </a:rPr>
                        <a:t>Less gross profit generated</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($99,252)</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Net cash used</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$917,963</a:t>
                      </a:r>
                    </a:p>
                  </a:txBody>
                  <a:tcPr marL="91440" marR="91440" marT="45720" marB="45720" anchor="ctr">
                    <a:solidFill>
                      <a:srgbClr val="E8EDDF"/>
                    </a:solidFill>
                  </a:tcPr>
                </a:tc>
              </a:tr>
              <a:tr h="374650">
                <a:tc>
                  <a:txBody>
                    <a:bodyPr lIns="114300" tIns="76200" rIns="114300" bIns="76200">
                      <a:noAutofit/>
                    </a:bodyPr>
                    <a:lstStyle/>
                    <a:p>
                      <a:pPr algn="l"/>
                      <a:r>
                        <a:rPr sz="1650" b="0">
                          <a:solidFill>
                            <a:srgbClr val="14281D"/>
                          </a:solidFill>
                          <a:latin typeface="Arial"/>
                          <a:ea typeface="Arial"/>
                          <a:cs typeface="Arial"/>
                        </a:rPr>
                        <a:t>Financing costs</a:t>
                      </a:r>
                    </a:p>
                  </a:txBody>
                  <a:tcPr marL="91440" marR="91440" marT="45720" marB="45720" anchor="ctr">
                    <a:solidFill>
                      <a:srgbClr val="FFFFFF"/>
                    </a:solidFill>
                  </a:tcPr>
                </a:tc>
                <a:tc>
                  <a:txBody>
                    <a:bodyPr lIns="114300" tIns="76200" rIns="114300" bIns="76200">
                      <a:noAutofit/>
                    </a:bodyPr>
                    <a:lstStyle/>
                    <a:p>
                      <a:pPr algn="r"/>
                      <a:r>
                        <a:rPr sz="1650" b="0">
                          <a:solidFill>
                            <a:srgbClr val="14281D"/>
                          </a:solidFill>
                          <a:latin typeface="Arial"/>
                          <a:ea typeface="Arial"/>
                          <a:cs typeface="Arial"/>
                        </a:rPr>
                        <a:t>$25,000</a:t>
                      </a:r>
                    </a:p>
                  </a:txBody>
                  <a:tcPr marL="91440" marR="91440" marT="45720" marB="45720" anchor="ctr">
                    <a:solidFill>
                      <a:srgbClr val="FFFFFF"/>
                    </a:solidFill>
                  </a:tcPr>
                </a:tc>
              </a:tr>
              <a:tr h="374650">
                <a:tc>
                  <a:txBody>
                    <a:bodyPr lIns="114300" tIns="76200" rIns="114300" bIns="76200">
                      <a:noAutofit/>
                    </a:bodyPr>
                    <a:lstStyle/>
                    <a:p>
                      <a:pPr algn="l"/>
                      <a:r>
                        <a:rPr sz="1650" b="1">
                          <a:solidFill>
                            <a:srgbClr val="14281D"/>
                          </a:solidFill>
                          <a:latin typeface="Arial"/>
                          <a:ea typeface="Arial"/>
                          <a:cs typeface="Arial"/>
                        </a:rPr>
                        <a:t>Remaining cash from $1.5m</a:t>
                      </a:r>
                    </a:p>
                  </a:txBody>
                  <a:tcPr marL="91440" marR="91440" marT="45720" marB="45720" anchor="ctr">
                    <a:solidFill>
                      <a:srgbClr val="E8EDDF"/>
                    </a:solidFill>
                  </a:tcPr>
                </a:tc>
                <a:tc>
                  <a:txBody>
                    <a:bodyPr lIns="114300" tIns="76200" rIns="114300" bIns="76200">
                      <a:noAutofit/>
                    </a:bodyPr>
                    <a:lstStyle/>
                    <a:p>
                      <a:pPr algn="r"/>
                      <a:r>
                        <a:rPr sz="1650" b="1">
                          <a:solidFill>
                            <a:srgbClr val="14281D"/>
                          </a:solidFill>
                          <a:latin typeface="Arial"/>
                          <a:ea typeface="Arial"/>
                          <a:cs typeface="Arial"/>
                        </a:rPr>
                        <a:t>$557,037</a:t>
                      </a:r>
                    </a:p>
                  </a:txBody>
                  <a:tcPr marL="91440" marR="91440" marT="45720" marB="45720" anchor="ctr">
                    <a:solidFill>
                      <a:srgbClr val="E8EDDF"/>
                    </a:solidFill>
                  </a:tcPr>
                </a:tc>
              </a:tr>
            </a:tbl>
          </a:graphicData>
        </a:graphic>
      </p:graphicFrame>
      <p:sp>
        <p:nvSpPr>
          <p:cNvPr id="6" name="A first round">
            <a:extLst xmlns:a="http://schemas.openxmlformats.org/drawingml/2006/main">
              <a:ext uri="{FF2B5EF4-FFF2-40B4-BE49-F238E27FC236}">
                <a16:creationId xmlns:a16="http://schemas.microsoft.com/office/drawing/2014/main" id="{69E436D8-29B3-4886-9363-48626B3A2461}"/>
              </a:ext>
            </a:extLst>
          </p:cNvPr>
          <p:cNvSpPr>
            <a:spLocks xmlns:a="http://schemas.openxmlformats.org/drawingml/2006/main" noGrp="1"/>
          </p:cNvSpPr>
          <p:nvPr/>
        </p:nvSpPr>
        <p:spPr>
          <a:xfrm xmlns:a="http://schemas.openxmlformats.org/drawingml/2006/main">
            <a:off x="7962900" y="2419350"/>
            <a:ext cx="350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05938"/>
                </a:solidFill>
                <a:latin typeface="Arial"/>
                <a:ea typeface="Arial"/>
                <a:cs typeface="Arial"/>
              </a:defRPr>
            </a:pPr>
            <a:r>
              <a:rPr sz="2550" b="1">
                <a:solidFill>
                  <a:srgbClr val="205938"/>
                </a:solidFill>
                <a:latin typeface="Arial"/>
                <a:ea typeface="Arial"/>
                <a:cs typeface="Arial"/>
              </a:rPr>
              <a:t>A first round</a:t>
            </a:r>
          </a:p>
        </p:txBody>
      </p:sp>
      <p:sp>
        <p:nvSpPr>
          <p:cNvPr id="7" name="Validate fee acceptance and retention before finan">
            <a:extLst xmlns:a="http://schemas.openxmlformats.org/drawingml/2006/main">
              <a:ext uri="{FF2B5EF4-FFF2-40B4-BE49-F238E27FC236}">
                <a16:creationId xmlns:a16="http://schemas.microsoft.com/office/drawing/2014/main" id="{5B9A2BC0-A0BE-4A5E-9979-0E3044A53F11}"/>
              </a:ext>
            </a:extLst>
          </p:cNvPr>
          <p:cNvSpPr>
            <a:spLocks xmlns:a="http://schemas.openxmlformats.org/drawingml/2006/main" noGrp="1"/>
          </p:cNvSpPr>
          <p:nvPr/>
        </p:nvSpPr>
        <p:spPr>
          <a:xfrm xmlns:a="http://schemas.openxmlformats.org/drawingml/2006/main">
            <a:off x="7962900" y="3095625"/>
            <a:ext cx="34671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4281D"/>
                </a:solidFill>
                <a:latin typeface="Arial"/>
                <a:ea typeface="Arial"/>
                <a:cs typeface="Arial"/>
              </a:defRPr>
            </a:pPr>
            <a:r>
              <a:rPr sz="2025" b="0">
                <a:solidFill>
                  <a:srgbClr val="14281D"/>
                </a:solidFill>
                <a:latin typeface="Arial"/>
                <a:ea typeface="Arial"/>
                <a:cs typeface="Arial"/>
              </a:rPr>
              <a:t>Validate fee acceptance and retention before financing expansion.</a:t>
            </a:r>
          </a:p>
        </p:txBody>
      </p:sp>
      <p:sp>
        <p:nvSpPr>
          <p:cNvPr id="8" name="$3.00m">
            <a:extLst xmlns:a="http://schemas.openxmlformats.org/drawingml/2006/main">
              <a:ext uri="{FF2B5EF4-FFF2-40B4-BE49-F238E27FC236}">
                <a16:creationId xmlns:a16="http://schemas.microsoft.com/office/drawing/2014/main" id="{91D72704-6E8D-444A-B914-1EC4305D6C1E}"/>
              </a:ext>
            </a:extLst>
          </p:cNvPr>
          <p:cNvSpPr>
            <a:spLocks xmlns:a="http://schemas.openxmlformats.org/drawingml/2006/main" noGrp="1"/>
          </p:cNvSpPr>
          <p:nvPr/>
        </p:nvSpPr>
        <p:spPr>
          <a:xfrm xmlns:a="http://schemas.openxmlformats.org/drawingml/2006/main">
            <a:off x="7962900" y="4410075"/>
            <a:ext cx="3467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205938"/>
                </a:solidFill>
                <a:latin typeface="Arial"/>
                <a:ea typeface="Arial"/>
                <a:cs typeface="Arial"/>
              </a:defRPr>
            </a:pPr>
            <a:r>
              <a:rPr sz="3375" b="1">
                <a:solidFill>
                  <a:srgbClr val="205938"/>
                </a:solidFill>
                <a:latin typeface="Arial"/>
                <a:ea typeface="Arial"/>
                <a:cs typeface="Arial"/>
              </a:rPr>
              <a:t>$3.00m</a:t>
            </a:r>
          </a:p>
        </p:txBody>
      </p:sp>
      <p:sp>
        <p:nvSpPr>
          <p:cNvPr id="9" name="Peak cumulative cash deficit before financing unde">
            <a:extLst xmlns:a="http://schemas.openxmlformats.org/drawingml/2006/main">
              <a:ext uri="{FF2B5EF4-FFF2-40B4-BE49-F238E27FC236}">
                <a16:creationId xmlns:a16="http://schemas.microsoft.com/office/drawing/2014/main" id="{0742B481-EA0B-464C-A350-5F0D688BD26D}"/>
              </a:ext>
            </a:extLst>
          </p:cNvPr>
          <p:cNvSpPr>
            <a:spLocks xmlns:a="http://schemas.openxmlformats.org/drawingml/2006/main" noGrp="1"/>
          </p:cNvSpPr>
          <p:nvPr/>
        </p:nvSpPr>
        <p:spPr>
          <a:xfrm xmlns:a="http://schemas.openxmlformats.org/drawingml/2006/main">
            <a:off x="7962900" y="5076825"/>
            <a:ext cx="346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Peak cumulative cash deficit before financing under the revised base case.</a:t>
            </a:r>
          </a:p>
        </p:txBody>
      </p:sp>
      <p:sp>
        <p:nvSpPr>
          <p:cNvPr id="10" name="Adding the $0.37m 2033 fixed-cost buffer gives $3.">
            <a:extLst xmlns:a="http://schemas.openxmlformats.org/drawingml/2006/main">
              <a:ext uri="{FF2B5EF4-FFF2-40B4-BE49-F238E27FC236}">
                <a16:creationId xmlns:a16="http://schemas.microsoft.com/office/drawing/2014/main" id="{5FC040EC-B420-4DAD-8A2F-F6FCC7F866D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Adding the $0.37m 2033 fixed-cost buffer gives $3.37m, before financing fees. The $1.5m round is an initial pilot illustration; follow-on capital would be needed.</a:t>
            </a:r>
          </a:p>
        </p:txBody>
      </p:sp>
    </p:spTree>
    <p:extLst>
      <p:ext uri="{BB962C8B-B14F-4D97-AF65-F5344CB8AC3E}">
        <p14:creationId xmlns:p14="http://schemas.microsoft.com/office/powerpoint/2010/main" val="1522260348"/>
      </p:ext>
    </p:extLst>
  </p:cSld>
</p:sld>
</file>

<file path=ppt/slides/slide30.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Owning payments does not mean free payments">
            <a:extLst xmlns:a="http://schemas.openxmlformats.org/drawingml/2006/main">
              <a:ext uri="{FF2B5EF4-FFF2-40B4-BE49-F238E27FC236}">
                <a16:creationId xmlns:a16="http://schemas.microsoft.com/office/drawing/2014/main" id="{DFDC6C7B-66DE-4AC8-A8DF-2C72048B4733}"/>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Owning payments does not mean free payments</a:t>
            </a:r>
          </a:p>
        </p:txBody>
      </p:sp>
      <p:sp>
        <p:nvSpPr>
          <p:cNvPr id="2" name="An internal transaction engine can replace softwar">
            <a:extLst xmlns:a="http://schemas.openxmlformats.org/drawingml/2006/main">
              <a:ext uri="{FF2B5EF4-FFF2-40B4-BE49-F238E27FC236}">
                <a16:creationId xmlns:a16="http://schemas.microsoft.com/office/drawing/2014/main" id="{3B4CFCBD-5CB1-4F65-85DB-5037C7FEE6A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An internal transaction engine can replace software layers. Banks and payment networks still carry costs.</a:t>
            </a:r>
          </a:p>
        </p:txBody>
      </p:sp>
      <p:sp>
        <p:nvSpPr>
          <p:cNvPr id="3" name="YardMatch">
            <a:extLst xmlns:a="http://schemas.openxmlformats.org/drawingml/2006/main">
              <a:ext uri="{FF2B5EF4-FFF2-40B4-BE49-F238E27FC236}">
                <a16:creationId xmlns:a16="http://schemas.microsoft.com/office/drawing/2014/main" id="{38FA7AA2-8559-432C-AF62-FF6E8E9F87B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0">
            <a:extLst xmlns:a="http://schemas.openxmlformats.org/drawingml/2006/main">
              <a:ext uri="{FF2B5EF4-FFF2-40B4-BE49-F238E27FC236}">
                <a16:creationId xmlns:a16="http://schemas.microsoft.com/office/drawing/2014/main" id="{ACCF5904-8C59-4F66-8A12-6E90A4D34EBB}"/>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30</a:t>
            </a:r>
          </a:p>
        </p:txBody>
      </p:sp>
      <p:graphicFrame>
        <p:nvGraphicFramePr>
          <p:cNvPr id="12" name=""/>
          <p:cNvGraphicFramePr/>
          <p:nvPr/>
        </p:nvGraphicFramePr>
        <p:xfrm>
          <a:off xmlns:a="http://schemas.openxmlformats.org/drawingml/2006/main" x="609600" y="2362200"/>
          <a:ext xmlns:a="http://schemas.openxmlformats.org/drawingml/2006/main" cx="10972800" cy="3009900"/>
        </p:xfrm>
        <a:graphic xmlns:a="http://schemas.openxmlformats.org/drawingml/2006/main">
          <a:graphicData uri="http://schemas.openxmlformats.org/drawingml/2006/table">
            <a:tbl>
              <a:tblPr/>
              <a:tblGrid>
                <a:gridCol w="4191000"/>
                <a:gridCol w="6781800"/>
              </a:tblGrid>
              <a:tr h="601980">
                <a:tc>
                  <a:txBody>
                    <a:bodyPr lIns="114300" tIns="76200" rIns="114300" bIns="76200">
                      <a:noAutofit/>
                    </a:bodyPr>
                    <a:lstStyle/>
                    <a:p>
                      <a:pPr algn="l"/>
                      <a:r>
                        <a:rPr sz="1800" b="1">
                          <a:solidFill>
                            <a:srgbClr val="FFFFFF"/>
                          </a:solidFill>
                          <a:latin typeface="Arial"/>
                          <a:ea typeface="Arial"/>
                          <a:cs typeface="Arial"/>
                        </a:rPr>
                        <a:t>Cost category</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What a build can change</a:t>
                      </a:r>
                    </a:p>
                  </a:txBody>
                  <a:tcPr marL="91440" marR="91440" marT="45720" marB="45720" anchor="ctr">
                    <a:solidFill>
                      <a:srgbClr val="205938"/>
                    </a:solidFill>
                  </a:tcPr>
                </a:tc>
              </a:tr>
              <a:tr h="601980">
                <a:tc>
                  <a:txBody>
                    <a:bodyPr lIns="114300" tIns="76200" rIns="114300" bIns="76200">
                      <a:noAutofit/>
                    </a:bodyPr>
                    <a:lstStyle/>
                    <a:p>
                      <a:pPr algn="l"/>
                      <a:r>
                        <a:rPr sz="1800" b="0">
                          <a:solidFill>
                            <a:srgbClr val="14281D"/>
                          </a:solidFill>
                          <a:latin typeface="Arial"/>
                          <a:ea typeface="Arial"/>
                          <a:cs typeface="Arial"/>
                        </a:rPr>
                        <a:t>Gateway, ledger and reconciliation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Own the workflow; maintain and support it</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Card networks and acquiring banks</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Negotiate rates; interchange and banking costs remain</a:t>
                      </a:r>
                    </a:p>
                  </a:txBody>
                  <a:tcPr marL="91440" marR="91440" marT="45720" marB="45720" anchor="ctr">
                    <a:solidFill>
                      <a:srgbClr val="F7F5EF"/>
                    </a:solidFill>
                  </a:tcPr>
                </a:tc>
              </a:tr>
              <a:tr h="601980">
                <a:tc>
                  <a:txBody>
                    <a:bodyPr lIns="114300" tIns="76200" rIns="114300" bIns="76200">
                      <a:noAutofit/>
                    </a:bodyPr>
                    <a:lstStyle/>
                    <a:p>
                      <a:pPr algn="l"/>
                      <a:r>
                        <a:rPr sz="1800" b="0">
                          <a:solidFill>
                            <a:srgbClr val="14281D"/>
                          </a:solidFill>
                          <a:latin typeface="Arial"/>
                          <a:ea typeface="Arial"/>
                          <a:cs typeface="Arial"/>
                        </a:rPr>
                        <a:t>ACH, payouts and verification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Replace vendors; bank and rail costs remain</a:t>
                      </a:r>
                    </a:p>
                  </a:txBody>
                  <a:tcPr marL="91440" marR="91440" marT="45720" marB="45720" anchor="ctr">
                    <a:solidFill>
                      <a:srgbClr val="FFFFFF"/>
                    </a:solidFill>
                  </a:tcPr>
                </a:tc>
              </a:tr>
              <a:tr h="601980">
                <a:tc>
                  <a:txBody>
                    <a:bodyPr lIns="114300" tIns="76200" rIns="114300" bIns="76200">
                      <a:noAutofit/>
                    </a:bodyPr>
                    <a:lstStyle/>
                    <a:p>
                      <a:pPr algn="l"/>
                      <a:r>
                        <a:rPr sz="1800" b="0">
                          <a:solidFill>
                            <a:srgbClr val="14281D"/>
                          </a:solidFill>
                          <a:latin typeface="Arial"/>
                          <a:ea typeface="Arial"/>
                          <a:cs typeface="Arial"/>
                        </a:rPr>
                        <a:t>Fraud, disputes and security</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Fund operations and retain risk controls</a:t>
                      </a:r>
                    </a:p>
                  </a:txBody>
                  <a:tcPr marL="91440" marR="91440" marT="45720" marB="45720" anchor="ctr">
                    <a:solidFill>
                      <a:srgbClr val="F7F5EF"/>
                    </a:solidFill>
                  </a:tcPr>
                </a:tc>
              </a:tr>
            </a:tbl>
          </a:graphicData>
        </a:graphic>
      </p:graphicFrame>
      <p:sp>
        <p:nvSpPr>
          <p:cNvPr id="6" name="Negotiate pricing before funding a replacement eng">
            <a:extLst xmlns:a="http://schemas.openxmlformats.org/drawingml/2006/main">
              <a:ext uri="{FF2B5EF4-FFF2-40B4-BE49-F238E27FC236}">
                <a16:creationId xmlns:a16="http://schemas.microsoft.com/office/drawing/2014/main" id="{0EBD73E0-A02E-48A4-84ED-0D2392EAFD83}"/>
              </a:ext>
            </a:extLst>
          </p:cNvPr>
          <p:cNvSpPr>
            <a:spLocks xmlns:a="http://schemas.openxmlformats.org/drawingml/2006/main" noGrp="1"/>
          </p:cNvSpPr>
          <p:nvPr/>
        </p:nvSpPr>
        <p:spPr>
          <a:xfrm xmlns:a="http://schemas.openxmlformats.org/drawingml/2006/main">
            <a:off x="628650" y="5505450"/>
            <a:ext cx="10858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Negotiate pricing before funding a replacement engine</a:t>
            </a:r>
          </a:p>
        </p:txBody>
      </p:sp>
      <p:sp>
        <p:nvSpPr>
          <p:cNvPr id="7" name="Base forecast keeps Stripe. Build options use repl">
            <a:extLst xmlns:a="http://schemas.openxmlformats.org/drawingml/2006/main">
              <a:ext uri="{FF2B5EF4-FFF2-40B4-BE49-F238E27FC236}">
                <a16:creationId xmlns:a16="http://schemas.microsoft.com/office/drawing/2014/main" id="{97F73315-D971-47B8-B654-C2677AA5B54A}"/>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Base forecast keeps Stripe. Build options use replacement processing rates, development cost and incremental annual operations. No zero-cost payments assumption is used.</a:t>
            </a:r>
          </a:p>
        </p:txBody>
      </p:sp>
    </p:spTree>
    <p:extLst>
      <p:ext uri="{BB962C8B-B14F-4D97-AF65-F5344CB8AC3E}">
        <p14:creationId xmlns:p14="http://schemas.microsoft.com/office/powerpoint/2010/main" val="1361143822"/>
      </p:ext>
    </p:extLst>
  </p:cSld>
</p:sld>
</file>

<file path=ppt/slides/slide3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Year-two or year-three build: wait for the scale">
            <a:extLst xmlns:a="http://schemas.openxmlformats.org/drawingml/2006/main">
              <a:ext uri="{FF2B5EF4-FFF2-40B4-BE49-F238E27FC236}">
                <a16:creationId xmlns:a16="http://schemas.microsoft.com/office/drawing/2014/main" id="{CF175B38-5DCE-4476-B4EF-983994D3BEC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Year-two or year-three build: wait for the scale</a:t>
            </a:r>
          </a:p>
        </p:txBody>
      </p:sp>
      <p:sp>
        <p:nvSpPr>
          <p:cNvPr id="2" name="Same base volumes and proposed fees. Savings are m">
            <a:extLst xmlns:a="http://schemas.openxmlformats.org/drawingml/2006/main">
              <a:ext uri="{FF2B5EF4-FFF2-40B4-BE49-F238E27FC236}">
                <a16:creationId xmlns:a16="http://schemas.microsoft.com/office/drawing/2014/main" id="{257CAF1C-EF37-4526-A30B-158D8A9543E6}"/>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Same base volumes and proposed fees. Savings are measured against continuing with Stripe.</a:t>
            </a:r>
          </a:p>
        </p:txBody>
      </p:sp>
      <p:sp>
        <p:nvSpPr>
          <p:cNvPr id="3" name="YardMatch">
            <a:extLst xmlns:a="http://schemas.openxmlformats.org/drawingml/2006/main">
              <a:ext uri="{FF2B5EF4-FFF2-40B4-BE49-F238E27FC236}">
                <a16:creationId xmlns:a16="http://schemas.microsoft.com/office/drawing/2014/main" id="{DDC49C7B-4794-4021-9B89-A3A149273136}"/>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1">
            <a:extLst xmlns:a="http://schemas.openxmlformats.org/drawingml/2006/main">
              <a:ext uri="{FF2B5EF4-FFF2-40B4-BE49-F238E27FC236}">
                <a16:creationId xmlns:a16="http://schemas.microsoft.com/office/drawing/2014/main" id="{0C78DF4D-847C-44AD-B10C-6CC6F19D6A2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31</a:t>
            </a:r>
          </a:p>
        </p:txBody>
      </p:sp>
      <p:graphicFrame>
        <p:nvGraphicFramePr>
          <p:cNvPr id="11" name=""/>
          <p:cNvGraphicFramePr/>
          <p:nvPr/>
        </p:nvGraphicFramePr>
        <p:xfrm>
          <a:off xmlns:a="http://schemas.openxmlformats.org/drawingml/2006/main" x="609600" y="2343150"/>
          <a:ext xmlns:a="http://schemas.openxmlformats.org/drawingml/2006/main" cx="10972800" cy="3152775"/>
        </p:xfrm>
        <a:graphic xmlns:a="http://schemas.openxmlformats.org/drawingml/2006/main">
          <a:graphicData uri="http://schemas.openxmlformats.org/drawingml/2006/table">
            <a:tbl>
              <a:tblPr/>
              <a:tblGrid>
                <a:gridCol w="5429250"/>
                <a:gridCol w="2771775"/>
                <a:gridCol w="2771775"/>
              </a:tblGrid>
              <a:tr h="525463">
                <a:tc>
                  <a:txBody>
                    <a:bodyPr lIns="114300" tIns="76200" rIns="114300" bIns="76200">
                      <a:noAutofit/>
                    </a:bodyPr>
                    <a:lstStyle/>
                    <a:p>
                      <a:pPr algn="l"/>
                      <a:r>
                        <a:rPr sz="1725" b="1">
                          <a:solidFill>
                            <a:srgbClr val="FFFFFF"/>
                          </a:solidFill>
                          <a:latin typeface="Arial"/>
                          <a:ea typeface="Arial"/>
                          <a:cs typeface="Arial"/>
                        </a:rPr>
                        <a:t>Build assumption / outcome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2028</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Live in 2029</a:t>
                      </a:r>
                    </a:p>
                  </a:txBody>
                  <a:tcPr marL="91440" marR="91440" marT="45720" marB="45720" anchor="ctr">
                    <a:solidFill>
                      <a:srgbClr val="205938"/>
                    </a:solidFill>
                  </a:tcPr>
                </a:tc>
              </a:tr>
              <a:tr h="525463">
                <a:tc>
                  <a:txBody>
                    <a:bodyPr lIns="114300" tIns="76200" rIns="114300" bIns="76200">
                      <a:noAutofit/>
                    </a:bodyPr>
                    <a:lstStyle/>
                    <a:p>
                      <a:pPr algn="l"/>
                      <a:r>
                        <a:rPr sz="1725" b="0">
                          <a:solidFill>
                            <a:srgbClr val="14281D"/>
                          </a:solidFill>
                          <a:latin typeface="Arial"/>
                          <a:ea typeface="Arial"/>
                          <a:cs typeface="Arial"/>
                        </a:rPr>
                        <a:t>Build + migration cost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$600,000</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Annual operations at launch</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$300,000</a:t>
                      </a:r>
                    </a:p>
                  </a:txBody>
                  <a:tcPr marL="91440" marR="91440" marT="45720" marB="45720" anchor="ctr">
                    <a:solidFill>
                      <a:srgbClr val="F7F5EF"/>
                    </a:solidFill>
                  </a:tcPr>
                </a:tc>
              </a:tr>
              <a:tr h="525463">
                <a:tc>
                  <a:txBody>
                    <a:bodyPr lIns="114300" tIns="76200" rIns="114300" bIns="76200">
                      <a:noAutofit/>
                    </a:bodyPr>
                    <a:lstStyle/>
                    <a:p>
                      <a:pPr algn="l"/>
                      <a:r>
                        <a:rPr sz="1725" b="0">
                          <a:solidFill>
                            <a:srgbClr val="14281D"/>
                          </a:solidFill>
                          <a:latin typeface="Arial"/>
                          <a:ea typeface="Arial"/>
                          <a:cs typeface="Arial"/>
                        </a:rPr>
                        <a:t>2033 provider processing savings</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$0.19m</a:t>
                      </a:r>
                    </a:p>
                  </a:txBody>
                  <a:tcPr marL="91440" marR="91440" marT="45720" marB="45720" anchor="ctr">
                    <a:solidFill>
                      <a:srgbClr val="FFFFFF"/>
                    </a:solidFill>
                  </a:tcPr>
                </a:tc>
              </a:tr>
              <a:tr h="525463">
                <a:tc>
                  <a:txBody>
                    <a:bodyPr lIns="114300" tIns="76200" rIns="114300" bIns="76200">
                      <a:noAutofit/>
                    </a:bodyPr>
                    <a:lstStyle/>
                    <a:p>
                      <a:pPr algn="l"/>
                      <a:r>
                        <a:rPr sz="1725" b="0">
                          <a:solidFill>
                            <a:srgbClr val="14281D"/>
                          </a:solidFill>
                          <a:latin typeface="Arial"/>
                          <a:ea typeface="Arial"/>
                          <a:cs typeface="Arial"/>
                        </a:rPr>
                        <a:t>2033 net platform benefit</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($295,924)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($285,795)</a:t>
                      </a:r>
                    </a:p>
                  </a:txBody>
                  <a:tcPr marL="91440" marR="91440" marT="45720" marB="45720" anchor="ctr">
                    <a:solidFill>
                      <a:srgbClr val="F7F5EF"/>
                    </a:solidFill>
                  </a:tcPr>
                </a:tc>
              </a:tr>
              <a:tr h="525463">
                <a:tc>
                  <a:txBody>
                    <a:bodyPr lIns="114300" tIns="76200" rIns="114300" bIns="76200">
                      <a:noAutofit/>
                    </a:bodyPr>
                    <a:lstStyle/>
                    <a:p>
                      <a:pPr algn="l"/>
                      <a:r>
                        <a:rPr sz="1725" b="1">
                          <a:solidFill>
                            <a:srgbClr val="14281D"/>
                          </a:solidFill>
                          <a:latin typeface="Arial"/>
                          <a:ea typeface="Arial"/>
                          <a:cs typeface="Arial"/>
                        </a:rPr>
                        <a:t>Cumulative platform impact to 2033</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($2,410,772)</a:t>
                      </a:r>
                    </a:p>
                  </a:txBody>
                  <a:tcPr marL="91440" marR="91440" marT="45720" marB="45720" anchor="ctr">
                    <a:solidFill>
                      <a:srgbClr val="E8EDDF"/>
                    </a:solidFill>
                  </a:tcPr>
                </a:tc>
                <a:tc>
                  <a:txBody>
                    <a:bodyPr lIns="114300" tIns="76200" rIns="114300" bIns="76200">
                      <a:noAutofit/>
                    </a:bodyPr>
                    <a:lstStyle/>
                    <a:p>
                      <a:pPr algn="r"/>
                      <a:r>
                        <a:rPr sz="1725" b="1">
                          <a:solidFill>
                            <a:srgbClr val="14281D"/>
                          </a:solidFill>
                          <a:latin typeface="Arial"/>
                          <a:ea typeface="Arial"/>
                          <a:cs typeface="Arial"/>
                        </a:rPr>
                        <a:t>($2,064,789)</a:t>
                      </a:r>
                    </a:p>
                  </a:txBody>
                  <a:tcPr marL="91440" marR="91440" marT="45720" marB="45720" anchor="ctr">
                    <a:solidFill>
                      <a:srgbClr val="E8EDDF"/>
                    </a:solidFill>
                  </a:tcPr>
                </a:tc>
              </a:tr>
            </a:tbl>
          </a:graphicData>
        </a:graphic>
      </p:graphicFrame>
      <p:sp>
        <p:nvSpPr>
          <p:cNvPr id="6" name="Neither build option covers annual run costs or re">
            <a:extLst xmlns:a="http://schemas.openxmlformats.org/drawingml/2006/main">
              <a:ext uri="{FF2B5EF4-FFF2-40B4-BE49-F238E27FC236}">
                <a16:creationId xmlns:a16="http://schemas.microsoft.com/office/drawing/2014/main" id="{B1E64315-F846-491C-A3EC-586C98F3460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Neither build option covers annual run costs or recovers the investment by 2033 at the modeled regional scale. Gate a build on quoted costs and payback, not a calendar date.</a:t>
            </a:r>
          </a:p>
        </p:txBody>
      </p:sp>
    </p:spTree>
    <p:extLst>
      <p:ext uri="{BB962C8B-B14F-4D97-AF65-F5344CB8AC3E}">
        <p14:creationId xmlns:p14="http://schemas.microsoft.com/office/powerpoint/2010/main" val="754280782"/>
      </p:ext>
    </p:extLst>
  </p:cSld>
</p:sld>
</file>

<file path=ppt/slides/slide3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70% founder ownership before new investment">
            <a:extLst xmlns:a="http://schemas.openxmlformats.org/drawingml/2006/main">
              <a:ext uri="{FF2B5EF4-FFF2-40B4-BE49-F238E27FC236}">
                <a16:creationId xmlns:a16="http://schemas.microsoft.com/office/drawing/2014/main" id="{78368A84-1FA4-42D0-897C-B9594A62BC68}"/>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70% founder ownership before new investment</a:t>
            </a:r>
          </a:p>
        </p:txBody>
      </p:sp>
      <p:sp>
        <p:nvSpPr>
          <p:cNvPr id="2" name="Every new equity round dilutes existing owners pro">
            <a:extLst xmlns:a="http://schemas.openxmlformats.org/drawingml/2006/main">
              <a:ext uri="{FF2B5EF4-FFF2-40B4-BE49-F238E27FC236}">
                <a16:creationId xmlns:a16="http://schemas.microsoft.com/office/drawing/2014/main" id="{CCC811A9-552D-44E0-ABCA-C486FEFF8045}"/>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Every new equity round dilutes existing owners proportionately in this illustration.</a:t>
            </a:r>
          </a:p>
        </p:txBody>
      </p:sp>
      <p:sp>
        <p:nvSpPr>
          <p:cNvPr id="3" name="YardMatch">
            <a:extLst xmlns:a="http://schemas.openxmlformats.org/drawingml/2006/main">
              <a:ext uri="{FF2B5EF4-FFF2-40B4-BE49-F238E27FC236}">
                <a16:creationId xmlns:a16="http://schemas.microsoft.com/office/drawing/2014/main" id="{76A4809B-FB3C-41EE-959E-C06DDAB0952E}"/>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2">
            <a:extLst xmlns:a="http://schemas.openxmlformats.org/drawingml/2006/main">
              <a:ext uri="{FF2B5EF4-FFF2-40B4-BE49-F238E27FC236}">
                <a16:creationId xmlns:a16="http://schemas.microsoft.com/office/drawing/2014/main" id="{EFE3DC2B-4B42-4696-98CF-275A376F039A}"/>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32</a:t>
            </a:r>
          </a:p>
        </p:txBody>
      </p:sp>
      <p:graphicFrame>
        <p:nvGraphicFramePr>
          <p:cNvPr id="11" name=""/>
          <p:cNvGraphicFramePr/>
          <p:nvPr/>
        </p:nvGraphicFramePr>
        <p:xfrm>
          <a:off xmlns:a="http://schemas.openxmlformats.org/drawingml/2006/main" x="609600" y="2400300"/>
          <a:ext xmlns:a="http://schemas.openxmlformats.org/drawingml/2006/main" cx="10972800" cy="3038475"/>
        </p:xfrm>
        <a:graphic xmlns:a="http://schemas.openxmlformats.org/drawingml/2006/main">
          <a:graphicData uri="http://schemas.openxmlformats.org/drawingml/2006/table">
            <a:tbl>
              <a:tblPr/>
              <a:tblGrid>
                <a:gridCol w="4257675"/>
                <a:gridCol w="2238375"/>
                <a:gridCol w="2238375"/>
                <a:gridCol w="2238375"/>
              </a:tblGrid>
              <a:tr h="506413">
                <a:tc>
                  <a:txBody>
                    <a:bodyPr lIns="114300" tIns="76200" rIns="114300" bIns="76200">
                      <a:noAutofit/>
                    </a:bodyPr>
                    <a:lstStyle/>
                    <a:p>
                      <a:pPr algn="l"/>
                      <a:r>
                        <a:rPr sz="1950" b="1">
                          <a:solidFill>
                            <a:srgbClr val="FFFFFF"/>
                          </a:solidFill>
                          <a:latin typeface="Arial"/>
                          <a:ea typeface="Arial"/>
                          <a:cs typeface="Arial"/>
                        </a:rPr>
                        <a:t>Ownership</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At formation</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1</a:t>
                      </a:r>
                    </a:p>
                  </a:txBody>
                  <a:tcPr marL="91440" marR="91440" marT="45720" marB="45720" anchor="ctr">
                    <a:solidFill>
                      <a:srgbClr val="205938"/>
                    </a:solidFill>
                  </a:tcPr>
                </a:tc>
                <a:tc>
                  <a:txBody>
                    <a:bodyPr lIns="114300" tIns="76200" rIns="114300" bIns="76200">
                      <a:noAutofit/>
                    </a:bodyPr>
                    <a:lstStyle/>
                    <a:p>
                      <a:pPr algn="l"/>
                      <a:r>
                        <a:rPr sz="1950" b="1">
                          <a:solidFill>
                            <a:srgbClr val="FFFFFF"/>
                          </a:solidFill>
                          <a:latin typeface="Arial"/>
                          <a:ea typeface="Arial"/>
                          <a:cs typeface="Arial"/>
                        </a:rPr>
                        <a:t>After round 2</a:t>
                      </a:r>
                    </a:p>
                  </a:txBody>
                  <a:tcPr marL="91440" marR="91440" marT="45720" marB="45720" anchor="ctr">
                    <a:solidFill>
                      <a:srgbClr val="205938"/>
                    </a:solidFill>
                  </a:tcPr>
                </a:tc>
              </a:tr>
              <a:tr h="506413">
                <a:tc>
                  <a:txBody>
                    <a:bodyPr lIns="114300" tIns="76200" rIns="114300" bIns="76200">
                      <a:noAutofit/>
                    </a:bodyPr>
                    <a:lstStyle/>
                    <a:p>
                      <a:pPr algn="l"/>
                      <a:r>
                        <a:rPr sz="1950" b="1">
                          <a:solidFill>
                            <a:srgbClr val="14281D"/>
                          </a:solidFill>
                          <a:latin typeface="Arial"/>
                          <a:ea typeface="Arial"/>
                          <a:cs typeface="Arial"/>
                        </a:rPr>
                        <a:t>Patrick</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70.0%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56.0%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44.8%</a:t>
                      </a:r>
                    </a:p>
                  </a:txBody>
                  <a:tcPr marL="91440" marR="91440" marT="45720" marB="45720" anchor="ctr">
                    <a:solidFill>
                      <a:srgbClr val="E8EDDF"/>
                    </a:solidFill>
                  </a:tcPr>
                </a:tc>
              </a:tr>
              <a:tr h="506413">
                <a:tc>
                  <a:txBody>
                    <a:bodyPr lIns="114300" tIns="76200" rIns="114300" bIns="76200">
                      <a:noAutofit/>
                    </a:bodyPr>
                    <a:lstStyle/>
                    <a:p>
                      <a:pPr algn="l"/>
                      <a:r>
                        <a:rPr sz="1950" b="0">
                          <a:solidFill>
                            <a:srgbClr val="14281D"/>
                          </a:solidFill>
                          <a:latin typeface="Arial"/>
                          <a:ea typeface="Arial"/>
                          <a:cs typeface="Arial"/>
                        </a:rPr>
                        <a:t>Other initial owners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30.0%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24.0%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19.2%</a:t>
                      </a:r>
                    </a:p>
                  </a:txBody>
                  <a:tcPr marL="91440" marR="91440" marT="45720" marB="45720" anchor="ctr">
                    <a:solidFill>
                      <a:srgbClr val="F7F5EF"/>
                    </a:solidFill>
                  </a:tcPr>
                </a:tc>
              </a:tr>
              <a:tr h="506413">
                <a:tc>
                  <a:txBody>
                    <a:bodyPr lIns="114300" tIns="76200" rIns="114300" bIns="76200">
                      <a:noAutofit/>
                    </a:bodyPr>
                    <a:lstStyle/>
                    <a:p>
                      <a:pPr algn="l"/>
                      <a:r>
                        <a:rPr sz="1950" b="0">
                          <a:solidFill>
                            <a:srgbClr val="14281D"/>
                          </a:solidFill>
                          <a:latin typeface="Arial"/>
                          <a:ea typeface="Arial"/>
                          <a:cs typeface="Arial"/>
                        </a:rPr>
                        <a:t>Round 1 investors</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FFFFF"/>
                    </a:solidFill>
                  </a:tcPr>
                </a:tc>
                <a:tc>
                  <a:txBody>
                    <a:bodyPr lIns="114300" tIns="76200" rIns="114300" bIns="76200">
                      <a:noAutofit/>
                    </a:bodyPr>
                    <a:lstStyle/>
                    <a:p>
                      <a:pPr algn="r"/>
                      <a:r>
                        <a:rPr sz="1950" b="0">
                          <a:solidFill>
                            <a:srgbClr val="14281D"/>
                          </a:solidFill>
                          <a:latin typeface="Arial"/>
                          <a:ea typeface="Arial"/>
                          <a:cs typeface="Arial"/>
                        </a:rPr>
                        <a:t>16.0%</a:t>
                      </a:r>
                    </a:p>
                  </a:txBody>
                  <a:tcPr marL="91440" marR="91440" marT="45720" marB="45720" anchor="ctr">
                    <a:solidFill>
                      <a:srgbClr val="FFFFFF"/>
                    </a:solidFill>
                  </a:tcPr>
                </a:tc>
              </a:tr>
              <a:tr h="506413">
                <a:tc>
                  <a:txBody>
                    <a:bodyPr lIns="114300" tIns="76200" rIns="114300" bIns="76200">
                      <a:noAutofit/>
                    </a:bodyPr>
                    <a:lstStyle/>
                    <a:p>
                      <a:pPr algn="l"/>
                      <a:r>
                        <a:rPr sz="1950" b="0">
                          <a:solidFill>
                            <a:srgbClr val="14281D"/>
                          </a:solidFill>
                          <a:latin typeface="Arial"/>
                          <a:ea typeface="Arial"/>
                          <a:cs typeface="Arial"/>
                        </a:rPr>
                        <a:t>Round 2 investors</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0.0%</a:t>
                      </a:r>
                    </a:p>
                  </a:txBody>
                  <a:tcPr marL="91440" marR="91440" marT="45720" marB="45720" anchor="ctr">
                    <a:solidFill>
                      <a:srgbClr val="F7F5EF"/>
                    </a:solidFill>
                  </a:tcPr>
                </a:tc>
                <a:tc>
                  <a:txBody>
                    <a:bodyPr lIns="114300" tIns="76200" rIns="114300" bIns="76200">
                      <a:noAutofit/>
                    </a:bodyPr>
                    <a:lstStyle/>
                    <a:p>
                      <a:pPr algn="r"/>
                      <a:r>
                        <a:rPr sz="1950" b="0">
                          <a:solidFill>
                            <a:srgbClr val="14281D"/>
                          </a:solidFill>
                          <a:latin typeface="Arial"/>
                          <a:ea typeface="Arial"/>
                          <a:cs typeface="Arial"/>
                        </a:rPr>
                        <a:t>20.0%</a:t>
                      </a:r>
                    </a:p>
                  </a:txBody>
                  <a:tcPr marL="91440" marR="91440" marT="45720" marB="45720" anchor="ctr">
                    <a:solidFill>
                      <a:srgbClr val="F7F5EF"/>
                    </a:solidFill>
                  </a:tcPr>
                </a:tc>
              </a:tr>
              <a:tr h="506413">
                <a:tc>
                  <a:txBody>
                    <a:bodyPr lIns="114300" tIns="76200" rIns="114300" bIns="76200">
                      <a:noAutofit/>
                    </a:bodyPr>
                    <a:lstStyle/>
                    <a:p>
                      <a:pPr algn="l"/>
                      <a:r>
                        <a:rPr sz="1950" b="1">
                          <a:solidFill>
                            <a:srgbClr val="14281D"/>
                          </a:solidFill>
                          <a:latin typeface="Arial"/>
                          <a:ea typeface="Arial"/>
                          <a:cs typeface="Arial"/>
                        </a:rPr>
                        <a:t>Total</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c>
                  <a:txBody>
                    <a:bodyPr lIns="114300" tIns="76200" rIns="114300" bIns="76200">
                      <a:noAutofit/>
                    </a:bodyPr>
                    <a:lstStyle/>
                    <a:p>
                      <a:pPr algn="r"/>
                      <a:r>
                        <a:rPr sz="1950" b="1">
                          <a:solidFill>
                            <a:srgbClr val="14281D"/>
                          </a:solidFill>
                          <a:latin typeface="Arial"/>
                          <a:ea typeface="Arial"/>
                          <a:cs typeface="Arial"/>
                        </a:rPr>
                        <a:t>100.0%</a:t>
                      </a:r>
                    </a:p>
                  </a:txBody>
                  <a:tcPr marL="91440" marR="91440" marT="45720" marB="45720" anchor="ctr">
                    <a:solidFill>
                      <a:srgbClr val="E8EDDF"/>
                    </a:solidFill>
                  </a:tcPr>
                </a:tc>
              </a:tr>
            </a:tbl>
          </a:graphicData>
        </a:graphic>
      </p:graphicFrame>
      <p:sp>
        <p:nvSpPr>
          <p:cNvPr id="6" name="Each illustrative round sells 20% post-money. A la">
            <a:extLst xmlns:a="http://schemas.openxmlformats.org/drawingml/2006/main">
              <a:ext uri="{FF2B5EF4-FFF2-40B4-BE49-F238E27FC236}">
                <a16:creationId xmlns:a16="http://schemas.microsoft.com/office/drawing/2014/main" id="{091BC05E-0DFE-46AB-9991-24FAC4C184A1}"/>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Each illustrative round sells 20% post-money. A later 10% option pool would reduce Patrick to 40.32%. Voting and board control require separate terms.</a:t>
            </a:r>
          </a:p>
        </p:txBody>
      </p:sp>
    </p:spTree>
    <p:extLst>
      <p:ext uri="{BB962C8B-B14F-4D97-AF65-F5344CB8AC3E}">
        <p14:creationId xmlns:p14="http://schemas.microsoft.com/office/powerpoint/2010/main" val="715955374"/>
      </p:ext>
    </p:extLst>
  </p:cSld>
</p:sld>
</file>

<file path=ppt/slides/slide33.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1" name="The investor’s return comes from equity value">
            <a:extLst xmlns:a="http://schemas.openxmlformats.org/drawingml/2006/main">
              <a:ext uri="{FF2B5EF4-FFF2-40B4-BE49-F238E27FC236}">
                <a16:creationId xmlns:a16="http://schemas.microsoft.com/office/drawing/2014/main" id="{669E1E6C-35C8-4AAE-9721-56C41F8461FC}"/>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The investor’s return comes from equity value</a:t>
            </a:r>
          </a:p>
        </p:txBody>
      </p:sp>
      <p:sp>
        <p:nvSpPr>
          <p:cNvPr id="2" name="Illustration: $1.5m buys 20% initially and becomes">
            <a:extLst xmlns:a="http://schemas.openxmlformats.org/drawingml/2006/main">
              <a:ext uri="{FF2B5EF4-FFF2-40B4-BE49-F238E27FC236}">
                <a16:creationId xmlns:a16="http://schemas.microsoft.com/office/drawing/2014/main" id="{D6B3DE39-FB1A-434D-B14A-25C248E0B339}"/>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Illustration: $1.5m buys 20% initially and becomes 16% after one further 20% round.</a:t>
            </a:r>
          </a:p>
        </p:txBody>
      </p:sp>
      <p:sp>
        <p:nvSpPr>
          <p:cNvPr id="3" name="YardMatch">
            <a:extLst xmlns:a="http://schemas.openxmlformats.org/drawingml/2006/main">
              <a:ext uri="{FF2B5EF4-FFF2-40B4-BE49-F238E27FC236}">
                <a16:creationId xmlns:a16="http://schemas.microsoft.com/office/drawing/2014/main" id="{1686122A-968D-4693-9DB5-273A8848555B}"/>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3">
            <a:extLst xmlns:a="http://schemas.openxmlformats.org/drawingml/2006/main">
              <a:ext uri="{FF2B5EF4-FFF2-40B4-BE49-F238E27FC236}">
                <a16:creationId xmlns:a16="http://schemas.microsoft.com/office/drawing/2014/main" id="{30BFB1DF-F27E-476C-9011-E45E0605861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33</a:t>
            </a:r>
          </a:p>
        </p:txBody>
      </p:sp>
      <p:graphicFrame>
        <p:nvGraphicFramePr>
          <p:cNvPr id="15" name=""/>
          <p:cNvGraphicFramePr/>
          <p:nvPr/>
        </p:nvGraphicFramePr>
        <p:xfrm>
          <a:off xmlns:a="http://schemas.openxmlformats.org/drawingml/2006/main" x="609600" y="2409825"/>
          <a:ext xmlns:a="http://schemas.openxmlformats.org/drawingml/2006/main" cx="8572500" cy="2828925"/>
        </p:xfrm>
        <a:graphic xmlns:a="http://schemas.openxmlformats.org/drawingml/2006/main">
          <a:graphicData uri="http://schemas.openxmlformats.org/drawingml/2006/table">
            <a:tbl>
              <a:tblPr/>
              <a:tblGrid>
                <a:gridCol w="2571750"/>
                <a:gridCol w="3619500"/>
                <a:gridCol w="2381250"/>
              </a:tblGrid>
              <a:tr h="565785">
                <a:tc>
                  <a:txBody>
                    <a:bodyPr lIns="114300" tIns="76200" rIns="114300" bIns="76200">
                      <a:noAutofit/>
                    </a:bodyPr>
                    <a:lstStyle/>
                    <a:p>
                      <a:pPr algn="l"/>
                      <a:r>
                        <a:rPr sz="2025" b="1">
                          <a:solidFill>
                            <a:srgbClr val="FFFFFF"/>
                          </a:solidFill>
                          <a:latin typeface="Arial"/>
                          <a:ea typeface="Arial"/>
                          <a:cs typeface="Arial"/>
                        </a:rPr>
                        <a:t>Exit equity value</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Initial investor proceeds</a:t>
                      </a:r>
                    </a:p>
                  </a:txBody>
                  <a:tcPr marL="91440" marR="91440" marT="45720" marB="45720" anchor="ctr">
                    <a:solidFill>
                      <a:srgbClr val="205938"/>
                    </a:solidFill>
                  </a:tcPr>
                </a:tc>
                <a:tc>
                  <a:txBody>
                    <a:bodyPr lIns="114300" tIns="76200" rIns="114300" bIns="76200">
                      <a:noAutofit/>
                    </a:bodyPr>
                    <a:lstStyle/>
                    <a:p>
                      <a:pPr algn="l"/>
                      <a:r>
                        <a:rPr sz="2025" b="1">
                          <a:solidFill>
                            <a:srgbClr val="FFFFFF"/>
                          </a:solidFill>
                          <a:latin typeface="Arial"/>
                          <a:ea typeface="Arial"/>
                          <a:cs typeface="Arial"/>
                        </a:rPr>
                        <a:t>Gross multiple</a:t>
                      </a:r>
                    </a:p>
                  </a:txBody>
                  <a:tcPr marL="91440" marR="91440" marT="45720" marB="45720" anchor="ctr">
                    <a:solidFill>
                      <a:srgbClr val="205938"/>
                    </a:solidFill>
                  </a:tcPr>
                </a:tc>
              </a:tr>
              <a:tr h="565785">
                <a:tc>
                  <a:txBody>
                    <a:bodyPr lIns="114300" tIns="76200" rIns="114300" bIns="76200">
                      <a:noAutofit/>
                    </a:bodyPr>
                    <a:lstStyle/>
                    <a:p>
                      <a:pPr algn="l"/>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0.0x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1.1x</a:t>
                      </a:r>
                    </a:p>
                  </a:txBody>
                  <a:tcPr marL="91440" marR="91440" marT="45720" marB="45720" anchor="ctr">
                    <a:solidFill>
                      <a:srgbClr val="F7F5EF"/>
                    </a:solidFill>
                  </a:tcPr>
                </a:tc>
              </a:tr>
              <a:tr h="565785">
                <a:tc>
                  <a:txBody>
                    <a:bodyPr lIns="114300" tIns="76200" rIns="114300" bIns="76200">
                      <a:noAutofit/>
                    </a:bodyPr>
                    <a:lstStyle/>
                    <a:p>
                      <a:pPr algn="l"/>
                      <a:r>
                        <a:rPr sz="2025" b="0">
                          <a:solidFill>
                            <a:srgbClr val="14281D"/>
                          </a:solidFill>
                          <a:latin typeface="Arial"/>
                          <a:ea typeface="Arial"/>
                          <a:cs typeface="Arial"/>
                        </a:rPr>
                        <a:t>$50m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$8.0m</a:t>
                      </a:r>
                    </a:p>
                  </a:txBody>
                  <a:tcPr marL="91440" marR="91440" marT="45720" marB="45720" anchor="ctr">
                    <a:solidFill>
                      <a:srgbClr val="FFFFFF"/>
                    </a:solidFill>
                  </a:tcPr>
                </a:tc>
                <a:tc>
                  <a:txBody>
                    <a:bodyPr lIns="114300" tIns="76200" rIns="114300" bIns="76200">
                      <a:noAutofit/>
                    </a:bodyPr>
                    <a:lstStyle/>
                    <a:p>
                      <a:pPr algn="r"/>
                      <a:r>
                        <a:rPr sz="2025" b="0">
                          <a:solidFill>
                            <a:srgbClr val="14281D"/>
                          </a:solidFill>
                          <a:latin typeface="Arial"/>
                          <a:ea typeface="Arial"/>
                          <a:cs typeface="Arial"/>
                        </a:rPr>
                        <a:t>5.3x</a:t>
                      </a:r>
                    </a:p>
                  </a:txBody>
                  <a:tcPr marL="91440" marR="91440" marT="45720" marB="45720" anchor="ctr">
                    <a:solidFill>
                      <a:srgbClr val="FFFFFF"/>
                    </a:solidFill>
                  </a:tcPr>
                </a:tc>
              </a:tr>
              <a:tr h="565785">
                <a:tc>
                  <a:txBody>
                    <a:bodyPr lIns="114300" tIns="76200" rIns="114300" bIns="76200">
                      <a:noAutofit/>
                    </a:bodyPr>
                    <a:lstStyle/>
                    <a:p>
                      <a:pPr algn="l"/>
                      <a:r>
                        <a:rPr sz="2025" b="0">
                          <a:solidFill>
                            <a:srgbClr val="14281D"/>
                          </a:solidFill>
                          <a:latin typeface="Arial"/>
                          <a:ea typeface="Arial"/>
                          <a:cs typeface="Arial"/>
                        </a:rPr>
                        <a:t>$100m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$16.0m</a:t>
                      </a:r>
                    </a:p>
                  </a:txBody>
                  <a:tcPr marL="91440" marR="91440" marT="45720" marB="45720" anchor="ctr">
                    <a:solidFill>
                      <a:srgbClr val="F7F5EF"/>
                    </a:solidFill>
                  </a:tcPr>
                </a:tc>
                <a:tc>
                  <a:txBody>
                    <a:bodyPr lIns="114300" tIns="76200" rIns="114300" bIns="76200">
                      <a:noAutofit/>
                    </a:bodyPr>
                    <a:lstStyle/>
                    <a:p>
                      <a:pPr algn="r"/>
                      <a:r>
                        <a:rPr sz="2025" b="0">
                          <a:solidFill>
                            <a:srgbClr val="14281D"/>
                          </a:solidFill>
                          <a:latin typeface="Arial"/>
                          <a:ea typeface="Arial"/>
                          <a:cs typeface="Arial"/>
                        </a:rPr>
                        <a:t>10.7x</a:t>
                      </a:r>
                    </a:p>
                  </a:txBody>
                  <a:tcPr marL="91440" marR="91440" marT="45720" marB="45720" anchor="ctr">
                    <a:solidFill>
                      <a:srgbClr val="F7F5EF"/>
                    </a:solidFill>
                  </a:tcPr>
                </a:tc>
              </a:tr>
            </a:tbl>
          </a:graphicData>
        </a:graphic>
      </p:graphicFrame>
      <p:sp>
        <p:nvSpPr>
          <p:cNvPr id="6" name="$6.0m">
            <a:extLst xmlns:a="http://schemas.openxmlformats.org/drawingml/2006/main">
              <a:ext uri="{FF2B5EF4-FFF2-40B4-BE49-F238E27FC236}">
                <a16:creationId xmlns:a16="http://schemas.microsoft.com/office/drawing/2014/main" id="{2D7434D1-F823-4500-95E6-2D6A87C17C4E}"/>
              </a:ext>
            </a:extLst>
          </p:cNvPr>
          <p:cNvSpPr>
            <a:spLocks xmlns:a="http://schemas.openxmlformats.org/drawingml/2006/main" noGrp="1"/>
          </p:cNvSpPr>
          <p:nvPr/>
        </p:nvSpPr>
        <p:spPr>
          <a:xfrm xmlns:a="http://schemas.openxmlformats.org/drawingml/2006/main">
            <a:off x="9582150" y="2495550"/>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$6.0m</a:t>
            </a:r>
          </a:p>
        </p:txBody>
      </p:sp>
      <p:sp>
        <p:nvSpPr>
          <p:cNvPr id="7" name="Illustrative&#10;pre-money value">
            <a:extLst xmlns:a="http://schemas.openxmlformats.org/drawingml/2006/main">
              <a:ext uri="{FF2B5EF4-FFF2-40B4-BE49-F238E27FC236}">
                <a16:creationId xmlns:a16="http://schemas.microsoft.com/office/drawing/2014/main" id="{3F7AEEA0-F2DE-462A-892C-0FA7F3905AAD}"/>
              </a:ext>
            </a:extLst>
          </p:cNvPr>
          <p:cNvSpPr>
            <a:spLocks xmlns:a="http://schemas.openxmlformats.org/drawingml/2006/main" noGrp="1"/>
          </p:cNvSpPr>
          <p:nvPr/>
        </p:nvSpPr>
        <p:spPr>
          <a:xfrm xmlns:a="http://schemas.openxmlformats.org/drawingml/2006/main">
            <a:off x="9582150" y="3124200"/>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pre-money value</a:t>
            </a:r>
          </a:p>
        </p:txBody>
      </p:sp>
      <p:sp>
        <p:nvSpPr>
          <p:cNvPr id="8" name="$7.5m">
            <a:extLst xmlns:a="http://schemas.openxmlformats.org/drawingml/2006/main">
              <a:ext uri="{FF2B5EF4-FFF2-40B4-BE49-F238E27FC236}">
                <a16:creationId xmlns:a16="http://schemas.microsoft.com/office/drawing/2014/main" id="{EDF9D6BE-9895-433F-8B6E-BA78A335CC43}"/>
              </a:ext>
            </a:extLst>
          </p:cNvPr>
          <p:cNvSpPr>
            <a:spLocks xmlns:a="http://schemas.openxmlformats.org/drawingml/2006/main" noGrp="1"/>
          </p:cNvSpPr>
          <p:nvPr/>
        </p:nvSpPr>
        <p:spPr>
          <a:xfrm xmlns:a="http://schemas.openxmlformats.org/drawingml/2006/main">
            <a:off x="9582150" y="4238625"/>
            <a:ext cx="1962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05938"/>
                </a:solidFill>
                <a:latin typeface="Arial"/>
                <a:ea typeface="Arial"/>
                <a:cs typeface="Arial"/>
              </a:defRPr>
            </a:pPr>
            <a:r>
              <a:rPr sz="2775" b="1">
                <a:solidFill>
                  <a:srgbClr val="205938"/>
                </a:solidFill>
                <a:latin typeface="Arial"/>
                <a:ea typeface="Arial"/>
                <a:cs typeface="Arial"/>
              </a:rPr>
              <a:t>$7.5m</a:t>
            </a:r>
          </a:p>
        </p:txBody>
      </p:sp>
      <p:sp>
        <p:nvSpPr>
          <p:cNvPr id="9" name="Illustrative&#10;post-money value">
            <a:extLst xmlns:a="http://schemas.openxmlformats.org/drawingml/2006/main">
              <a:ext uri="{FF2B5EF4-FFF2-40B4-BE49-F238E27FC236}">
                <a16:creationId xmlns:a16="http://schemas.microsoft.com/office/drawing/2014/main" id="{74C1F3A2-F78B-4CDA-A46A-8644488E97BE}"/>
              </a:ext>
            </a:extLst>
          </p:cNvPr>
          <p:cNvSpPr>
            <a:spLocks xmlns:a="http://schemas.openxmlformats.org/drawingml/2006/main" noGrp="1"/>
          </p:cNvSpPr>
          <p:nvPr/>
        </p:nvSpPr>
        <p:spPr>
          <a:xfrm xmlns:a="http://schemas.openxmlformats.org/drawingml/2006/main">
            <a:off x="9582150" y="4867275"/>
            <a:ext cx="19716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Illustrative</a:t>
            </a:r>
          </a:p>
          <a:p xmlns:a="http://schemas.openxmlformats.org/drawingml/2006/main">
            <a:pPr algn="l">
              <a:defRPr sz="1800" b="0">
                <a:solidFill>
                  <a:srgbClr val="14281D"/>
                </a:solidFill>
                <a:latin typeface="Arial"/>
                <a:ea typeface="Arial"/>
                <a:cs typeface="Arial"/>
              </a:defRPr>
            </a:pPr>
            <a:r>
              <a:rPr sz="1800" b="0">
                <a:solidFill>
                  <a:srgbClr val="14281D"/>
                </a:solidFill>
                <a:latin typeface="Arial"/>
                <a:ea typeface="Arial"/>
                <a:cs typeface="Arial"/>
              </a:rPr>
              <a:t>post-money value</a:t>
            </a:r>
          </a:p>
        </p:txBody>
      </p:sp>
      <p:sp>
        <p:nvSpPr>
          <p:cNvPr id="10" name="Return arithmetic, not an exit forecast. Excludes ">
            <a:extLst xmlns:a="http://schemas.openxmlformats.org/drawingml/2006/main">
              <a:ext uri="{FF2B5EF4-FFF2-40B4-BE49-F238E27FC236}">
                <a16:creationId xmlns:a16="http://schemas.microsoft.com/office/drawing/2014/main" id="{A5A48FC2-95A1-48BA-972B-DA820E80D6AE}"/>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Return arithmetic, not an exit forecast. Excludes further dilution, option pools, preferences, taxes and fees. The $0 outcome represents a complete loss.</a:t>
            </a:r>
          </a:p>
        </p:txBody>
      </p:sp>
    </p:spTree>
    <p:extLst>
      <p:ext uri="{BB962C8B-B14F-4D97-AF65-F5344CB8AC3E}">
        <p14:creationId xmlns:p14="http://schemas.microsoft.com/office/powerpoint/2010/main" val="364194343"/>
      </p:ext>
    </p:extLst>
  </p:cSld>
</p:sld>
</file>

<file path=ppt/slides/slide3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Milestones for the next round">
            <a:extLst xmlns:a="http://schemas.openxmlformats.org/drawingml/2006/main">
              <a:ext uri="{FF2B5EF4-FFF2-40B4-BE49-F238E27FC236}">
                <a16:creationId xmlns:a16="http://schemas.microsoft.com/office/drawing/2014/main" id="{7CA52638-FAF3-412E-8A71-AB30BBBDF37D}"/>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Milestones for the next round</a:t>
            </a:r>
          </a:p>
        </p:txBody>
      </p:sp>
      <p:sp>
        <p:nvSpPr>
          <p:cNvPr id="2" name="The strongest investment case will rest on paid co">
            <a:extLst xmlns:a="http://schemas.openxmlformats.org/drawingml/2006/main">
              <a:ext uri="{FF2B5EF4-FFF2-40B4-BE49-F238E27FC236}">
                <a16:creationId xmlns:a16="http://schemas.microsoft.com/office/drawing/2014/main" id="{860B8A55-2D09-43F4-9B50-E3A1446A7462}"/>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strongest investment case will rest on paid cohort results from a concentrated launch.</a:t>
            </a:r>
          </a:p>
        </p:txBody>
      </p:sp>
      <p:sp>
        <p:nvSpPr>
          <p:cNvPr id="3" name="YardMatch">
            <a:extLst xmlns:a="http://schemas.openxmlformats.org/drawingml/2006/main">
              <a:ext uri="{FF2B5EF4-FFF2-40B4-BE49-F238E27FC236}">
                <a16:creationId xmlns:a16="http://schemas.microsoft.com/office/drawing/2014/main" id="{04F15D8D-C743-4DAA-A5A6-F0D2CF6680AD}"/>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4">
            <a:extLst xmlns:a="http://schemas.openxmlformats.org/drawingml/2006/main">
              <a:ext uri="{FF2B5EF4-FFF2-40B4-BE49-F238E27FC236}">
                <a16:creationId xmlns:a16="http://schemas.microsoft.com/office/drawing/2014/main" id="{9053F83E-0091-42FE-B0AD-04D0B11BF6BE}"/>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34</a:t>
            </a:r>
          </a:p>
        </p:txBody>
      </p:sp>
      <p:graphicFrame>
        <p:nvGraphicFramePr>
          <p:cNvPr id="11" name=""/>
          <p:cNvGraphicFramePr/>
          <p:nvPr/>
        </p:nvGraphicFramePr>
        <p:xfrm>
          <a:off xmlns:a="http://schemas.openxmlformats.org/drawingml/2006/main" x="609600" y="2362200"/>
          <a:ext xmlns:a="http://schemas.openxmlformats.org/drawingml/2006/main" cx="10972800" cy="3333750"/>
        </p:xfrm>
        <a:graphic xmlns:a="http://schemas.openxmlformats.org/drawingml/2006/main">
          <a:graphicData uri="http://schemas.openxmlformats.org/drawingml/2006/table">
            <a:tbl>
              <a:tblPr/>
              <a:tblGrid>
                <a:gridCol w="3476625"/>
                <a:gridCol w="7496175"/>
              </a:tblGrid>
              <a:tr h="555625">
                <a:tc>
                  <a:txBody>
                    <a:bodyPr lIns="114300" tIns="76200" rIns="114300" bIns="76200">
                      <a:noAutofit/>
                    </a:bodyPr>
                    <a:lstStyle/>
                    <a:p>
                      <a:pPr algn="l"/>
                      <a:r>
                        <a:rPr sz="1800" b="1">
                          <a:solidFill>
                            <a:srgbClr val="FFFFFF"/>
                          </a:solidFill>
                          <a:latin typeface="Arial"/>
                          <a:ea typeface="Arial"/>
                          <a:cs typeface="Arial"/>
                        </a:rPr>
                        <a:t>Test</a:t>
                      </a:r>
                    </a:p>
                  </a:txBody>
                  <a:tcPr marL="91440" marR="91440" marT="45720" marB="45720" anchor="ctr">
                    <a:solidFill>
                      <a:srgbClr val="205938"/>
                    </a:solidFill>
                  </a:tcPr>
                </a:tc>
                <a:tc>
                  <a:txBody>
                    <a:bodyPr lIns="114300" tIns="76200" rIns="114300" bIns="76200">
                      <a:noAutofit/>
                    </a:bodyPr>
                    <a:lstStyle/>
                    <a:p>
                      <a:pPr algn="l"/>
                      <a:r>
                        <a:rPr sz="1800" b="1">
                          <a:solidFill>
                            <a:srgbClr val="FFFFFF"/>
                          </a:solidFill>
                          <a:latin typeface="Arial"/>
                          <a:ea typeface="Arial"/>
                          <a:cs typeface="Arial"/>
                        </a:rPr>
                        <a:t>Proposed evidence</a:t>
                      </a:r>
                    </a:p>
                  </a:txBody>
                  <a:tcPr marL="91440" marR="91440" marT="45720" marB="45720" anchor="ctr">
                    <a:solidFill>
                      <a:srgbClr val="205938"/>
                    </a:solidFill>
                  </a:tcPr>
                </a:tc>
              </a:tr>
              <a:tr h="555625">
                <a:tc>
                  <a:txBody>
                    <a:bodyPr lIns="114300" tIns="76200" rIns="114300" bIns="76200">
                      <a:noAutofit/>
                    </a:bodyPr>
                    <a:lstStyle/>
                    <a:p>
                      <a:pPr algn="l"/>
                      <a:r>
                        <a:rPr sz="1800" b="0">
                          <a:solidFill>
                            <a:srgbClr val="14281D"/>
                          </a:solidFill>
                          <a:latin typeface="Arial"/>
                          <a:ea typeface="Arial"/>
                          <a:cs typeface="Arial"/>
                        </a:rPr>
                        <a:t>Demand and retention</a:t>
                      </a:r>
                    </a:p>
                  </a:txBody>
                  <a:tcPr marL="91440" marR="91440" marT="45720" marB="45720" anchor="ctr">
                    <a:solidFill>
                      <a:srgbClr val="FFFFFF"/>
                    </a:solidFill>
                  </a:tcPr>
                </a:tc>
                <a:tc>
                  <a:txBody>
                    <a:bodyPr lIns="114300" tIns="76200" rIns="114300" bIns="76200">
                      <a:noAutofit/>
                    </a:bodyPr>
                    <a:lstStyle/>
                    <a:p>
                      <a:pPr algn="r"/>
                      <a:r>
                        <a:rPr sz="1800" b="0">
                          <a:solidFill>
                            <a:srgbClr val="14281D"/>
                          </a:solidFill>
                          <a:latin typeface="Arial"/>
                          <a:ea typeface="Arial"/>
                          <a:cs typeface="Arial"/>
                        </a:rPr>
                        <a:t>240 launch households; measure second-season paid retention</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Provider fee acceptance</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Repeat bookings persist under the proposed total fees</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Acquisition economics</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Pilot CAC around $55; validate a path to $40 by 2033</a:t>
                      </a:r>
                    </a:p>
                  </a:txBody>
                  <a:tcPr marL="91440" marR="91440" marT="45720" marB="45720" anchor="ctr">
                    <a:solidFill>
                      <a:srgbClr val="FFFFFF"/>
                    </a:solidFill>
                  </a:tcPr>
                </a:tc>
              </a:tr>
              <a:tr h="555625">
                <a:tc>
                  <a:txBody>
                    <a:bodyPr lIns="114300" tIns="76200" rIns="114300" bIns="76200">
                      <a:noAutofit/>
                    </a:bodyPr>
                    <a:lstStyle/>
                    <a:p>
                      <a:pPr algn="l"/>
                      <a:r>
                        <a:rPr sz="1800" b="0">
                          <a:solidFill>
                            <a:srgbClr val="14281D"/>
                          </a:solidFill>
                          <a:latin typeface="Arial"/>
                          <a:ea typeface="Arial"/>
                          <a:cs typeface="Arial"/>
                        </a:rPr>
                        <a:t>Positive repeat contribution</a:t>
                      </a:r>
                    </a:p>
                  </a:txBody>
                  <a:tcPr marL="91440" marR="91440" marT="45720" marB="45720" anchor="ctr">
                    <a:solidFill>
                      <a:srgbClr val="F7F5EF"/>
                    </a:solidFill>
                  </a:tcPr>
                </a:tc>
                <a:tc>
                  <a:txBody>
                    <a:bodyPr lIns="114300" tIns="76200" rIns="114300" bIns="76200">
                      <a:noAutofit/>
                    </a:bodyPr>
                    <a:lstStyle/>
                    <a:p>
                      <a:pPr algn="l"/>
                      <a:r>
                        <a:rPr sz="1800" b="0">
                          <a:solidFill>
                            <a:srgbClr val="14281D"/>
                          </a:solidFill>
                          <a:latin typeface="Arial"/>
                          <a:ea typeface="Arial"/>
                          <a:cs typeface="Arial"/>
                        </a:rPr>
                        <a:t>At least $0.50 per repeat job across the actual service mix</a:t>
                      </a:r>
                    </a:p>
                  </a:txBody>
                  <a:tcPr marL="91440" marR="91440" marT="45720" marB="45720" anchor="ctr">
                    <a:solidFill>
                      <a:srgbClr val="F7F5EF"/>
                    </a:solidFill>
                  </a:tcPr>
                </a:tc>
              </a:tr>
              <a:tr h="555625">
                <a:tc>
                  <a:txBody>
                    <a:bodyPr lIns="114300" tIns="76200" rIns="114300" bIns="76200">
                      <a:noAutofit/>
                    </a:bodyPr>
                    <a:lstStyle/>
                    <a:p>
                      <a:pPr algn="l"/>
                      <a:r>
                        <a:rPr sz="1800" b="0">
                          <a:solidFill>
                            <a:srgbClr val="14281D"/>
                          </a:solidFill>
                          <a:latin typeface="Arial"/>
                          <a:ea typeface="Arial"/>
                          <a:cs typeface="Arial"/>
                        </a:rPr>
                        <a:t>Reliability and expansion</a:t>
                      </a:r>
                    </a:p>
                  </a:txBody>
                  <a:tcPr marL="91440" marR="91440" marT="45720" marB="45720" anchor="ctr">
                    <a:solidFill>
                      <a:srgbClr val="FFFFFF"/>
                    </a:solidFill>
                  </a:tcPr>
                </a:tc>
                <a:tc>
                  <a:txBody>
                    <a:bodyPr lIns="114300" tIns="76200" rIns="114300" bIns="76200">
                      <a:noAutofit/>
                    </a:bodyPr>
                    <a:lstStyle/>
                    <a:p>
                      <a:pPr algn="l"/>
                      <a:r>
                        <a:rPr sz="1800" b="0">
                          <a:solidFill>
                            <a:srgbClr val="14281D"/>
                          </a:solidFill>
                          <a:latin typeface="Arial"/>
                          <a:ea typeface="Arial"/>
                          <a:cs typeface="Arial"/>
                        </a:rPr>
                        <a:t>Reliable service and economics reproduced in a second market</a:t>
                      </a:r>
                    </a:p>
                  </a:txBody>
                  <a:tcPr marL="91440" marR="91440" marT="45720" marB="45720" anchor="ctr">
                    <a:solidFill>
                      <a:srgbClr val="FFFFFF"/>
                    </a:solidFill>
                  </a:tcPr>
                </a:tc>
              </a:tr>
            </a:tbl>
          </a:graphicData>
        </a:graphic>
      </p:graphicFrame>
      <p:sp>
        <p:nvSpPr>
          <p:cNvPr id="6" name="Material risks: off-platform migration, seasonal c">
            <a:extLst xmlns:a="http://schemas.openxmlformats.org/drawingml/2006/main">
              <a:ext uri="{FF2B5EF4-FFF2-40B4-BE49-F238E27FC236}">
                <a16:creationId xmlns:a16="http://schemas.microsoft.com/office/drawing/2014/main" id="{1F44776F-A65A-499C-B496-2358EC0F601C}"/>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Material risks: off-platform migration, seasonal cash needs, high-ticket payment costs and service liability. Expansion pauses when contribution or retention misses the gate.</a:t>
            </a:r>
          </a:p>
        </p:txBody>
      </p:sp>
    </p:spTree>
    <p:extLst>
      <p:ext uri="{BB962C8B-B14F-4D97-AF65-F5344CB8AC3E}">
        <p14:creationId xmlns:p14="http://schemas.microsoft.com/office/powerpoint/2010/main" val="2015638413"/>
      </p:ext>
    </p:extLst>
  </p:cSld>
</p:sld>
</file>

<file path=ppt/slides/slide3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Model mechanics and limits">
            <a:extLst xmlns:a="http://schemas.openxmlformats.org/drawingml/2006/main">
              <a:ext uri="{FF2B5EF4-FFF2-40B4-BE49-F238E27FC236}">
                <a16:creationId xmlns:a16="http://schemas.microsoft.com/office/drawing/2014/main" id="{3EE14FEA-6CB6-468D-AC4B-A0B22727CADB}"/>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Model mechanics and limits</a:t>
            </a:r>
          </a:p>
        </p:txBody>
      </p:sp>
      <p:sp>
        <p:nvSpPr>
          <p:cNvPr id="2" name="The companion workbook exposes the formulas and al">
            <a:extLst xmlns:a="http://schemas.openxmlformats.org/drawingml/2006/main">
              <a:ext uri="{FF2B5EF4-FFF2-40B4-BE49-F238E27FC236}">
                <a16:creationId xmlns:a16="http://schemas.microsoft.com/office/drawing/2014/main" id="{CEA2FD0D-BAFB-493D-B286-61570A66518A}"/>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The companion workbook exposes the formulas and all editable assumptions.</a:t>
            </a:r>
          </a:p>
        </p:txBody>
      </p:sp>
      <p:sp>
        <p:nvSpPr>
          <p:cNvPr id="3" name="YardMatch">
            <a:extLst xmlns:a="http://schemas.openxmlformats.org/drawingml/2006/main">
              <a:ext uri="{FF2B5EF4-FFF2-40B4-BE49-F238E27FC236}">
                <a16:creationId xmlns:a16="http://schemas.microsoft.com/office/drawing/2014/main" id="{92399A25-5F8F-4D91-8755-E3C8A754BC1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5">
            <a:extLst xmlns:a="http://schemas.openxmlformats.org/drawingml/2006/main">
              <a:ext uri="{FF2B5EF4-FFF2-40B4-BE49-F238E27FC236}">
                <a16:creationId xmlns:a16="http://schemas.microsoft.com/office/drawing/2014/main" id="{82B2A7D3-4CB2-44F6-BA5D-94D5E59BAB77}"/>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35</a:t>
            </a:r>
          </a:p>
        </p:txBody>
      </p:sp>
      <p:sp>
        <p:nvSpPr>
          <p:cNvPr id="5" name="Households and paid visits">
            <a:extLst xmlns:a="http://schemas.openxmlformats.org/drawingml/2006/main">
              <a:ext uri="{FF2B5EF4-FFF2-40B4-BE49-F238E27FC236}">
                <a16:creationId xmlns:a16="http://schemas.microsoft.com/office/drawing/2014/main" id="{8AB1A04E-6845-4653-9F1F-616813B66FB9}"/>
              </a:ext>
            </a:extLst>
          </p:cNvPr>
          <p:cNvSpPr>
            <a:spLocks xmlns:a="http://schemas.openxmlformats.org/drawingml/2006/main" noGrp="1"/>
          </p:cNvSpPr>
          <p:nvPr/>
        </p:nvSpPr>
        <p:spPr>
          <a:xfrm xmlns:a="http://schemas.openxmlformats.org/drawingml/2006/main">
            <a:off x="628650"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Households and paid visits</a:t>
            </a:r>
          </a:p>
        </p:txBody>
      </p:sp>
      <p:sp>
        <p:nvSpPr>
          <p:cNvPr id="6" name="Retained households plus half of new households fo">
            <a:extLst xmlns:a="http://schemas.openxmlformats.org/drawingml/2006/main">
              <a:ext uri="{FF2B5EF4-FFF2-40B4-BE49-F238E27FC236}">
                <a16:creationId xmlns:a16="http://schemas.microsoft.com/office/drawing/2014/main" id="{8FF1787A-DCC6-4DDD-AA54-744CC019EDD3}"/>
              </a:ext>
            </a:extLst>
          </p:cNvPr>
          <p:cNvSpPr>
            <a:spLocks xmlns:a="http://schemas.openxmlformats.org/drawingml/2006/main" noGrp="1"/>
          </p:cNvSpPr>
          <p:nvPr/>
        </p:nvSpPr>
        <p:spPr>
          <a:xfrm xmlns:a="http://schemas.openxmlformats.org/drawingml/2006/main">
            <a:off x="628650"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Retained households plus half of new households form the season’s base. Maintenance and separate projects then reflect capture and completion.</a:t>
            </a:r>
          </a:p>
        </p:txBody>
      </p:sp>
      <p:sp>
        <p:nvSpPr>
          <p:cNvPr id="7" name="Retained service economics">
            <a:extLst xmlns:a="http://schemas.openxmlformats.org/drawingml/2006/main">
              <a:ext uri="{FF2B5EF4-FFF2-40B4-BE49-F238E27FC236}">
                <a16:creationId xmlns:a16="http://schemas.microsoft.com/office/drawing/2014/main" id="{07647F6F-166E-4D60-B7AE-7C9CFC00BA59}"/>
              </a:ext>
            </a:extLst>
          </p:cNvPr>
          <p:cNvSpPr>
            <a:spLocks xmlns:a="http://schemas.openxmlformats.org/drawingml/2006/main" noGrp="1"/>
          </p:cNvSpPr>
          <p:nvPr/>
        </p:nvSpPr>
        <p:spPr>
          <a:xfrm xmlns:a="http://schemas.openxmlformats.org/drawingml/2006/main">
            <a:off x="6410325" y="23717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Retained service economics</a:t>
            </a:r>
          </a:p>
        </p:txBody>
      </p:sp>
      <p:sp>
        <p:nvSpPr>
          <p:cNvPr id="8" name="The 2031 base mix retains $2.60 per repeat job aft">
            <a:extLst xmlns:a="http://schemas.openxmlformats.org/drawingml/2006/main">
              <a:ext uri="{FF2B5EF4-FFF2-40B4-BE49-F238E27FC236}">
                <a16:creationId xmlns:a16="http://schemas.microsoft.com/office/drawing/2014/main" id="{51FB3BF2-B3C2-48DA-A139-6414B2893528}"/>
              </a:ext>
            </a:extLst>
          </p:cNvPr>
          <p:cNvSpPr>
            <a:spLocks xmlns:a="http://schemas.openxmlformats.org/drawingml/2006/main" noGrp="1"/>
          </p:cNvSpPr>
          <p:nvPr/>
        </p:nvSpPr>
        <p:spPr>
          <a:xfrm xmlns:a="http://schemas.openxmlformats.org/drawingml/2006/main">
            <a:off x="6410325" y="28956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The 2031 base mix retains $2.60 per repeat job after variable costs. Processing is recovered at cost; acquisition and fixed overhead remain separate.</a:t>
            </a:r>
          </a:p>
        </p:txBody>
      </p:sp>
      <p:sp>
        <p:nvSpPr>
          <p:cNvPr id="9" name="Profit and cash">
            <a:extLst xmlns:a="http://schemas.openxmlformats.org/drawingml/2006/main">
              <a:ext uri="{FF2B5EF4-FFF2-40B4-BE49-F238E27FC236}">
                <a16:creationId xmlns:a16="http://schemas.microsoft.com/office/drawing/2014/main" id="{9DC58D3A-173E-4759-BF08-7171C26B6870}"/>
              </a:ext>
            </a:extLst>
          </p:cNvPr>
          <p:cNvSpPr>
            <a:spLocks xmlns:a="http://schemas.openxmlformats.org/drawingml/2006/main" noGrp="1"/>
          </p:cNvSpPr>
          <p:nvPr/>
        </p:nvSpPr>
        <p:spPr>
          <a:xfrm xmlns:a="http://schemas.openxmlformats.org/drawingml/2006/main">
            <a:off x="628650"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Profit and cash</a:t>
            </a:r>
          </a:p>
        </p:txBody>
      </p:sp>
      <p:sp>
        <p:nvSpPr>
          <p:cNvPr id="10" name="Payroll includes founder pay. Fixed costs run all ">
            <a:extLst xmlns:a="http://schemas.openxmlformats.org/drawingml/2006/main">
              <a:ext uri="{FF2B5EF4-FFF2-40B4-BE49-F238E27FC236}">
                <a16:creationId xmlns:a16="http://schemas.microsoft.com/office/drawing/2014/main" id="{0D9411D2-61A1-49E2-9994-6E00431B5C40}"/>
              </a:ext>
            </a:extLst>
          </p:cNvPr>
          <p:cNvSpPr>
            <a:spLocks xmlns:a="http://schemas.openxmlformats.org/drawingml/2006/main" noGrp="1"/>
          </p:cNvSpPr>
          <p:nvPr/>
        </p:nvSpPr>
        <p:spPr>
          <a:xfrm xmlns:a="http://schemas.openxmlformats.org/drawingml/2006/main">
            <a:off x="628650"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Payroll includes founder pay. Fixed costs run all year. Cash also funds equipment and a modeled risk reserve.</a:t>
            </a:r>
          </a:p>
        </p:txBody>
      </p:sp>
      <p:sp>
        <p:nvSpPr>
          <p:cNvPr id="11" name="A cohort check">
            <a:extLst xmlns:a="http://schemas.openxmlformats.org/drawingml/2006/main">
              <a:ext uri="{FF2B5EF4-FFF2-40B4-BE49-F238E27FC236}">
                <a16:creationId xmlns:a16="http://schemas.microsoft.com/office/drawing/2014/main" id="{6DA4CF6A-EF98-4619-A898-FA69E28EE3D8}"/>
              </a:ext>
            </a:extLst>
          </p:cNvPr>
          <p:cNvSpPr>
            <a:spLocks xmlns:a="http://schemas.openxmlformats.org/drawingml/2006/main" noGrp="1"/>
          </p:cNvSpPr>
          <p:nvPr/>
        </p:nvSpPr>
        <p:spPr>
          <a:xfrm xmlns:a="http://schemas.openxmlformats.org/drawingml/2006/main">
            <a:off x="6410325" y="426720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05938"/>
                </a:solidFill>
                <a:latin typeface="Arial"/>
                <a:ea typeface="Arial"/>
                <a:cs typeface="Arial"/>
              </a:defRPr>
            </a:pPr>
            <a:r>
              <a:rPr sz="2100" b="1">
                <a:solidFill>
                  <a:srgbClr val="205938"/>
                </a:solidFill>
                <a:latin typeface="Arial"/>
                <a:ea typeface="Arial"/>
                <a:cs typeface="Arial"/>
              </a:rPr>
              <a:t>A cohort check</a:t>
            </a:r>
          </a:p>
        </p:txBody>
      </p:sp>
      <p:sp>
        <p:nvSpPr>
          <p:cNvPr id="12" name="Base 2031 economics imply $183 of five-year contri">
            <a:extLst xmlns:a="http://schemas.openxmlformats.org/drawingml/2006/main">
              <a:ext uri="{FF2B5EF4-FFF2-40B4-BE49-F238E27FC236}">
                <a16:creationId xmlns:a16="http://schemas.microsoft.com/office/drawing/2014/main" id="{E1DD94C6-5A91-4CDD-A2CF-6DAC62F059E9}"/>
              </a:ext>
            </a:extLst>
          </p:cNvPr>
          <p:cNvSpPr>
            <a:spLocks xmlns:a="http://schemas.openxmlformats.org/drawingml/2006/main" noGrp="1"/>
          </p:cNvSpPr>
          <p:nvPr/>
        </p:nvSpPr>
        <p:spPr>
          <a:xfrm xmlns:a="http://schemas.openxmlformats.org/drawingml/2006/main">
            <a:off x="6410325" y="479107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4281D"/>
                </a:solidFill>
                <a:latin typeface="Arial"/>
                <a:ea typeface="Arial"/>
                <a:cs typeface="Arial"/>
              </a:defRPr>
            </a:pPr>
            <a:r>
              <a:rPr sz="1875" b="0">
                <a:solidFill>
                  <a:srgbClr val="14281D"/>
                </a:solidFill>
                <a:latin typeface="Arial"/>
                <a:ea typeface="Arial"/>
                <a:cs typeface="Arial"/>
              </a:rPr>
              <a:t>Base 2031 economics imply $183 of five-year contribution versus $44 CAC, or 4.1x. This assumes retention and unchanged cohort economics.</a:t>
            </a:r>
          </a:p>
        </p:txBody>
      </p:sp>
    </p:spTree>
    <p:extLst>
      <p:ext uri="{BB962C8B-B14F-4D97-AF65-F5344CB8AC3E}">
        <p14:creationId xmlns:p14="http://schemas.microsoft.com/office/powerpoint/2010/main" val="986312878"/>
      </p:ext>
    </p:extLst>
  </p:cSld>
</p:sld>
</file>

<file path=ppt/slides/slide3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1" name="Sources and basis">
            <a:extLst xmlns:a="http://schemas.openxmlformats.org/drawingml/2006/main">
              <a:ext uri="{FF2B5EF4-FFF2-40B4-BE49-F238E27FC236}">
                <a16:creationId xmlns:a16="http://schemas.microsoft.com/office/drawing/2014/main" id="{065DFE3B-E5F8-4FC8-91AF-38EA0518E7B6}"/>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Sources and basis</a:t>
            </a:r>
          </a:p>
        </p:txBody>
      </p:sp>
      <p:sp>
        <p:nvSpPr>
          <p:cNvPr id="2" name="Prepared September 21, 2026. Financial projections">
            <a:extLst xmlns:a="http://schemas.openxmlformats.org/drawingml/2006/main">
              <a:ext uri="{FF2B5EF4-FFF2-40B4-BE49-F238E27FC236}">
                <a16:creationId xmlns:a16="http://schemas.microsoft.com/office/drawing/2014/main" id="{5C68DA66-2957-4F2C-BDC9-30B4B82AD5E0}"/>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Prepared September 21, 2026. Financial projections use explicit planning assumptions.</a:t>
            </a:r>
          </a:p>
        </p:txBody>
      </p:sp>
      <p:sp>
        <p:nvSpPr>
          <p:cNvPr id="3" name="YardMatch">
            <a:extLst xmlns:a="http://schemas.openxmlformats.org/drawingml/2006/main">
              <a:ext uri="{FF2B5EF4-FFF2-40B4-BE49-F238E27FC236}">
                <a16:creationId xmlns:a16="http://schemas.microsoft.com/office/drawing/2014/main" id="{A9EC6C8B-19F0-4474-957A-1A83CD0FB682}"/>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6">
            <a:extLst xmlns:a="http://schemas.openxmlformats.org/drawingml/2006/main">
              <a:ext uri="{FF2B5EF4-FFF2-40B4-BE49-F238E27FC236}">
                <a16:creationId xmlns:a16="http://schemas.microsoft.com/office/drawing/2014/main" id="{228FBC76-E1AD-453A-A557-CAF25063D3C1}"/>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36</a:t>
            </a:r>
          </a:p>
        </p:txBody>
      </p:sp>
      <p:sp>
        <p:nvSpPr>
          <p:cNvPr id="5" name="Company materials">
            <a:extLst xmlns:a="http://schemas.openxmlformats.org/drawingml/2006/main">
              <a:ext uri="{FF2B5EF4-FFF2-40B4-BE49-F238E27FC236}">
                <a16:creationId xmlns:a16="http://schemas.microsoft.com/office/drawing/2014/main" id="{E2B66B82-7568-4C5C-8C68-70811459BEE1}"/>
              </a:ext>
            </a:extLst>
          </p:cNvPr>
          <p:cNvSpPr>
            <a:spLocks xmlns:a="http://schemas.openxmlformats.org/drawingml/2006/main" noGrp="1"/>
          </p:cNvSpPr>
          <p:nvPr/>
        </p:nvSpPr>
        <p:spPr>
          <a:xfrm xmlns:a="http://schemas.openxmlformats.org/drawingml/2006/main">
            <a:off x="628650" y="23145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Company materials</a:t>
            </a:r>
          </a:p>
        </p:txBody>
      </p:sp>
      <p:sp>
        <p:nvSpPr>
          <p:cNvPr id="6" name="YardMatch partner pitch, September 2026&#10;Product po">
            <a:extLst xmlns:a="http://schemas.openxmlformats.org/drawingml/2006/main">
              <a:ext uri="{FF2B5EF4-FFF2-40B4-BE49-F238E27FC236}">
                <a16:creationId xmlns:a16="http://schemas.microsoft.com/office/drawing/2014/main" id="{448BB596-1BC2-48B6-AE81-E07F7D5D2619}"/>
              </a:ext>
            </a:extLst>
          </p:cNvPr>
          <p:cNvSpPr>
            <a:spLocks xmlns:a="http://schemas.openxmlformats.org/drawingml/2006/main" noGrp="1"/>
          </p:cNvSpPr>
          <p:nvPr/>
        </p:nvSpPr>
        <p:spPr>
          <a:xfrm xmlns:a="http://schemas.openxmlformats.org/drawingml/2006/main">
            <a:off x="628650" y="2800350"/>
            <a:ext cx="108775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YardMatch partner pitch, September 2026</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Product positioning, role concepts, $45 finder fee and welcome offer</a:t>
            </a:r>
          </a:p>
          <a:p xmlns:a="http://schemas.openxmlformats.org/drawingml/2006/main">
            <a:pPr algn="l">
              <a:defRPr sz="1725" b="0">
                <a:solidFill>
                  <a:srgbClr val="14281D"/>
                </a:solidFill>
                <a:latin typeface="Arial"/>
                <a:ea typeface="Arial"/>
                <a:cs typeface="Arial"/>
              </a:defRPr>
            </a:pPr>
            <a:r>
              <a:rPr sz="1725" b="0">
                <a:solidFill>
                  <a:srgbClr val="14281D"/>
                </a:solidFill>
                <a:latin typeface="Arial"/>
                <a:ea typeface="Arial"/>
                <a:cs typeface="Arial"/>
              </a:rPr>
              <a:t>Repository roadmap and engineering status for local product progress</a:t>
            </a:r>
          </a:p>
        </p:txBody>
      </p:sp>
      <p:sp>
        <p:nvSpPr>
          <p:cNvPr id="7" name="External sources">
            <a:extLst xmlns:a="http://schemas.openxmlformats.org/drawingml/2006/main">
              <a:ext uri="{FF2B5EF4-FFF2-40B4-BE49-F238E27FC236}">
                <a16:creationId xmlns:a16="http://schemas.microsoft.com/office/drawing/2014/main" id="{EBB2F876-895F-4654-AE9E-86D2A80CF227}"/>
              </a:ext>
            </a:extLst>
          </p:cNvPr>
          <p:cNvSpPr>
            <a:spLocks xmlns:a="http://schemas.openxmlformats.org/drawingml/2006/main" noGrp="1"/>
          </p:cNvSpPr>
          <p:nvPr/>
        </p:nvSpPr>
        <p:spPr>
          <a:xfrm xmlns:a="http://schemas.openxmlformats.org/drawingml/2006/main">
            <a:off x="628650" y="3876675"/>
            <a:ext cx="371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05938"/>
                </a:solidFill>
                <a:latin typeface="Arial"/>
                <a:ea typeface="Arial"/>
                <a:cs typeface="Arial"/>
              </a:defRPr>
            </a:pPr>
            <a:r>
              <a:rPr sz="2025" b="1">
                <a:solidFill>
                  <a:srgbClr val="205938"/>
                </a:solidFill>
                <a:latin typeface="Arial"/>
                <a:ea typeface="Arial"/>
                <a:cs typeface="Arial"/>
              </a:rPr>
              <a:t>External sources</a:t>
            </a:r>
          </a:p>
        </p:txBody>
      </p:sp>
      <p:sp>
        <p:nvSpPr>
          <p:cNvPr id="8" name="Stripe Payments pricing">
            <a:extLst xmlns:a="http://schemas.openxmlformats.org/drawingml/2006/main">
              <a:ext uri="{FF2B5EF4-FFF2-40B4-BE49-F238E27FC236}">
                <a16:creationId xmlns:a16="http://schemas.microsoft.com/office/drawing/2014/main" id="{BCBCEE04-C295-43F9-947C-DF1C17D902AC}"/>
              </a:ext>
            </a:extLst>
          </p:cNvPr>
          <p:cNvSpPr>
            <a:spLocks xmlns:a="http://schemas.openxmlformats.org/drawingml/2006/main" noGrp="1"/>
          </p:cNvSpPr>
          <p:nvPr/>
        </p:nvSpPr>
        <p:spPr>
          <a:xfrm xmlns:a="http://schemas.openxmlformats.org/drawingml/2006/main">
            <a:off x="62865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4cad295eeef49f9"/>
              </a:rPr>
              <a:t>Stripe Payments pricing</a:t>
            </a:r>
          </a:p>
        </p:txBody>
      </p:sp>
      <p:sp>
        <p:nvSpPr>
          <p:cNvPr id="9" name="Stripe Connect pricing">
            <a:extLst xmlns:a="http://schemas.openxmlformats.org/drawingml/2006/main">
              <a:ext uri="{FF2B5EF4-FFF2-40B4-BE49-F238E27FC236}">
                <a16:creationId xmlns:a16="http://schemas.microsoft.com/office/drawing/2014/main" id="{9FCE84B7-6D84-448F-9757-5EAECE170E47}"/>
              </a:ext>
            </a:extLst>
          </p:cNvPr>
          <p:cNvSpPr>
            <a:spLocks xmlns:a="http://schemas.openxmlformats.org/drawingml/2006/main" noGrp="1"/>
          </p:cNvSpPr>
          <p:nvPr/>
        </p:nvSpPr>
        <p:spPr>
          <a:xfrm xmlns:a="http://schemas.openxmlformats.org/drawingml/2006/main">
            <a:off x="62865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b5d14e9eb4b465f"/>
              </a:rPr>
              <a:t>Stripe Connect pricing</a:t>
            </a:r>
          </a:p>
        </p:txBody>
      </p:sp>
      <p:sp>
        <p:nvSpPr>
          <p:cNvPr id="10" name="Stripe Financial Connections">
            <a:extLst xmlns:a="http://schemas.openxmlformats.org/drawingml/2006/main">
              <a:ext uri="{FF2B5EF4-FFF2-40B4-BE49-F238E27FC236}">
                <a16:creationId xmlns:a16="http://schemas.microsoft.com/office/drawing/2014/main" id="{206A0FC6-F492-4DBF-830D-39B56004C36B}"/>
              </a:ext>
            </a:extLst>
          </p:cNvPr>
          <p:cNvSpPr>
            <a:spLocks xmlns:a="http://schemas.openxmlformats.org/drawingml/2006/main" noGrp="1"/>
          </p:cNvSpPr>
          <p:nvPr/>
        </p:nvSpPr>
        <p:spPr>
          <a:xfrm xmlns:a="http://schemas.openxmlformats.org/drawingml/2006/main">
            <a:off x="62865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8fd9b309a2d4048"/>
              </a:rPr>
              <a:t>Stripe Financial Connections</a:t>
            </a:r>
          </a:p>
        </p:txBody>
      </p:sp>
      <p:sp>
        <p:nvSpPr>
          <p:cNvPr id="11" name="Zocdoc: current pricing help">
            <a:extLst xmlns:a="http://schemas.openxmlformats.org/drawingml/2006/main">
              <a:ext uri="{FF2B5EF4-FFF2-40B4-BE49-F238E27FC236}">
                <a16:creationId xmlns:a16="http://schemas.microsoft.com/office/drawing/2014/main" id="{CD293A22-33F3-4C96-9AC7-79071E54E333}"/>
              </a:ext>
            </a:extLst>
          </p:cNvPr>
          <p:cNvSpPr>
            <a:spLocks xmlns:a="http://schemas.openxmlformats.org/drawingml/2006/main" noGrp="1"/>
          </p:cNvSpPr>
          <p:nvPr/>
        </p:nvSpPr>
        <p:spPr>
          <a:xfrm xmlns:a="http://schemas.openxmlformats.org/drawingml/2006/main">
            <a:off x="62865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9d339a4372348a9"/>
              </a:rPr>
              <a:t>Zocdoc: current pricing help</a:t>
            </a:r>
          </a:p>
        </p:txBody>
      </p:sp>
      <p:sp>
        <p:nvSpPr>
          <p:cNvPr id="12" name="Zocdoc: published booking-fee range">
            <a:extLst xmlns:a="http://schemas.openxmlformats.org/drawingml/2006/main">
              <a:ext uri="{FF2B5EF4-FFF2-40B4-BE49-F238E27FC236}">
                <a16:creationId xmlns:a16="http://schemas.microsoft.com/office/drawing/2014/main" id="{BE9CD9E9-D31A-4560-8C57-C88E0C07ECA9}"/>
              </a:ext>
            </a:extLst>
          </p:cNvPr>
          <p:cNvSpPr>
            <a:spLocks xmlns:a="http://schemas.openxmlformats.org/drawingml/2006/main" noGrp="1"/>
          </p:cNvSpPr>
          <p:nvPr/>
        </p:nvSpPr>
        <p:spPr>
          <a:xfrm xmlns:a="http://schemas.openxmlformats.org/drawingml/2006/main">
            <a:off x="62865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a85d79fe5caa46a7"/>
              </a:rPr>
              <a:t>Zocdoc: published booking-fee range</a:t>
            </a:r>
          </a:p>
        </p:txBody>
      </p:sp>
      <p:sp>
        <p:nvSpPr>
          <p:cNvPr id="13" name="Visa: interchange and merchant fees">
            <a:extLst xmlns:a="http://schemas.openxmlformats.org/drawingml/2006/main">
              <a:ext uri="{FF2B5EF4-FFF2-40B4-BE49-F238E27FC236}">
                <a16:creationId xmlns:a16="http://schemas.microsoft.com/office/drawing/2014/main" id="{22EA89A4-5263-4929-82FE-925EDE98D46D}"/>
              </a:ext>
            </a:extLst>
          </p:cNvPr>
          <p:cNvSpPr>
            <a:spLocks xmlns:a="http://schemas.openxmlformats.org/drawingml/2006/main" noGrp="1"/>
          </p:cNvSpPr>
          <p:nvPr/>
        </p:nvSpPr>
        <p:spPr>
          <a:xfrm xmlns:a="http://schemas.openxmlformats.org/drawingml/2006/main">
            <a:off x="62865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2ed63299ae7e4fe9"/>
              </a:rPr>
              <a:t>Visa: interchange and merchant fees</a:t>
            </a:r>
          </a:p>
        </p:txBody>
      </p:sp>
      <p:sp>
        <p:nvSpPr>
          <p:cNvPr id="14" name="Federal Reserve: ACH fees">
            <a:extLst xmlns:a="http://schemas.openxmlformats.org/drawingml/2006/main">
              <a:ext uri="{FF2B5EF4-FFF2-40B4-BE49-F238E27FC236}">
                <a16:creationId xmlns:a16="http://schemas.microsoft.com/office/drawing/2014/main" id="{B921B4DC-EBB0-4FF5-A657-E5AB565DAD5F}"/>
              </a:ext>
            </a:extLst>
          </p:cNvPr>
          <p:cNvSpPr>
            <a:spLocks xmlns:a="http://schemas.openxmlformats.org/drawingml/2006/main" noGrp="1"/>
          </p:cNvSpPr>
          <p:nvPr/>
        </p:nvSpPr>
        <p:spPr>
          <a:xfrm xmlns:a="http://schemas.openxmlformats.org/drawingml/2006/main">
            <a:off x="6400800" y="43529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638610760824897"/>
              </a:rPr>
              <a:t>Federal Reserve: ACH fees</a:t>
            </a:r>
          </a:p>
        </p:txBody>
      </p:sp>
      <p:sp>
        <p:nvSpPr>
          <p:cNvPr id="15" name="PCI Security Standards Council">
            <a:extLst xmlns:a="http://schemas.openxmlformats.org/drawingml/2006/main">
              <a:ext uri="{FF2B5EF4-FFF2-40B4-BE49-F238E27FC236}">
                <a16:creationId xmlns:a16="http://schemas.microsoft.com/office/drawing/2014/main" id="{09CCD5C1-F75D-407F-B59A-520257454E9F}"/>
              </a:ext>
            </a:extLst>
          </p:cNvPr>
          <p:cNvSpPr>
            <a:spLocks xmlns:a="http://schemas.openxmlformats.org/drawingml/2006/main" noGrp="1"/>
          </p:cNvSpPr>
          <p:nvPr/>
        </p:nvSpPr>
        <p:spPr>
          <a:xfrm xmlns:a="http://schemas.openxmlformats.org/drawingml/2006/main">
            <a:off x="6400800" y="46101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68901354806840a7"/>
              </a:rPr>
              <a:t>PCI Security Standards Council</a:t>
            </a:r>
          </a:p>
        </p:txBody>
      </p:sp>
      <p:sp>
        <p:nvSpPr>
          <p:cNvPr id="16" name="Census QuickFacts: Barnegat">
            <a:extLst xmlns:a="http://schemas.openxmlformats.org/drawingml/2006/main">
              <a:ext uri="{FF2B5EF4-FFF2-40B4-BE49-F238E27FC236}">
                <a16:creationId xmlns:a16="http://schemas.microsoft.com/office/drawing/2014/main" id="{0F322BCE-5F53-4918-BF92-AC1793F74704}"/>
              </a:ext>
            </a:extLst>
          </p:cNvPr>
          <p:cNvSpPr>
            <a:spLocks xmlns:a="http://schemas.openxmlformats.org/drawingml/2006/main" noGrp="1"/>
          </p:cNvSpPr>
          <p:nvPr/>
        </p:nvSpPr>
        <p:spPr>
          <a:xfrm xmlns:a="http://schemas.openxmlformats.org/drawingml/2006/main">
            <a:off x="6400800" y="486727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9758f507320f4639"/>
              </a:rPr>
              <a:t>Census QuickFacts: Barnegat</a:t>
            </a:r>
          </a:p>
        </p:txBody>
      </p:sp>
      <p:sp>
        <p:nvSpPr>
          <p:cNvPr id="17" name="Jobber: software pricing">
            <a:extLst xmlns:a="http://schemas.openxmlformats.org/drawingml/2006/main">
              <a:ext uri="{FF2B5EF4-FFF2-40B4-BE49-F238E27FC236}">
                <a16:creationId xmlns:a16="http://schemas.microsoft.com/office/drawing/2014/main" id="{36D5D5EF-A69E-4788-925A-EAE249462BBC}"/>
              </a:ext>
            </a:extLst>
          </p:cNvPr>
          <p:cNvSpPr>
            <a:spLocks xmlns:a="http://schemas.openxmlformats.org/drawingml/2006/main" noGrp="1"/>
          </p:cNvSpPr>
          <p:nvPr/>
        </p:nvSpPr>
        <p:spPr>
          <a:xfrm xmlns:a="http://schemas.openxmlformats.org/drawingml/2006/main">
            <a:off x="6400800" y="512445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41588ee5ee0249da"/>
              </a:rPr>
              <a:t>Jobber: software pricing</a:t>
            </a:r>
          </a:p>
        </p:txBody>
      </p:sp>
      <p:sp>
        <p:nvSpPr>
          <p:cNvPr id="18" name="Zocdoc: Sponsored Results cost">
            <a:extLst xmlns:a="http://schemas.openxmlformats.org/drawingml/2006/main">
              <a:ext uri="{FF2B5EF4-FFF2-40B4-BE49-F238E27FC236}">
                <a16:creationId xmlns:a16="http://schemas.microsoft.com/office/drawing/2014/main" id="{9F261F8F-94AF-4088-A79E-54A77BDE900B}"/>
              </a:ext>
            </a:extLst>
          </p:cNvPr>
          <p:cNvSpPr>
            <a:spLocks xmlns:a="http://schemas.openxmlformats.org/drawingml/2006/main" noGrp="1"/>
          </p:cNvSpPr>
          <p:nvPr/>
        </p:nvSpPr>
        <p:spPr>
          <a:xfrm xmlns:a="http://schemas.openxmlformats.org/drawingml/2006/main">
            <a:off x="6400800" y="5381625"/>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c6e8390e5b744e8a"/>
              </a:rPr>
              <a:t>Zocdoc: Sponsored Results cost</a:t>
            </a:r>
          </a:p>
        </p:txBody>
      </p:sp>
      <p:sp>
        <p:nvSpPr>
          <p:cNvPr id="19" name="Stripe Billing pricing">
            <a:extLst xmlns:a="http://schemas.openxmlformats.org/drawingml/2006/main">
              <a:ext uri="{FF2B5EF4-FFF2-40B4-BE49-F238E27FC236}">
                <a16:creationId xmlns:a16="http://schemas.microsoft.com/office/drawing/2014/main" id="{0B995F9D-C53B-4846-8087-E8AF09FEBAD5}"/>
              </a:ext>
            </a:extLst>
          </p:cNvPr>
          <p:cNvSpPr>
            <a:spLocks xmlns:a="http://schemas.openxmlformats.org/drawingml/2006/main" noGrp="1"/>
          </p:cNvSpPr>
          <p:nvPr/>
        </p:nvSpPr>
        <p:spPr>
          <a:xfrm xmlns:a="http://schemas.openxmlformats.org/drawingml/2006/main">
            <a:off x="6400800" y="5638800"/>
            <a:ext cx="51530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205938"/>
                </a:solidFill>
                <a:latin typeface="Arial"/>
                <a:ea typeface="Arial"/>
                <a:cs typeface="Arial"/>
              </a:defRPr>
            </a:pPr>
            <a:r>
              <a:rPr sz="1425" b="0">
                <a:solidFill>
                  <a:srgbClr val="205938"/>
                </a:solidFill>
                <a:latin typeface="Arial"/>
                <a:ea typeface="Arial"/>
                <a:cs typeface="Arial"/>
                <a:hlinkClick xmlns:r="http://schemas.openxmlformats.org/officeDocument/2006/relationships" r:id="Rd71701c6d1374afc"/>
              </a:rPr>
              <a:t>Stripe Billing pricing</a:t>
            </a:r>
          </a:p>
        </p:txBody>
      </p:sp>
      <p:sp>
        <p:nvSpPr>
          <p:cNvPr id="20" name="External references are linked. Full citations are">
            <a:extLst xmlns:a="http://schemas.openxmlformats.org/drawingml/2006/main">
              <a:ext uri="{FF2B5EF4-FFF2-40B4-BE49-F238E27FC236}">
                <a16:creationId xmlns:a16="http://schemas.microsoft.com/office/drawing/2014/main" id="{91F98F2A-DEBE-43D5-B4B2-F6793721341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External references are linked. Full citations are also in PowerPoint notes. Growth, costs, financing terms and exit values are assumptions. No historical financial statements were supplied.</a:t>
            </a:r>
          </a:p>
        </p:txBody>
      </p:sp>
    </p:spTree>
    <p:extLst>
      <p:ext uri="{BB962C8B-B14F-4D97-AF65-F5344CB8AC3E}">
        <p14:creationId xmlns:p14="http://schemas.microsoft.com/office/powerpoint/2010/main" val="1523224367"/>
      </p:ext>
    </p:extLst>
  </p:cSld>
</p:sld>
</file>

<file path=ppt/slides/slide3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A6C5544D-7338-4AC2-91F4-40198863A971}"/>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1–7. All links open the ">
            <a:extLst xmlns:a="http://schemas.openxmlformats.org/drawingml/2006/main">
              <a:ext uri="{FF2B5EF4-FFF2-40B4-BE49-F238E27FC236}">
                <a16:creationId xmlns:a16="http://schemas.microsoft.com/office/drawing/2014/main" id="{DDC9D8D9-69E2-4105-923A-9C4355E615F4}"/>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1–7. All links open the underlying municipal table.</a:t>
            </a:r>
          </a:p>
        </p:txBody>
      </p:sp>
      <p:sp>
        <p:nvSpPr>
          <p:cNvPr id="3" name="YardMatch">
            <a:extLst xmlns:a="http://schemas.openxmlformats.org/drawingml/2006/main">
              <a:ext uri="{FF2B5EF4-FFF2-40B4-BE49-F238E27FC236}">
                <a16:creationId xmlns:a16="http://schemas.microsoft.com/office/drawing/2014/main" id="{A0C61F0C-0AE9-4A12-8D9C-142E7512697F}"/>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7">
            <a:extLst xmlns:a="http://schemas.openxmlformats.org/drawingml/2006/main">
              <a:ext uri="{FF2B5EF4-FFF2-40B4-BE49-F238E27FC236}">
                <a16:creationId xmlns:a16="http://schemas.microsoft.com/office/drawing/2014/main" id="{58F046A5-6090-4F82-84EE-C9136781E0B3}"/>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37</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3b10431a5434e1d"/>
                        </a:rPr>
                        <a:t>Barnegat</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10,265</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$91,540</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8d432959b03843a7"/>
                        </a:rPr>
                        <a:t>Stafford</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12,007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90.3%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$117,612</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1388d0998f2e43cd"/>
                        </a:rPr>
                        <a:t>Lacey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11,338</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$102,624</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9d1e5b665e2416e"/>
                        </a:rPr>
                        <a:t>Ocean / Waretown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3,908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$100,524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feff6be0c320473f"/>
                        </a:rPr>
                        <a:t>Berkeley</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21,950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$66,008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966d1bc08c634ea2"/>
                        </a:rPr>
                        <a:t>Toms River</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38,047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82.1%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$99,547</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bf963d5e3fd434d"/>
                        </a:rPr>
                        <a:t>Brick</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30,289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82.2%</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$106,130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26B9121E-5799-408B-86BC-F03A0B009094}"/>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907521707"/>
      </p:ext>
    </p:extLst>
  </p:cSld>
</p:sld>
</file>

<file path=ppt/slides/slide3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7" name="Geographic evidence and planning inputs">
            <a:extLst xmlns:a="http://schemas.openxmlformats.org/drawingml/2006/main">
              <a:ext uri="{FF2B5EF4-FFF2-40B4-BE49-F238E27FC236}">
                <a16:creationId xmlns:a16="http://schemas.microsoft.com/office/drawing/2014/main" id="{323D836F-9F8E-44E2-8336-0988D2C8A17E}"/>
              </a:ext>
            </a:extLst>
          </p:cNvPr>
          <p:cNvSpPr>
            <a:spLocks xmlns:a="http://schemas.openxmlformats.org/drawingml/2006/main" noGrp="1"/>
          </p:cNvSpPr>
          <p:nvPr/>
        </p:nvSpPr>
        <p:spPr>
          <a:xfrm xmlns:a="http://schemas.openxmlformats.org/drawingml/2006/main">
            <a:off x="609600" y="4762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14281D"/>
                </a:solidFill>
                <a:latin typeface="Georgia"/>
                <a:ea typeface="Georgia"/>
                <a:cs typeface="Georgia"/>
              </a:defRPr>
            </a:pPr>
            <a:r>
              <a:rPr sz="3600" b="0">
                <a:solidFill>
                  <a:srgbClr val="14281D"/>
                </a:solidFill>
                <a:latin typeface="Georgia"/>
                <a:ea typeface="Georgia"/>
                <a:cs typeface="Georgia"/>
              </a:rPr>
              <a:t>Geographic evidence and planning inputs</a:t>
            </a:r>
          </a:p>
        </p:txBody>
      </p:sp>
      <p:sp>
        <p:nvSpPr>
          <p:cNvPr id="2" name="Census QuickFacts sources 8–14. All links open the">
            <a:extLst xmlns:a="http://schemas.openxmlformats.org/drawingml/2006/main">
              <a:ext uri="{FF2B5EF4-FFF2-40B4-BE49-F238E27FC236}">
                <a16:creationId xmlns:a16="http://schemas.microsoft.com/office/drawing/2014/main" id="{637FC717-562E-4C13-9B5A-392FC4236FC1}"/>
              </a:ext>
            </a:extLst>
          </p:cNvPr>
          <p:cNvSpPr>
            <a:spLocks xmlns:a="http://schemas.openxmlformats.org/drawingml/2006/main" noGrp="1"/>
          </p:cNvSpPr>
          <p:nvPr/>
        </p:nvSpPr>
        <p:spPr>
          <a:xfrm xmlns:a="http://schemas.openxmlformats.org/drawingml/2006/main">
            <a:off x="628650" y="1600200"/>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6756A"/>
                </a:solidFill>
                <a:latin typeface="Arial"/>
                <a:ea typeface="Arial"/>
                <a:cs typeface="Arial"/>
              </a:defRPr>
            </a:pPr>
            <a:r>
              <a:rPr sz="1725" b="0">
                <a:solidFill>
                  <a:srgbClr val="66756A"/>
                </a:solidFill>
                <a:latin typeface="Arial"/>
                <a:ea typeface="Arial"/>
                <a:cs typeface="Arial"/>
              </a:rPr>
              <a:t>Census QuickFacts sources 8–14. All links open the underlying municipal table.</a:t>
            </a:r>
          </a:p>
        </p:txBody>
      </p:sp>
      <p:sp>
        <p:nvSpPr>
          <p:cNvPr id="3" name="YardMatch">
            <a:extLst xmlns:a="http://schemas.openxmlformats.org/drawingml/2006/main">
              <a:ext uri="{FF2B5EF4-FFF2-40B4-BE49-F238E27FC236}">
                <a16:creationId xmlns:a16="http://schemas.microsoft.com/office/drawing/2014/main" id="{5F0A5803-4C42-4CE9-85E8-40C4596FA019}"/>
              </a:ext>
            </a:extLst>
          </p:cNvPr>
          <p:cNvSpPr>
            <a:spLocks xmlns:a="http://schemas.openxmlformats.org/drawingml/2006/main" noGrp="1"/>
          </p:cNvSpPr>
          <p:nvPr/>
        </p:nvSpPr>
        <p:spPr>
          <a:xfrm xmlns:a="http://schemas.openxmlformats.org/drawingml/2006/main">
            <a:off x="609600" y="6477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1">
                <a:solidFill>
                  <a:srgbClr val="66756A"/>
                </a:solidFill>
                <a:latin typeface="Arial"/>
                <a:ea typeface="Arial"/>
                <a:cs typeface="Arial"/>
              </a:defRPr>
            </a:pPr>
            <a:r>
              <a:rPr sz="1050" b="1">
                <a:solidFill>
                  <a:srgbClr val="66756A"/>
                </a:solidFill>
                <a:latin typeface="Arial"/>
                <a:ea typeface="Arial"/>
                <a:cs typeface="Arial"/>
              </a:rPr>
              <a:t>YardMatch</a:t>
            </a:r>
          </a:p>
        </p:txBody>
      </p:sp>
      <p:sp>
        <p:nvSpPr>
          <p:cNvPr id="4" name="38">
            <a:extLst xmlns:a="http://schemas.openxmlformats.org/drawingml/2006/main">
              <a:ext uri="{FF2B5EF4-FFF2-40B4-BE49-F238E27FC236}">
                <a16:creationId xmlns:a16="http://schemas.microsoft.com/office/drawing/2014/main" id="{37BF89E7-6B0B-44EB-A4CF-FDB57303B332}"/>
              </a:ext>
            </a:extLst>
          </p:cNvPr>
          <p:cNvSpPr>
            <a:spLocks xmlns:a="http://schemas.openxmlformats.org/drawingml/2006/main" noGrp="1"/>
          </p:cNvSpPr>
          <p:nvPr/>
        </p:nvSpPr>
        <p:spPr>
          <a:xfrm xmlns:a="http://schemas.openxmlformats.org/drawingml/2006/main">
            <a:off x="10953750" y="6477000"/>
            <a:ext cx="628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050" b="0">
                <a:solidFill>
                  <a:srgbClr val="66756A"/>
                </a:solidFill>
                <a:latin typeface="Arial"/>
                <a:ea typeface="Arial"/>
                <a:cs typeface="Arial"/>
              </a:defRPr>
            </a:pPr>
            <a:r>
              <a:rPr sz="1050" b="0">
                <a:solidFill>
                  <a:srgbClr val="66756A"/>
                </a:solidFill>
                <a:latin typeface="Arial"/>
                <a:ea typeface="Arial"/>
                <a:cs typeface="Arial"/>
              </a:rPr>
              <a:t>38</a:t>
            </a:r>
          </a:p>
        </p:txBody>
      </p:sp>
      <p:graphicFrame>
        <p:nvGraphicFramePr>
          <p:cNvPr id="11" name=""/>
          <p:cNvGraphicFramePr/>
          <p:nvPr/>
        </p:nvGraphicFramePr>
        <p:xfrm>
          <a:off xmlns:a="http://schemas.openxmlformats.org/drawingml/2006/main" x="609600" y="2324100"/>
          <a:ext xmlns:a="http://schemas.openxmlformats.org/drawingml/2006/main" cx="10972800" cy="3333750"/>
        </p:xfrm>
        <a:graphic xmlns:a="http://schemas.openxmlformats.org/drawingml/2006/main">
          <a:graphicData uri="http://schemas.openxmlformats.org/drawingml/2006/table">
            <a:tbl>
              <a:tblPr/>
              <a:tblGrid>
                <a:gridCol w="4324350"/>
                <a:gridCol w="2047875"/>
                <a:gridCol w="2047875"/>
                <a:gridCol w="2552700"/>
              </a:tblGrid>
              <a:tr h="416719">
                <a:tc>
                  <a:txBody>
                    <a:bodyPr lIns="114300" tIns="76200" rIns="114300" bIns="76200">
                      <a:noAutofit/>
                    </a:bodyPr>
                    <a:lstStyle/>
                    <a:p>
                      <a:pPr algn="l"/>
                      <a:r>
                        <a:rPr sz="1725" b="1">
                          <a:solidFill>
                            <a:srgbClr val="FFFFFF"/>
                          </a:solidFill>
                          <a:latin typeface="Arial"/>
                          <a:ea typeface="Arial"/>
                          <a:cs typeface="Arial"/>
                        </a:rPr>
                        <a:t>Municipality</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Households</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Owner share</a:t>
                      </a:r>
                    </a:p>
                  </a:txBody>
                  <a:tcPr marL="91440" marR="91440" marT="45720" marB="45720" anchor="ctr">
                    <a:solidFill>
                      <a:srgbClr val="205938"/>
                    </a:solidFill>
                  </a:tcPr>
                </a:tc>
                <a:tc>
                  <a:txBody>
                    <a:bodyPr lIns="114300" tIns="76200" rIns="114300" bIns="76200">
                      <a:noAutofit/>
                    </a:bodyPr>
                    <a:lstStyle/>
                    <a:p>
                      <a:pPr algn="l"/>
                      <a:r>
                        <a:rPr sz="1725" b="1">
                          <a:solidFill>
                            <a:srgbClr val="FFFFFF"/>
                          </a:solidFill>
                          <a:latin typeface="Arial"/>
                          <a:ea typeface="Arial"/>
                          <a:cs typeface="Arial"/>
                        </a:rPr>
                        <a:t>Median income</a:t>
                      </a:r>
                    </a:p>
                  </a:txBody>
                  <a:tcPr marL="91440" marR="91440" marT="45720" marB="45720" anchor="ctr">
                    <a:solidFill>
                      <a:srgbClr val="205938"/>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5b508099dcc94ebe"/>
                        </a:rPr>
                        <a:t>Jackson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20,633</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87.0%</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$115,511</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3531cfa703c447ef"/>
                        </a:rPr>
                        <a:t>Howell</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19,134</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88.8%</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$134,854</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c84775e585ad406f"/>
                        </a:rPr>
                        <a:t>Wall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10,124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83.4%</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$142,768</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222ef6956a0d4d78"/>
                        </a:rPr>
                        <a:t>Middletown</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25,211</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85.7%</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$141,810</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767f350277284273"/>
                        </a:rPr>
                        <a:t>Holmdel</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6,429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91.6%</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$165,013</a:t>
                      </a:r>
                    </a:p>
                  </a:txBody>
                  <a:tcPr marL="91440" marR="91440" marT="45720" marB="45720" anchor="ctr">
                    <a:solidFill>
                      <a:srgbClr val="FFFFF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b35f43dc9e54b67"/>
                        </a:rPr>
                        <a:t>Colts Neck</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3,610</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94.3%</a:t>
                      </a:r>
                    </a:p>
                  </a:txBody>
                  <a:tcPr marL="91440" marR="91440" marT="45720" marB="45720" anchor="ctr">
                    <a:solidFill>
                      <a:srgbClr val="F7F5EF"/>
                    </a:solidFill>
                  </a:tcPr>
                </a:tc>
                <a:tc>
                  <a:txBody>
                    <a:bodyPr lIns="114300" tIns="76200" rIns="114300" bIns="76200">
                      <a:noAutofit/>
                    </a:bodyPr>
                    <a:lstStyle/>
                    <a:p>
                      <a:pPr algn="r"/>
                      <a:r>
                        <a:rPr sz="1725" b="0">
                          <a:solidFill>
                            <a:srgbClr val="14281D"/>
                          </a:solidFill>
                          <a:latin typeface="Arial"/>
                          <a:ea typeface="Arial"/>
                          <a:cs typeface="Arial"/>
                        </a:rPr>
                        <a:t>$199,573</a:t>
                      </a:r>
                    </a:p>
                  </a:txBody>
                  <a:tcPr marL="91440" marR="91440" marT="45720" marB="45720" anchor="ctr">
                    <a:solidFill>
                      <a:srgbClr val="F7F5EF"/>
                    </a:solidFill>
                  </a:tcPr>
                </a:tc>
              </a:tr>
              <a:tr h="416719">
                <a:tc>
                  <a:txBody>
                    <a:bodyPr lIns="114300" tIns="76200" rIns="114300" bIns="76200">
                      <a:noAutofit/>
                    </a:bodyPr>
                    <a:lstStyle/>
                    <a:p>
                      <a:pPr algn="l"/>
                      <a:r>
                        <a:rPr sz="1725" b="0">
                          <a:solidFill>
                            <a:srgbClr val="14281D"/>
                          </a:solidFill>
                          <a:latin typeface="Arial"/>
                          <a:ea typeface="Arial"/>
                          <a:cs typeface="Arial"/>
                          <a:hlinkClick xmlns:r="http://schemas.openxmlformats.org/officeDocument/2006/relationships" r:id="R07e33f2789054466"/>
                        </a:rPr>
                        <a:t>Rumson</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2,451</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92.9%</a:t>
                      </a:r>
                    </a:p>
                  </a:txBody>
                  <a:tcPr marL="91440" marR="91440" marT="45720" marB="45720" anchor="ctr">
                    <a:solidFill>
                      <a:srgbClr val="FFFFFF"/>
                    </a:solidFill>
                  </a:tcPr>
                </a:tc>
                <a:tc>
                  <a:txBody>
                    <a:bodyPr lIns="114300" tIns="76200" rIns="114300" bIns="76200">
                      <a:noAutofit/>
                    </a:bodyPr>
                    <a:lstStyle/>
                    <a:p>
                      <a:pPr algn="r"/>
                      <a:r>
                        <a:rPr sz="1725" b="0">
                          <a:solidFill>
                            <a:srgbClr val="14281D"/>
                          </a:solidFill>
                          <a:latin typeface="Arial"/>
                          <a:ea typeface="Arial"/>
                          <a:cs typeface="Arial"/>
                        </a:rPr>
                        <a:t>$250,000+</a:t>
                      </a:r>
                    </a:p>
                  </a:txBody>
                  <a:tcPr marL="91440" marR="91440" marT="45720" marB="45720" anchor="ctr">
                    <a:solidFill>
                      <a:srgbClr val="FFFFFF"/>
                    </a:solidFill>
                  </a:tcPr>
                </a:tc>
              </a:tr>
            </a:tbl>
          </a:graphicData>
        </a:graphic>
      </p:graphicFrame>
      <p:sp>
        <p:nvSpPr>
          <p:cNvPr id="6" name="Lawn eligibility, outsourcing, lot size, price pre">
            <a:extLst xmlns:a="http://schemas.openxmlformats.org/drawingml/2006/main">
              <a:ext uri="{FF2B5EF4-FFF2-40B4-BE49-F238E27FC236}">
                <a16:creationId xmlns:a16="http://schemas.microsoft.com/office/drawing/2014/main" id="{29775535-CEE6-4E8D-9CC6-64DEB09A7049}"/>
              </a:ext>
            </a:extLst>
          </p:cNvPr>
          <p:cNvSpPr>
            <a:spLocks xmlns:a="http://schemas.openxmlformats.org/drawingml/2006/main" noGrp="1"/>
          </p:cNvSpPr>
          <p:nvPr/>
        </p:nvSpPr>
        <p:spPr>
          <a:xfrm xmlns:a="http://schemas.openxmlformats.org/drawingml/2006/main">
            <a:off x="628650" y="59245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6756A"/>
                </a:solidFill>
                <a:latin typeface="Arial"/>
                <a:ea typeface="Arial"/>
                <a:cs typeface="Arial"/>
              </a:defRPr>
            </a:pPr>
            <a:r>
              <a:rPr sz="1200" b="0">
                <a:solidFill>
                  <a:srgbClr val="66756A"/>
                </a:solidFill>
                <a:latin typeface="Arial"/>
                <a:ea typeface="Arial"/>
                <a:cs typeface="Arial"/>
              </a:rPr>
              <a:t>Lawn eligibility, outsourcing, lot size, price premiums, launch timing and capacity are YardMatch assumptions, not Census findings. Editable sources and inputs appear in the workbook.</a:t>
            </a:r>
          </a:p>
        </p:txBody>
      </p:sp>
    </p:spTree>
    <p:extLst>
      <p:ext uri="{BB962C8B-B14F-4D97-AF65-F5344CB8AC3E}">
        <p14:creationId xmlns:p14="http://schemas.microsoft.com/office/powerpoint/2010/main" val="839446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2026-09-21T04:08:15.6210000Z</dcterms:created>
  <dcterms:modified xsi:type="dcterms:W3CDTF">2026-09-21T04:08:15.6210000Z</dcterms:modified>
</coreProperties>
</file>