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71ee74d797440c0" /><Relationship Type="http://schemas.openxmlformats.org/officeDocument/2006/relationships/extended-properties" Target="/docProps/app.xml" Id="Rf2bd1bd37e8a4289" /><Relationship Type="http://schemas.openxmlformats.org/officeDocument/2006/relationships/officeDocument" Target="/ppt/presentation.xml" Id="Rd12c9c76d6cc4bcb" /></Relationships>
</file>

<file path=ppt/presentation.xml><?xml version="1.0" encoding="utf-8"?>
<p:presentation xmlns:p="http://schemas.openxmlformats.org/presentationml/2006/main">
  <p:sldMasterIdLst>
    <p:sldMasterId xmlns:r="http://schemas.openxmlformats.org/officeDocument/2006/relationships" id="2147483648" r:id="R761900f765c04585"/>
  </p:sldMasterIdLst>
  <p:notesMasterIdLst>
    <p:notesMasterId xmlns:r="http://schemas.openxmlformats.org/officeDocument/2006/relationships" r:id="Re5519c5f265a4389"/>
  </p:notesMasterIdLst>
  <p:sldIdLst>
    <p:sldId xmlns:r="http://schemas.openxmlformats.org/officeDocument/2006/relationships" id="256" r:id="R9ee8b9bdd5aa4919"/>
    <p:sldId xmlns:r="http://schemas.openxmlformats.org/officeDocument/2006/relationships" id="257" r:id="R7598d05412b040d9"/>
    <p:sldId xmlns:r="http://schemas.openxmlformats.org/officeDocument/2006/relationships" id="258" r:id="R40a27bd56a034606"/>
    <p:sldId xmlns:r="http://schemas.openxmlformats.org/officeDocument/2006/relationships" id="259" r:id="R87fc079edfa34af5"/>
    <p:sldId xmlns:r="http://schemas.openxmlformats.org/officeDocument/2006/relationships" id="260" r:id="Re5ed41222c4743dc"/>
    <p:sldId xmlns:r="http://schemas.openxmlformats.org/officeDocument/2006/relationships" id="261" r:id="R73cf6e357be545d2"/>
    <p:sldId xmlns:r="http://schemas.openxmlformats.org/officeDocument/2006/relationships" id="262" r:id="Recdb325b86ec41dc"/>
    <p:sldId xmlns:r="http://schemas.openxmlformats.org/officeDocument/2006/relationships" id="263" r:id="R2cf7d5a4868f4f51"/>
    <p:sldId xmlns:r="http://schemas.openxmlformats.org/officeDocument/2006/relationships" id="264" r:id="Rb53d71771d564df3"/>
    <p:sldId xmlns:r="http://schemas.openxmlformats.org/officeDocument/2006/relationships" id="265" r:id="R08ee404202964fa1"/>
    <p:sldId xmlns:r="http://schemas.openxmlformats.org/officeDocument/2006/relationships" id="266" r:id="R9d5a854caac749d9"/>
    <p:sldId xmlns:r="http://schemas.openxmlformats.org/officeDocument/2006/relationships" id="267" r:id="R90421a3accfb49cf"/>
    <p:sldId xmlns:r="http://schemas.openxmlformats.org/officeDocument/2006/relationships" id="268" r:id="R17c5f1e1af844661"/>
    <p:sldId xmlns:r="http://schemas.openxmlformats.org/officeDocument/2006/relationships" id="269" r:id="Rc5e295a55cf94b3f"/>
    <p:sldId xmlns:r="http://schemas.openxmlformats.org/officeDocument/2006/relationships" id="270" r:id="R05b186f8f3214efa"/>
    <p:sldId xmlns:r="http://schemas.openxmlformats.org/officeDocument/2006/relationships" id="271" r:id="Rb3b55e9f6cd3440c"/>
    <p:sldId xmlns:r="http://schemas.openxmlformats.org/officeDocument/2006/relationships" id="272" r:id="Radaaf1cc183a4870"/>
    <p:sldId xmlns:r="http://schemas.openxmlformats.org/officeDocument/2006/relationships" id="273" r:id="Rc76aab866f154dcc"/>
    <p:sldId xmlns:r="http://schemas.openxmlformats.org/officeDocument/2006/relationships" id="274" r:id="R349db59d9d234955"/>
    <p:sldId xmlns:r="http://schemas.openxmlformats.org/officeDocument/2006/relationships" id="275" r:id="Rd2a240abe385434f"/>
    <p:sldId xmlns:r="http://schemas.openxmlformats.org/officeDocument/2006/relationships" id="276" r:id="R9d5744c42b6d44b0"/>
    <p:sldId xmlns:r="http://schemas.openxmlformats.org/officeDocument/2006/relationships" id="277" r:id="Rf9a31506b5474c4f"/>
    <p:sldId xmlns:r="http://schemas.openxmlformats.org/officeDocument/2006/relationships" id="278" r:id="R72f53afb950742e9"/>
    <p:sldId xmlns:r="http://schemas.openxmlformats.org/officeDocument/2006/relationships" id="279" r:id="R190a3d00626249eb"/>
    <p:sldId xmlns:r="http://schemas.openxmlformats.org/officeDocument/2006/relationships" id="280" r:id="R5384d2ad4c2044b5"/>
    <p:sldId xmlns:r="http://schemas.openxmlformats.org/officeDocument/2006/relationships" id="281" r:id="Rebeffbfda6ec4c76"/>
    <p:sldId xmlns:r="http://schemas.openxmlformats.org/officeDocument/2006/relationships" id="282" r:id="Rb841d74ab0eb4b38"/>
    <p:sldId xmlns:r="http://schemas.openxmlformats.org/officeDocument/2006/relationships" id="283" r:id="R48268132477549e5"/>
    <p:sldId xmlns:r="http://schemas.openxmlformats.org/officeDocument/2006/relationships" id="284" r:id="R3305de308fda49bf"/>
    <p:sldId xmlns:r="http://schemas.openxmlformats.org/officeDocument/2006/relationships" id="285" r:id="R0c903ea19ac844ea"/>
    <p:sldId xmlns:r="http://schemas.openxmlformats.org/officeDocument/2006/relationships" id="286" r:id="R770561f435df466e"/>
    <p:sldId xmlns:r="http://schemas.openxmlformats.org/officeDocument/2006/relationships" id="287" r:id="R65459ed936f44511"/>
    <p:sldId xmlns:r="http://schemas.openxmlformats.org/officeDocument/2006/relationships" id="288" r:id="R229e9d11b33b4896"/>
    <p:sldId xmlns:r="http://schemas.openxmlformats.org/officeDocument/2006/relationships" id="289" r:id="Rd01306089d4d443c"/>
    <p:sldId xmlns:r="http://schemas.openxmlformats.org/officeDocument/2006/relationships" id="290" r:id="R8769a94189334131"/>
    <p:sldId xmlns:r="http://schemas.openxmlformats.org/officeDocument/2006/relationships" id="291" r:id="Re8948913c245412e"/>
    <p:sldId xmlns:r="http://schemas.openxmlformats.org/officeDocument/2006/relationships" id="292" r:id="Rd67c6f62d83540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767bcc3a714dbc" /><Relationship Type="http://schemas.openxmlformats.org/officeDocument/2006/relationships/slideMaster" Target="/ppt/slideMasters/slideMaster1.xml" Id="R761900f765c04585" /><Relationship Type="http://schemas.openxmlformats.org/officeDocument/2006/relationships/notesMaster" Target="/ppt/notesMasters/notesMaster1.xml" Id="Re5519c5f265a4389" /><Relationship Type="http://schemas.openxmlformats.org/officeDocument/2006/relationships/presProps" Target="/ppt/presProps.xml" Id="R2b5d140358ad4ded" /><Relationship Type="http://schemas.openxmlformats.org/officeDocument/2006/relationships/tableStyles" Target="/ppt/tableStyles.xml" Id="R678b23ba87bc4a13" /><Relationship Type="http://schemas.openxmlformats.org/officeDocument/2006/relationships/slide" Target="/ppt/slides/slide1.xml" Id="R9ee8b9bdd5aa4919" /><Relationship Type="http://schemas.openxmlformats.org/officeDocument/2006/relationships/slide" Target="/ppt/slides/slide2.xml" Id="R7598d05412b040d9" /><Relationship Type="http://schemas.openxmlformats.org/officeDocument/2006/relationships/slide" Target="/ppt/slides/slide3.xml" Id="R40a27bd56a034606" /><Relationship Type="http://schemas.openxmlformats.org/officeDocument/2006/relationships/slide" Target="/ppt/slides/slide4.xml" Id="R87fc079edfa34af5" /><Relationship Type="http://schemas.openxmlformats.org/officeDocument/2006/relationships/slide" Target="/ppt/slides/slide5.xml" Id="Re5ed41222c4743dc" /><Relationship Type="http://schemas.openxmlformats.org/officeDocument/2006/relationships/slide" Target="/ppt/slides/slide6.xml" Id="R73cf6e357be545d2" /><Relationship Type="http://schemas.openxmlformats.org/officeDocument/2006/relationships/slide" Target="/ppt/slides/slide7.xml" Id="Recdb325b86ec41dc" /><Relationship Type="http://schemas.openxmlformats.org/officeDocument/2006/relationships/slide" Target="/ppt/slides/slide8.xml" Id="R2cf7d5a4868f4f51" /><Relationship Type="http://schemas.openxmlformats.org/officeDocument/2006/relationships/slide" Target="/ppt/slides/slide9.xml" Id="Rb53d71771d564df3" /><Relationship Type="http://schemas.openxmlformats.org/officeDocument/2006/relationships/slide" Target="/ppt/slides/slide10.xml" Id="R08ee404202964fa1" /><Relationship Type="http://schemas.openxmlformats.org/officeDocument/2006/relationships/slide" Target="/ppt/slides/slide11.xml" Id="R9d5a854caac749d9" /><Relationship Type="http://schemas.openxmlformats.org/officeDocument/2006/relationships/slide" Target="/ppt/slides/slide12.xml" Id="R90421a3accfb49cf" /><Relationship Type="http://schemas.openxmlformats.org/officeDocument/2006/relationships/slide" Target="/ppt/slides/slide13.xml" Id="R17c5f1e1af844661" /><Relationship Type="http://schemas.openxmlformats.org/officeDocument/2006/relationships/slide" Target="/ppt/slides/slide14.xml" Id="Rc5e295a55cf94b3f" /><Relationship Type="http://schemas.openxmlformats.org/officeDocument/2006/relationships/slide" Target="/ppt/slides/slide15.xml" Id="R05b186f8f3214efa" /><Relationship Type="http://schemas.openxmlformats.org/officeDocument/2006/relationships/slide" Target="/ppt/slides/slide16.xml" Id="Rb3b55e9f6cd3440c" /><Relationship Type="http://schemas.openxmlformats.org/officeDocument/2006/relationships/slide" Target="/ppt/slides/slide17.xml" Id="Radaaf1cc183a4870" /><Relationship Type="http://schemas.openxmlformats.org/officeDocument/2006/relationships/slide" Target="/ppt/slides/slide18.xml" Id="Rc76aab866f154dcc" /><Relationship Type="http://schemas.openxmlformats.org/officeDocument/2006/relationships/slide" Target="/ppt/slides/slide19.xml" Id="R349db59d9d234955" /><Relationship Type="http://schemas.openxmlformats.org/officeDocument/2006/relationships/slide" Target="/ppt/slides/slide20.xml" Id="Rd2a240abe385434f" /><Relationship Type="http://schemas.openxmlformats.org/officeDocument/2006/relationships/slide" Target="/ppt/slides/slide21.xml" Id="R9d5744c42b6d44b0" /><Relationship Type="http://schemas.openxmlformats.org/officeDocument/2006/relationships/slide" Target="/ppt/slides/slide22.xml" Id="Rf9a31506b5474c4f" /><Relationship Type="http://schemas.openxmlformats.org/officeDocument/2006/relationships/slide" Target="/ppt/slides/slide23.xml" Id="R72f53afb950742e9" /><Relationship Type="http://schemas.openxmlformats.org/officeDocument/2006/relationships/slide" Target="/ppt/slides/slide24.xml" Id="R190a3d00626249eb" /><Relationship Type="http://schemas.openxmlformats.org/officeDocument/2006/relationships/slide" Target="/ppt/slides/slide25.xml" Id="R5384d2ad4c2044b5" /><Relationship Type="http://schemas.openxmlformats.org/officeDocument/2006/relationships/slide" Target="/ppt/slides/slide26.xml" Id="Rebeffbfda6ec4c76" /><Relationship Type="http://schemas.openxmlformats.org/officeDocument/2006/relationships/slide" Target="/ppt/slides/slide27.xml" Id="Rb841d74ab0eb4b38" /><Relationship Type="http://schemas.openxmlformats.org/officeDocument/2006/relationships/slide" Target="/ppt/slides/slide28.xml" Id="R48268132477549e5" /><Relationship Type="http://schemas.openxmlformats.org/officeDocument/2006/relationships/slide" Target="/ppt/slides/slide29.xml" Id="R3305de308fda49bf" /><Relationship Type="http://schemas.openxmlformats.org/officeDocument/2006/relationships/slide" Target="/ppt/slides/slide30.xml" Id="R0c903ea19ac844ea" /><Relationship Type="http://schemas.openxmlformats.org/officeDocument/2006/relationships/slide" Target="/ppt/slides/slide31.xml" Id="R770561f435df466e" /><Relationship Type="http://schemas.openxmlformats.org/officeDocument/2006/relationships/slide" Target="/ppt/slides/slide32.xml" Id="R65459ed936f44511" /><Relationship Type="http://schemas.openxmlformats.org/officeDocument/2006/relationships/slide" Target="/ppt/slides/slide33.xml" Id="R229e9d11b33b4896" /><Relationship Type="http://schemas.openxmlformats.org/officeDocument/2006/relationships/slide" Target="/ppt/slides/slide34.xml" Id="Rd01306089d4d443c" /><Relationship Type="http://schemas.openxmlformats.org/officeDocument/2006/relationships/slide" Target="/ppt/slides/slide35.xml" Id="R8769a94189334131" /><Relationship Type="http://schemas.openxmlformats.org/officeDocument/2006/relationships/slide" Target="/ppt/slides/slide36.xml" Id="Re8948913c245412e" /><Relationship Type="http://schemas.openxmlformats.org/officeDocument/2006/relationships/slide" Target="/ppt/slides/slide37.xml" Id="Rd67c6f62d83540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4609727f0647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698ebee1c94433" /><Relationship Type="http://schemas.openxmlformats.org/officeDocument/2006/relationships/notesMaster" Target="/ppt/notesMasters/notesMaster1.xml" Id="Rfcace1d5f5bd43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3a33549ba5496d" /><Relationship Type="http://schemas.openxmlformats.org/officeDocument/2006/relationships/notesMaster" Target="/ppt/notesMasters/notesMaster1.xml" Id="Rb3a2d7c019124b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58f5eb503146e4" /><Relationship Type="http://schemas.openxmlformats.org/officeDocument/2006/relationships/notesMaster" Target="/ppt/notesMasters/notesMaster1.xml" Id="Raba0b0e822a645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31b0a0b8dc48f1" /><Relationship Type="http://schemas.openxmlformats.org/officeDocument/2006/relationships/notesMaster" Target="/ppt/notesMasters/notesMaster1.xml" Id="Rb9f80139049b42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1032252e714d85" /><Relationship Type="http://schemas.openxmlformats.org/officeDocument/2006/relationships/notesMaster" Target="/ppt/notesMasters/notesMaster1.xml" Id="R4e3368ae385e46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85813ac1ad4458" /><Relationship Type="http://schemas.openxmlformats.org/officeDocument/2006/relationships/notesMaster" Target="/ppt/notesMasters/notesMaster1.xml" Id="R53dd5869ba2f4e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589ed006ed405b" /><Relationship Type="http://schemas.openxmlformats.org/officeDocument/2006/relationships/notesMaster" Target="/ppt/notesMasters/notesMaster1.xml" Id="R0d2fb4e5a3e745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0de0248d7c465a" /><Relationship Type="http://schemas.openxmlformats.org/officeDocument/2006/relationships/notesMaster" Target="/ppt/notesMasters/notesMaster1.xml" Id="Ra70c745d801c4b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91e0b60d684027" /><Relationship Type="http://schemas.openxmlformats.org/officeDocument/2006/relationships/notesMaster" Target="/ppt/notesMasters/notesMaster1.xml" Id="R8fc8a107941d4e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febb8cca014bb6" /><Relationship Type="http://schemas.openxmlformats.org/officeDocument/2006/relationships/notesMaster" Target="/ppt/notesMasters/notesMaster1.xml" Id="R3a8df93da6fc47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d1ffc272c24f1f" /><Relationship Type="http://schemas.openxmlformats.org/officeDocument/2006/relationships/notesMaster" Target="/ppt/notesMasters/notesMaster1.xml" Id="R890c9779a0de43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1aa2352c894329" /><Relationship Type="http://schemas.openxmlformats.org/officeDocument/2006/relationships/notesMaster" Target="/ppt/notesMasters/notesMaster1.xml" Id="R0eb75397ddb64c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76717e465a4dfd" /><Relationship Type="http://schemas.openxmlformats.org/officeDocument/2006/relationships/notesMaster" Target="/ppt/notesMasters/notesMaster1.xml" Id="R81aa7ac952e648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7508d2fcf0a4c0c" /><Relationship Type="http://schemas.openxmlformats.org/officeDocument/2006/relationships/notesMaster" Target="/ppt/notesMasters/notesMaster1.xml" Id="R5a3325d5730b49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0d33bcde6740ec" /><Relationship Type="http://schemas.openxmlformats.org/officeDocument/2006/relationships/notesMaster" Target="/ppt/notesMasters/notesMaster1.xml" Id="R22aa795142bc4d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1b0a87690fd465a" /><Relationship Type="http://schemas.openxmlformats.org/officeDocument/2006/relationships/notesMaster" Target="/ppt/notesMasters/notesMaster1.xml" Id="R5a785c6ddbff474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9d8fea57c4d4f92" /><Relationship Type="http://schemas.openxmlformats.org/officeDocument/2006/relationships/notesMaster" Target="/ppt/notesMasters/notesMaster1.xml" Id="Rbe24d63452e5486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309168c556742e6" /><Relationship Type="http://schemas.openxmlformats.org/officeDocument/2006/relationships/notesMaster" Target="/ppt/notesMasters/notesMaster1.xml" Id="R817ed58777734a4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f61604e1dac4b7f" /><Relationship Type="http://schemas.openxmlformats.org/officeDocument/2006/relationships/notesMaster" Target="/ppt/notesMasters/notesMaster1.xml" Id="R6c8ce62f17ec4f1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9ff2b033568491d" /><Relationship Type="http://schemas.openxmlformats.org/officeDocument/2006/relationships/notesMaster" Target="/ppt/notesMasters/notesMaster1.xml" Id="R05cc17455fb24b3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119799d266a4451" /><Relationship Type="http://schemas.openxmlformats.org/officeDocument/2006/relationships/notesMaster" Target="/ppt/notesMasters/notesMaster1.xml" Id="Rd43e81cb18fe4b3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c4c561667694301" /><Relationship Type="http://schemas.openxmlformats.org/officeDocument/2006/relationships/notesMaster" Target="/ppt/notesMasters/notesMaster1.xml" Id="R4eccb841511b497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21a19dbbf4f4999" /><Relationship Type="http://schemas.openxmlformats.org/officeDocument/2006/relationships/notesMaster" Target="/ppt/notesMasters/notesMaster1.xml" Id="R435006961154443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17deb459d454c40" /><Relationship Type="http://schemas.openxmlformats.org/officeDocument/2006/relationships/notesMaster" Target="/ppt/notesMasters/notesMaster1.xml" Id="R0fdef35b69ec41b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252d308c3a74696" /><Relationship Type="http://schemas.openxmlformats.org/officeDocument/2006/relationships/notesMaster" Target="/ppt/notesMasters/notesMaster1.xml" Id="Rc399cbff04f742e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0707402ca0b40af" /><Relationship Type="http://schemas.openxmlformats.org/officeDocument/2006/relationships/notesMaster" Target="/ppt/notesMasters/notesMaster1.xml" Id="R9dd0d3f319a348f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cf1b095b2874355" /><Relationship Type="http://schemas.openxmlformats.org/officeDocument/2006/relationships/notesMaster" Target="/ppt/notesMasters/notesMaster1.xml" Id="R802d5f43248d4c3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dd3e2cb0d3f4fd1" /><Relationship Type="http://schemas.openxmlformats.org/officeDocument/2006/relationships/notesMaster" Target="/ppt/notesMasters/notesMaster1.xml" Id="R44289d91c74b4c4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738bfb0a5a84677" /><Relationship Type="http://schemas.openxmlformats.org/officeDocument/2006/relationships/notesMaster" Target="/ppt/notesMasters/notesMaster1.xml" Id="R2a61a0b808ae429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cfe9928a36040d1" /><Relationship Type="http://schemas.openxmlformats.org/officeDocument/2006/relationships/notesMaster" Target="/ppt/notesMasters/notesMaster1.xml" Id="R09c7791f7ba8493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11b7d859dbb4f88" /><Relationship Type="http://schemas.openxmlformats.org/officeDocument/2006/relationships/notesMaster" Target="/ppt/notesMasters/notesMaster1.xml" Id="Rc29ee7ab8ed3490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0e2e4c0ef154ee7" /><Relationship Type="http://schemas.openxmlformats.org/officeDocument/2006/relationships/notesMaster" Target="/ppt/notesMasters/notesMaster1.xml" Id="R779c0e9f006e463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41853bd8fa649b1" /><Relationship Type="http://schemas.openxmlformats.org/officeDocument/2006/relationships/notesMaster" Target="/ppt/notesMasters/notesMaster1.xml" Id="Rfda300cc4dc741f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77ed03f417f4ba4" /><Relationship Type="http://schemas.openxmlformats.org/officeDocument/2006/relationships/notesMaster" Target="/ppt/notesMasters/notesMaster1.xml" Id="Rf6491b78b3f44bc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8e8181bba5648ea" /><Relationship Type="http://schemas.openxmlformats.org/officeDocument/2006/relationships/notesMaster" Target="/ppt/notesMasters/notesMaster1.xml" Id="Rd413f11044c9421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b57f8850378469b" /><Relationship Type="http://schemas.openxmlformats.org/officeDocument/2006/relationships/notesMaster" Target="/ppt/notesMasters/notesMaster1.xml" Id="Ra40033fff2c54e5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02e153aa9574418" /><Relationship Type="http://schemas.openxmlformats.org/officeDocument/2006/relationships/notesMaster" Target="/ppt/notesMasters/notesMaster1.xml" Id="R573f8a4985454f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20, 2026. 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Typical $45, large $65, very large $90. Planning tiers based on serviceable property scope, not income or ZIP code. Classify at first match and disclose the fee before acceptance. Thresholds require provider quote validation. New-customer town/lot mix determines finder revenue; waivers are proportional within each town. No later service or size change with the same provider generates another finder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https://www.zocdoc.com/about/understanding-your-bill/ publicly lists $30-$140 by specialty/location but also refers to annual licensing. Treat as published reference, not a verified current nationwide quote. Current provider help says no upfront/subscription to join, Sponsored Results can cost extra and Practice Solutions has a monthly per-provider fee. Older https://www.zocdoc.com/about/newpricing/ says Practice Solutions is free; current help is prioritized.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Standard US card rate 2.9% + $0.30. ACH 0.8% capped at $5. Platform fee max($2.99,1% of job price). Initial bank-link cost and Connect account/payout fees borne by YardMatch. Repeat contribution uses 2031 volume allocation. No provider labor or equipment expense deducted.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Service mix schedule. Starting prices: $60, $85, $120, $300, $1,000. Base maintenance visits 20: 60% basic, 30% bundled, 10% expanded. Separate cleanup projects 0.60 and large projects 0.03 per full-season household. New households get half-year exposure. One combined visit is one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Town forecast weights are based on full-season household exposure. Town-specific price tiers use 1.00 / 1.15 / 1.30, with lot factors 1.00 / 1.35 / 1.80. Correlated joint weights replace the former independent demographic mixes. All town price and lot assumptions are unvalidated. Income is not proof of lot size or willingness to pay.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https://www.census.gov/quickfacts/fact/table/barnegattownshipoceancountynewjersey/PST045225 . 10,265 households and 88.0% owner occupancy. Lawn eligibility and outsourcing propensities are separate planning assumptions in Town inputs. Source: YardMatch-Investor-Model.xlsx, assumptions and formula-driven Operating model, prepared September 20,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Census ACS 2020-2024; income in 2024 dollars. Rumson median income is top-coded at $250,000+. Higher house value does not itself establish turf area.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streams sheet. Proposed products, not shipped features or validated demand. Market reference checked September 20, 2026: https://www.getjobber.com/pricing/ lists Core at $49/month, no commitment, one user, and Connect at $139/month, no commitment, one user. These are feature/billing references, not direct product equivalence.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Provider-owned crew engagement and compensation follow ROADMAP.md. Proposed optional Teams features must add value beyond essential tools already included in the core service. Worker-paid job access, wage deductions and mandatory paid credentials are excluded from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Primary source: https://www.zocdoc.com/provider-help/en/articles/8709753-how-much-does-sponsored-results-cost . Zocdoc charges sponsored fees above booking fees using bid-based advertising. YardMatch proposal differs: completed-first-job fee, no repeat-pair charge, one disclosed option within qualified backups. ROADMAP.md currently keeps sponsorship dormant and main recommendations quality-first. This is a commercial experiment, not an approved ranking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Pro-only adoption 30%, Teams adoption 12%, nine paid months, using the active-provider totals in the town forecast. Subscription net revenue after 2% credits/noncollection. Sponsorship: 12% provider participation, 27% first-job eligibility, 30% sponsored selection, capped by budget. No incremental households or GMV assumed. Subscription launch 2028, $120k build, annual fixed costs start $60k grow 35%; sponsorship launch 2030, $50k build, annual costs start $30k grow 30%. Variable delivery, card processing and 0.7% Billing fees also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is finder fees after welcome waivers plus per-transaction MAX($2.99,1% of price). Processing recovery offsets expense and is excluded from net marketplace revenue.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User requested maximum five staff. Original household-based staffing schedule is retained below that cap. Founder is included. $130,000 fully loaded cost per person in 2033. Property fees are $45 / $65 / $90, with no assumed acquisition or retention improvement. Fee uplift also slightly reduces payout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Financing illustration: $1.5m gross less $25k transaction expenses. Model opens with zero cash. 2027-2028 budget recalculates from the revised job mix. A finite pilot must validate proposed pricing and unit economics before growth funding.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https://usa.visa.com/support/small-business/regulations-fees.html explains interchange and acquiring-bank merchant discounts. https://www.frbservices.org/resources/fees/ach-2026 lists financial-institution ACH fees, not end-merchant prices. https://www.pcisecuritystandards.org/standards/pci-dss/ covers card-data security obligations. Source: YardMatch-Investor-Model.xlsx, assumptions and formula-driven Operating model, prepared September 20, 2026. All 2027-2033 figures are illustrative forecasts, not actuals or promises. US dollars. No commercial actuals supplied. Alternative assumptions are unquoted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Payments sheet: $600k build expensed half before launch and half at launch; $300k incremental annual operations growing 3%. Assumed alternative card 2.35%+$0.12, ACH min(0.10%+$0.25,$1.50), payout 0.10%+$0.10, active account $1/month. Unquoted estimates inclusive of replacement processing/network costs. Provider recovery stays 100%, so card/ACH savings are passed through. Table impact is pre-tax and includes build/run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https://www.census.gov/quickfacts/fact/table/barnegattownshipoceancountynewjersey/PST045225 . 10,265 households and 88.0% owner occupancy. Lawn eligibility and outsourcing propensities are separate planning assumptions in Town inputs.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ACS 2020-2024 occupied-household and owner-occupancy estimates. Income in 2024 dollars. Figures are held constant through the forecast; no Census prediction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ACS 2020-2024 occupied-household and owner-occupancy estimates. Income in 2024 dollars. Figures are held constant through the forecast; no Census prediction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2dc2ff63e44c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21bc995c084da0" /><Relationship Type="http://schemas.openxmlformats.org/officeDocument/2006/relationships/slideLayout" Target="/ppt/slideLayouts/slideLayout1.xml" Id="Rd7c642c6e65540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c642c6e65540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1de9b0c8064dde" /><Relationship Type="http://schemas.openxmlformats.org/officeDocument/2006/relationships/image" Target="/ppt/media/image.png" Id="R5db27a2952db4114" /><Relationship Type="http://schemas.openxmlformats.org/officeDocument/2006/relationships/notesSlide" Target="/ppt/notesSlides/notesSlide1.xml" Id="Rf497a9a037d442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1dc4c3934f47ce" /><Relationship Type="http://schemas.openxmlformats.org/officeDocument/2006/relationships/notesSlide" Target="/ppt/notesSlides/notesSlide2.xml" Id="R03421201763748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a2e98b5fb854519" /><Relationship Type="http://schemas.openxmlformats.org/officeDocument/2006/relationships/notesSlide" Target="/ppt/notesSlides/notesSlide3.xml" Id="R0dd5b892ee5746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7dd6fb669374faa" /><Relationship Type="http://schemas.openxmlformats.org/officeDocument/2006/relationships/image" Target="/ppt/media/image2.png" Id="R6c9503464bf145aa" /><Relationship Type="http://schemas.openxmlformats.org/officeDocument/2006/relationships/notesSlide" Target="/ppt/notesSlides/notesSlide4.xml" Id="R7cef8d90e62a4d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eb17ff13ef4476f" /><Relationship Type="http://schemas.openxmlformats.org/officeDocument/2006/relationships/image" Target="/ppt/media/image3.png" Id="Ra090a9e6cda448b3" /><Relationship Type="http://schemas.openxmlformats.org/officeDocument/2006/relationships/notesSlide" Target="/ppt/notesSlides/notesSlide5.xml" Id="R5cd5a153eef641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fd1234413e4491" /><Relationship Type="http://schemas.openxmlformats.org/officeDocument/2006/relationships/notesSlide" Target="/ppt/notesSlides/notesSlide6.xml" Id="R08aed8f134654d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e361aa0aa7243b1" /><Relationship Type="http://schemas.openxmlformats.org/officeDocument/2006/relationships/notesSlide" Target="/ppt/notesSlides/notesSlide7.xml" Id="Rb7c7723518cb4a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acbeac849154d0e" /><Relationship Type="http://schemas.openxmlformats.org/officeDocument/2006/relationships/notesSlide" Target="/ppt/notesSlides/notesSlide8.xml" Id="R627e130374b347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23a311580ed474a" /><Relationship Type="http://schemas.openxmlformats.org/officeDocument/2006/relationships/notesSlide" Target="/ppt/notesSlides/notesSlide9.xml" Id="Ra46209f37b1d41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66a736e708f43d2" /><Relationship Type="http://schemas.openxmlformats.org/officeDocument/2006/relationships/notesSlide" Target="/ppt/notesSlides/notesSlide10.xml" Id="R63a3ace44cc545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3a07d4c638d4661" /><Relationship Type="http://schemas.openxmlformats.org/officeDocument/2006/relationships/notesSlide" Target="/ppt/notesSlides/notesSlide11.xml" Id="Rb8586c7933cf4b0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05db20cae434d89" /><Relationship Type="http://schemas.openxmlformats.org/officeDocument/2006/relationships/notesSlide" Target="/ppt/notesSlides/notesSlide12.xml" Id="R97bf864e949b49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c517a4b00004858" /><Relationship Type="http://schemas.openxmlformats.org/officeDocument/2006/relationships/notesSlide" Target="/ppt/notesSlides/notesSlide13.xml" Id="R93f51bcb972545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9381600bc2d42fb" /><Relationship Type="http://schemas.openxmlformats.org/officeDocument/2006/relationships/notesSlide" Target="/ppt/notesSlides/notesSlide14.xml" Id="R2ca8a23cf3dc498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7b1d6c53c5e41c1" /><Relationship Type="http://schemas.openxmlformats.org/officeDocument/2006/relationships/notesSlide" Target="/ppt/notesSlides/notesSlide15.xml" Id="R120b1204ac42416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bf214e660bc4519" /><Relationship Type="http://schemas.openxmlformats.org/officeDocument/2006/relationships/notesSlide" Target="/ppt/notesSlides/notesSlide16.xml" Id="R8e071a62cbdf415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6ef9679c11548f8" /><Relationship Type="http://schemas.openxmlformats.org/officeDocument/2006/relationships/notesSlide" Target="/ppt/notesSlides/notesSlide17.xml" Id="Rbb6b069cde6b40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bcadd164faa4e56" /><Relationship Type="http://schemas.openxmlformats.org/officeDocument/2006/relationships/notesSlide" Target="/ppt/notesSlides/notesSlide18.xml" Id="R6610a58965aa412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ea68eb5f3894b0d" /><Relationship Type="http://schemas.openxmlformats.org/officeDocument/2006/relationships/notesSlide" Target="/ppt/notesSlides/notesSlide19.xml" Id="R26b06ae04723428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f79d2a7ee07423b" /><Relationship Type="http://schemas.openxmlformats.org/officeDocument/2006/relationships/notesSlide" Target="/ppt/notesSlides/notesSlide20.xml" Id="R16f92bfebf304b0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b13fed3e73e4abd" /><Relationship Type="http://schemas.openxmlformats.org/officeDocument/2006/relationships/notesSlide" Target="/ppt/notesSlides/notesSlide21.xml" Id="R3d0a0f5bac6a4d6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cc5cdff358d41eb" /><Relationship Type="http://schemas.openxmlformats.org/officeDocument/2006/relationships/notesSlide" Target="/ppt/notesSlides/notesSlide22.xml" Id="Ra72e9a0782ab4ff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b5dbcb83da04968" /><Relationship Type="http://schemas.openxmlformats.org/officeDocument/2006/relationships/notesSlide" Target="/ppt/notesSlides/notesSlide23.xml" Id="Rd60c453d0c4b498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61553dcf9764b2f" /><Relationship Type="http://schemas.openxmlformats.org/officeDocument/2006/relationships/chart" Target="/ppt/slides/charts/chart1.xml" Id="Ra1ece3b1d0c54c82" /><Relationship Type="http://schemas.openxmlformats.org/officeDocument/2006/relationships/notesSlide" Target="/ppt/notesSlides/notesSlide24.xml" Id="Rf5bfee0982b8466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65f5d71b096464c" /><Relationship Type="http://schemas.openxmlformats.org/officeDocument/2006/relationships/notesSlide" Target="/ppt/notesSlides/notesSlide25.xml" Id="R8ffd354fe3fc4d0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c835e7711a941ef" /><Relationship Type="http://schemas.openxmlformats.org/officeDocument/2006/relationships/notesSlide" Target="/ppt/notesSlides/notesSlide26.xml" Id="Rae5a29c22fae49f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f3d255539e04377" /><Relationship Type="http://schemas.openxmlformats.org/officeDocument/2006/relationships/notesSlide" Target="/ppt/notesSlides/notesSlide27.xml" Id="R0b1030442a6046a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2ef09aa41504979" /><Relationship Type="http://schemas.openxmlformats.org/officeDocument/2006/relationships/notesSlide" Target="/ppt/notesSlides/notesSlide28.xml" Id="Rcda58171eab7427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d76716d405543f9" /><Relationship Type="http://schemas.openxmlformats.org/officeDocument/2006/relationships/notesSlide" Target="/ppt/notesSlides/notesSlide29.xml" Id="R1c2d89580cd842f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6d389fa559d431c" /><Relationship Type="http://schemas.openxmlformats.org/officeDocument/2006/relationships/notesSlide" Target="/ppt/notesSlides/notesSlide30.xml" Id="R01b701abd2f54d0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98c44cfa51346a1" /><Relationship Type="http://schemas.openxmlformats.org/officeDocument/2006/relationships/notesSlide" Target="/ppt/notesSlides/notesSlide31.xml" Id="R93db4dbfd561491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3dbf35d354e4f9d" /><Relationship Type="http://schemas.openxmlformats.org/officeDocument/2006/relationships/notesSlide" Target="/ppt/notesSlides/notesSlide32.xml" Id="Rc4da42f73714497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6bb7e4fb22446ba" /><Relationship Type="http://schemas.openxmlformats.org/officeDocument/2006/relationships/notesSlide" Target="/ppt/notesSlides/notesSlide33.xml" Id="Rb536579993e34ae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3887e4706554e4f" /><Relationship Type="http://schemas.openxmlformats.org/officeDocument/2006/relationships/notesSlide" Target="/ppt/notesSlides/notesSlide34.xml" Id="R297b28ef1447462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86801cc21a641dc" /><Relationship Type="http://schemas.openxmlformats.org/officeDocument/2006/relationships/hyperlink" Target="https://stripe.com/pricing" TargetMode="External" Id="R11b8e61a2d9e40bc" /><Relationship Type="http://schemas.openxmlformats.org/officeDocument/2006/relationships/hyperlink" Target="https://stripe.com/connect/pricing" TargetMode="External" Id="R1faad8781f6144eb" /><Relationship Type="http://schemas.openxmlformats.org/officeDocument/2006/relationships/hyperlink" Target="https://stripe.com/financial-connections" TargetMode="External" Id="Ra30719e4ffd64d26" /><Relationship Type="http://schemas.openxmlformats.org/officeDocument/2006/relationships/hyperlink" Target="https://www.zocdoc.com/provider-help/en/articles/10859404-understanding-zocdoc-pricing-and-billing" TargetMode="External" Id="R55170895b4c54720" /><Relationship Type="http://schemas.openxmlformats.org/officeDocument/2006/relationships/hyperlink" Target="https://www.zocdoc.com/about/understanding-your-bill/" TargetMode="External" Id="R00fcb340c8694f0a" /><Relationship Type="http://schemas.openxmlformats.org/officeDocument/2006/relationships/hyperlink" Target="https://usa.visa.com/support/small-business/regulations-fees.html" TargetMode="External" Id="R8681f72248354c41" /><Relationship Type="http://schemas.openxmlformats.org/officeDocument/2006/relationships/hyperlink" Target="https://www.frbservices.org/resources/fees/ach-2026" TargetMode="External" Id="R114fedc20f9149f2" /><Relationship Type="http://schemas.openxmlformats.org/officeDocument/2006/relationships/hyperlink" Target="https://www.pcisecuritystandards.org/standards/pci-dss/" TargetMode="External" Id="R4beef640b7334c81" /><Relationship Type="http://schemas.openxmlformats.org/officeDocument/2006/relationships/hyperlink" Target="https://www.census.gov/quickfacts/fact/table/barnegattownshipoceancountynewjersey/PST045225" TargetMode="External" Id="R8f3de6f2048847a5" /><Relationship Type="http://schemas.openxmlformats.org/officeDocument/2006/relationships/hyperlink" Target="https://www.getjobber.com/pricing/" TargetMode="External" Id="R1c8e9767aa3944ad" /><Relationship Type="http://schemas.openxmlformats.org/officeDocument/2006/relationships/hyperlink" Target="https://www.zocdoc.com/provider-help/en/articles/8709753-how-much-does-sponsored-results-cost" TargetMode="External" Id="R090927283e424ada" /><Relationship Type="http://schemas.openxmlformats.org/officeDocument/2006/relationships/hyperlink" Target="https://stripe.com/billing/pricing" TargetMode="External" Id="Rd50dcb074ec7478a" /><Relationship Type="http://schemas.openxmlformats.org/officeDocument/2006/relationships/notesSlide" Target="/ppt/notesSlides/notesSlide35.xml" Id="R128e422c3f7b45a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3058bb71e564760" /><Relationship Type="http://schemas.openxmlformats.org/officeDocument/2006/relationships/hyperlink" Target="https://www.census.gov/quickfacts/fact/table/barnegattownshipoceancountynewjersey/PST045225" TargetMode="External" Id="R75bdc88f25614ace" /><Relationship Type="http://schemas.openxmlformats.org/officeDocument/2006/relationships/hyperlink" Target="https://www.census.gov/quickfacts/fact/table/staffordtownshipoceancountynewjersey/PST045225" TargetMode="External" Id="R153c5dab71aa456d" /><Relationship Type="http://schemas.openxmlformats.org/officeDocument/2006/relationships/hyperlink" Target="https://www.census.gov/quickfacts/fact/table/laceytownshipoceancountynewjersey/PST045225" TargetMode="External" Id="R5f95cd4b6f344c94" /><Relationship Type="http://schemas.openxmlformats.org/officeDocument/2006/relationships/hyperlink" Target="https://www.census.gov/quickfacts/fact/table/oceantownshipoceancountynewjersey/PST045225" TargetMode="External" Id="R9371d4b1b37143c5" /><Relationship Type="http://schemas.openxmlformats.org/officeDocument/2006/relationships/hyperlink" Target="https://www.census.gov/quickfacts/fact/table/berkeleytownshipoceancountynewjersey/PST045225" TargetMode="External" Id="R66e1130d151b45d6" /><Relationship Type="http://schemas.openxmlformats.org/officeDocument/2006/relationships/hyperlink" Target="https://www.census.gov/quickfacts/fact/table/tomsrivertownshipoceancountynewjersey/PST045225" TargetMode="External" Id="R66af3c9fa723453d" /><Relationship Type="http://schemas.openxmlformats.org/officeDocument/2006/relationships/hyperlink" Target="https://www.census.gov/quickfacts/fact/table/bricktownshipoceancountynewjersey/PST045225" TargetMode="External" Id="Rad7b930cbe824a37" /><Relationship Type="http://schemas.openxmlformats.org/officeDocument/2006/relationships/notesSlide" Target="/ppt/notesSlides/notesSlide36.xml" Id="Rfaa56b9d79494f1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28aec8396344275" /><Relationship Type="http://schemas.openxmlformats.org/officeDocument/2006/relationships/hyperlink" Target="https://www.census.gov/quickfacts/fact/table/jacksontownshipoceancountynewjersey/PST045225" TargetMode="External" Id="R8e2108b7416142d7" /><Relationship Type="http://schemas.openxmlformats.org/officeDocument/2006/relationships/hyperlink" Target="https://www.census.gov/quickfacts/fact/table/howelltownshipmonmouthcountynewjersey/PST045225" TargetMode="External" Id="Rdd0817fac8e34591" /><Relationship Type="http://schemas.openxmlformats.org/officeDocument/2006/relationships/hyperlink" Target="https://www.census.gov/quickfacts/fact/table/walltownshipmonmouthcountynewjersey/PST045225" TargetMode="External" Id="Rdc46e1d76ca0443e" /><Relationship Type="http://schemas.openxmlformats.org/officeDocument/2006/relationships/hyperlink" Target="https://www.census.gov/quickfacts/fact/table/middletowntownshipmonmouthcountynewjersey/PST045225" TargetMode="External" Id="Rf807bce4169d46a0" /><Relationship Type="http://schemas.openxmlformats.org/officeDocument/2006/relationships/hyperlink" Target="https://www.census.gov/quickfacts/fact/table/holmdeltownshipmonmouthcountynewjersey/PST045225" TargetMode="External" Id="R069785f9e8484f6a" /><Relationship Type="http://schemas.openxmlformats.org/officeDocument/2006/relationships/hyperlink" Target="https://www.census.gov/quickfacts/fact/table/coltsnecktownshipmonmouthcountynewjersey/PST045225" TargetMode="External" Id="R461b90ce7e034dee" /><Relationship Type="http://schemas.openxmlformats.org/officeDocument/2006/relationships/hyperlink" Target="https://www.census.gov/quickfacts/fact/table/rumsonboroughnewjersey/PST045225" TargetMode="External" Id="R8073863176ea4930" /><Relationship Type="http://schemas.openxmlformats.org/officeDocument/2006/relationships/notesSlide" Target="/ppt/notesSlides/notesSlide37.xml" Id="R48046c993af04ab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0.012226</c:v>
                </c:pt>
                <c:pt idx="1">
                  <c:v>0.050178</c:v>
                </c:pt>
                <c:pt idx="2">
                  <c:v>0.104879</c:v>
                </c:pt>
                <c:pt idx="3">
                  <c:v>0.171307</c:v>
                </c:pt>
                <c:pt idx="4">
                  <c:v>0.233759</c:v>
                </c:pt>
                <c:pt idx="5">
                  <c:v>0.301908</c:v>
                </c:pt>
                <c:pt idx="6">
                  <c:v>0.341678</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0.006378</c:v>
                </c:pt>
                <c:pt idx="1">
                  <c:v>0.035127</c:v>
                </c:pt>
                <c:pt idx="2">
                  <c:v>0.101899</c:v>
                </c:pt>
                <c:pt idx="3">
                  <c:v>0.214136</c:v>
                </c:pt>
                <c:pt idx="4">
                  <c:v>0.36818</c:v>
                </c:pt>
                <c:pt idx="5">
                  <c:v>0.552856</c:v>
                </c:pt>
                <c:pt idx="6">
                  <c:v>0.750631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0.3"/>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480CF092-24BC-491C-8FFE-238790BB575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A4A200F4-D017-4FD9-8856-8A55C298042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db27a2952db4114"/>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YardMatch">
            <a:extLst xmlns:a="http://schemas.openxmlformats.org/drawingml/2006/main">
              <a:ext uri="{FF2B5EF4-FFF2-40B4-BE49-F238E27FC236}">
                <a16:creationId xmlns:a16="http://schemas.microsoft.com/office/drawing/2014/main" id="{227587D5-BEFE-47BA-A722-B39AA27A2AC3}"/>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YardMatch</a:t>
            </a:r>
          </a:p>
        </p:txBody>
      </p:sp>
      <p:sp>
        <p:nvSpPr>
          <p:cNvPr id="5" name="A managed marketplace for homeowners and local ser">
            <a:extLst xmlns:a="http://schemas.openxmlformats.org/drawingml/2006/main">
              <a:ext uri="{FF2B5EF4-FFF2-40B4-BE49-F238E27FC236}">
                <a16:creationId xmlns:a16="http://schemas.microsoft.com/office/drawing/2014/main" id="{4081E31E-1E2E-46EA-9512-BF099607B8BB}"/>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5233576D-B44E-4629-BBBE-88205899FB32}"/>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523838053"/>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1DFF52C1-3675-476D-AD99-B61265EFFF2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D3AC3096-DF42-4D8E-984A-74468E25A0A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A6548003-070A-490C-B942-AA629824B03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53784730-8344-4BAB-8419-A2CA2E8444E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AB10D709-1359-4BF3-8CF8-7E50F00C804F}"/>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1D3D0AC6-1BBB-4072-B85F-72206D695F75}"/>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4BA7BC0F-D6B2-437C-93EE-296AAC4B266D}"/>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E01720CD-7557-4AE9-A06D-CC3D2A1719BC}"/>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BC097CA9-8645-4E1D-9E09-EF5A49716190}"/>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Property-based finder fees and recurring service f">
            <a:extLst xmlns:a="http://schemas.openxmlformats.org/drawingml/2006/main">
              <a:ext uri="{FF2B5EF4-FFF2-40B4-BE49-F238E27FC236}">
                <a16:creationId xmlns:a16="http://schemas.microsoft.com/office/drawing/2014/main" id="{085A3F75-1305-44D7-AFE6-C19960261B4A}"/>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Property-based finder fees and recurring service fees can fund ongoing care. Providers also cover payment processing at cost. A pilot must validate acceptance and retention.</a:t>
            </a:r>
          </a:p>
        </p:txBody>
      </p:sp>
      <p:sp>
        <p:nvSpPr>
          <p:cNvPr id="11" name="Investment hypothesis. Core forecasts use finder a">
            <a:extLst xmlns:a="http://schemas.openxmlformats.org/drawingml/2006/main">
              <a:ext uri="{FF2B5EF4-FFF2-40B4-BE49-F238E27FC236}">
                <a16:creationId xmlns:a16="http://schemas.microsoft.com/office/drawing/2014/main" id="{23A29613-1103-4495-9404-FE1E4485626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Core forecasts use finder and service fees. Optional provider subscriptions and sponsorship appear as separate expansion cases.</a:t>
            </a:r>
          </a:p>
        </p:txBody>
      </p:sp>
    </p:spTree>
    <p:extLst>
      <p:ext uri="{BB962C8B-B14F-4D97-AF65-F5344CB8AC3E}">
        <p14:creationId xmlns:p14="http://schemas.microsoft.com/office/powerpoint/2010/main" val="1356907966"/>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2935C589-532C-4AE6-A85A-E32E9649B7A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351367EC-CFEC-4069-A34E-4FB7F086741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56C1B54A-FEFF-4E65-96DA-6F87DCAAE05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B0F6F495-7A14-40C8-A59A-737972BA92A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99257758-EAEE-4293-978A-4BB49799CD5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716021706"/>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4B178C26-688B-4033-9AE2-448BAC06011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A3D5AF5A-C47C-4346-979E-DA61199018D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D58133CD-15EA-4095-97FE-4A5EA35879F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AA0A7DE0-4048-4233-A5F6-4A0604AE41C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c9503464bf145aa"/>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7B0A0B8A-31C6-40BA-AEB7-B75C3437C7AE}"/>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62983D11-E97E-41DC-A665-55BFEA10B30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2008989722"/>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BB66EDA8-300C-4AB6-9955-6B5834BA86B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000D4C35-356C-4429-BC30-DC0DC1853A8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F438959A-383E-4FDC-8E34-8ACE0BDAB00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269865E9-7954-4EB0-86B6-BEB06FC337E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090a9e6cda448b3"/>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FF037616-BD44-4EB2-8F78-9F891F6E1847}"/>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B783B0E0-A2D3-4625-8E1E-F7277F97AF29}"/>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2F4BA20F-46A2-4FD7-A164-0A2DF9E5781C}"/>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6DC759E9-4C56-46BA-8D67-6AFB2599D221}"/>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5C030F0D-6F9F-4EC8-A6C1-D76EAD73C66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2523322"/>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Finder fees increase with property scope">
            <a:extLst xmlns:a="http://schemas.openxmlformats.org/drawingml/2006/main">
              <a:ext uri="{FF2B5EF4-FFF2-40B4-BE49-F238E27FC236}">
                <a16:creationId xmlns:a16="http://schemas.microsoft.com/office/drawing/2014/main" id="{E60C94F4-CBFA-493A-8BC0-037EF2A8D03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Finder fees increase with property scope</a:t>
            </a:r>
          </a:p>
        </p:txBody>
      </p:sp>
      <p:sp>
        <p:nvSpPr>
          <p:cNvPr id="2" name="Proposed acquisition fees, paid by the provider on">
            <a:extLst xmlns:a="http://schemas.openxmlformats.org/drawingml/2006/main">
              <a:ext uri="{FF2B5EF4-FFF2-40B4-BE49-F238E27FC236}">
                <a16:creationId xmlns:a16="http://schemas.microsoft.com/office/drawing/2014/main" id="{E5BC8FC9-A0E1-4F0A-A73F-18FAC4D00B7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acquisition fees, paid by the provider once per new customer/provider relationship.</a:t>
            </a:r>
          </a:p>
        </p:txBody>
      </p:sp>
      <p:sp>
        <p:nvSpPr>
          <p:cNvPr id="3" name="YardMatch">
            <a:extLst xmlns:a="http://schemas.openxmlformats.org/drawingml/2006/main">
              <a:ext uri="{FF2B5EF4-FFF2-40B4-BE49-F238E27FC236}">
                <a16:creationId xmlns:a16="http://schemas.microsoft.com/office/drawing/2014/main" id="{5D4FE084-0D70-4F29-901F-D1E47FD6CAD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F38C4C14-61B4-453E-8C99-46CF172BD69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graphicFrame>
        <p:nvGraphicFramePr>
          <p:cNvPr id="13" name=""/>
          <p:cNvGraphicFramePr/>
          <p:nvPr/>
        </p:nvGraphicFramePr>
        <p:xfrm>
          <a:off xmlns:a="http://schemas.openxmlformats.org/drawingml/2006/main" x="609600" y="2333625"/>
          <a:ext xmlns:a="http://schemas.openxmlformats.org/drawingml/2006/main" cx="10972800" cy="2324100"/>
        </p:xfrm>
        <a:graphic xmlns:a="http://schemas.openxmlformats.org/drawingml/2006/main">
          <a:graphicData uri="http://schemas.openxmlformats.org/drawingml/2006/table">
            <a:tbl>
              <a:tblPr/>
              <a:tblGrid>
                <a:gridCol w="3009900"/>
                <a:gridCol w="1990725"/>
                <a:gridCol w="2838450"/>
                <a:gridCol w="3133725"/>
              </a:tblGrid>
              <a:tr h="581025">
                <a:tc>
                  <a:txBody>
                    <a:bodyPr lIns="114300" tIns="76200" rIns="114300" bIns="76200">
                      <a:noAutofit/>
                    </a:bodyPr>
                    <a:lstStyle/>
                    <a:p>
                      <a:pPr algn="l"/>
                      <a:r>
                        <a:rPr sz="1875" b="1">
                          <a:solidFill>
                            <a:srgbClr val="FFFFFF"/>
                          </a:solidFill>
                          <a:latin typeface="Arial"/>
                          <a:ea typeface="Arial"/>
                          <a:cs typeface="Arial"/>
                        </a:rPr>
                        <a:t>Property tier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Finder fee</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Example first bill</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proceeds</a:t>
                      </a:r>
                    </a:p>
                  </a:txBody>
                  <a:tcPr marL="91440" marR="91440" marT="45720" marB="45720" anchor="ctr">
                    <a:solidFill>
                      <a:srgbClr val="205938"/>
                    </a:solidFill>
                  </a:tcPr>
                </a:tc>
              </a:tr>
              <a:tr h="581025">
                <a:tc>
                  <a:txBody>
                    <a:bodyPr lIns="114300" tIns="76200" rIns="114300" bIns="76200">
                      <a:noAutofit/>
                    </a:bodyPr>
                    <a:lstStyle/>
                    <a:p>
                      <a:pPr algn="l"/>
                      <a:r>
                        <a:rPr sz="1875" b="0">
                          <a:solidFill>
                            <a:srgbClr val="14281D"/>
                          </a:solidFill>
                          <a:latin typeface="Arial"/>
                          <a:ea typeface="Arial"/>
                          <a:cs typeface="Arial"/>
                        </a:rPr>
                        <a:t>Typical</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$45</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$9.97</a:t>
                      </a:r>
                    </a:p>
                  </a:txBody>
                  <a:tcPr marL="91440" marR="91440" marT="45720" marB="45720" anchor="ctr">
                    <a:solidFill>
                      <a:srgbClr val="FFFFFF"/>
                    </a:solidFill>
                  </a:tcPr>
                </a:tc>
              </a:tr>
              <a:tr h="581025">
                <a:tc>
                  <a:txBody>
                    <a:bodyPr lIns="114300" tIns="76200" rIns="114300" bIns="76200">
                      <a:noAutofit/>
                    </a:bodyPr>
                    <a:lstStyle/>
                    <a:p>
                      <a:pPr algn="l"/>
                      <a:r>
                        <a:rPr sz="1875" b="0">
                          <a:solidFill>
                            <a:srgbClr val="14281D"/>
                          </a:solidFill>
                          <a:latin typeface="Arial"/>
                          <a:ea typeface="Arial"/>
                          <a:cs typeface="Arial"/>
                        </a:rPr>
                        <a:t>Large</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$81</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$10.36</a:t>
                      </a:r>
                    </a:p>
                  </a:txBody>
                  <a:tcPr marL="91440" marR="91440" marT="45720" marB="45720" anchor="ctr">
                    <a:solidFill>
                      <a:srgbClr val="F7F5EF"/>
                    </a:solidFill>
                  </a:tcPr>
                </a:tc>
              </a:tr>
              <a:tr h="581025">
                <a:tc>
                  <a:txBody>
                    <a:bodyPr lIns="114300" tIns="76200" rIns="114300" bIns="76200">
                      <a:noAutofit/>
                    </a:bodyPr>
                    <a:lstStyle/>
                    <a:p>
                      <a:pPr algn="l"/>
                      <a:r>
                        <a:rPr sz="1875" b="0">
                          <a:solidFill>
                            <a:srgbClr val="14281D"/>
                          </a:solidFill>
                          <a:latin typeface="Arial"/>
                          <a:ea typeface="Arial"/>
                          <a:cs typeface="Arial"/>
                        </a:rPr>
                        <a:t>Very large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$90</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$11.58</a:t>
                      </a:r>
                    </a:p>
                  </a:txBody>
                  <a:tcPr marL="91440" marR="91440" marT="45720" marB="45720" anchor="ctr">
                    <a:solidFill>
                      <a:srgbClr val="FFFFFF"/>
                    </a:solidFill>
                  </a:tcPr>
                </a:tc>
              </a:tr>
            </a:tbl>
          </a:graphicData>
        </a:graphic>
      </p:graphicFrame>
      <p:sp>
        <p:nvSpPr>
          <p:cNvPr id="6" name="Recurring fee: $2.99 minimum or 1% of the bill">
            <a:extLst xmlns:a="http://schemas.openxmlformats.org/drawingml/2006/main">
              <a:ext uri="{FF2B5EF4-FFF2-40B4-BE49-F238E27FC236}">
                <a16:creationId xmlns:a16="http://schemas.microsoft.com/office/drawing/2014/main" id="{C5623503-9179-4D8B-BEBE-FBE7A6D38C9D}"/>
              </a:ext>
            </a:extLst>
          </p:cNvPr>
          <p:cNvSpPr>
            <a:spLocks xmlns:a="http://schemas.openxmlformats.org/drawingml/2006/main" noGrp="1"/>
          </p:cNvSpPr>
          <p:nvPr/>
        </p:nvSpPr>
        <p:spPr>
          <a:xfrm xmlns:a="http://schemas.openxmlformats.org/drawingml/2006/main">
            <a:off x="628650" y="48768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05938"/>
                </a:solidFill>
                <a:latin typeface="Arial"/>
                <a:ea typeface="Arial"/>
                <a:cs typeface="Arial"/>
              </a:defRPr>
            </a:pPr>
            <a:r>
              <a:rPr sz="2325" b="1">
                <a:solidFill>
                  <a:srgbClr val="205938"/>
                </a:solidFill>
                <a:latin typeface="Arial"/>
                <a:ea typeface="Arial"/>
                <a:cs typeface="Arial"/>
              </a:rPr>
              <a:t>Recurring fee: $2.99 minimum or 1% of the bill</a:t>
            </a:r>
          </a:p>
        </p:txBody>
      </p:sp>
      <p:sp>
        <p:nvSpPr>
          <p:cNvPr id="7" name="Providers also cover actual card / ACH processing ">
            <a:extLst xmlns:a="http://schemas.openxmlformats.org/drawingml/2006/main">
              <a:ext uri="{FF2B5EF4-FFF2-40B4-BE49-F238E27FC236}">
                <a16:creationId xmlns:a16="http://schemas.microsoft.com/office/drawing/2014/main" id="{F97FECAB-E11B-4922-A742-022202AC7EC8}"/>
              </a:ext>
            </a:extLst>
          </p:cNvPr>
          <p:cNvSpPr>
            <a:spLocks xmlns:a="http://schemas.openxmlformats.org/drawingml/2006/main" noGrp="1"/>
          </p:cNvSpPr>
          <p:nvPr/>
        </p:nvSpPr>
        <p:spPr>
          <a:xfrm xmlns:a="http://schemas.openxmlformats.org/drawingml/2006/main">
            <a:off x="628650" y="54102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Providers also cover actual card / ACH processing on each service.</a:t>
            </a:r>
          </a:p>
        </p:txBody>
      </p:sp>
      <p:sp>
        <p:nvSpPr>
          <p:cNvPr id="8" name="First-job examples use basic mowing, property fact">
            <a:extLst xmlns:a="http://schemas.openxmlformats.org/drawingml/2006/main">
              <a:ext uri="{FF2B5EF4-FFF2-40B4-BE49-F238E27FC236}">
                <a16:creationId xmlns:a16="http://schemas.microsoft.com/office/drawing/2014/main" id="{B0B9DC43-2E55-4DDC-9BCC-0AE0109F004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First-job examples use basic mowing, property factors of 1.00 / 1.35 / 1.80, and card processing. Proceeds exclude provider labor and materials. First-client finder waiver remains. Validate acceptance and actual yard-size bands.</a:t>
            </a:r>
          </a:p>
        </p:txBody>
      </p:sp>
    </p:spTree>
    <p:extLst>
      <p:ext uri="{BB962C8B-B14F-4D97-AF65-F5344CB8AC3E}">
        <p14:creationId xmlns:p14="http://schemas.microsoft.com/office/powerpoint/2010/main" val="595158697"/>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What Zocdoc charges its providers">
            <a:extLst xmlns:a="http://schemas.openxmlformats.org/drawingml/2006/main">
              <a:ext uri="{FF2B5EF4-FFF2-40B4-BE49-F238E27FC236}">
                <a16:creationId xmlns:a16="http://schemas.microsoft.com/office/drawing/2014/main" id="{2DB877FB-2F3E-4333-B6FA-97D9AABFC94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Zocdoc charges its providers</a:t>
            </a:r>
          </a:p>
        </p:txBody>
      </p:sp>
      <p:sp>
        <p:nvSpPr>
          <p:cNvPr id="2" name="A useful acquisition benchmark, with a different c">
            <a:extLst xmlns:a="http://schemas.openxmlformats.org/drawingml/2006/main">
              <a:ext uri="{FF2B5EF4-FFF2-40B4-BE49-F238E27FC236}">
                <a16:creationId xmlns:a16="http://schemas.microsoft.com/office/drawing/2014/main" id="{EA1779D4-F7E2-4F26-9510-59603BE968D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useful acquisition benchmark, with a different charging event and repeat-use pattern.</a:t>
            </a:r>
          </a:p>
        </p:txBody>
      </p:sp>
      <p:sp>
        <p:nvSpPr>
          <p:cNvPr id="3" name="YardMatch">
            <a:extLst xmlns:a="http://schemas.openxmlformats.org/drawingml/2006/main">
              <a:ext uri="{FF2B5EF4-FFF2-40B4-BE49-F238E27FC236}">
                <a16:creationId xmlns:a16="http://schemas.microsoft.com/office/drawing/2014/main" id="{68D4BF2C-FA4F-4F85-ACCC-9479DC2E77E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EBA41E17-D53C-407C-848E-C91D4B9E2AC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sp>
        <p:nvSpPr>
          <p:cNvPr id="5" name="$30–$140">
            <a:extLst xmlns:a="http://schemas.openxmlformats.org/drawingml/2006/main">
              <a:ext uri="{FF2B5EF4-FFF2-40B4-BE49-F238E27FC236}">
                <a16:creationId xmlns:a16="http://schemas.microsoft.com/office/drawing/2014/main" id="{A5F9F814-8CB5-4E60-AD4D-DABDBB241938}"/>
              </a:ext>
            </a:extLst>
          </p:cNvPr>
          <p:cNvSpPr>
            <a:spLocks xmlns:a="http://schemas.openxmlformats.org/drawingml/2006/main" noGrp="1"/>
          </p:cNvSpPr>
          <p:nvPr/>
        </p:nvSpPr>
        <p:spPr>
          <a:xfrm xmlns:a="http://schemas.openxmlformats.org/drawingml/2006/main">
            <a:off x="628650" y="2305050"/>
            <a:ext cx="4914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$30–$140</a:t>
            </a:r>
          </a:p>
        </p:txBody>
      </p:sp>
      <p:sp>
        <p:nvSpPr>
          <p:cNvPr id="6" name="Published range for a new-patient booking">
            <a:extLst xmlns:a="http://schemas.openxmlformats.org/drawingml/2006/main">
              <a:ext uri="{FF2B5EF4-FFF2-40B4-BE49-F238E27FC236}">
                <a16:creationId xmlns:a16="http://schemas.microsoft.com/office/drawing/2014/main" id="{27B20991-322F-479F-9FD0-071D064146E7}"/>
              </a:ext>
            </a:extLst>
          </p:cNvPr>
          <p:cNvSpPr>
            <a:spLocks xmlns:a="http://schemas.openxmlformats.org/drawingml/2006/main" noGrp="1"/>
          </p:cNvSpPr>
          <p:nvPr/>
        </p:nvSpPr>
        <p:spPr>
          <a:xfrm xmlns:a="http://schemas.openxmlformats.org/drawingml/2006/main">
            <a:off x="647700" y="3171825"/>
            <a:ext cx="4752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Published range for a new-patient booking</a:t>
            </a:r>
          </a:p>
        </p:txBody>
      </p:sp>
      <p:sp>
        <p:nvSpPr>
          <p:cNvPr id="7" name="Exact quote varies">
            <a:extLst xmlns:a="http://schemas.openxmlformats.org/drawingml/2006/main">
              <a:ext uri="{FF2B5EF4-FFF2-40B4-BE49-F238E27FC236}">
                <a16:creationId xmlns:a16="http://schemas.microsoft.com/office/drawing/2014/main" id="{E1EAC2B8-701B-45B5-81E9-655305373C53}"/>
              </a:ext>
            </a:extLst>
          </p:cNvPr>
          <p:cNvSpPr>
            <a:spLocks xmlns:a="http://schemas.openxmlformats.org/drawingml/2006/main" noGrp="1"/>
          </p:cNvSpPr>
          <p:nvPr/>
        </p:nvSpPr>
        <p:spPr>
          <a:xfrm xmlns:a="http://schemas.openxmlformats.org/drawingml/2006/main">
            <a:off x="6429375" y="2343150"/>
            <a:ext cx="4981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Exact quote varies</a:t>
            </a:r>
          </a:p>
        </p:txBody>
      </p:sp>
      <p:sp>
        <p:nvSpPr>
          <p:cNvPr id="8" name="Current help confirms specialty and location affec">
            <a:extLst xmlns:a="http://schemas.openxmlformats.org/drawingml/2006/main">
              <a:ext uri="{FF2B5EF4-FFF2-40B4-BE49-F238E27FC236}">
                <a16:creationId xmlns:a16="http://schemas.microsoft.com/office/drawing/2014/main" id="{A0122837-D462-4D40-8CE2-0CE64E8754B0}"/>
              </a:ext>
            </a:extLst>
          </p:cNvPr>
          <p:cNvSpPr>
            <a:spLocks xmlns:a="http://schemas.openxmlformats.org/drawingml/2006/main" noGrp="1"/>
          </p:cNvSpPr>
          <p:nvPr/>
        </p:nvSpPr>
        <p:spPr>
          <a:xfrm xmlns:a="http://schemas.openxmlformats.org/drawingml/2006/main">
            <a:off x="6448425" y="2943225"/>
            <a:ext cx="49625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Current help confirms specialty and location affect the fee. Providers see their actual price in the dashboard.</a:t>
            </a:r>
          </a:p>
        </p:txBody>
      </p:sp>
      <p:graphicFrame>
        <p:nvGraphicFramePr>
          <p:cNvPr id="19" name=""/>
          <p:cNvGraphicFramePr/>
          <p:nvPr/>
        </p:nvGraphicFramePr>
        <p:xfrm>
          <a:off xmlns:a="http://schemas.openxmlformats.org/drawingml/2006/main" x="609600" y="4410075"/>
          <a:ext xmlns:a="http://schemas.openxmlformats.org/drawingml/2006/main" cx="10972800" cy="1314450"/>
        </p:xfrm>
        <a:graphic xmlns:a="http://schemas.openxmlformats.org/drawingml/2006/main">
          <a:graphicData uri="http://schemas.openxmlformats.org/drawingml/2006/table">
            <a:tbl>
              <a:tblPr/>
              <a:tblGrid>
                <a:gridCol w="5381625"/>
                <a:gridCol w="5591175"/>
              </a:tblGrid>
              <a:tr h="438150">
                <a:tc>
                  <a:txBody>
                    <a:bodyPr lIns="114300" tIns="76200" rIns="114300" bIns="76200">
                      <a:noAutofit/>
                    </a:bodyPr>
                    <a:lstStyle/>
                    <a:p>
                      <a:pPr algn="l"/>
                      <a:r>
                        <a:rPr sz="1650" b="1">
                          <a:solidFill>
                            <a:srgbClr val="FFFFFF"/>
                          </a:solidFill>
                          <a:latin typeface="Arial"/>
                          <a:ea typeface="Arial"/>
                          <a:cs typeface="Arial"/>
                        </a:rPr>
                        <a:t>Zocdoc Marketplace rule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Implication for YardMatch</a:t>
                      </a:r>
                    </a:p>
                  </a:txBody>
                  <a:tcPr marL="91440" marR="91440" marT="45720" marB="45720" anchor="ctr">
                    <a:solidFill>
                      <a:srgbClr val="205938"/>
                    </a:solidFill>
                  </a:tcPr>
                </a:tc>
              </a:tr>
              <a:tr h="438150">
                <a:tc>
                  <a:txBody>
                    <a:bodyPr lIns="114300" tIns="76200" rIns="114300" bIns="76200">
                      <a:noAutofit/>
                    </a:bodyPr>
                    <a:lstStyle/>
                    <a:p>
                      <a:pPr algn="l"/>
                      <a:r>
                        <a:rPr sz="1650" b="0">
                          <a:solidFill>
                            <a:srgbClr val="14281D"/>
                          </a:solidFill>
                          <a:latin typeface="Arial"/>
                          <a:ea typeface="Arial"/>
                          <a:cs typeface="Arial"/>
                        </a:rPr>
                        <a:t>Charges at booking, even a no-show</a:t>
                      </a:r>
                    </a:p>
                  </a:txBody>
                  <a:tcPr marL="91440" marR="91440" marT="45720" marB="45720" anchor="ctr">
                    <a:solidFill>
                      <a:srgbClr val="FFFFFF"/>
                    </a:solidFill>
                  </a:tcPr>
                </a:tc>
                <a:tc>
                  <a:txBody>
                    <a:bodyPr lIns="114300" tIns="76200" rIns="114300" bIns="76200">
                      <a:noAutofit/>
                    </a:bodyPr>
                    <a:lstStyle/>
                    <a:p>
                      <a:pPr algn="l"/>
                      <a:r>
                        <a:rPr sz="1650" b="0">
                          <a:solidFill>
                            <a:srgbClr val="14281D"/>
                          </a:solidFill>
                          <a:latin typeface="Arial"/>
                          <a:ea typeface="Arial"/>
                          <a:cs typeface="Arial"/>
                        </a:rPr>
                        <a:t>Our finder fee follows a paid completed job</a:t>
                      </a:r>
                    </a:p>
                  </a:txBody>
                  <a:tcPr marL="91440" marR="91440" marT="45720" marB="45720" anchor="ctr">
                    <a:solidFill>
                      <a:srgbClr val="FFFFFF"/>
                    </a:solidFill>
                  </a:tcPr>
                </a:tc>
              </a:tr>
              <a:tr h="438150">
                <a:tc>
                  <a:txBody>
                    <a:bodyPr lIns="114300" tIns="76200" rIns="114300" bIns="76200">
                      <a:noAutofit/>
                    </a:bodyPr>
                    <a:lstStyle/>
                    <a:p>
                      <a:pPr algn="l"/>
                      <a:r>
                        <a:rPr sz="1650" b="0">
                          <a:solidFill>
                            <a:srgbClr val="14281D"/>
                          </a:solidFill>
                          <a:latin typeface="Arial"/>
                          <a:ea typeface="Arial"/>
                          <a:cs typeface="Arial"/>
                        </a:rPr>
                        <a:t>Repeat visits to the same provider are free</a:t>
                      </a:r>
                    </a:p>
                  </a:txBody>
                  <a:tcPr marL="91440" marR="91440" marT="45720" marB="45720" anchor="ctr">
                    <a:solidFill>
                      <a:srgbClr val="F7F5EF"/>
                    </a:solidFill>
                  </a:tcPr>
                </a:tc>
                <a:tc>
                  <a:txBody>
                    <a:bodyPr lIns="114300" tIns="76200" rIns="114300" bIns="76200">
                      <a:noAutofit/>
                    </a:bodyPr>
                    <a:lstStyle/>
                    <a:p>
                      <a:pPr algn="l"/>
                      <a:r>
                        <a:rPr sz="1650" b="0">
                          <a:solidFill>
                            <a:srgbClr val="14281D"/>
                          </a:solidFill>
                          <a:latin typeface="Arial"/>
                          <a:ea typeface="Arial"/>
                          <a:cs typeface="Arial"/>
                        </a:rPr>
                        <a:t>Our retained service fee funds ongoing work</a:t>
                      </a:r>
                    </a:p>
                  </a:txBody>
                  <a:tcPr marL="91440" marR="91440" marT="45720" marB="45720" anchor="ctr">
                    <a:solidFill>
                      <a:srgbClr val="F7F5EF"/>
                    </a:solidFill>
                  </a:tcPr>
                </a:tc>
              </a:tr>
            </a:tbl>
          </a:graphicData>
        </a:graphic>
      </p:graphicFrame>
      <p:sp>
        <p:nvSpPr>
          <p:cNvPr id="10" name="The range appears on a page with older license lan">
            <a:extLst xmlns:a="http://schemas.openxmlformats.org/drawingml/2006/main">
              <a:ext uri="{FF2B5EF4-FFF2-40B4-BE49-F238E27FC236}">
                <a16:creationId xmlns:a16="http://schemas.microsoft.com/office/drawing/2014/main" id="{71CAEFEF-E5F6-4D4C-9E46-C10E68B6921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range appears on a page with older license language; it is not a current universal quote. Joining is free; paid add-ons exist. Current help and published range are linked in sources.</a:t>
            </a:r>
          </a:p>
        </p:txBody>
      </p:sp>
    </p:spTree>
    <p:extLst>
      <p:ext uri="{BB962C8B-B14F-4D97-AF65-F5344CB8AC3E}">
        <p14:creationId xmlns:p14="http://schemas.microsoft.com/office/powerpoint/2010/main" val="531257977"/>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FFD0807B-CAEF-4E49-8F97-27C24102870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FECEF9A7-0EA9-4868-A19A-0BF73FC7304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F2082BBF-95F9-4C7E-9AD5-18692039F62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D096037D-A226-457D-8922-5F742F1A6C2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finder fee. Service + processing fees apply.</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253371D5-67AA-4A7A-899D-94353A47B19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180303468"/>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A larger job pays a proportionate service fee">
            <a:extLst xmlns:a="http://schemas.openxmlformats.org/drawingml/2006/main">
              <a:ext uri="{FF2B5EF4-FFF2-40B4-BE49-F238E27FC236}">
                <a16:creationId xmlns:a16="http://schemas.microsoft.com/office/drawing/2014/main" id="{0CFB4D19-CB2C-4BE2-A925-CC01BB5363C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larger job pays a proportionate service fee</a:t>
            </a:r>
          </a:p>
        </p:txBody>
      </p:sp>
      <p:sp>
        <p:nvSpPr>
          <p:cNvPr id="2" name="Recurring provider charges include the platform fe">
            <a:extLst xmlns:a="http://schemas.openxmlformats.org/drawingml/2006/main">
              <a:ext uri="{FF2B5EF4-FFF2-40B4-BE49-F238E27FC236}">
                <a16:creationId xmlns:a16="http://schemas.microsoft.com/office/drawing/2014/main" id="{F93A1749-BE63-4233-992E-45C4BCCA1DF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Recurring provider charges include the platform fee and payment processing, with no finder fee on repeats.</a:t>
            </a:r>
          </a:p>
        </p:txBody>
      </p:sp>
      <p:sp>
        <p:nvSpPr>
          <p:cNvPr id="3" name="YardMatch">
            <a:extLst xmlns:a="http://schemas.openxmlformats.org/drawingml/2006/main">
              <a:ext uri="{FF2B5EF4-FFF2-40B4-BE49-F238E27FC236}">
                <a16:creationId xmlns:a16="http://schemas.microsoft.com/office/drawing/2014/main" id="{955EBB5D-B121-480B-B37E-0821CA20068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C349BEE9-7075-48F9-BF0A-2EF3A3713DA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graphicFrame>
        <p:nvGraphicFramePr>
          <p:cNvPr id="13" name=""/>
          <p:cNvGraphicFramePr/>
          <p:nvPr/>
        </p:nvGraphicFramePr>
        <p:xfrm>
          <a:off xmlns:a="http://schemas.openxmlformats.org/drawingml/2006/main" x="609600" y="2390775"/>
          <a:ext xmlns:a="http://schemas.openxmlformats.org/drawingml/2006/main" cx="8191500" cy="3114675"/>
        </p:xfrm>
        <a:graphic xmlns:a="http://schemas.openxmlformats.org/drawingml/2006/main">
          <a:graphicData uri="http://schemas.openxmlformats.org/drawingml/2006/table">
            <a:tbl>
              <a:tblPr/>
              <a:tblGrid>
                <a:gridCol w="2190750"/>
                <a:gridCol w="1809750"/>
                <a:gridCol w="2095500"/>
                <a:gridCol w="2095500"/>
              </a:tblGrid>
              <a:tr h="519113">
                <a:tc>
                  <a:txBody>
                    <a:bodyPr lIns="114300" tIns="76200" rIns="114300" bIns="76200">
                      <a:noAutofit/>
                    </a:bodyPr>
                    <a:lstStyle/>
                    <a:p>
                      <a:pPr algn="l"/>
                      <a:r>
                        <a:rPr sz="1800" b="1">
                          <a:solidFill>
                            <a:srgbClr val="FFFFFF"/>
                          </a:solidFill>
                          <a:latin typeface="Arial"/>
                          <a:ea typeface="Arial"/>
                          <a:cs typeface="Arial"/>
                        </a:rPr>
                        <a:t>Service bill</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Platform fee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if card</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if ACH</a:t>
                      </a:r>
                    </a:p>
                  </a:txBody>
                  <a:tcPr marL="91440" marR="91440" marT="45720" marB="45720" anchor="ctr">
                    <a:solidFill>
                      <a:srgbClr val="205938"/>
                    </a:solidFill>
                  </a:tcPr>
                </a:tc>
              </a:tr>
              <a:tr h="519113">
                <a:tc>
                  <a:txBody>
                    <a:bodyPr lIns="114300" tIns="76200" rIns="114300" bIns="76200">
                      <a:noAutofit/>
                    </a:bodyPr>
                    <a:lstStyle/>
                    <a:p>
                      <a:pPr algn="l"/>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$2.99</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$3.47</a:t>
                      </a:r>
                    </a:p>
                  </a:txBody>
                  <a:tcPr marL="91440" marR="91440" marT="45720" marB="45720" anchor="ctr">
                    <a:solidFill>
                      <a:srgbClr val="FFFFFF"/>
                    </a:solidFill>
                  </a:tcPr>
                </a:tc>
              </a:tr>
              <a:tr h="519113">
                <a:tc>
                  <a:txBody>
                    <a:bodyPr lIns="114300" tIns="76200" rIns="114300" bIns="76200">
                      <a:noAutofit/>
                    </a:bodyPr>
                    <a:lstStyle/>
                    <a:p>
                      <a:pPr algn="l"/>
                      <a:r>
                        <a:rPr sz="1800" b="0">
                          <a:solidFill>
                            <a:srgbClr val="14281D"/>
                          </a:solidFill>
                          <a:latin typeface="Arial"/>
                          <a:ea typeface="Arial"/>
                          <a:cs typeface="Arial"/>
                        </a:rPr>
                        <a:t>$100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$2.99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$6.19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$3.79</a:t>
                      </a:r>
                    </a:p>
                  </a:txBody>
                  <a:tcPr marL="91440" marR="91440" marT="45720" marB="45720" anchor="ctr">
                    <a:solidFill>
                      <a:srgbClr val="F7F5EF"/>
                    </a:solidFill>
                  </a:tcPr>
                </a:tc>
              </a:tr>
              <a:tr h="519113">
                <a:tc>
                  <a:txBody>
                    <a:bodyPr lIns="114300" tIns="76200" rIns="114300" bIns="76200">
                      <a:noAutofit/>
                    </a:bodyPr>
                    <a:lstStyle/>
                    <a:p>
                      <a:pPr algn="l"/>
                      <a:r>
                        <a:rPr sz="1800" b="0">
                          <a:solidFill>
                            <a:srgbClr val="14281D"/>
                          </a:solidFill>
                          <a:latin typeface="Arial"/>
                          <a:ea typeface="Arial"/>
                          <a:cs typeface="Arial"/>
                        </a:rPr>
                        <a:t>$300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$5.40</a:t>
                      </a:r>
                    </a:p>
                  </a:txBody>
                  <a:tcPr marL="91440" marR="91440" marT="45720" marB="45720" anchor="ctr">
                    <a:solidFill>
                      <a:srgbClr val="FFFFFF"/>
                    </a:solidFill>
                  </a:tcPr>
                </a:tc>
              </a:tr>
              <a:tr h="519113">
                <a:tc>
                  <a:txBody>
                    <a:bodyPr lIns="114300" tIns="76200" rIns="114300" bIns="76200">
                      <a:noAutofit/>
                    </a:bodyPr>
                    <a:lstStyle/>
                    <a:p>
                      <a:pPr algn="l"/>
                      <a:r>
                        <a:rPr sz="180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$39.30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$15.00</a:t>
                      </a:r>
                    </a:p>
                  </a:txBody>
                  <a:tcPr marL="91440" marR="91440" marT="45720" marB="45720" anchor="ctr">
                    <a:solidFill>
                      <a:srgbClr val="F7F5EF"/>
                    </a:solidFill>
                  </a:tcPr>
                </a:tc>
              </a:tr>
              <a:tr h="519113">
                <a:tc>
                  <a:txBody>
                    <a:bodyPr lIns="114300" tIns="76200" rIns="114300" bIns="76200">
                      <a:noAutofit/>
                    </a:bodyPr>
                    <a:lstStyle/>
                    <a:p>
                      <a:pPr algn="l"/>
                      <a:r>
                        <a:rPr sz="1800"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$97.80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$30.00</a:t>
                      </a:r>
                    </a:p>
                  </a:txBody>
                  <a:tcPr marL="91440" marR="91440" marT="45720" marB="45720" anchor="ctr">
                    <a:solidFill>
                      <a:srgbClr val="FFFFFF"/>
                    </a:solidFill>
                  </a:tcPr>
                </a:tc>
              </a:tr>
            </a:tbl>
          </a:graphicData>
        </a:graphic>
      </p:graphicFrame>
      <p:sp>
        <p:nvSpPr>
          <p:cNvPr id="6" name="$2.05">
            <a:extLst xmlns:a="http://schemas.openxmlformats.org/drawingml/2006/main">
              <a:ext uri="{FF2B5EF4-FFF2-40B4-BE49-F238E27FC236}">
                <a16:creationId xmlns:a16="http://schemas.microsoft.com/office/drawing/2014/main" id="{9B406B07-2CB5-4699-9643-5F9514A7D0CE}"/>
              </a:ext>
            </a:extLst>
          </p:cNvPr>
          <p:cNvSpPr>
            <a:spLocks xmlns:a="http://schemas.openxmlformats.org/drawingml/2006/main" noGrp="1"/>
          </p:cNvSpPr>
          <p:nvPr/>
        </p:nvSpPr>
        <p:spPr>
          <a:xfrm xmlns:a="http://schemas.openxmlformats.org/drawingml/2006/main">
            <a:off x="9172575" y="2562225"/>
            <a:ext cx="2352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5938"/>
                </a:solidFill>
                <a:latin typeface="Arial"/>
                <a:ea typeface="Arial"/>
                <a:cs typeface="Arial"/>
              </a:defRPr>
            </a:pPr>
            <a:r>
              <a:rPr sz="3600" b="1">
                <a:solidFill>
                  <a:srgbClr val="205938"/>
                </a:solidFill>
                <a:latin typeface="Arial"/>
                <a:ea typeface="Arial"/>
                <a:cs typeface="Arial"/>
              </a:rPr>
              <a:t>$2.05</a:t>
            </a:r>
          </a:p>
        </p:txBody>
      </p:sp>
      <p:sp>
        <p:nvSpPr>
          <p:cNvPr id="7" name="Average repeat contribution in the 2031 base mix">
            <a:extLst xmlns:a="http://schemas.openxmlformats.org/drawingml/2006/main">
              <a:ext uri="{FF2B5EF4-FFF2-40B4-BE49-F238E27FC236}">
                <a16:creationId xmlns:a16="http://schemas.microsoft.com/office/drawing/2014/main" id="{787D3669-E2C9-4118-8D65-85C5FE47E780}"/>
              </a:ext>
            </a:extLst>
          </p:cNvPr>
          <p:cNvSpPr>
            <a:spLocks xmlns:a="http://schemas.openxmlformats.org/drawingml/2006/main" noGrp="1"/>
          </p:cNvSpPr>
          <p:nvPr/>
        </p:nvSpPr>
        <p:spPr>
          <a:xfrm xmlns:a="http://schemas.openxmlformats.org/drawingml/2006/main">
            <a:off x="9191625" y="3305175"/>
            <a:ext cx="2333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Average repeat contribution in the 2031 base mix</a:t>
            </a:r>
          </a:p>
        </p:txBody>
      </p:sp>
      <p:sp>
        <p:nvSpPr>
          <p:cNvPr id="8" name="Recurring platform pricing changes above $299. A b">
            <a:extLst xmlns:a="http://schemas.openxmlformats.org/drawingml/2006/main">
              <a:ext uri="{FF2B5EF4-FFF2-40B4-BE49-F238E27FC236}">
                <a16:creationId xmlns:a16="http://schemas.microsoft.com/office/drawing/2014/main" id="{3352190E-CCA6-4EA1-9F8C-E9B98A5FD6F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Recurring platform pricing changes above $299. A bundle on one invoice counts once. Processing recovery is excluded from net platform revenue. Fees still require provider acceptance testing.</a:t>
            </a:r>
          </a:p>
        </p:txBody>
      </p:sp>
    </p:spTree>
    <p:extLst>
      <p:ext uri="{BB962C8B-B14F-4D97-AF65-F5344CB8AC3E}">
        <p14:creationId xmlns:p14="http://schemas.microsoft.com/office/powerpoint/2010/main" val="390594052"/>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60 is the starting price for basic mowing">
            <a:extLst xmlns:a="http://schemas.openxmlformats.org/drawingml/2006/main">
              <a:ext uri="{FF2B5EF4-FFF2-40B4-BE49-F238E27FC236}">
                <a16:creationId xmlns:a16="http://schemas.microsoft.com/office/drawing/2014/main" id="{8D0B4B44-9D8A-4A88-8899-5B08A26F91E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$60 is the starting price for basic mowing</a:t>
            </a:r>
          </a:p>
        </p:txBody>
      </p:sp>
      <p:sp>
        <p:nvSpPr>
          <p:cNvPr id="2" name="Illustrative 2027 inputs before neighborhood and p">
            <a:extLst xmlns:a="http://schemas.openxmlformats.org/drawingml/2006/main">
              <a:ext uri="{FF2B5EF4-FFF2-40B4-BE49-F238E27FC236}">
                <a16:creationId xmlns:a16="http://schemas.microsoft.com/office/drawing/2014/main" id="{34DBC5DF-76C0-4CF9-8E45-F33797197E0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2027 inputs before neighborhood and property adjustments. These are assumptions, not provider quotes.</a:t>
            </a:r>
          </a:p>
        </p:txBody>
      </p:sp>
      <p:sp>
        <p:nvSpPr>
          <p:cNvPr id="3" name="YardMatch">
            <a:extLst xmlns:a="http://schemas.openxmlformats.org/drawingml/2006/main">
              <a:ext uri="{FF2B5EF4-FFF2-40B4-BE49-F238E27FC236}">
                <a16:creationId xmlns:a16="http://schemas.microsoft.com/office/drawing/2014/main" id="{E73232CC-3832-45CC-A333-EC22B462001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368DF8DC-5067-4E49-BC51-85A3317227F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5429250"/>
                <a:gridCol w="1905000"/>
                <a:gridCol w="3638550"/>
              </a:tblGrid>
              <a:tr h="563563">
                <a:tc>
                  <a:txBody>
                    <a:bodyPr lIns="114300" tIns="76200" rIns="114300" bIns="76200">
                      <a:noAutofit/>
                    </a:bodyPr>
                    <a:lstStyle/>
                    <a:p>
                      <a:pPr algn="l"/>
                      <a:r>
                        <a:rPr sz="1800" b="1">
                          <a:solidFill>
                            <a:srgbClr val="FFFFFF"/>
                          </a:solidFill>
                          <a:latin typeface="Arial"/>
                          <a:ea typeface="Arial"/>
                          <a:cs typeface="Arial"/>
                        </a:rPr>
                        <a:t>Service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Starting price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Scheduled jobs / household</a:t>
                      </a:r>
                    </a:p>
                  </a:txBody>
                  <a:tcPr marL="91440" marR="91440" marT="45720" marB="45720" anchor="ctr">
                    <a:solidFill>
                      <a:srgbClr val="205938"/>
                    </a:solidFill>
                  </a:tcPr>
                </a:tc>
              </a:tr>
              <a:tr h="563563">
                <a:tc>
                  <a:txBody>
                    <a:bodyPr lIns="114300" tIns="76200" rIns="114300" bIns="76200">
                      <a:noAutofit/>
                    </a:bodyPr>
                    <a:lstStyle/>
                    <a:p>
                      <a:pPr algn="l"/>
                      <a:r>
                        <a:rPr sz="1800" b="0">
                          <a:solidFill>
                            <a:srgbClr val="14281D"/>
                          </a:solidFill>
                          <a:latin typeface="Arial"/>
                          <a:ea typeface="Arial"/>
                          <a:cs typeface="Arial"/>
                        </a:rPr>
                        <a:t>Basic mowing</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Mowing + edging / trimming</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6.00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Expanded maintenance bundle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Mulch / seasonal cleanup</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0.60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Tree / larger property project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0.03</a:t>
                      </a:r>
                    </a:p>
                  </a:txBody>
                  <a:tcPr marL="91440" marR="91440" marT="45720" marB="45720" anchor="ctr">
                    <a:solidFill>
                      <a:srgbClr val="FFFFFF"/>
                    </a:solidFill>
                  </a:tcPr>
                </a:tc>
              </a:tr>
            </a:tbl>
          </a:graphicData>
        </a:graphic>
      </p:graphicFrame>
      <p:sp>
        <p:nvSpPr>
          <p:cNvPr id="6" name="2027 base: 20 maintenance visits plus 0.63 project">
            <a:extLst xmlns:a="http://schemas.openxmlformats.org/drawingml/2006/main">
              <a:ext uri="{FF2B5EF4-FFF2-40B4-BE49-F238E27FC236}">
                <a16:creationId xmlns:a16="http://schemas.microsoft.com/office/drawing/2014/main" id="{7F85F1F3-004E-4075-98A4-C09B4E13CFB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2027 base: 20 maintenance visits plus 0.63 project jobs per full-season household before capture and completion. Bundles count once. Project visits pay the service fee plus processing, with no new finder fee for the same provider.</a:t>
            </a:r>
          </a:p>
        </p:txBody>
      </p:sp>
    </p:spTree>
    <p:extLst>
      <p:ext uri="{BB962C8B-B14F-4D97-AF65-F5344CB8AC3E}">
        <p14:creationId xmlns:p14="http://schemas.microsoft.com/office/powerpoint/2010/main" val="690000233"/>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Property and neighborhood affect the ticket">
            <a:extLst xmlns:a="http://schemas.openxmlformats.org/drawingml/2006/main">
              <a:ext uri="{FF2B5EF4-FFF2-40B4-BE49-F238E27FC236}">
                <a16:creationId xmlns:a16="http://schemas.microsoft.com/office/drawing/2014/main" id="{352D4D01-86F0-4C77-A5B8-13F49560328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Property and neighborhood affect the ticket</a:t>
            </a:r>
          </a:p>
        </p:txBody>
      </p:sp>
      <p:sp>
        <p:nvSpPr>
          <p:cNvPr id="2" name="Named town launches, service mix and 3% annual pri">
            <a:extLst xmlns:a="http://schemas.openxmlformats.org/drawingml/2006/main">
              <a:ext uri="{FF2B5EF4-FFF2-40B4-BE49-F238E27FC236}">
                <a16:creationId xmlns:a16="http://schemas.microsoft.com/office/drawing/2014/main" id="{ED7EFF8E-BEB8-4BB1-BEE7-CE5F249FECE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Named town launches, service mix and 3% annual price escalation determine the weighted average.</a:t>
            </a:r>
          </a:p>
        </p:txBody>
      </p:sp>
      <p:sp>
        <p:nvSpPr>
          <p:cNvPr id="3" name="YardMatch">
            <a:extLst xmlns:a="http://schemas.openxmlformats.org/drawingml/2006/main">
              <a:ext uri="{FF2B5EF4-FFF2-40B4-BE49-F238E27FC236}">
                <a16:creationId xmlns:a16="http://schemas.microsoft.com/office/drawing/2014/main" id="{12660151-43A4-4435-A26B-6C9E38C5B5C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CDBED136-4E09-479E-81E0-7865CA538B2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Neighborhood">
            <a:extLst xmlns:a="http://schemas.openxmlformats.org/drawingml/2006/main">
              <a:ext uri="{FF2B5EF4-FFF2-40B4-BE49-F238E27FC236}">
                <a16:creationId xmlns:a16="http://schemas.microsoft.com/office/drawing/2014/main" id="{47885194-FB74-4998-82C0-50944F2FBF0E}"/>
              </a:ext>
            </a:extLst>
          </p:cNvPr>
          <p:cNvSpPr>
            <a:spLocks xmlns:a="http://schemas.openxmlformats.org/drawingml/2006/main" noGrp="1"/>
          </p:cNvSpPr>
          <p:nvPr/>
        </p:nvSpPr>
        <p:spPr>
          <a:xfrm xmlns:a="http://schemas.openxmlformats.org/drawingml/2006/main">
            <a:off x="6286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Neighborhood</a:t>
            </a:r>
          </a:p>
        </p:txBody>
      </p:sp>
      <p:sp>
        <p:nvSpPr>
          <p:cNvPr id="6" name="Standard, +15%, or +30% pricing">
            <a:extLst xmlns:a="http://schemas.openxmlformats.org/drawingml/2006/main">
              <a:ext uri="{FF2B5EF4-FFF2-40B4-BE49-F238E27FC236}">
                <a16:creationId xmlns:a16="http://schemas.microsoft.com/office/drawing/2014/main" id="{E6F2B80A-FF36-41DE-BE02-E785C992CEDE}"/>
              </a:ext>
            </a:extLst>
          </p:cNvPr>
          <p:cNvSpPr>
            <a:spLocks xmlns:a="http://schemas.openxmlformats.org/drawingml/2006/main" noGrp="1"/>
          </p:cNvSpPr>
          <p:nvPr/>
        </p:nvSpPr>
        <p:spPr>
          <a:xfrm xmlns:a="http://schemas.openxmlformats.org/drawingml/2006/main">
            <a:off x="6286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Standard, +15%, or +30% pricing</a:t>
            </a:r>
          </a:p>
        </p:txBody>
      </p:sp>
      <p:sp>
        <p:nvSpPr>
          <p:cNvPr id="7" name="Property size">
            <a:extLst xmlns:a="http://schemas.openxmlformats.org/drawingml/2006/main">
              <a:ext uri="{FF2B5EF4-FFF2-40B4-BE49-F238E27FC236}">
                <a16:creationId xmlns:a16="http://schemas.microsoft.com/office/drawing/2014/main" id="{684B9F96-DFB2-4C9B-88B6-082B370DC4D5}"/>
              </a:ext>
            </a:extLst>
          </p:cNvPr>
          <p:cNvSpPr>
            <a:spLocks xmlns:a="http://schemas.openxmlformats.org/drawingml/2006/main" noGrp="1"/>
          </p:cNvSpPr>
          <p:nvPr/>
        </p:nvSpPr>
        <p:spPr>
          <a:xfrm xmlns:a="http://schemas.openxmlformats.org/drawingml/2006/main">
            <a:off x="63817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Property size</a:t>
            </a:r>
          </a:p>
        </p:txBody>
      </p:sp>
      <p:sp>
        <p:nvSpPr>
          <p:cNvPr id="8" name="Typical, +35%, or +80% pricing">
            <a:extLst xmlns:a="http://schemas.openxmlformats.org/drawingml/2006/main">
              <a:ext uri="{FF2B5EF4-FFF2-40B4-BE49-F238E27FC236}">
                <a16:creationId xmlns:a16="http://schemas.microsoft.com/office/drawing/2014/main" id="{49BCEA36-9789-4D8E-ADF1-A4490FE83874}"/>
              </a:ext>
            </a:extLst>
          </p:cNvPr>
          <p:cNvSpPr>
            <a:spLocks xmlns:a="http://schemas.openxmlformats.org/drawingml/2006/main" noGrp="1"/>
          </p:cNvSpPr>
          <p:nvPr/>
        </p:nvSpPr>
        <p:spPr>
          <a:xfrm xmlns:a="http://schemas.openxmlformats.org/drawingml/2006/main">
            <a:off x="63817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Typical, +35%, or +80% pricing</a:t>
            </a:r>
          </a:p>
        </p:txBody>
      </p:sp>
      <p:graphicFrame>
        <p:nvGraphicFramePr>
          <p:cNvPr id="19" name=""/>
          <p:cNvGraphicFramePr/>
          <p:nvPr/>
        </p:nvGraphicFramePr>
        <p:xfrm>
          <a:off xmlns:a="http://schemas.openxmlformats.org/drawingml/2006/main" x="609600" y="3524250"/>
          <a:ext xmlns:a="http://schemas.openxmlformats.org/drawingml/2006/main" cx="10972800" cy="2162175"/>
        </p:xfrm>
        <a:graphic xmlns:a="http://schemas.openxmlformats.org/drawingml/2006/main">
          <a:graphicData uri="http://schemas.openxmlformats.org/drawingml/2006/table">
            <a:tbl>
              <a:tblPr/>
              <a:tblGrid>
                <a:gridCol w="4857750"/>
                <a:gridCol w="2038350"/>
                <a:gridCol w="2038350"/>
                <a:gridCol w="2038350"/>
              </a:tblGrid>
              <a:tr h="540544">
                <a:tc>
                  <a:txBody>
                    <a:bodyPr lIns="114300" tIns="76200" rIns="114300" bIns="76200">
                      <a:noAutofit/>
                    </a:bodyPr>
                    <a:lstStyle/>
                    <a:p>
                      <a:pPr algn="l"/>
                      <a:r>
                        <a:rPr sz="1875" b="1">
                          <a:solidFill>
                            <a:srgbClr val="FFFFFF"/>
                          </a:solidFill>
                          <a:latin typeface="Arial"/>
                          <a:ea typeface="Arial"/>
                          <a:cs typeface="Arial"/>
                        </a:rPr>
                        <a:t>Base case</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2033</a:t>
                      </a:r>
                    </a:p>
                  </a:txBody>
                  <a:tcPr marL="91440" marR="91440" marT="45720" marB="45720" anchor="ctr">
                    <a:solidFill>
                      <a:srgbClr val="205938"/>
                    </a:solidFill>
                  </a:tcPr>
                </a:tc>
              </a:tr>
              <a:tr h="540544">
                <a:tc>
                  <a:txBody>
                    <a:bodyPr lIns="114300" tIns="76200" rIns="114300" bIns="76200">
                      <a:noAutofit/>
                    </a:bodyPr>
                    <a:lstStyle/>
                    <a:p>
                      <a:pPr algn="l"/>
                      <a:r>
                        <a:rPr sz="1875" b="0">
                          <a:solidFill>
                            <a:srgbClr val="14281D"/>
                          </a:solidFill>
                          <a:latin typeface="Arial"/>
                          <a:ea typeface="Arial"/>
                          <a:cs typeface="Arial"/>
                        </a:rPr>
                        <a:t>Maintenance average price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$82.87</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$98.01</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$117.84</a:t>
                      </a:r>
                    </a:p>
                  </a:txBody>
                  <a:tcPr marL="91440" marR="91440" marT="45720" marB="45720" anchor="ctr">
                    <a:solidFill>
                      <a:srgbClr val="FFFFFF"/>
                    </a:solidFill>
                  </a:tcPr>
                </a:tc>
              </a:tr>
              <a:tr h="540544">
                <a:tc>
                  <a:txBody>
                    <a:bodyPr lIns="114300" tIns="76200" rIns="114300" bIns="76200">
                      <a:noAutofit/>
                    </a:bodyPr>
                    <a:lstStyle/>
                    <a:p>
                      <a:pPr algn="l"/>
                      <a:r>
                        <a:rPr sz="1875" b="1">
                          <a:solidFill>
                            <a:srgbClr val="14281D"/>
                          </a:solidFill>
                          <a:latin typeface="Arial"/>
                          <a:ea typeface="Arial"/>
                          <a:cs typeface="Arial"/>
                        </a:rPr>
                        <a:t>All-job average price</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$91.82</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$112.45</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$138.69</a:t>
                      </a:r>
                    </a:p>
                  </a:txBody>
                  <a:tcPr marL="91440" marR="91440" marT="45720" marB="45720" anchor="ctr">
                    <a:solidFill>
                      <a:srgbClr val="E8EDDF"/>
                    </a:solidFill>
                  </a:tcPr>
                </a:tc>
              </a:tr>
              <a:tr h="540544">
                <a:tc>
                  <a:txBody>
                    <a:bodyPr lIns="114300" tIns="76200" rIns="114300" bIns="76200">
                      <a:noAutofit/>
                    </a:bodyPr>
                    <a:lstStyle/>
                    <a:p>
                      <a:pPr algn="l"/>
                      <a:r>
                        <a:rPr sz="1875" b="0">
                          <a:solidFill>
                            <a:srgbClr val="14281D"/>
                          </a:solidFill>
                          <a:latin typeface="Arial"/>
                          <a:ea typeface="Arial"/>
                          <a:cs typeface="Arial"/>
                        </a:rPr>
                        <a:t>Separate projects / household</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0.63</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0.86</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r>
            </a:tbl>
          </a:graphicData>
        </a:graphic>
      </p:graphicFrame>
      <p:sp>
        <p:nvSpPr>
          <p:cNvPr id="10" name="Multipliers compound. Example: $85 bundle × 1.15 n">
            <a:extLst xmlns:a="http://schemas.openxmlformats.org/drawingml/2006/main">
              <a:ext uri="{FF2B5EF4-FFF2-40B4-BE49-F238E27FC236}">
                <a16:creationId xmlns:a16="http://schemas.microsoft.com/office/drawing/2014/main" id="{E68F32A2-A714-4686-BFE6-784DF7AA86B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Multipliers compound. Example: $85 bundle × 1.15 neighborhood × 1.35 property = $131.96 before later-year escalation. Town / lot weights stay correlated. Pricing assumptions are editable and need provider quotes.</a:t>
            </a:r>
          </a:p>
        </p:txBody>
      </p:sp>
    </p:spTree>
    <p:extLst>
      <p:ext uri="{BB962C8B-B14F-4D97-AF65-F5344CB8AC3E}">
        <p14:creationId xmlns:p14="http://schemas.microsoft.com/office/powerpoint/2010/main" val="784750624"/>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rnegat demand now has a defined funnel">
            <a:extLst xmlns:a="http://schemas.openxmlformats.org/drawingml/2006/main">
              <a:ext uri="{FF2B5EF4-FFF2-40B4-BE49-F238E27FC236}">
                <a16:creationId xmlns:a16="http://schemas.microsoft.com/office/drawing/2014/main" id="{B2F69EDB-645E-4AEA-BBA4-8BC6DB635E3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demand now has a defined funnel</a:t>
            </a:r>
          </a:p>
        </p:txBody>
      </p:sp>
      <p:sp>
        <p:nvSpPr>
          <p:cNvPr id="2" name="Census facts anchor the denominator. Lawn eligibil">
            <a:extLst xmlns:a="http://schemas.openxmlformats.org/drawingml/2006/main">
              <a:ext uri="{FF2B5EF4-FFF2-40B4-BE49-F238E27FC236}">
                <a16:creationId xmlns:a16="http://schemas.microsoft.com/office/drawing/2014/main" id="{67F229AD-EB79-44FD-9D59-ABF02815770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facts anchor the denominator. Lawn eligibility and willingness to hire are assumptions.</a:t>
            </a:r>
          </a:p>
        </p:txBody>
      </p:sp>
      <p:sp>
        <p:nvSpPr>
          <p:cNvPr id="3" name="YardMatch">
            <a:extLst xmlns:a="http://schemas.openxmlformats.org/drawingml/2006/main">
              <a:ext uri="{FF2B5EF4-FFF2-40B4-BE49-F238E27FC236}">
                <a16:creationId xmlns:a16="http://schemas.microsoft.com/office/drawing/2014/main" id="{C08D6D6A-FEC8-4F5D-A3B3-9001912E670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AF93B8AB-073C-4727-BBD7-BECA6D72B2F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graphicFrame>
        <p:nvGraphicFramePr>
          <p:cNvPr id="11" name=""/>
          <p:cNvGraphicFramePr/>
          <p:nvPr/>
        </p:nvGraphicFramePr>
        <p:xfrm>
          <a:off xmlns:a="http://schemas.openxmlformats.org/drawingml/2006/main" x="609600" y="2333625"/>
          <a:ext xmlns:a="http://schemas.openxmlformats.org/drawingml/2006/main" cx="10972800" cy="3152775"/>
        </p:xfrm>
        <a:graphic xmlns:a="http://schemas.openxmlformats.org/drawingml/2006/main">
          <a:graphicData uri="http://schemas.openxmlformats.org/drawingml/2006/table">
            <a:tbl>
              <a:tblPr/>
              <a:tblGrid>
                <a:gridCol w="8210550"/>
                <a:gridCol w="2762250"/>
              </a:tblGrid>
              <a:tr h="525463">
                <a:tc>
                  <a:txBody>
                    <a:bodyPr lIns="114300" tIns="76200" rIns="114300" bIns="76200">
                      <a:noAutofit/>
                    </a:bodyPr>
                    <a:lstStyle/>
                    <a:p>
                      <a:pPr algn="l"/>
                      <a:r>
                        <a:rPr sz="1875" b="1">
                          <a:solidFill>
                            <a:srgbClr val="FFFFFF"/>
                          </a:solidFill>
                          <a:latin typeface="Arial"/>
                          <a:ea typeface="Arial"/>
                          <a:cs typeface="Arial"/>
                        </a:rPr>
                        <a:t>Barnegat launch funnel</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Households</a:t>
                      </a:r>
                    </a:p>
                  </a:txBody>
                  <a:tcPr marL="91440" marR="91440" marT="45720" marB="45720" anchor="ctr">
                    <a:solidFill>
                      <a:srgbClr val="205938"/>
                    </a:solidFill>
                  </a:tcPr>
                </a:tc>
              </a:tr>
              <a:tr h="525463">
                <a:tc>
                  <a:txBody>
                    <a:bodyPr lIns="114300" tIns="76200" rIns="114300" bIns="76200">
                      <a:noAutofit/>
                    </a:bodyPr>
                    <a:lstStyle/>
                    <a:p>
                      <a:pPr algn="l"/>
                      <a:r>
                        <a:rPr sz="1875" b="0">
                          <a:solidFill>
                            <a:srgbClr val="14281D"/>
                          </a:solidFill>
                          <a:latin typeface="Arial"/>
                          <a:ea typeface="Arial"/>
                          <a:cs typeface="Arial"/>
                        </a:rPr>
                        <a:t>Census occupied households</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10,265</a:t>
                      </a:r>
                    </a:p>
                  </a:txBody>
                  <a:tcPr marL="91440" marR="91440" marT="45720" marB="45720" anchor="ctr">
                    <a:solidFill>
                      <a:srgbClr val="FFFFFF"/>
                    </a:solidFill>
                  </a:tcPr>
                </a:tc>
              </a:tr>
              <a:tr h="525463">
                <a:tc>
                  <a:txBody>
                    <a:bodyPr lIns="114300" tIns="76200" rIns="114300" bIns="76200">
                      <a:noAutofit/>
                    </a:bodyPr>
                    <a:lstStyle/>
                    <a:p>
                      <a:pPr algn="l"/>
                      <a:r>
                        <a:rPr sz="1875" b="0">
                          <a:solidFill>
                            <a:srgbClr val="14281D"/>
                          </a:solidFill>
                          <a:latin typeface="Arial"/>
                          <a:ea typeface="Arial"/>
                          <a:cs typeface="Arial"/>
                        </a:rPr>
                        <a:t>Owner-occupied estimate: 88%</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9,033</a:t>
                      </a:r>
                    </a:p>
                  </a:txBody>
                  <a:tcPr marL="91440" marR="91440" marT="45720" marB="45720" anchor="ctr">
                    <a:solidFill>
                      <a:srgbClr val="F7F5EF"/>
                    </a:solidFill>
                  </a:tcPr>
                </a:tc>
              </a:tr>
              <a:tr h="525463">
                <a:tc>
                  <a:txBody>
                    <a:bodyPr lIns="114300" tIns="76200" rIns="114300" bIns="76200">
                      <a:noAutofit/>
                    </a:bodyPr>
                    <a:lstStyle/>
                    <a:p>
                      <a:pPr algn="l"/>
                      <a:r>
                        <a:rPr sz="1875" b="0">
                          <a:solidFill>
                            <a:srgbClr val="14281D"/>
                          </a:solidFill>
                          <a:latin typeface="Arial"/>
                          <a:ea typeface="Arial"/>
                          <a:cs typeface="Arial"/>
                        </a:rPr>
                        <a:t>Assumed lawn-care eligibility: 75%</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6,775</a:t>
                      </a:r>
                    </a:p>
                  </a:txBody>
                  <a:tcPr marL="91440" marR="91440" marT="45720" marB="45720" anchor="ctr">
                    <a:solidFill>
                      <a:srgbClr val="FFFFFF"/>
                    </a:solidFill>
                  </a:tcPr>
                </a:tc>
              </a:tr>
              <a:tr h="525463">
                <a:tc>
                  <a:txBody>
                    <a:bodyPr lIns="114300" tIns="76200" rIns="114300" bIns="76200">
                      <a:noAutofit/>
                    </a:bodyPr>
                    <a:lstStyle/>
                    <a:p>
                      <a:pPr algn="l"/>
                      <a:r>
                        <a:rPr sz="1875" b="0">
                          <a:solidFill>
                            <a:srgbClr val="14281D"/>
                          </a:solidFill>
                          <a:latin typeface="Arial"/>
                          <a:ea typeface="Arial"/>
                          <a:cs typeface="Arial"/>
                        </a:rPr>
                        <a:t>Assumed propensity to hire: 45%</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3,049</a:t>
                      </a:r>
                    </a:p>
                  </a:txBody>
                  <a:tcPr marL="91440" marR="91440" marT="45720" marB="45720" anchor="ctr">
                    <a:solidFill>
                      <a:srgbClr val="F7F5EF"/>
                    </a:solidFill>
                  </a:tcPr>
                </a:tc>
              </a:tr>
              <a:tr h="525463">
                <a:tc>
                  <a:txBody>
                    <a:bodyPr lIns="114300" tIns="76200" rIns="114300" bIns="76200">
                      <a:noAutofit/>
                    </a:bodyPr>
                    <a:lstStyle/>
                    <a:p>
                      <a:pPr algn="l"/>
                      <a:r>
                        <a:rPr sz="1875" b="1">
                          <a:solidFill>
                            <a:srgbClr val="14281D"/>
                          </a:solidFill>
                          <a:latin typeface="Arial"/>
                          <a:ea typeface="Arial"/>
                          <a:cs typeface="Arial"/>
                        </a:rPr>
                        <a:t>2027 active customers after supply cap</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240</a:t>
                      </a:r>
                    </a:p>
                  </a:txBody>
                  <a:tcPr marL="91440" marR="91440" marT="45720" marB="45720" anchor="ctr">
                    <a:solidFill>
                      <a:srgbClr val="E8EDDF"/>
                    </a:solidFill>
                  </a:tcPr>
                </a:tc>
              </a:tr>
            </a:tbl>
          </a:graphicData>
        </a:graphic>
      </p:graphicFrame>
      <p:sp>
        <p:nvSpPr>
          <p:cNvPr id="6" name="Base acquisition starts at 8% of the never-acquire">
            <a:extLst xmlns:a="http://schemas.openxmlformats.org/drawingml/2006/main">
              <a:ext uri="{FF2B5EF4-FFF2-40B4-BE49-F238E27FC236}">
                <a16:creationId xmlns:a16="http://schemas.microsoft.com/office/drawing/2014/main" id="{8BC7F8FC-7A76-4CA1-ACE7-90406CFA737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acquisition starts at 8% of the never-acquired outsourcing pool. Six planned providers × 40 households cap launch at 240. No provider commitments or measured hiring propensity are claimed.</a:t>
            </a:r>
          </a:p>
        </p:txBody>
      </p:sp>
    </p:spTree>
    <p:extLst>
      <p:ext uri="{BB962C8B-B14F-4D97-AF65-F5344CB8AC3E}">
        <p14:creationId xmlns:p14="http://schemas.microsoft.com/office/powerpoint/2010/main" val="533443120"/>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A named rollout from Ocean to Monmouth County">
            <a:extLst xmlns:a="http://schemas.openxmlformats.org/drawingml/2006/main">
              <a:ext uri="{FF2B5EF4-FFF2-40B4-BE49-F238E27FC236}">
                <a16:creationId xmlns:a16="http://schemas.microsoft.com/office/drawing/2014/main" id="{585E2D1D-8497-4D9C-9724-4FA1CE77492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named rollout from Ocean to Monmouth County</a:t>
            </a:r>
          </a:p>
        </p:txBody>
      </p:sp>
      <p:sp>
        <p:nvSpPr>
          <p:cNvPr id="2" name="Illustrative launch years. Each town has its own d">
            <a:extLst xmlns:a="http://schemas.openxmlformats.org/drawingml/2006/main">
              <a:ext uri="{FF2B5EF4-FFF2-40B4-BE49-F238E27FC236}">
                <a16:creationId xmlns:a16="http://schemas.microsoft.com/office/drawing/2014/main" id="{9017643A-D48A-48F0-839E-66252904BB2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launch years. Each town has its own demand pool, provider plan, acquisition cost and local budget.</a:t>
            </a:r>
          </a:p>
        </p:txBody>
      </p:sp>
      <p:sp>
        <p:nvSpPr>
          <p:cNvPr id="3" name="YardMatch">
            <a:extLst xmlns:a="http://schemas.openxmlformats.org/drawingml/2006/main">
              <a:ext uri="{FF2B5EF4-FFF2-40B4-BE49-F238E27FC236}">
                <a16:creationId xmlns:a16="http://schemas.microsoft.com/office/drawing/2014/main" id="{688BB925-22A7-4CE1-B6E3-3E79E041DAB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EFCBFB1A-F1D4-472B-A099-F88AEF93666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graphicFrame>
        <p:nvGraphicFramePr>
          <p:cNvPr id="11" name=""/>
          <p:cNvGraphicFramePr/>
          <p:nvPr/>
        </p:nvGraphicFramePr>
        <p:xfrm>
          <a:off xmlns:a="http://schemas.openxmlformats.org/drawingml/2006/main" x="609600" y="2333625"/>
          <a:ext xmlns:a="http://schemas.openxmlformats.org/drawingml/2006/main" cx="10972800" cy="3381375"/>
        </p:xfrm>
        <a:graphic xmlns:a="http://schemas.openxmlformats.org/drawingml/2006/main">
          <a:graphicData uri="http://schemas.openxmlformats.org/drawingml/2006/table">
            <a:tbl>
              <a:tblPr/>
              <a:tblGrid>
                <a:gridCol w="1466850"/>
                <a:gridCol w="7667625"/>
                <a:gridCol w="1838325"/>
              </a:tblGrid>
              <a:tr h="422672">
                <a:tc>
                  <a:txBody>
                    <a:bodyPr lIns="114300" tIns="76200" rIns="114300" bIns="76200">
                      <a:noAutofit/>
                    </a:bodyPr>
                    <a:lstStyle/>
                    <a:p>
                      <a:pPr algn="l"/>
                      <a:r>
                        <a:rPr sz="1800" b="1">
                          <a:solidFill>
                            <a:srgbClr val="FFFFFF"/>
                          </a:solidFill>
                          <a:latin typeface="Arial"/>
                          <a:ea typeface="Arial"/>
                          <a:cs typeface="Arial"/>
                        </a:rPr>
                        <a:t>Year</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New towns</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towns</a:t>
                      </a:r>
                    </a:p>
                  </a:txBody>
                  <a:tcPr marL="91440" marR="91440" marT="45720" marB="45720" anchor="ctr">
                    <a:solidFill>
                      <a:srgbClr val="205938"/>
                    </a:solidFill>
                  </a:tcPr>
                </a:tc>
              </a:tr>
              <a:tr h="422672">
                <a:tc>
                  <a:txBody>
                    <a:bodyPr lIns="114300" tIns="76200" rIns="114300" bIns="76200">
                      <a:noAutofit/>
                    </a:bodyPr>
                    <a:lstStyle/>
                    <a:p>
                      <a:pPr algn="l"/>
                      <a:r>
                        <a:rPr sz="1800" b="0">
                          <a:solidFill>
                            <a:srgbClr val="14281D"/>
                          </a:solidFill>
                          <a:latin typeface="Arial"/>
                          <a:ea typeface="Arial"/>
                          <a:cs typeface="Arial"/>
                        </a:rPr>
                        <a:t>2027</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Barnegat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2028</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Stafford, Lacey, Ocean / Waretown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4</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2029</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Berkeley, Toms River</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2030</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Brick, Jackson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2031</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Howell, Wall</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2032</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Middletown, Holmdel</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12</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Colts Neck, Rumson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14</a:t>
                      </a:r>
                    </a:p>
                  </a:txBody>
                  <a:tcPr marL="91440" marR="91440" marT="45720" marB="45720" anchor="ctr">
                    <a:solidFill>
                      <a:srgbClr val="FFFFFF"/>
                    </a:solidFill>
                  </a:tcPr>
                </a:tc>
              </a:tr>
            </a:tbl>
          </a:graphicData>
        </a:graphic>
      </p:graphicFrame>
      <p:sp>
        <p:nvSpPr>
          <p:cNvPr id="6" name="Municipal boundaries avoid overlapping CDPs or cou">
            <a:extLst xmlns:a="http://schemas.openxmlformats.org/drawingml/2006/main">
              <a:ext uri="{FF2B5EF4-FFF2-40B4-BE49-F238E27FC236}">
                <a16:creationId xmlns:a16="http://schemas.microsoft.com/office/drawing/2014/main" id="{E42CD6E9-4DC2-46FB-A0C2-3BE7D995A3A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Municipal boundaries avoid overlapping CDPs or county totals. Ocean / Waretown refers to Ocean township in Ocean County. Launches remain conditional on supply, paid retention and service reliability.</a:t>
            </a:r>
          </a:p>
        </p:txBody>
      </p:sp>
    </p:spTree>
    <p:extLst>
      <p:ext uri="{BB962C8B-B14F-4D97-AF65-F5344CB8AC3E}">
        <p14:creationId xmlns:p14="http://schemas.microsoft.com/office/powerpoint/2010/main" val="579661862"/>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Affluent towns affect demand and job value">
            <a:extLst xmlns:a="http://schemas.openxmlformats.org/drawingml/2006/main">
              <a:ext uri="{FF2B5EF4-FFF2-40B4-BE49-F238E27FC236}">
                <a16:creationId xmlns:a16="http://schemas.microsoft.com/office/drawing/2014/main" id="{00B066DB-90CF-4B75-B225-64A803C0D9D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Affluent towns affect demand and job value</a:t>
            </a:r>
          </a:p>
        </p:txBody>
      </p:sp>
      <p:sp>
        <p:nvSpPr>
          <p:cNvPr id="2" name="Income and home values are observed. Outsourcing, ">
            <a:extLst xmlns:a="http://schemas.openxmlformats.org/drawingml/2006/main">
              <a:ext uri="{FF2B5EF4-FFF2-40B4-BE49-F238E27FC236}">
                <a16:creationId xmlns:a16="http://schemas.microsoft.com/office/drawing/2014/main" id="{4F3AA782-6599-400A-8995-9E087736F4C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Income and home values are observed. Outsourcing, yard sizes and price tiers remain explicit hypotheses.</a:t>
            </a:r>
          </a:p>
        </p:txBody>
      </p:sp>
      <p:sp>
        <p:nvSpPr>
          <p:cNvPr id="3" name="YardMatch">
            <a:extLst xmlns:a="http://schemas.openxmlformats.org/drawingml/2006/main">
              <a:ext uri="{FF2B5EF4-FFF2-40B4-BE49-F238E27FC236}">
                <a16:creationId xmlns:a16="http://schemas.microsoft.com/office/drawing/2014/main" id="{38358325-12E6-45EB-8B8B-4F54D0CDB2E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C0D794E4-F80C-404F-B8C4-8FCA086FBA0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graphicFrame>
        <p:nvGraphicFramePr>
          <p:cNvPr id="11" name=""/>
          <p:cNvGraphicFramePr/>
          <p:nvPr/>
        </p:nvGraphicFramePr>
        <p:xfrm>
          <a:off xmlns:a="http://schemas.openxmlformats.org/drawingml/2006/main" x="609600" y="2333625"/>
          <a:ext xmlns:a="http://schemas.openxmlformats.org/drawingml/2006/main" cx="10972800" cy="3267075"/>
        </p:xfrm>
        <a:graphic xmlns:a="http://schemas.openxmlformats.org/drawingml/2006/main">
          <a:graphicData uri="http://schemas.openxmlformats.org/drawingml/2006/table">
            <a:tbl>
              <a:tblPr/>
              <a:tblGrid>
                <a:gridCol w="2571750"/>
                <a:gridCol w="2381250"/>
                <a:gridCol w="2190750"/>
                <a:gridCol w="3829050"/>
              </a:tblGrid>
              <a:tr h="466725">
                <a:tc>
                  <a:txBody>
                    <a:bodyPr lIns="114300" tIns="76200" rIns="114300" bIns="76200">
                      <a:noAutofit/>
                    </a:bodyPr>
                    <a:lstStyle/>
                    <a:p>
                      <a:pPr algn="l"/>
                      <a:r>
                        <a:rPr sz="1725" b="1">
                          <a:solidFill>
                            <a:srgbClr val="FFFFFF"/>
                          </a:solidFill>
                          <a:latin typeface="Arial"/>
                          <a:ea typeface="Arial"/>
                          <a:cs typeface="Arial"/>
                        </a:rPr>
                        <a:t>Town</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Assumed hiring</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Large / very large lots</a:t>
                      </a:r>
                    </a:p>
                  </a:txBody>
                  <a:tcPr marL="91440" marR="91440" marT="45720" marB="45720" anchor="ctr">
                    <a:solidFill>
                      <a:srgbClr val="205938"/>
                    </a:solidFill>
                  </a:tcPr>
                </a:tc>
              </a:tr>
              <a:tr h="466725">
                <a:tc>
                  <a:txBody>
                    <a:bodyPr lIns="114300" tIns="76200" rIns="114300" bIns="76200">
                      <a:noAutofit/>
                    </a:bodyPr>
                    <a:lstStyle/>
                    <a:p>
                      <a:pPr algn="l"/>
                      <a:r>
                        <a:rPr sz="1725" b="0">
                          <a:solidFill>
                            <a:srgbClr val="14281D"/>
                          </a:solidFill>
                          <a:latin typeface="Arial"/>
                          <a:ea typeface="Arial"/>
                          <a:cs typeface="Arial"/>
                        </a:rPr>
                        <a:t>Barnegat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$91,540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25% / 5%</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Stafford</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$117,612</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55%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 / 5%</a:t>
                      </a:r>
                    </a:p>
                  </a:txBody>
                  <a:tcPr marL="91440" marR="91440" marT="45720" marB="45720" anchor="ctr">
                    <a:solidFill>
                      <a:srgbClr val="F7F5EF"/>
                    </a:solidFill>
                  </a:tcPr>
                </a:tc>
              </a:tr>
              <a:tr h="466725">
                <a:tc>
                  <a:txBody>
                    <a:bodyPr lIns="114300" tIns="76200" rIns="114300" bIns="76200">
                      <a:noAutofit/>
                    </a:bodyPr>
                    <a:lstStyle/>
                    <a:p>
                      <a:pPr algn="l"/>
                      <a:r>
                        <a:rPr sz="1725" b="0">
                          <a:solidFill>
                            <a:srgbClr val="14281D"/>
                          </a:solidFill>
                          <a:latin typeface="Arial"/>
                          <a:ea typeface="Arial"/>
                          <a:cs typeface="Arial"/>
                        </a:rPr>
                        <a:t>Wall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$142,768</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55%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35% / 15%</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Holmdel</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$165,013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 / 25%</a:t>
                      </a:r>
                    </a:p>
                  </a:txBody>
                  <a:tcPr marL="91440" marR="91440" marT="45720" marB="45720" anchor="ctr">
                    <a:solidFill>
                      <a:srgbClr val="F7F5EF"/>
                    </a:solidFill>
                  </a:tcPr>
                </a:tc>
              </a:tr>
              <a:tr h="466725">
                <a:tc>
                  <a:txBody>
                    <a:bodyPr lIns="114300" tIns="76200" rIns="114300" bIns="76200">
                      <a:noAutofit/>
                    </a:bodyPr>
                    <a:lstStyle/>
                    <a:p>
                      <a:pPr algn="l"/>
                      <a:r>
                        <a:rPr sz="1725" b="0">
                          <a:solidFill>
                            <a:srgbClr val="14281D"/>
                          </a:solidFill>
                          <a:latin typeface="Arial"/>
                          <a:ea typeface="Arial"/>
                          <a:cs typeface="Arial"/>
                        </a:rPr>
                        <a:t>Colts Neck</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$199,573</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40% / 40%</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Rumson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$250,000+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 / 20%</a:t>
                      </a:r>
                    </a:p>
                  </a:txBody>
                  <a:tcPr marL="91440" marR="91440" marT="45720" marB="45720" anchor="ctr">
                    <a:solidFill>
                      <a:srgbClr val="F7F5EF"/>
                    </a:solidFill>
                  </a:tcPr>
                </a:tc>
              </a:tr>
            </a:tbl>
          </a:graphicData>
        </a:graphic>
      </p:graphicFrame>
      <p:sp>
        <p:nvSpPr>
          <p:cNvPr id="6" name="Hiring share applies only to eligible owner househ">
            <a:extLst xmlns:a="http://schemas.openxmlformats.org/drawingml/2006/main">
              <a:ext uri="{FF2B5EF4-FFF2-40B4-BE49-F238E27FC236}">
                <a16:creationId xmlns:a16="http://schemas.microsoft.com/office/drawing/2014/main" id="{3E0247A8-9CB3-4871-88CB-62CBA62C410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Hiring share applies only to eligible owner households. Lot shares apply to modeled customers, not all housing. Premium towns also have higher cash CAC assumptions; no automatic retention improvement is assumed.</a:t>
            </a:r>
          </a:p>
        </p:txBody>
      </p:sp>
    </p:spTree>
    <p:extLst>
      <p:ext uri="{BB962C8B-B14F-4D97-AF65-F5344CB8AC3E}">
        <p14:creationId xmlns:p14="http://schemas.microsoft.com/office/powerpoint/2010/main" val="1880725401"/>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regional plan is bounded by demand and supply">
            <a:extLst xmlns:a="http://schemas.openxmlformats.org/drawingml/2006/main">
              <a:ext uri="{FF2B5EF4-FFF2-40B4-BE49-F238E27FC236}">
                <a16:creationId xmlns:a16="http://schemas.microsoft.com/office/drawing/2014/main" id="{DD257B2C-0542-47EF-B5DF-8963E886B05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regional plan is bounded by demand and supply</a:t>
            </a:r>
          </a:p>
        </p:txBody>
      </p:sp>
      <p:sp>
        <p:nvSpPr>
          <p:cNvPr id="2" name="The household curve is now a sum of town cohorts, ">
            <a:extLst xmlns:a="http://schemas.openxmlformats.org/drawingml/2006/main">
              <a:ext uri="{FF2B5EF4-FFF2-40B4-BE49-F238E27FC236}">
                <a16:creationId xmlns:a16="http://schemas.microsoft.com/office/drawing/2014/main" id="{C60522A4-0F3F-46D9-8DF3-4B9E28FFD22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household curve is now a sum of town cohorts, with launch timing and local capacity enforced.</a:t>
            </a:r>
          </a:p>
        </p:txBody>
      </p:sp>
      <p:sp>
        <p:nvSpPr>
          <p:cNvPr id="3" name="YardMatch">
            <a:extLst xmlns:a="http://schemas.openxmlformats.org/drawingml/2006/main">
              <a:ext uri="{FF2B5EF4-FFF2-40B4-BE49-F238E27FC236}">
                <a16:creationId xmlns:a16="http://schemas.microsoft.com/office/drawing/2014/main" id="{C3AD0BFD-4874-4ABD-A101-273A0D10700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4A7CCED8-CBCD-4F4E-B5B3-72444FB2A6E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333625"/>
          <a:ext xmlns:a="http://schemas.openxmlformats.org/drawingml/2006/main" cx="10972800" cy="3105150"/>
        </p:xfrm>
        <a:graphic xmlns:a="http://schemas.openxmlformats.org/drawingml/2006/main">
          <a:graphicData uri="http://schemas.openxmlformats.org/drawingml/2006/table">
            <a:tbl>
              <a:tblPr/>
              <a:tblGrid>
                <a:gridCol w="4657725"/>
                <a:gridCol w="2105025"/>
                <a:gridCol w="2105025"/>
                <a:gridCol w="2105025"/>
              </a:tblGrid>
              <a:tr h="517525">
                <a:tc>
                  <a:txBody>
                    <a:bodyPr lIns="114300" tIns="76200" rIns="114300" bIns="76200">
                      <a:noAutofit/>
                    </a:bodyPr>
                    <a:lstStyle/>
                    <a:p>
                      <a:pPr algn="l"/>
                      <a:r>
                        <a:rPr sz="1800" b="1">
                          <a:solidFill>
                            <a:srgbClr val="FFFFFF"/>
                          </a:solidFill>
                          <a:latin typeface="Arial"/>
                          <a:ea typeface="Arial"/>
                          <a:cs typeface="Arial"/>
                        </a:rPr>
                        <a:t>Base regional forecast</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2033</a:t>
                      </a:r>
                    </a:p>
                  </a:txBody>
                  <a:tcPr marL="91440" marR="91440" marT="45720" marB="45720" anchor="ctr">
                    <a:solidFill>
                      <a:srgbClr val="205938"/>
                    </a:solidFill>
                  </a:tcPr>
                </a:tc>
              </a:tr>
              <a:tr h="517525">
                <a:tc>
                  <a:txBody>
                    <a:bodyPr lIns="114300" tIns="76200" rIns="114300" bIns="76200">
                      <a:noAutofit/>
                    </a:bodyPr>
                    <a:lstStyle/>
                    <a:p>
                      <a:pPr algn="l"/>
                      <a:r>
                        <a:rPr sz="1800" b="0">
                          <a:solidFill>
                            <a:srgbClr val="14281D"/>
                          </a:solidFill>
                          <a:latin typeface="Arial"/>
                          <a:ea typeface="Arial"/>
                          <a:cs typeface="Arial"/>
                        </a:rPr>
                        <a:t>Launched towns</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8</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14</a:t>
                      </a:r>
                    </a:p>
                  </a:txBody>
                  <a:tcPr marL="91440" marR="91440" marT="45720" marB="45720" anchor="ctr">
                    <a:solidFill>
                      <a:srgbClr val="FFFFFF"/>
                    </a:solidFill>
                  </a:tcPr>
                </a:tc>
              </a:tr>
              <a:tr h="517525">
                <a:tc>
                  <a:txBody>
                    <a:bodyPr lIns="114300" tIns="76200" rIns="114300" bIns="76200">
                      <a:noAutofit/>
                    </a:bodyPr>
                    <a:lstStyle/>
                    <a:p>
                      <a:pPr algn="l"/>
                      <a:r>
                        <a:rPr sz="1800" b="0">
                          <a:solidFill>
                            <a:srgbClr val="14281D"/>
                          </a:solidFill>
                          <a:latin typeface="Arial"/>
                          <a:ea typeface="Arial"/>
                          <a:cs typeface="Arial"/>
                        </a:rPr>
                        <a:t>Assumed outsourcing households</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3,049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44,015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71,683</a:t>
                      </a:r>
                    </a:p>
                  </a:txBody>
                  <a:tcPr marL="91440" marR="91440" marT="45720" marB="45720" anchor="ctr">
                    <a:solidFill>
                      <a:srgbClr val="F7F5EF"/>
                    </a:solidFill>
                  </a:tcPr>
                </a:tc>
              </a:tr>
              <a:tr h="517525">
                <a:tc>
                  <a:txBody>
                    <a:bodyPr lIns="114300" tIns="76200" rIns="114300" bIns="76200">
                      <a:noAutofit/>
                    </a:bodyPr>
                    <a:lstStyle/>
                    <a:p>
                      <a:pPr algn="l"/>
                      <a:r>
                        <a:rPr sz="1800" b="1">
                          <a:solidFill>
                            <a:srgbClr val="14281D"/>
                          </a:solidFill>
                          <a:latin typeface="Arial"/>
                          <a:ea typeface="Arial"/>
                          <a:cs typeface="Arial"/>
                        </a:rPr>
                        <a:t>Active YardMatch households</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240</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5,592</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16,570</a:t>
                      </a:r>
                    </a:p>
                  </a:txBody>
                  <a:tcPr marL="91440" marR="91440" marT="45720" marB="45720" anchor="ctr">
                    <a:solidFill>
                      <a:srgbClr val="E8EDDF"/>
                    </a:solidFill>
                  </a:tcPr>
                </a:tc>
              </a:tr>
              <a:tr h="517525">
                <a:tc>
                  <a:txBody>
                    <a:bodyPr lIns="114300" tIns="76200" rIns="114300" bIns="76200">
                      <a:noAutofit/>
                    </a:bodyPr>
                    <a:lstStyle/>
                    <a:p>
                      <a:pPr algn="l"/>
                      <a:r>
                        <a:rPr sz="1800" b="0">
                          <a:solidFill>
                            <a:srgbClr val="14281D"/>
                          </a:solidFill>
                          <a:latin typeface="Arial"/>
                          <a:ea typeface="Arial"/>
                          <a:cs typeface="Arial"/>
                        </a:rPr>
                        <a:t>Qualified household capacity</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5,920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18,600</a:t>
                      </a:r>
                    </a:p>
                  </a:txBody>
                  <a:tcPr marL="91440" marR="91440" marT="45720" marB="45720" anchor="ctr">
                    <a:solidFill>
                      <a:srgbClr val="F7F5EF"/>
                    </a:solidFill>
                  </a:tcPr>
                </a:tc>
              </a:tr>
              <a:tr h="517525">
                <a:tc>
                  <a:txBody>
                    <a:bodyPr lIns="114300" tIns="76200" rIns="114300" bIns="76200">
                      <a:noAutofit/>
                    </a:bodyPr>
                    <a:lstStyle/>
                    <a:p>
                      <a:pPr algn="l"/>
                      <a:r>
                        <a:rPr sz="1800" b="0">
                          <a:solidFill>
                            <a:srgbClr val="14281D"/>
                          </a:solidFill>
                          <a:latin typeface="Arial"/>
                          <a:ea typeface="Arial"/>
                          <a:cs typeface="Arial"/>
                        </a:rPr>
                        <a:t>Local launch + annual coverage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$18,000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$109,273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$163,585</a:t>
                      </a:r>
                    </a:p>
                  </a:txBody>
                  <a:tcPr marL="91440" marR="91440" marT="45720" marB="45720" anchor="ctr">
                    <a:solidFill>
                      <a:srgbClr val="FFFFFF"/>
                    </a:solidFill>
                  </a:tcPr>
                </a:tc>
              </a:tr>
            </a:tbl>
          </a:graphicData>
        </a:graphic>
      </p:graphicFrame>
      <p:sp>
        <p:nvSpPr>
          <p:cNvPr id="6" name="215,396 Census households across 14 towns support ">
            <a:extLst xmlns:a="http://schemas.openxmlformats.org/drawingml/2006/main">
              <a:ext uri="{FF2B5EF4-FFF2-40B4-BE49-F238E27FC236}">
                <a16:creationId xmlns:a16="http://schemas.microsoft.com/office/drawing/2014/main" id="{37E2B457-0DE0-4F16-BFC0-0D24464636F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215,396 Census households across 14 towns support an assumed 71,683-household outsourcing pool. The base captures 23% as active customers by 2033. No unnamed national expansion is included.</a:t>
            </a:r>
          </a:p>
        </p:txBody>
      </p:sp>
    </p:spTree>
    <p:extLst>
      <p:ext uri="{BB962C8B-B14F-4D97-AF65-F5344CB8AC3E}">
        <p14:creationId xmlns:p14="http://schemas.microsoft.com/office/powerpoint/2010/main" val="1973235533"/>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CAFB609B-4B99-4B37-AA43-5F7CA13FB1C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091520E1-E55F-49EF-A5ED-23F983991E6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A305F534-3A2E-4240-8E64-884CEA0A3A5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378FA17D-4751-40B6-AAED-A8B98F72088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sp>
        <p:nvSpPr>
          <p:cNvPr id="5" name="1. Concentrated provider launch">
            <a:extLst xmlns:a="http://schemas.openxmlformats.org/drawingml/2006/main">
              <a:ext uri="{FF2B5EF4-FFF2-40B4-BE49-F238E27FC236}">
                <a16:creationId xmlns:a16="http://schemas.microsoft.com/office/drawing/2014/main" id="{B5709815-3838-4ED5-B8A7-872B093A01CC}"/>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5D7CA203-1C00-4AA5-BE6C-8475B77DC5F1}"/>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EF93A098-FE5C-4608-BBCC-F7683DEB0B86}"/>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78424067-1961-46DE-8598-CC90A0E7C2B7}"/>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C632B31A-16BE-47EF-B337-C8837386E62C}"/>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9910CFFD-47D4-43C7-8ADB-BD16EEA62D17}"/>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32CC3AD2-2734-4649-9CBF-74C0CCD9C8D8}"/>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3A343C9B-3D70-4F8F-B122-2DDF6942C201}"/>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67272029"/>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351B822D-AB14-45A0-A34D-9D58A0733D5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AAC0753F-9D24-464C-84A0-6D495A0CA9A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82F60F76-274C-4D19-9102-1753B5CFE2D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1CEBDBCB-53D1-40FD-BF7A-121BB28270C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sp>
        <p:nvSpPr>
          <p:cNvPr id="5" name="Product foundation">
            <a:extLst xmlns:a="http://schemas.openxmlformats.org/drawingml/2006/main">
              <a:ext uri="{FF2B5EF4-FFF2-40B4-BE49-F238E27FC236}">
                <a16:creationId xmlns:a16="http://schemas.microsoft.com/office/drawing/2014/main" id="{86D25C3A-CC0F-4C85-ACAC-E5DCEE4258DE}"/>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4D524988-BA23-41AF-A84E-7C6B5922010B}"/>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F618CFC1-2675-4DEF-8BA8-FBCE51C5D07E}"/>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A71AE533-BB45-485E-B115-A816C8F0CD1C}"/>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A709293D-737E-4D8A-BFF5-B4D79E29A91C}"/>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06C0C62C-3D97-4ECA-BE15-52C7235321F2}"/>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968339FE-3A18-4A4B-81F9-4B752DF1D909}"/>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03907E1E-CD2F-4D6D-98D0-21F1ED73D02F}"/>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708554153"/>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2B07E042-043C-4A22-B9CE-6C5820FEC71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2378BAD3-4C62-424E-8BDD-570DC81A4E5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37CD5F71-0EF4-4D08-90A8-F7FAB4EB5F9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79282752-89CA-4BA3-A889-068697D5CBB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includes completed project fees with exi">
            <a:extLst xmlns:a="http://schemas.openxmlformats.org/drawingml/2006/main">
              <a:ext uri="{FF2B5EF4-FFF2-40B4-BE49-F238E27FC236}">
                <a16:creationId xmlns:a16="http://schemas.microsoft.com/office/drawing/2014/main" id="{FA53EB69-F638-4BA6-AC6D-439A0426229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includes completed project fees with existing providers. Core forecasts exclude optional provider products. Those expansion cases do not add extra finder fees for the same relationship.</a:t>
            </a:r>
          </a:p>
        </p:txBody>
      </p:sp>
    </p:spTree>
    <p:extLst>
      <p:ext uri="{BB962C8B-B14F-4D97-AF65-F5344CB8AC3E}">
        <p14:creationId xmlns:p14="http://schemas.microsoft.com/office/powerpoint/2010/main" val="314121592"/>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Provider subscriptions add a software business">
            <a:extLst xmlns:a="http://schemas.openxmlformats.org/drawingml/2006/main">
              <a:ext uri="{FF2B5EF4-FFF2-40B4-BE49-F238E27FC236}">
                <a16:creationId xmlns:a16="http://schemas.microsoft.com/office/drawing/2014/main" id="{881EB4B1-CBAC-484B-9064-28CCF162351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Provider subscriptions add a software business</a:t>
            </a:r>
          </a:p>
        </p:txBody>
      </p:sp>
      <p:sp>
        <p:nvSpPr>
          <p:cNvPr id="2" name="Proposed monthly prices for optional features. Tra">
            <a:extLst xmlns:a="http://schemas.openxmlformats.org/drawingml/2006/main">
              <a:ext uri="{FF2B5EF4-FFF2-40B4-BE49-F238E27FC236}">
                <a16:creationId xmlns:a16="http://schemas.microsoft.com/office/drawing/2014/main" id="{87813B4D-9316-442E-91BF-69364A32CAB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monthly prices for optional features. Transaction fees still apply.</a:t>
            </a:r>
          </a:p>
        </p:txBody>
      </p:sp>
      <p:sp>
        <p:nvSpPr>
          <p:cNvPr id="3" name="YardMatch">
            <a:extLst xmlns:a="http://schemas.openxmlformats.org/drawingml/2006/main">
              <a:ext uri="{FF2B5EF4-FFF2-40B4-BE49-F238E27FC236}">
                <a16:creationId xmlns:a16="http://schemas.microsoft.com/office/drawing/2014/main" id="{55F591EB-54B7-496B-86CF-0C7541C0A70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78653034-0EFD-4075-865C-B1E526EED5F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1" name=""/>
          <p:cNvGraphicFramePr/>
          <p:nvPr/>
        </p:nvGraphicFramePr>
        <p:xfrm>
          <a:off xmlns:a="http://schemas.openxmlformats.org/drawingml/2006/main" x="609600" y="2343150"/>
          <a:ext xmlns:a="http://schemas.openxmlformats.org/drawingml/2006/main" cx="10972800" cy="3028950"/>
        </p:xfrm>
        <a:graphic xmlns:a="http://schemas.openxmlformats.org/drawingml/2006/main">
          <a:graphicData uri="http://schemas.openxmlformats.org/drawingml/2006/table">
            <a:tbl>
              <a:tblPr/>
              <a:tblGrid>
                <a:gridCol w="2895600"/>
                <a:gridCol w="2352675"/>
                <a:gridCol w="5724525"/>
              </a:tblGrid>
              <a:tr h="757238">
                <a:tc>
                  <a:txBody>
                    <a:bodyPr lIns="114300" tIns="76200" rIns="114300" bIns="76200">
                      <a:noAutofit/>
                    </a:bodyPr>
                    <a:lstStyle/>
                    <a:p>
                      <a:pPr algn="l"/>
                      <a:r>
                        <a:rPr sz="1875" b="1">
                          <a:solidFill>
                            <a:srgbClr val="FFFFFF"/>
                          </a:solidFill>
                          <a:latin typeface="Arial"/>
                          <a:ea typeface="Arial"/>
                          <a:cs typeface="Arial"/>
                        </a:rPr>
                        <a:t>Plan</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price</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Reason to pay</a:t>
                      </a:r>
                    </a:p>
                  </a:txBody>
                  <a:tcPr marL="91440" marR="91440" marT="45720" marB="45720" anchor="ctr">
                    <a:solidFill>
                      <a:srgbClr val="205938"/>
                    </a:solidFill>
                  </a:tcPr>
                </a:tc>
              </a:tr>
              <a:tr h="757238">
                <a:tc>
                  <a:txBody>
                    <a:bodyPr lIns="114300" tIns="76200" rIns="114300" bIns="76200">
                      <a:noAutofit/>
                    </a:bodyPr>
                    <a:lstStyle/>
                    <a:p>
                      <a:pPr algn="l"/>
                      <a:r>
                        <a:rPr sz="1875" b="0">
                          <a:solidFill>
                            <a:srgbClr val="14281D"/>
                          </a:solidFill>
                          <a:latin typeface="Arial"/>
                          <a:ea typeface="Arial"/>
                          <a:cs typeface="Arial"/>
                        </a:rPr>
                        <a:t>Core marketplace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 subscription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Booking, job details, crew assignments and essential communication</a:t>
                      </a:r>
                    </a:p>
                  </a:txBody>
                  <a:tcPr marL="91440" marR="91440" marT="45720" marB="45720" anchor="ctr">
                    <a:solidFill>
                      <a:srgbClr val="FFFFFF"/>
                    </a:solidFill>
                  </a:tcPr>
                </a:tc>
              </a:tr>
              <a:tr h="757238">
                <a:tc>
                  <a:txBody>
                    <a:bodyPr lIns="114300" tIns="76200" rIns="114300" bIns="76200">
                      <a:noAutofit/>
                    </a:bodyPr>
                    <a:lstStyle/>
                    <a:p>
                      <a:pPr algn="l"/>
                      <a:r>
                        <a:rPr sz="1875" b="0">
                          <a:solidFill>
                            <a:srgbClr val="14281D"/>
                          </a:solidFill>
                          <a:latin typeface="Arial"/>
                          <a:ea typeface="Arial"/>
                          <a:cs typeface="Arial"/>
                        </a:rPr>
                        <a:t>Pro</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$49 / month</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Job margin reports, quote follow-ups and advanced business reporting</a:t>
                      </a:r>
                    </a:p>
                  </a:txBody>
                  <a:tcPr marL="91440" marR="91440" marT="45720" marB="45720" anchor="ctr">
                    <a:solidFill>
                      <a:srgbClr val="F7F5EF"/>
                    </a:solidFill>
                  </a:tcPr>
                </a:tc>
              </a:tr>
              <a:tr h="757238">
                <a:tc>
                  <a:txBody>
                    <a:bodyPr lIns="114300" tIns="76200" rIns="114300" bIns="76200">
                      <a:noAutofit/>
                    </a:bodyPr>
                    <a:lstStyle/>
                    <a:p>
                      <a:pPr algn="l"/>
                      <a:r>
                        <a:rPr sz="1875" b="0">
                          <a:solidFill>
                            <a:srgbClr val="14281D"/>
                          </a:solidFill>
                          <a:latin typeface="Arial"/>
                          <a:ea typeface="Arial"/>
                          <a:cs typeface="Arial"/>
                        </a:rPr>
                        <a:t>Teams, including Pro</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$99 / month</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Timesheet approvals / exports, labor budgets and crew utilization</a:t>
                      </a:r>
                    </a:p>
                  </a:txBody>
                  <a:tcPr marL="91440" marR="91440" marT="45720" marB="45720" anchor="ctr">
                    <a:solidFill>
                      <a:srgbClr val="FFFFFF"/>
                    </a:solidFill>
                  </a:tcPr>
                </a:tc>
              </a:tr>
            </a:tbl>
          </a:graphicData>
        </a:graphic>
      </p:graphicFrame>
      <p:sp>
        <p:nvSpPr>
          <p:cNvPr id="6" name="Pro and Teams are mutually exclusive. Core service">
            <a:extLst xmlns:a="http://schemas.openxmlformats.org/drawingml/2006/main">
              <a:ext uri="{FF2B5EF4-FFF2-40B4-BE49-F238E27FC236}">
                <a16:creationId xmlns:a16="http://schemas.microsoft.com/office/drawing/2014/main" id="{D66552F4-094F-4F4B-9F85-A7B62E1C6F7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Pro and Teams are mutually exclusive. Core service delivery remains accessible. The optional model allows nine paid months per year and makes no assumed retention or customer-acquisition improvement.</a:t>
            </a:r>
          </a:p>
        </p:txBody>
      </p:sp>
    </p:spTree>
    <p:extLst>
      <p:ext uri="{BB962C8B-B14F-4D97-AF65-F5344CB8AC3E}">
        <p14:creationId xmlns:p14="http://schemas.microsoft.com/office/powerpoint/2010/main" val="1936598934"/>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Crew tools have a business buyer">
            <a:extLst xmlns:a="http://schemas.openxmlformats.org/drawingml/2006/main">
              <a:ext uri="{FF2B5EF4-FFF2-40B4-BE49-F238E27FC236}">
                <a16:creationId xmlns:a16="http://schemas.microsoft.com/office/drawing/2014/main" id="{0527842C-D6AE-4931-88AC-8DB5605C55C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Crew tools have a business buyer</a:t>
            </a:r>
          </a:p>
        </p:txBody>
      </p:sp>
      <p:sp>
        <p:nvSpPr>
          <p:cNvPr id="2" name="Landscaping businesses pay for advanced team tools">
            <a:extLst xmlns:a="http://schemas.openxmlformats.org/drawingml/2006/main">
              <a:ext uri="{FF2B5EF4-FFF2-40B4-BE49-F238E27FC236}">
                <a16:creationId xmlns:a16="http://schemas.microsoft.com/office/drawing/2014/main" id="{97E4D33B-099A-4E39-B797-AE97F3EB27B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Landscaping businesses pay for advanced team tools. Individual crew members pay $0.</a:t>
            </a:r>
          </a:p>
        </p:txBody>
      </p:sp>
      <p:sp>
        <p:nvSpPr>
          <p:cNvPr id="3" name="YardMatch">
            <a:extLst xmlns:a="http://schemas.openxmlformats.org/drawingml/2006/main">
              <a:ext uri="{FF2B5EF4-FFF2-40B4-BE49-F238E27FC236}">
                <a16:creationId xmlns:a16="http://schemas.microsoft.com/office/drawing/2014/main" id="{9834AF82-46BB-4800-A615-904D5AF8B70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C76F8602-8DBC-41BA-985B-C6C025312F5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sp>
        <p:nvSpPr>
          <p:cNvPr id="5" name="Value for the business owner">
            <a:extLst xmlns:a="http://schemas.openxmlformats.org/drawingml/2006/main">
              <a:ext uri="{FF2B5EF4-FFF2-40B4-BE49-F238E27FC236}">
                <a16:creationId xmlns:a16="http://schemas.microsoft.com/office/drawing/2014/main" id="{07596020-F15A-4E83-8678-D31A45786693}"/>
              </a:ext>
            </a:extLst>
          </p:cNvPr>
          <p:cNvSpPr>
            <a:spLocks xmlns:a="http://schemas.openxmlformats.org/drawingml/2006/main" noGrp="1"/>
          </p:cNvSpPr>
          <p:nvPr/>
        </p:nvSpPr>
        <p:spPr>
          <a:xfrm xmlns:a="http://schemas.openxmlformats.org/drawingml/2006/main">
            <a:off x="6286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Value for the business owner</a:t>
            </a:r>
          </a:p>
        </p:txBody>
      </p:sp>
      <p:sp>
        <p:nvSpPr>
          <p:cNvPr id="6" name="Connect approved time to labor budgets. Compare cr">
            <a:extLst xmlns:a="http://schemas.openxmlformats.org/drawingml/2006/main">
              <a:ext uri="{FF2B5EF4-FFF2-40B4-BE49-F238E27FC236}">
                <a16:creationId xmlns:a16="http://schemas.microsoft.com/office/drawing/2014/main" id="{50B6DD0D-F291-4F4A-AD90-6546E7A6BF27}"/>
              </a:ext>
            </a:extLst>
          </p:cNvPr>
          <p:cNvSpPr>
            <a:spLocks xmlns:a="http://schemas.openxmlformats.org/drawingml/2006/main" noGrp="1"/>
          </p:cNvSpPr>
          <p:nvPr/>
        </p:nvSpPr>
        <p:spPr>
          <a:xfrm xmlns:a="http://schemas.openxmlformats.org/drawingml/2006/main">
            <a:off x="6286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Connect approved time to labor budgets. Compare crew utilization and job margin. Export records to existing payroll software.</a:t>
            </a:r>
          </a:p>
        </p:txBody>
      </p:sp>
      <p:sp>
        <p:nvSpPr>
          <p:cNvPr id="7" name="Access for the crew member">
            <a:extLst xmlns:a="http://schemas.openxmlformats.org/drawingml/2006/main">
              <a:ext uri="{FF2B5EF4-FFF2-40B4-BE49-F238E27FC236}">
                <a16:creationId xmlns:a16="http://schemas.microsoft.com/office/drawing/2014/main" id="{F304C185-658B-4108-A70D-1A09BD278914}"/>
              </a:ext>
            </a:extLst>
          </p:cNvPr>
          <p:cNvSpPr>
            <a:spLocks xmlns:a="http://schemas.openxmlformats.org/drawingml/2006/main" noGrp="1"/>
          </p:cNvSpPr>
          <p:nvPr/>
        </p:nvSpPr>
        <p:spPr>
          <a:xfrm xmlns:a="http://schemas.openxmlformats.org/drawingml/2006/main">
            <a:off x="64198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Access for the crew member</a:t>
            </a:r>
          </a:p>
        </p:txBody>
      </p:sp>
      <p:sp>
        <p:nvSpPr>
          <p:cNvPr id="8" name="View assignments, communicate about the job and su">
            <a:extLst xmlns:a="http://schemas.openxmlformats.org/drawingml/2006/main">
              <a:ext uri="{FF2B5EF4-FFF2-40B4-BE49-F238E27FC236}">
                <a16:creationId xmlns:a16="http://schemas.microsoft.com/office/drawing/2014/main" id="{C9AD3B23-16D7-47C6-8777-F064169F71EE}"/>
              </a:ext>
            </a:extLst>
          </p:cNvPr>
          <p:cNvSpPr>
            <a:spLocks xmlns:a="http://schemas.openxmlformats.org/drawingml/2006/main" noGrp="1"/>
          </p:cNvSpPr>
          <p:nvPr/>
        </p:nvSpPr>
        <p:spPr>
          <a:xfrm xmlns:a="http://schemas.openxmlformats.org/drawingml/2006/main">
            <a:off x="64198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View assignments, communicate about the job and submit essential service records through the core product.</a:t>
            </a:r>
          </a:p>
        </p:txBody>
      </p:sp>
      <p:sp>
        <p:nvSpPr>
          <p:cNvPr id="9" name="A $99 Teams plan includes the $49 Pro features">
            <a:extLst xmlns:a="http://schemas.openxmlformats.org/drawingml/2006/main">
              <a:ext uri="{FF2B5EF4-FFF2-40B4-BE49-F238E27FC236}">
                <a16:creationId xmlns:a16="http://schemas.microsoft.com/office/drawing/2014/main" id="{ED882DC2-E250-4A05-AAE5-AC0B43B07915}"/>
              </a:ext>
            </a:extLst>
          </p:cNvPr>
          <p:cNvSpPr>
            <a:spLocks xmlns:a="http://schemas.openxmlformats.org/drawingml/2006/main" noGrp="1"/>
          </p:cNvSpPr>
          <p:nvPr/>
        </p:nvSpPr>
        <p:spPr>
          <a:xfrm xmlns:a="http://schemas.openxmlformats.org/drawingml/2006/main">
            <a:off x="628650" y="469582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A $99 Teams plan includes the $49 Pro features</a:t>
            </a:r>
          </a:p>
        </p:txBody>
      </p:sp>
      <p:sp>
        <p:nvSpPr>
          <p:cNvPr id="10" name="Later options include employer-funded recruiting o">
            <a:extLst xmlns:a="http://schemas.openxmlformats.org/drawingml/2006/main">
              <a:ext uri="{FF2B5EF4-FFF2-40B4-BE49-F238E27FC236}">
                <a16:creationId xmlns:a16="http://schemas.microsoft.com/office/drawing/2014/main" id="{F93DFDA4-36B2-4911-A6DB-6C60B324B998}"/>
              </a:ext>
            </a:extLst>
          </p:cNvPr>
          <p:cNvSpPr>
            <a:spLocks xmlns:a="http://schemas.openxmlformats.org/drawingml/2006/main" noGrp="1"/>
          </p:cNvSpPr>
          <p:nvPr/>
        </p:nvSpPr>
        <p:spPr>
          <a:xfrm xmlns:a="http://schemas.openxmlformats.org/drawingml/2006/main">
            <a:off x="628650" y="523875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Later options include employer-funded recruiting or optional training partnerships. Neither contributes revenue to this forecast.</a:t>
            </a:r>
          </a:p>
        </p:txBody>
      </p:sp>
      <p:sp>
        <p:nvSpPr>
          <p:cNvPr id="11" name="Basic coordination supports completion and retenti">
            <a:extLst xmlns:a="http://schemas.openxmlformats.org/drawingml/2006/main">
              <a:ext uri="{FF2B5EF4-FFF2-40B4-BE49-F238E27FC236}">
                <a16:creationId xmlns:a16="http://schemas.microsoft.com/office/drawing/2014/main" id="{1C8A4166-8362-496D-981E-C7057699ED4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Basic coordination supports completion and retention. Charging workers to access required job tools would add adoption friction without a clear benefit.</a:t>
            </a:r>
          </a:p>
        </p:txBody>
      </p:sp>
    </p:spTree>
    <p:extLst>
      <p:ext uri="{BB962C8B-B14F-4D97-AF65-F5344CB8AC3E}">
        <p14:creationId xmlns:p14="http://schemas.microsoft.com/office/powerpoint/2010/main" val="1748392210"/>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Sponsored visibility can be a controlled pilot">
            <a:extLst xmlns:a="http://schemas.openxmlformats.org/drawingml/2006/main">
              <a:ext uri="{FF2B5EF4-FFF2-40B4-BE49-F238E27FC236}">
                <a16:creationId xmlns:a16="http://schemas.microsoft.com/office/drawing/2014/main" id="{6D12AB47-55B4-4ED3-9006-74DBC636761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Sponsored visibility can be a controlled pilot</a:t>
            </a:r>
          </a:p>
        </p:txBody>
      </p:sp>
      <p:sp>
        <p:nvSpPr>
          <p:cNvPr id="2" name="Proposed fee: $15 extra after a new relationship c">
            <a:extLst xmlns:a="http://schemas.openxmlformats.org/drawingml/2006/main">
              <a:ext uri="{FF2B5EF4-FFF2-40B4-BE49-F238E27FC236}">
                <a16:creationId xmlns:a16="http://schemas.microsoft.com/office/drawing/2014/main" id="{FA34CF81-1A5D-4103-A283-57B5DA8E7E2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fee: $15 extra after a new relationship completes a paid first job of $150 or more.</a:t>
            </a:r>
          </a:p>
        </p:txBody>
      </p:sp>
      <p:sp>
        <p:nvSpPr>
          <p:cNvPr id="3" name="YardMatch">
            <a:extLst xmlns:a="http://schemas.openxmlformats.org/drawingml/2006/main">
              <a:ext uri="{FF2B5EF4-FFF2-40B4-BE49-F238E27FC236}">
                <a16:creationId xmlns:a16="http://schemas.microsoft.com/office/drawing/2014/main" id="{23B2958A-77DF-46E4-9213-766CF25D396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68A138A3-5BD4-442E-9282-7A0DCD98220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graphicFrame>
        <p:nvGraphicFramePr>
          <p:cNvPr id="11" name=""/>
          <p:cNvGraphicFramePr/>
          <p:nvPr/>
        </p:nvGraphicFramePr>
        <p:xfrm>
          <a:off xmlns:a="http://schemas.openxmlformats.org/drawingml/2006/main" x="609600" y="2343150"/>
          <a:ext xmlns:a="http://schemas.openxmlformats.org/drawingml/2006/main" cx="10972800" cy="3057525"/>
        </p:xfrm>
        <a:graphic xmlns:a="http://schemas.openxmlformats.org/drawingml/2006/main">
          <a:graphicData uri="http://schemas.openxmlformats.org/drawingml/2006/table">
            <a:tbl>
              <a:tblPr/>
              <a:tblGrid>
                <a:gridCol w="4229100"/>
                <a:gridCol w="6743700"/>
              </a:tblGrid>
              <a:tr h="611505">
                <a:tc>
                  <a:txBody>
                    <a:bodyPr lIns="114300" tIns="76200" rIns="114300" bIns="76200">
                      <a:noAutofit/>
                    </a:bodyPr>
                    <a:lstStyle/>
                    <a:p>
                      <a:pPr algn="l"/>
                      <a:r>
                        <a:rPr sz="1800" b="1">
                          <a:solidFill>
                            <a:srgbClr val="FFFFFF"/>
                          </a:solidFill>
                          <a:latin typeface="Arial"/>
                          <a:ea typeface="Arial"/>
                          <a:cs typeface="Arial"/>
                        </a:rPr>
                        <a:t>Pilot rule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Customer and provider effect</a:t>
                      </a:r>
                    </a:p>
                  </a:txBody>
                  <a:tcPr marL="91440" marR="91440" marT="45720" marB="45720" anchor="ctr">
                    <a:solidFill>
                      <a:srgbClr val="205938"/>
                    </a:solidFill>
                  </a:tcPr>
                </a:tc>
              </a:tr>
              <a:tr h="611505">
                <a:tc>
                  <a:txBody>
                    <a:bodyPr lIns="114300" tIns="76200" rIns="114300" bIns="76200">
                      <a:noAutofit/>
                    </a:bodyPr>
                    <a:lstStyle/>
                    <a:p>
                      <a:pPr algn="l"/>
                      <a:r>
                        <a:rPr sz="1800" b="0">
                          <a:solidFill>
                            <a:srgbClr val="14281D"/>
                          </a:solidFill>
                          <a:latin typeface="Arial"/>
                          <a:ea typeface="Arial"/>
                          <a:cs typeface="Arial"/>
                        </a:rPr>
                        <a:t>One labeled sponsored option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More visibility within a small set of qualified backups</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Service fit, capacity and quality gates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Payment cannot qualify an unsuitable provider</a:t>
                      </a:r>
                    </a:p>
                  </a:txBody>
                  <a:tcPr marL="91440" marR="91440" marT="45720" marB="45720" anchor="ctr">
                    <a:solidFill>
                      <a:srgbClr val="F7F5EF"/>
                    </a:solidFill>
                  </a:tcPr>
                </a:tc>
              </a:tr>
              <a:tr h="611505">
                <a:tc>
                  <a:txBody>
                    <a:bodyPr lIns="114300" tIns="76200" rIns="114300" bIns="76200">
                      <a:noAutofit/>
                    </a:bodyPr>
                    <a:lstStyle/>
                    <a:p>
                      <a:pPr algn="l"/>
                      <a:r>
                        <a:rPr sz="1800" b="0">
                          <a:solidFill>
                            <a:srgbClr val="14281D"/>
                          </a:solidFill>
                          <a:latin typeface="Arial"/>
                          <a:ea typeface="Arial"/>
                          <a:cs typeface="Arial"/>
                        </a:rPr>
                        <a:t>Quality-first main recommendation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Sponsorship does not buy the main recommendation</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$150 monthly provider budget cap</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 only for an attributed, completed new relationship</a:t>
                      </a:r>
                    </a:p>
                  </a:txBody>
                  <a:tcPr marL="91440" marR="91440" marT="45720" marB="45720" anchor="ctr">
                    <a:solidFill>
                      <a:srgbClr val="F7F5EF"/>
                    </a:solidFill>
                  </a:tcPr>
                </a:tc>
              </a:tr>
            </a:tbl>
          </a:graphicData>
        </a:graphic>
      </p:graphicFrame>
      <p:sp>
        <p:nvSpPr>
          <p:cNvPr id="6" name="Fee is additional to the applicable $45 / $65 / $9">
            <a:extLst xmlns:a="http://schemas.openxmlformats.org/drawingml/2006/main">
              <a:ext uri="{FF2B5EF4-FFF2-40B4-BE49-F238E27FC236}">
                <a16:creationId xmlns:a16="http://schemas.microsoft.com/office/drawing/2014/main" id="{1C356357-D7E8-41C9-8290-1690BB12B5F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Fee is additional to the applicable $45 / $65 / $90 finder fee and recurring charges. No repeat-pair fee. Existing customers and canceled jobs are excluded. Measure incremental business with a holdout before wider rollout.</a:t>
            </a:r>
          </a:p>
        </p:txBody>
      </p:sp>
    </p:spTree>
    <p:extLst>
      <p:ext uri="{BB962C8B-B14F-4D97-AF65-F5344CB8AC3E}">
        <p14:creationId xmlns:p14="http://schemas.microsoft.com/office/powerpoint/2010/main" val="1391250578"/>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Optional products need more scale to pay back">
            <a:extLst xmlns:a="http://schemas.openxmlformats.org/drawingml/2006/main">
              <a:ext uri="{FF2B5EF4-FFF2-40B4-BE49-F238E27FC236}">
                <a16:creationId xmlns:a16="http://schemas.microsoft.com/office/drawing/2014/main" id="{8564E334-9AB1-452C-83AB-1584A9C5A89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Optional products need more scale to pay back</a:t>
            </a:r>
          </a:p>
        </p:txBody>
      </p:sp>
      <p:sp>
        <p:nvSpPr>
          <p:cNvPr id="2" name="Illustrative 2033 results using the same base hous">
            <a:extLst xmlns:a="http://schemas.openxmlformats.org/drawingml/2006/main">
              <a:ext uri="{FF2B5EF4-FFF2-40B4-BE49-F238E27FC236}">
                <a16:creationId xmlns:a16="http://schemas.microsoft.com/office/drawing/2014/main" id="{E2044E14-6176-4659-B80C-D5A331C591D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2033 results using the same base household and provider volumes. Stripe remains in place.</a:t>
            </a:r>
          </a:p>
        </p:txBody>
      </p:sp>
      <p:sp>
        <p:nvSpPr>
          <p:cNvPr id="3" name="YardMatch">
            <a:extLst xmlns:a="http://schemas.openxmlformats.org/drawingml/2006/main">
              <a:ext uri="{FF2B5EF4-FFF2-40B4-BE49-F238E27FC236}">
                <a16:creationId xmlns:a16="http://schemas.microsoft.com/office/drawing/2014/main" id="{D7FC7D49-E568-4F56-9DAA-5A451F37C73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862A74F6-4955-4D1F-B633-B5896C9BF0A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graphicFrame>
        <p:nvGraphicFramePr>
          <p:cNvPr id="11" name=""/>
          <p:cNvGraphicFramePr/>
          <p:nvPr/>
        </p:nvGraphicFramePr>
        <p:xfrm>
          <a:off xmlns:a="http://schemas.openxmlformats.org/drawingml/2006/main" x="609600" y="2343150"/>
          <a:ext xmlns:a="http://schemas.openxmlformats.org/drawingml/2006/main" cx="10972800" cy="3124200"/>
        </p:xfrm>
        <a:graphic xmlns:a="http://schemas.openxmlformats.org/drawingml/2006/main">
          <a:graphicData uri="http://schemas.openxmlformats.org/drawingml/2006/table">
            <a:tbl>
              <a:tblPr/>
              <a:tblGrid>
                <a:gridCol w="4257675"/>
                <a:gridCol w="2238375"/>
                <a:gridCol w="2238375"/>
                <a:gridCol w="2238375"/>
              </a:tblGrid>
              <a:tr h="520700">
                <a:tc>
                  <a:txBody>
                    <a:bodyPr lIns="114300" tIns="76200" rIns="114300" bIns="76200">
                      <a:noAutofit/>
                    </a:bodyPr>
                    <a:lstStyle/>
                    <a:p>
                      <a:pPr algn="l"/>
                      <a:r>
                        <a:rPr sz="1725" b="1">
                          <a:solidFill>
                            <a:srgbClr val="FFFFFF"/>
                          </a:solidFill>
                          <a:latin typeface="Arial"/>
                          <a:ea typeface="Arial"/>
                          <a:cs typeface="Arial"/>
                        </a:rPr>
                        <a:t>2033 result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Core only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Subscriptions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Sponsorship</a:t>
                      </a:r>
                    </a:p>
                  </a:txBody>
                  <a:tcPr marL="91440" marR="91440" marT="45720" marB="45720" anchor="ctr">
                    <a:solidFill>
                      <a:srgbClr val="205938"/>
                    </a:solidFill>
                  </a:tcPr>
                </a:tc>
              </a:tr>
              <a:tr h="520700">
                <a:tc>
                  <a:txBody>
                    <a:bodyPr lIns="114300" tIns="76200" rIns="114300" bIns="76200">
                      <a:noAutofit/>
                    </a:bodyPr>
                    <a:lstStyle/>
                    <a:p>
                      <a:pPr algn="l"/>
                      <a:r>
                        <a:rPr sz="1725" b="0">
                          <a:solidFill>
                            <a:srgbClr val="14281D"/>
                          </a:solidFill>
                          <a:latin typeface="Arial"/>
                          <a:ea typeface="Arial"/>
                          <a:cs typeface="Arial"/>
                        </a:rPr>
                        <a:t>Optional annual net revenue</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$0.08m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$0.09m</a:t>
                      </a:r>
                    </a:p>
                  </a:txBody>
                  <a:tcPr marL="91440" marR="91440" marT="45720" marB="45720" anchor="ctr">
                    <a:solidFill>
                      <a:srgbClr val="FFFFFF"/>
                    </a:solidFill>
                  </a:tcPr>
                </a:tc>
              </a:tr>
              <a:tr h="520700">
                <a:tc>
                  <a:txBody>
                    <a:bodyPr lIns="114300" tIns="76200" rIns="114300" bIns="76200">
                      <a:noAutofit/>
                    </a:bodyPr>
                    <a:lstStyle/>
                    <a:p>
                      <a:pPr algn="l"/>
                      <a:r>
                        <a:rPr sz="1725" b="0">
                          <a:solidFill>
                            <a:srgbClr val="14281D"/>
                          </a:solidFill>
                          <a:latin typeface="Arial"/>
                          <a:ea typeface="Arial"/>
                          <a:cs typeface="Arial"/>
                        </a:rPr>
                        <a:t>Total net revenue</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$1.09m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$1.17m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$1.18m</a:t>
                      </a:r>
                    </a:p>
                  </a:txBody>
                  <a:tcPr marL="91440" marR="91440" marT="45720" marB="45720" anchor="ctr">
                    <a:solidFill>
                      <a:srgbClr val="F7F5EF"/>
                    </a:solidFill>
                  </a:tcPr>
                </a:tc>
              </a:tr>
              <a:tr h="520700">
                <a:tc>
                  <a:txBody>
                    <a:bodyPr lIns="114300" tIns="76200" rIns="114300" bIns="76200">
                      <a:noAutofit/>
                    </a:bodyPr>
                    <a:lstStyle/>
                    <a:p>
                      <a:pPr algn="l"/>
                      <a:r>
                        <a:rPr sz="1725"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($0.36)m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($0.56)m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($0.62)m</a:t>
                      </a:r>
                    </a:p>
                  </a:txBody>
                  <a:tcPr marL="91440" marR="91440" marT="45720" marB="45720" anchor="ctr">
                    <a:solidFill>
                      <a:srgbClr val="E8EDDF"/>
                    </a:solidFill>
                  </a:tcPr>
                </a:tc>
              </a:tr>
              <a:tr h="520700">
                <a:tc>
                  <a:txBody>
                    <a:bodyPr lIns="114300" tIns="76200" rIns="114300" bIns="76200">
                      <a:noAutofit/>
                    </a:bodyPr>
                    <a:lstStyle/>
                    <a:p>
                      <a:pPr algn="l"/>
                      <a:r>
                        <a:rPr sz="1725"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($0.39)m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($0.59)m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($0.65)m</a:t>
                      </a:r>
                    </a:p>
                  </a:txBody>
                  <a:tcPr marL="91440" marR="91440" marT="45720" marB="45720" anchor="ctr">
                    <a:solidFill>
                      <a:srgbClr val="E8EDDF"/>
                    </a:solidFill>
                  </a:tcPr>
                </a:tc>
              </a:tr>
              <a:tr h="520700">
                <a:tc>
                  <a:txBody>
                    <a:bodyPr lIns="114300" tIns="76200" rIns="114300" bIns="76200">
                      <a:noAutofit/>
                    </a:bodyPr>
                    <a:lstStyle/>
                    <a:p>
                      <a:pPr algn="l"/>
                      <a:r>
                        <a:rPr sz="1725"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r>
            </a:tbl>
          </a:graphicData>
        </a:graphic>
      </p:graphicFrame>
      <p:sp>
        <p:nvSpPr>
          <p:cNvPr id="6" name="Final column includes both subscriptions and spons">
            <a:extLst xmlns:a="http://schemas.openxmlformats.org/drawingml/2006/main">
              <a:ext uri="{FF2B5EF4-FFF2-40B4-BE49-F238E27FC236}">
                <a16:creationId xmlns:a16="http://schemas.microsoft.com/office/drawing/2014/main" id="{21C68680-7261-467B-9CE7-3AA97641BA9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Final column includes both subscriptions and sponsorship. Their combined 2033 EBITDA impact is ($261,736) after incremental costs. Early spending still increases cash needs. Adoption is unvalidated.</a:t>
            </a:r>
          </a:p>
        </p:txBody>
      </p:sp>
    </p:spTree>
    <p:extLst>
      <p:ext uri="{BB962C8B-B14F-4D97-AF65-F5344CB8AC3E}">
        <p14:creationId xmlns:p14="http://schemas.microsoft.com/office/powerpoint/2010/main" val="1884660628"/>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core forecast makes the assumptions visible">
            <a:extLst xmlns:a="http://schemas.openxmlformats.org/drawingml/2006/main">
              <a:ext uri="{FF2B5EF4-FFF2-40B4-BE49-F238E27FC236}">
                <a16:creationId xmlns:a16="http://schemas.microsoft.com/office/drawing/2014/main" id="{B2602608-546E-454C-90E8-6F652FAE6A1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core forecast makes the assumptions visible</a:t>
            </a:r>
          </a:p>
        </p:txBody>
      </p:sp>
      <p:sp>
        <p:nvSpPr>
          <p:cNvPr id="2" name="2027-2033 calendar years. Optional subscriptions a">
            <a:extLst xmlns:a="http://schemas.openxmlformats.org/drawingml/2006/main">
              <a:ext uri="{FF2B5EF4-FFF2-40B4-BE49-F238E27FC236}">
                <a16:creationId xmlns:a16="http://schemas.microsoft.com/office/drawing/2014/main" id="{521877C9-1EC4-4698-9DBE-8E81810AE75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Optional subscriptions and sponsorship are excluded from these core cases.</a:t>
            </a:r>
          </a:p>
        </p:txBody>
      </p:sp>
      <p:sp>
        <p:nvSpPr>
          <p:cNvPr id="3" name="YardMatch">
            <a:extLst xmlns:a="http://schemas.openxmlformats.org/drawingml/2006/main">
              <a:ext uri="{FF2B5EF4-FFF2-40B4-BE49-F238E27FC236}">
                <a16:creationId xmlns:a16="http://schemas.microsoft.com/office/drawing/2014/main" id="{D503F24E-E272-4713-9A0D-C243F5AAE95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3">
            <a:extLst xmlns:a="http://schemas.openxmlformats.org/drawingml/2006/main">
              <a:ext uri="{FF2B5EF4-FFF2-40B4-BE49-F238E27FC236}">
                <a16:creationId xmlns:a16="http://schemas.microsoft.com/office/drawing/2014/main" id="{3A49B29A-1DAC-49AB-A14F-42A358447ED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23</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117 / 3,750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240 / 6,324</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320 / 7,838</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Maintenance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$74 / $61</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$45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$44 / $36</a:t>
                      </a:r>
                    </a:p>
                  </a:txBody>
                  <a:tcPr marL="91440" marR="91440" marT="45720" marB="45720" anchor="ctr">
                    <a:solidFill>
                      <a:srgbClr val="F7F5EF"/>
                    </a:solidFill>
                  </a:tcPr>
                </a:tc>
              </a:tr>
            </a:tbl>
          </a:graphicData>
        </a:graphic>
      </p:graphicFrame>
      <p:sp>
        <p:nvSpPr>
          <p:cNvPr id="6" name="Service mix adds project visits. Base: 95% complet">
            <a:extLst xmlns:a="http://schemas.openxmlformats.org/drawingml/2006/main">
              <a:ext uri="{FF2B5EF4-FFF2-40B4-BE49-F238E27FC236}">
                <a16:creationId xmlns:a16="http://schemas.microsoft.com/office/drawing/2014/main" id="{982F30E4-D68A-4823-9469-130B179ED60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Service mix adds project visits. Base: 95% completion, eight payout-active months, 3 to 5 paid staff in the base. Downside prices are 15% higher. All cases use the proposed property-tier finder fees and recurring fee plus processing.</a:t>
            </a:r>
          </a:p>
        </p:txBody>
      </p:sp>
    </p:spTree>
    <p:extLst>
      <p:ext uri="{BB962C8B-B14F-4D97-AF65-F5344CB8AC3E}">
        <p14:creationId xmlns:p14="http://schemas.microsoft.com/office/powerpoint/2010/main" val="95186766"/>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1m in 2033">
            <a:extLst xmlns:a="http://schemas.openxmlformats.org/drawingml/2006/main">
              <a:ext uri="{FF2B5EF4-FFF2-40B4-BE49-F238E27FC236}">
                <a16:creationId xmlns:a16="http://schemas.microsoft.com/office/drawing/2014/main" id="{A2111423-1FE5-4487-AB5D-E29A5D07AAB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$1.1m in 2033</a:t>
            </a:r>
          </a:p>
        </p:txBody>
      </p:sp>
      <p:sp>
        <p:nvSpPr>
          <p:cNvPr id="2" name="Net marketplace revenue, US$ millions. Finder fees">
            <a:extLst xmlns:a="http://schemas.openxmlformats.org/drawingml/2006/main">
              <a:ext uri="{FF2B5EF4-FFF2-40B4-BE49-F238E27FC236}">
                <a16:creationId xmlns:a16="http://schemas.microsoft.com/office/drawing/2014/main" id="{03E5C07D-DD9F-44D8-A7B1-FCE7878A54D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2A3BD71A-FC0B-4137-AAAF-45A1F6FA3E9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4">
            <a:extLst xmlns:a="http://schemas.openxmlformats.org/drawingml/2006/main">
              <a:ext uri="{FF2B5EF4-FFF2-40B4-BE49-F238E27FC236}">
                <a16:creationId xmlns:a16="http://schemas.microsoft.com/office/drawing/2014/main" id="{BE51DBC8-8B2D-47FA-8521-45E1F11B68D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24</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a1ece3b1d0c54c82"/>
          </a:graphicData>
        </a:graphic>
      </p:graphicFrame>
      <p:sp>
        <p:nvSpPr>
          <p:cNvPr id="6" name="Base 2033: 16,570 year-end paying households, 0.24">
            <a:extLst xmlns:a="http://schemas.openxmlformats.org/drawingml/2006/main">
              <a:ext uri="{FF2B5EF4-FFF2-40B4-BE49-F238E27FC236}">
                <a16:creationId xmlns:a16="http://schemas.microsoft.com/office/drawing/2014/main" id="{C6CC0C14-E3E5-4352-8FE4-75A51BEF55E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16,570 year-end paying households, 0.24m paid jobs and $33.5m GMV. Revenue excludes GMV and processing passed through at cost.</a:t>
            </a:r>
          </a:p>
        </p:txBody>
      </p:sp>
    </p:spTree>
    <p:extLst>
      <p:ext uri="{BB962C8B-B14F-4D97-AF65-F5344CB8AC3E}">
        <p14:creationId xmlns:p14="http://schemas.microsoft.com/office/powerpoint/2010/main" val="1956128769"/>
      </p:ext>
    </p:extLst>
  </p:cSld>
</p:sld>
</file>

<file path=ppt/slides/slide2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regional base remains loss-making">
            <a:extLst xmlns:a="http://schemas.openxmlformats.org/drawingml/2006/main">
              <a:ext uri="{FF2B5EF4-FFF2-40B4-BE49-F238E27FC236}">
                <a16:creationId xmlns:a16="http://schemas.microsoft.com/office/drawing/2014/main" id="{9D20F585-87CF-415D-8D58-1513DBBB5B5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regional base remains loss-making</a:t>
            </a:r>
          </a:p>
        </p:txBody>
      </p:sp>
      <p:sp>
        <p:nvSpPr>
          <p:cNvPr id="2" name="US$ millions. Recommended pricing; Stripe retained">
            <a:extLst xmlns:a="http://schemas.openxmlformats.org/drawingml/2006/main">
              <a:ext uri="{FF2B5EF4-FFF2-40B4-BE49-F238E27FC236}">
                <a16:creationId xmlns:a16="http://schemas.microsoft.com/office/drawing/2014/main" id="{EA1D0B24-F770-4C57-807E-D69300145A4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Recommended pricing; Stripe retained throughout. Growth and fee acceptance are assumptions.</a:t>
            </a:r>
          </a:p>
        </p:txBody>
      </p:sp>
      <p:sp>
        <p:nvSpPr>
          <p:cNvPr id="3" name="YardMatch">
            <a:extLst xmlns:a="http://schemas.openxmlformats.org/drawingml/2006/main">
              <a:ext uri="{FF2B5EF4-FFF2-40B4-BE49-F238E27FC236}">
                <a16:creationId xmlns:a16="http://schemas.microsoft.com/office/drawing/2014/main" id="{45F6D937-70C2-42BB-A6E7-B5D79DFC17F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5">
            <a:extLst xmlns:a="http://schemas.openxmlformats.org/drawingml/2006/main">
              <a:ext uri="{FF2B5EF4-FFF2-40B4-BE49-F238E27FC236}">
                <a16:creationId xmlns:a16="http://schemas.microsoft.com/office/drawing/2014/main" id="{BC193633-4BA6-4D20-A257-DCC45575067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25</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$0.09</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$0.21</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$0.39</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$0.60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$0.85</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$1.09</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$0.82</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($0.61)</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($0.36)</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($0.39)</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($0.39)</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($0.49)</a:t>
                      </a:r>
                    </a:p>
                  </a:txBody>
                  <a:tcPr marL="91440" marR="91440" marT="45720" marB="45720" anchor="ctr">
                    <a:solidFill>
                      <a:srgbClr val="F7F5EF"/>
                    </a:solidFill>
                  </a:tcPr>
                </a:tc>
              </a:tr>
            </a:tbl>
          </a:graphicData>
        </a:graphic>
      </p:graphicFrame>
      <p:sp>
        <p:nvSpPr>
          <p:cNvPr id="6" name="2033 net income proxy: ($0.39)m. Free cash flow: (">
            <a:extLst xmlns:a="http://schemas.openxmlformats.org/drawingml/2006/main">
              <a:ext uri="{FF2B5EF4-FFF2-40B4-BE49-F238E27FC236}">
                <a16:creationId xmlns:a16="http://schemas.microsoft.com/office/drawing/2014/main" id="{B8A3A65C-CA4B-42B7-B679-8E640549B9A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income proxy: ($0.39)m. Free cash flow: ($0.49)m. No positive EBITDA year appears through 2033. Staffing, acquisition and local coverage exceed contribution at this scale.</a:t>
            </a:r>
          </a:p>
        </p:txBody>
      </p:sp>
    </p:spTree>
    <p:extLst>
      <p:ext uri="{BB962C8B-B14F-4D97-AF65-F5344CB8AC3E}">
        <p14:creationId xmlns:p14="http://schemas.microsoft.com/office/powerpoint/2010/main" val="2091255578"/>
      </p:ext>
    </p:extLst>
  </p:cSld>
</p:sld>
</file>

<file path=ppt/slides/slide2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00AD8290-B590-46E7-A1CC-C4879B2673E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latform fees. Servic">
            <a:extLst xmlns:a="http://schemas.openxmlformats.org/drawingml/2006/main">
              <a:ext uri="{FF2B5EF4-FFF2-40B4-BE49-F238E27FC236}">
                <a16:creationId xmlns:a16="http://schemas.microsoft.com/office/drawing/2014/main" id="{6F56EDE1-88E2-4AA5-9913-BE5A661BDD5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platform fees. Service prices,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1E5D02CB-63E0-4357-B93E-DCCA58F3634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6">
            <a:extLst xmlns:a="http://schemas.openxmlformats.org/drawingml/2006/main">
              <a:ext uri="{FF2B5EF4-FFF2-40B4-BE49-F238E27FC236}">
                <a16:creationId xmlns:a16="http://schemas.microsoft.com/office/drawing/2014/main" id="{51D42BF6-9646-4EC0-A0F2-53F0F6C8185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26</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$0.26m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$0.60m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$0.93m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($0.75)m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($0.54)m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($0.30)m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$0.44m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$1.09m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$1.74m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($0.80)m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($0.39)m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$0.05m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2033</a:t>
                      </a:r>
                    </a:p>
                  </a:txBody>
                  <a:tcPr marL="91440" marR="91440" marT="45720" marB="45720" anchor="ctr">
                    <a:solidFill>
                      <a:srgbClr val="FFFFFF"/>
                    </a:solidFill>
                  </a:tcPr>
                </a:tc>
              </a:tr>
            </a:tbl>
          </a:graphicData>
        </a:graphic>
      </p:graphicFrame>
      <p:sp>
        <p:nvSpPr>
          <p:cNvPr id="6" name="First positive EBITDA: downside None by 2033, base">
            <a:extLst xmlns:a="http://schemas.openxmlformats.org/drawingml/2006/main">
              <a:ext uri="{FF2B5EF4-FFF2-40B4-BE49-F238E27FC236}">
                <a16:creationId xmlns:a16="http://schemas.microsoft.com/office/drawing/2014/main" id="{54A3FE83-9DE6-499D-829B-931F0DEC0CA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First positive EBITDA: downside None by 2033, base None by 2033, upside 2033. All cases cap staffing at five. The model assumes fee acceptance and sufficient team capacity; validate both.</a:t>
            </a:r>
          </a:p>
        </p:txBody>
      </p:sp>
    </p:spTree>
    <p:extLst>
      <p:ext uri="{BB962C8B-B14F-4D97-AF65-F5344CB8AC3E}">
        <p14:creationId xmlns:p14="http://schemas.microsoft.com/office/powerpoint/2010/main" val="877685624"/>
      </p:ext>
    </p:extLst>
  </p:cSld>
</p:sld>
</file>

<file path=ppt/slides/slide2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Five staff and property fees narrow the loss">
            <a:extLst xmlns:a="http://schemas.openxmlformats.org/drawingml/2006/main">
              <a:ext uri="{FF2B5EF4-FFF2-40B4-BE49-F238E27FC236}">
                <a16:creationId xmlns:a16="http://schemas.microsoft.com/office/drawing/2014/main" id="{F4CC2817-6BE6-45DB-AB06-CC7B0235F3F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Five staff and property fees narrow the loss</a:t>
            </a:r>
          </a:p>
        </p:txBody>
      </p:sp>
      <p:sp>
        <p:nvSpPr>
          <p:cNvPr id="2" name="The comparison holds customer growth, service volu">
            <a:extLst xmlns:a="http://schemas.openxmlformats.org/drawingml/2006/main">
              <a:ext uri="{FF2B5EF4-FFF2-40B4-BE49-F238E27FC236}">
                <a16:creationId xmlns:a16="http://schemas.microsoft.com/office/drawing/2014/main" id="{C19B4A59-53E7-4A57-84FD-B3598CFF0A0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comparison holds customer growth, service volume, salaries and other cost assumptions constant.</a:t>
            </a:r>
          </a:p>
        </p:txBody>
      </p:sp>
      <p:sp>
        <p:nvSpPr>
          <p:cNvPr id="3" name="YardMatch">
            <a:extLst xmlns:a="http://schemas.openxmlformats.org/drawingml/2006/main">
              <a:ext uri="{FF2B5EF4-FFF2-40B4-BE49-F238E27FC236}">
                <a16:creationId xmlns:a16="http://schemas.microsoft.com/office/drawing/2014/main" id="{039006FA-E368-4F05-91B4-D99C7F10F7D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7">
            <a:extLst xmlns:a="http://schemas.openxmlformats.org/drawingml/2006/main">
              <a:ext uri="{FF2B5EF4-FFF2-40B4-BE49-F238E27FC236}">
                <a16:creationId xmlns:a16="http://schemas.microsoft.com/office/drawing/2014/main" id="{A3DCE79E-96A7-410A-B205-BDD0E1D7569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27</a:t>
            </a:r>
          </a:p>
        </p:txBody>
      </p:sp>
      <p:graphicFrame>
        <p:nvGraphicFramePr>
          <p:cNvPr id="11" name=""/>
          <p:cNvGraphicFramePr/>
          <p:nvPr/>
        </p:nvGraphicFramePr>
        <p:xfrm>
          <a:off xmlns:a="http://schemas.openxmlformats.org/drawingml/2006/main" x="609600" y="2343150"/>
          <a:ext xmlns:a="http://schemas.openxmlformats.org/drawingml/2006/main" cx="10972800" cy="3133725"/>
        </p:xfrm>
        <a:graphic xmlns:a="http://schemas.openxmlformats.org/drawingml/2006/main">
          <a:graphicData uri="http://schemas.openxmlformats.org/drawingml/2006/table">
            <a:tbl>
              <a:tblPr/>
              <a:tblGrid>
                <a:gridCol w="4200525"/>
                <a:gridCol w="2257425"/>
                <a:gridCol w="2257425"/>
                <a:gridCol w="2257425"/>
              </a:tblGrid>
              <a:tr h="522288">
                <a:tc>
                  <a:txBody>
                    <a:bodyPr lIns="114300" tIns="76200" rIns="114300" bIns="76200">
                      <a:noAutofit/>
                    </a:bodyPr>
                    <a:lstStyle/>
                    <a:p>
                      <a:pPr algn="l"/>
                      <a:r>
                        <a:rPr sz="1725" b="1">
                          <a:solidFill>
                            <a:srgbClr val="FFFFFF"/>
                          </a:solidFill>
                          <a:latin typeface="Arial"/>
                          <a:ea typeface="Arial"/>
                          <a:cs typeface="Arial"/>
                        </a:rPr>
                        <a:t>2033 base comparison</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Before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Five staff only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Property fees</a:t>
                      </a:r>
                    </a:p>
                  </a:txBody>
                  <a:tcPr marL="91440" marR="91440" marT="45720" marB="45720" anchor="ctr">
                    <a:solidFill>
                      <a:srgbClr val="205938"/>
                    </a:solidFill>
                  </a:tcPr>
                </a:tc>
              </a:tr>
              <a:tr h="522288">
                <a:tc>
                  <a:txBody>
                    <a:bodyPr lIns="114300" tIns="76200" rIns="114300" bIns="76200">
                      <a:noAutofit/>
                    </a:bodyPr>
                    <a:lstStyle/>
                    <a:p>
                      <a:pPr algn="l"/>
                      <a:r>
                        <a:rPr sz="1725" b="0">
                          <a:solidFill>
                            <a:srgbClr val="14281D"/>
                          </a:solidFill>
                          <a:latin typeface="Arial"/>
                          <a:ea typeface="Arial"/>
                          <a:cs typeface="Arial"/>
                        </a:rPr>
                        <a:t>Paid employees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5</a:t>
                      </a:r>
                    </a:p>
                  </a:txBody>
                  <a:tcPr marL="91440" marR="91440" marT="45720" marB="45720" anchor="ctr">
                    <a:solidFill>
                      <a:srgbClr val="FFFFFF"/>
                    </a:solidFill>
                  </a:tcPr>
                </a:tc>
              </a:tr>
              <a:tr h="522288">
                <a:tc>
                  <a:txBody>
                    <a:bodyPr lIns="114300" tIns="76200" rIns="114300" bIns="76200">
                      <a:noAutofit/>
                    </a:bodyPr>
                    <a:lstStyle/>
                    <a:p>
                      <a:pPr algn="l"/>
                      <a:r>
                        <a:rPr sz="1725" b="0">
                          <a:solidFill>
                            <a:srgbClr val="14281D"/>
                          </a:solidFill>
                          <a:latin typeface="Arial"/>
                          <a:ea typeface="Arial"/>
                          <a:cs typeface="Arial"/>
                        </a:rPr>
                        <a:t>Payroll</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$1,300,000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$650,000</a:t>
                      </a:r>
                    </a:p>
                  </a:txBody>
                  <a:tcPr marL="91440" marR="91440" marT="45720" marB="45720" anchor="ctr">
                    <a:solidFill>
                      <a:srgbClr val="F7F5EF"/>
                    </a:solidFill>
                  </a:tcPr>
                </a:tc>
              </a:tr>
              <a:tr h="522288">
                <a:tc>
                  <a:txBody>
                    <a:bodyPr lIns="114300" tIns="76200" rIns="114300" bIns="76200">
                      <a:noAutofit/>
                    </a:bodyPr>
                    <a:lstStyle/>
                    <a:p>
                      <a:pPr algn="l"/>
                      <a:r>
                        <a:rPr sz="1725" b="0">
                          <a:solidFill>
                            <a:srgbClr val="14281D"/>
                          </a:solidFill>
                          <a:latin typeface="Arial"/>
                          <a:ea typeface="Arial"/>
                          <a:cs typeface="Arial"/>
                        </a:rPr>
                        <a:t>Finder-fee revenue</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$278,136</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$278,136</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$341,678</a:t>
                      </a:r>
                    </a:p>
                  </a:txBody>
                  <a:tcPr marL="91440" marR="91440" marT="45720" marB="45720" anchor="ctr">
                    <a:solidFill>
                      <a:srgbClr val="FFFFFF"/>
                    </a:solidFill>
                  </a:tcPr>
                </a:tc>
              </a:tr>
              <a:tr h="522288">
                <a:tc>
                  <a:txBody>
                    <a:bodyPr lIns="114300" tIns="76200" rIns="114300" bIns="76200">
                      <a:noAutofit/>
                    </a:bodyPr>
                    <a:lstStyle/>
                    <a:p>
                      <a:pPr algn="l"/>
                      <a:r>
                        <a:rPr sz="1725" b="0">
                          <a:solidFill>
                            <a:srgbClr val="14281D"/>
                          </a:solidFill>
                          <a:latin typeface="Arial"/>
                          <a:ea typeface="Arial"/>
                          <a:cs typeface="Arial"/>
                        </a:rPr>
                        <a:t>Total revenue</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$1.03m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$1.03m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$1.09m</a:t>
                      </a:r>
                    </a:p>
                  </a:txBody>
                  <a:tcPr marL="91440" marR="91440" marT="45720" marB="45720" anchor="ctr">
                    <a:solidFill>
                      <a:srgbClr val="F7F5EF"/>
                    </a:solidFill>
                  </a:tcPr>
                </a:tc>
              </a:tr>
              <a:tr h="522288">
                <a:tc>
                  <a:txBody>
                    <a:bodyPr lIns="114300" tIns="76200" rIns="114300" bIns="76200">
                      <a:noAutofit/>
                    </a:bodyPr>
                    <a:lstStyle/>
                    <a:p>
                      <a:pPr algn="l"/>
                      <a:r>
                        <a:rPr sz="1725"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($1,074,807)</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($424,807)</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($361,106)</a:t>
                      </a:r>
                    </a:p>
                  </a:txBody>
                  <a:tcPr marL="91440" marR="91440" marT="45720" marB="45720" anchor="ctr">
                    <a:solidFill>
                      <a:srgbClr val="E8EDDF"/>
                    </a:solidFill>
                  </a:tcPr>
                </a:tc>
              </a:tr>
            </a:tbl>
          </a:graphicData>
        </a:graphic>
      </p:graphicFrame>
      <p:sp>
        <p:nvSpPr>
          <p:cNvPr id="6" name="Payroll saves $650,000 per year. Property fees add">
            <a:extLst xmlns:a="http://schemas.openxmlformats.org/drawingml/2006/main">
              <a:ext uri="{FF2B5EF4-FFF2-40B4-BE49-F238E27FC236}">
                <a16:creationId xmlns:a16="http://schemas.microsoft.com/office/drawing/2014/main" id="{08C79312-C9F8-43D6-A46A-DA23BA68405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Payroll saves $650,000 per year. Property fees add $63,543 in annual finder revenue. The base still needs better economics; no efficiency gain or price acceptance is treated as proven.</a:t>
            </a:r>
          </a:p>
        </p:txBody>
      </p:sp>
    </p:spTree>
    <p:extLst>
      <p:ext uri="{BB962C8B-B14F-4D97-AF65-F5344CB8AC3E}">
        <p14:creationId xmlns:p14="http://schemas.microsoft.com/office/powerpoint/2010/main" val="343554232"/>
      </p:ext>
    </p:extLst>
  </p:cSld>
</p:sld>
</file>

<file path=ppt/slides/slide2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Illustrative funding for a pricing pilot">
            <a:extLst xmlns:a="http://schemas.openxmlformats.org/drawingml/2006/main">
              <a:ext uri="{FF2B5EF4-FFF2-40B4-BE49-F238E27FC236}">
                <a16:creationId xmlns:a16="http://schemas.microsoft.com/office/drawing/2014/main" id="{40591DFB-A22F-4F45-806D-A075058EFEA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Illustrative funding for a pricing pilot</a:t>
            </a:r>
          </a:p>
        </p:txBody>
      </p:sp>
      <p:sp>
        <p:nvSpPr>
          <p:cNvPr id="2" name="The two-year base budget tests commercial adoption">
            <a:extLst xmlns:a="http://schemas.openxmlformats.org/drawingml/2006/main">
              <a:ext uri="{FF2B5EF4-FFF2-40B4-BE49-F238E27FC236}">
                <a16:creationId xmlns:a16="http://schemas.microsoft.com/office/drawing/2014/main" id="{532307BC-4CAB-40E4-ACB0-9DA350A790D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two-year base budget tests commercial adoption and leaves a reserve for the next financing decision.</a:t>
            </a:r>
          </a:p>
        </p:txBody>
      </p:sp>
      <p:sp>
        <p:nvSpPr>
          <p:cNvPr id="3" name="YardMatch">
            <a:extLst xmlns:a="http://schemas.openxmlformats.org/drawingml/2006/main">
              <a:ext uri="{FF2B5EF4-FFF2-40B4-BE49-F238E27FC236}">
                <a16:creationId xmlns:a16="http://schemas.microsoft.com/office/drawing/2014/main" id="{0AD3D2F9-8A2A-4D23-A084-380ED966C9B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8">
            <a:extLst xmlns:a="http://schemas.openxmlformats.org/drawingml/2006/main">
              <a:ext uri="{FF2B5EF4-FFF2-40B4-BE49-F238E27FC236}">
                <a16:creationId xmlns:a16="http://schemas.microsoft.com/office/drawing/2014/main" id="{2313A0E6-FA8A-4863-95E6-CDA53106177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28</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$720,000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and provider acquisition</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$69,451</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Corporate + local operating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$195,420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$46,744</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($91,073)</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$940,543</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$534,457</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619A27E8-2FC4-4562-8F4A-11EBCD1E66FE}"/>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Validate fee acceptance and retention before finan">
            <a:extLst xmlns:a="http://schemas.openxmlformats.org/drawingml/2006/main">
              <a:ext uri="{FF2B5EF4-FFF2-40B4-BE49-F238E27FC236}">
                <a16:creationId xmlns:a16="http://schemas.microsoft.com/office/drawing/2014/main" id="{B3871E37-C46F-4B9E-85C6-6404EEB92F2F}"/>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Validate fee acceptance and retention before financing expansion.</a:t>
            </a:r>
          </a:p>
        </p:txBody>
      </p:sp>
      <p:sp>
        <p:nvSpPr>
          <p:cNvPr id="8" name="$3.87m">
            <a:extLst xmlns:a="http://schemas.openxmlformats.org/drawingml/2006/main">
              <a:ext uri="{FF2B5EF4-FFF2-40B4-BE49-F238E27FC236}">
                <a16:creationId xmlns:a16="http://schemas.microsoft.com/office/drawing/2014/main" id="{129A21AA-2391-4FBE-9C00-478B720E0015}"/>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$3.87m</a:t>
            </a:r>
          </a:p>
        </p:txBody>
      </p:sp>
      <p:sp>
        <p:nvSpPr>
          <p:cNvPr id="9" name="Peak cumulative cash deficit before financing unde">
            <a:extLst xmlns:a="http://schemas.openxmlformats.org/drawingml/2006/main">
              <a:ext uri="{FF2B5EF4-FFF2-40B4-BE49-F238E27FC236}">
                <a16:creationId xmlns:a16="http://schemas.microsoft.com/office/drawing/2014/main" id="{9C9219C6-B271-460A-BC1F-6D65B12EA877}"/>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Peak cumulative cash deficit before financing under the revised base case.</a:t>
            </a:r>
          </a:p>
        </p:txBody>
      </p:sp>
      <p:sp>
        <p:nvSpPr>
          <p:cNvPr id="10" name="Adding the $0.42m 2033 fixed-cost buffer gives $4.">
            <a:extLst xmlns:a="http://schemas.openxmlformats.org/drawingml/2006/main">
              <a:ext uri="{FF2B5EF4-FFF2-40B4-BE49-F238E27FC236}">
                <a16:creationId xmlns:a16="http://schemas.microsoft.com/office/drawing/2014/main" id="{BFD19485-6986-462D-84BB-39BEC2D850D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Adding the $0.42m 2033 fixed-cost buffer gives $4.30m, before financing fees. The $1.5m round is an initial pilot illustration; follow-on capital would be needed.</a:t>
            </a:r>
          </a:p>
        </p:txBody>
      </p:sp>
    </p:spTree>
    <p:extLst>
      <p:ext uri="{BB962C8B-B14F-4D97-AF65-F5344CB8AC3E}">
        <p14:creationId xmlns:p14="http://schemas.microsoft.com/office/powerpoint/2010/main" val="449642613"/>
      </p:ext>
    </p:extLst>
  </p:cSld>
</p:sld>
</file>

<file path=ppt/slides/slide2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wning payments does not mean free payments">
            <a:extLst xmlns:a="http://schemas.openxmlformats.org/drawingml/2006/main">
              <a:ext uri="{FF2B5EF4-FFF2-40B4-BE49-F238E27FC236}">
                <a16:creationId xmlns:a16="http://schemas.microsoft.com/office/drawing/2014/main" id="{5CEA02EC-FC3C-4322-8223-D8A33BDD0D4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Owning payments does not mean free payments</a:t>
            </a:r>
          </a:p>
        </p:txBody>
      </p:sp>
      <p:sp>
        <p:nvSpPr>
          <p:cNvPr id="2" name="An internal transaction engine can replace softwar">
            <a:extLst xmlns:a="http://schemas.openxmlformats.org/drawingml/2006/main">
              <a:ext uri="{FF2B5EF4-FFF2-40B4-BE49-F238E27FC236}">
                <a16:creationId xmlns:a16="http://schemas.microsoft.com/office/drawing/2014/main" id="{BA72D904-09A3-4470-9B73-CC6586DBB1D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internal transaction engine can replace software layers. Banks and payment networks still carry costs.</a:t>
            </a:r>
          </a:p>
        </p:txBody>
      </p:sp>
      <p:sp>
        <p:nvSpPr>
          <p:cNvPr id="3" name="YardMatch">
            <a:extLst xmlns:a="http://schemas.openxmlformats.org/drawingml/2006/main">
              <a:ext uri="{FF2B5EF4-FFF2-40B4-BE49-F238E27FC236}">
                <a16:creationId xmlns:a16="http://schemas.microsoft.com/office/drawing/2014/main" id="{6A51C642-7D0E-4F11-936B-AA4251DAFDD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9">
            <a:extLst xmlns:a="http://schemas.openxmlformats.org/drawingml/2006/main">
              <a:ext uri="{FF2B5EF4-FFF2-40B4-BE49-F238E27FC236}">
                <a16:creationId xmlns:a16="http://schemas.microsoft.com/office/drawing/2014/main" id="{1B3DFFE6-498A-4AB7-8130-01C9DFE7E0E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29</a:t>
            </a:r>
          </a:p>
        </p:txBody>
      </p:sp>
      <p:graphicFrame>
        <p:nvGraphicFramePr>
          <p:cNvPr id="12" name=""/>
          <p:cNvGraphicFramePr/>
          <p:nvPr/>
        </p:nvGraphicFramePr>
        <p:xfrm>
          <a:off xmlns:a="http://schemas.openxmlformats.org/drawingml/2006/main" x="609600" y="2362200"/>
          <a:ext xmlns:a="http://schemas.openxmlformats.org/drawingml/2006/main" cx="10972800" cy="3009900"/>
        </p:xfrm>
        <a:graphic xmlns:a="http://schemas.openxmlformats.org/drawingml/2006/main">
          <a:graphicData uri="http://schemas.openxmlformats.org/drawingml/2006/table">
            <a:tbl>
              <a:tblPr/>
              <a:tblGrid>
                <a:gridCol w="4191000"/>
                <a:gridCol w="6781800"/>
              </a:tblGrid>
              <a:tr h="601980">
                <a:tc>
                  <a:txBody>
                    <a:bodyPr lIns="114300" tIns="76200" rIns="114300" bIns="76200">
                      <a:noAutofit/>
                    </a:bodyPr>
                    <a:lstStyle/>
                    <a:p>
                      <a:pPr algn="l"/>
                      <a:r>
                        <a:rPr sz="1800" b="1">
                          <a:solidFill>
                            <a:srgbClr val="FFFFFF"/>
                          </a:solidFill>
                          <a:latin typeface="Arial"/>
                          <a:ea typeface="Arial"/>
                          <a:cs typeface="Arial"/>
                        </a:rPr>
                        <a:t>Cost category</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What a build can change</a:t>
                      </a:r>
                    </a:p>
                  </a:txBody>
                  <a:tcPr marL="91440" marR="91440" marT="45720" marB="45720" anchor="ctr">
                    <a:solidFill>
                      <a:srgbClr val="205938"/>
                    </a:solidFill>
                  </a:tcPr>
                </a:tc>
              </a:tr>
              <a:tr h="601980">
                <a:tc>
                  <a:txBody>
                    <a:bodyPr lIns="114300" tIns="76200" rIns="114300" bIns="76200">
                      <a:noAutofit/>
                    </a:bodyPr>
                    <a:lstStyle/>
                    <a:p>
                      <a:pPr algn="l"/>
                      <a:r>
                        <a:rPr sz="1800" b="0">
                          <a:solidFill>
                            <a:srgbClr val="14281D"/>
                          </a:solidFill>
                          <a:latin typeface="Arial"/>
                          <a:ea typeface="Arial"/>
                          <a:cs typeface="Arial"/>
                        </a:rPr>
                        <a:t>Gateway, ledger and reconciliation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Own the workflow; maintain and support it</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Card networks and acquiring banks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Negotiate rates; interchange and banking costs remain</a:t>
                      </a:r>
                    </a:p>
                  </a:txBody>
                  <a:tcPr marL="91440" marR="91440" marT="45720" marB="45720" anchor="ctr">
                    <a:solidFill>
                      <a:srgbClr val="F7F5EF"/>
                    </a:solidFill>
                  </a:tcPr>
                </a:tc>
              </a:tr>
              <a:tr h="601980">
                <a:tc>
                  <a:txBody>
                    <a:bodyPr lIns="114300" tIns="76200" rIns="114300" bIns="76200">
                      <a:noAutofit/>
                    </a:bodyPr>
                    <a:lstStyle/>
                    <a:p>
                      <a:pPr algn="l"/>
                      <a:r>
                        <a:rPr sz="1800" b="0">
                          <a:solidFill>
                            <a:srgbClr val="14281D"/>
                          </a:solidFill>
                          <a:latin typeface="Arial"/>
                          <a:ea typeface="Arial"/>
                          <a:cs typeface="Arial"/>
                        </a:rPr>
                        <a:t>ACH, payouts and verification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Replace vendors; bank and rail costs remain</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Fraud, disputes and security</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Fund operations and retain risk controls</a:t>
                      </a:r>
                    </a:p>
                  </a:txBody>
                  <a:tcPr marL="91440" marR="91440" marT="45720" marB="45720" anchor="ctr">
                    <a:solidFill>
                      <a:srgbClr val="F7F5EF"/>
                    </a:solidFill>
                  </a:tcPr>
                </a:tc>
              </a:tr>
            </a:tbl>
          </a:graphicData>
        </a:graphic>
      </p:graphicFrame>
      <p:sp>
        <p:nvSpPr>
          <p:cNvPr id="6" name="Negotiate pricing before funding a replacement eng">
            <a:extLst xmlns:a="http://schemas.openxmlformats.org/drawingml/2006/main">
              <a:ext uri="{FF2B5EF4-FFF2-40B4-BE49-F238E27FC236}">
                <a16:creationId xmlns:a16="http://schemas.microsoft.com/office/drawing/2014/main" id="{E020AEC6-0C86-47B1-8F4D-6749D1311759}"/>
              </a:ext>
            </a:extLst>
          </p:cNvPr>
          <p:cNvSpPr>
            <a:spLocks xmlns:a="http://schemas.openxmlformats.org/drawingml/2006/main" noGrp="1"/>
          </p:cNvSpPr>
          <p:nvPr/>
        </p:nvSpPr>
        <p:spPr>
          <a:xfrm xmlns:a="http://schemas.openxmlformats.org/drawingml/2006/main">
            <a:off x="628650" y="55054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Negotiate pricing before funding a replacement engine</a:t>
            </a:r>
          </a:p>
        </p:txBody>
      </p:sp>
      <p:sp>
        <p:nvSpPr>
          <p:cNvPr id="7" name="Base forecast keeps Stripe. Build options use repl">
            <a:extLst xmlns:a="http://schemas.openxmlformats.org/drawingml/2006/main">
              <a:ext uri="{FF2B5EF4-FFF2-40B4-BE49-F238E27FC236}">
                <a16:creationId xmlns:a16="http://schemas.microsoft.com/office/drawing/2014/main" id="{FD581319-0898-4C99-873D-6E2FF270C3F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forecast keeps Stripe. Build options use replacement processing rates, development cost and incremental annual operations. No zero-cost payments assumption is used.</a:t>
            </a:r>
          </a:p>
        </p:txBody>
      </p:sp>
    </p:spTree>
    <p:extLst>
      <p:ext uri="{BB962C8B-B14F-4D97-AF65-F5344CB8AC3E}">
        <p14:creationId xmlns:p14="http://schemas.microsoft.com/office/powerpoint/2010/main" val="2050615528"/>
      </p:ext>
    </p:extLst>
  </p:cSld>
</p:sld>
</file>

<file path=ppt/slides/slide3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ear-two or year-three build: wait for the scale">
            <a:extLst xmlns:a="http://schemas.openxmlformats.org/drawingml/2006/main">
              <a:ext uri="{FF2B5EF4-FFF2-40B4-BE49-F238E27FC236}">
                <a16:creationId xmlns:a16="http://schemas.microsoft.com/office/drawing/2014/main" id="{D3EAA59A-CBA4-43B4-8464-6250A78F45E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Year-two or year-three build: wait for the scale</a:t>
            </a:r>
          </a:p>
        </p:txBody>
      </p:sp>
      <p:sp>
        <p:nvSpPr>
          <p:cNvPr id="2" name="Same base volumes and proposed fees. Savings are m">
            <a:extLst xmlns:a="http://schemas.openxmlformats.org/drawingml/2006/main">
              <a:ext uri="{FF2B5EF4-FFF2-40B4-BE49-F238E27FC236}">
                <a16:creationId xmlns:a16="http://schemas.microsoft.com/office/drawing/2014/main" id="{0E28E133-1A35-4226-8E1B-A8A316B6F0F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Same base volumes and proposed fees. Savings are measured against continuing with Stripe.</a:t>
            </a:r>
          </a:p>
        </p:txBody>
      </p:sp>
      <p:sp>
        <p:nvSpPr>
          <p:cNvPr id="3" name="YardMatch">
            <a:extLst xmlns:a="http://schemas.openxmlformats.org/drawingml/2006/main">
              <a:ext uri="{FF2B5EF4-FFF2-40B4-BE49-F238E27FC236}">
                <a16:creationId xmlns:a16="http://schemas.microsoft.com/office/drawing/2014/main" id="{4B33B3F0-3AEF-4283-BB70-A5E7888B0F6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0">
            <a:extLst xmlns:a="http://schemas.openxmlformats.org/drawingml/2006/main">
              <a:ext uri="{FF2B5EF4-FFF2-40B4-BE49-F238E27FC236}">
                <a16:creationId xmlns:a16="http://schemas.microsoft.com/office/drawing/2014/main" id="{AB1109BF-8406-41EB-924A-B9D28A083F9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30</a:t>
            </a:r>
          </a:p>
        </p:txBody>
      </p:sp>
      <p:graphicFrame>
        <p:nvGraphicFramePr>
          <p:cNvPr id="11" name=""/>
          <p:cNvGraphicFramePr/>
          <p:nvPr/>
        </p:nvGraphicFramePr>
        <p:xfrm>
          <a:off xmlns:a="http://schemas.openxmlformats.org/drawingml/2006/main" x="609600" y="2343150"/>
          <a:ext xmlns:a="http://schemas.openxmlformats.org/drawingml/2006/main" cx="10972800" cy="3152775"/>
        </p:xfrm>
        <a:graphic xmlns:a="http://schemas.openxmlformats.org/drawingml/2006/main">
          <a:graphicData uri="http://schemas.openxmlformats.org/drawingml/2006/table">
            <a:tbl>
              <a:tblPr/>
              <a:tblGrid>
                <a:gridCol w="5429250"/>
                <a:gridCol w="2771775"/>
                <a:gridCol w="2771775"/>
              </a:tblGrid>
              <a:tr h="525463">
                <a:tc>
                  <a:txBody>
                    <a:bodyPr lIns="114300" tIns="76200" rIns="114300" bIns="76200">
                      <a:noAutofit/>
                    </a:bodyPr>
                    <a:lstStyle/>
                    <a:p>
                      <a:pPr algn="l"/>
                      <a:r>
                        <a:rPr sz="1725" b="1">
                          <a:solidFill>
                            <a:srgbClr val="FFFFFF"/>
                          </a:solidFill>
                          <a:latin typeface="Arial"/>
                          <a:ea typeface="Arial"/>
                          <a:cs typeface="Arial"/>
                        </a:rPr>
                        <a:t>Build assumption / outcome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2028</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2029</a:t>
                      </a:r>
                    </a:p>
                  </a:txBody>
                  <a:tcPr marL="91440" marR="91440" marT="45720" marB="45720" anchor="ctr">
                    <a:solidFill>
                      <a:srgbClr val="205938"/>
                    </a:solidFill>
                  </a:tcPr>
                </a:tc>
              </a:tr>
              <a:tr h="525463">
                <a:tc>
                  <a:txBody>
                    <a:bodyPr lIns="114300" tIns="76200" rIns="114300" bIns="76200">
                      <a:noAutofit/>
                    </a:bodyPr>
                    <a:lstStyle/>
                    <a:p>
                      <a:pPr algn="l"/>
                      <a:r>
                        <a:rPr sz="1725" b="0">
                          <a:solidFill>
                            <a:srgbClr val="14281D"/>
                          </a:solidFill>
                          <a:latin typeface="Arial"/>
                          <a:ea typeface="Arial"/>
                          <a:cs typeface="Arial"/>
                        </a:rPr>
                        <a:t>Build + migration cost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Annual operations at launch</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r>
              <a:tr h="525463">
                <a:tc>
                  <a:txBody>
                    <a:bodyPr lIns="114300" tIns="76200" rIns="114300" bIns="76200">
                      <a:noAutofit/>
                    </a:bodyPr>
                    <a:lstStyle/>
                    <a:p>
                      <a:pPr algn="l"/>
                      <a:r>
                        <a:rPr sz="1725" b="0">
                          <a:solidFill>
                            <a:srgbClr val="14281D"/>
                          </a:solidFill>
                          <a:latin typeface="Arial"/>
                          <a:ea typeface="Arial"/>
                          <a:cs typeface="Arial"/>
                        </a:rPr>
                        <a:t>2033 provider processing savings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$0.19m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$0.19m</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2033 net platform benefit</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($295,643)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($285,513)</a:t>
                      </a:r>
                    </a:p>
                  </a:txBody>
                  <a:tcPr marL="91440" marR="91440" marT="45720" marB="45720" anchor="ctr">
                    <a:solidFill>
                      <a:srgbClr val="F7F5EF"/>
                    </a:solidFill>
                  </a:tcPr>
                </a:tc>
              </a:tr>
              <a:tr h="525463">
                <a:tc>
                  <a:txBody>
                    <a:bodyPr lIns="114300" tIns="76200" rIns="114300" bIns="76200">
                      <a:noAutofit/>
                    </a:bodyPr>
                    <a:lstStyle/>
                    <a:p>
                      <a:pPr algn="l"/>
                      <a:r>
                        <a:rPr sz="1725" b="1">
                          <a:solidFill>
                            <a:srgbClr val="14281D"/>
                          </a:solidFill>
                          <a:latin typeface="Arial"/>
                          <a:ea typeface="Arial"/>
                          <a:cs typeface="Arial"/>
                        </a:rPr>
                        <a:t>Cumulative platform impact to 2033</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($2,410,117)</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($2,064,144)</a:t>
                      </a:r>
                    </a:p>
                  </a:txBody>
                  <a:tcPr marL="91440" marR="91440" marT="45720" marB="45720" anchor="ctr">
                    <a:solidFill>
                      <a:srgbClr val="E8EDDF"/>
                    </a:solidFill>
                  </a:tcPr>
                </a:tc>
              </a:tr>
            </a:tbl>
          </a:graphicData>
        </a:graphic>
      </p:graphicFrame>
      <p:sp>
        <p:nvSpPr>
          <p:cNvPr id="6" name="Neither build option covers annual run costs or re">
            <a:extLst xmlns:a="http://schemas.openxmlformats.org/drawingml/2006/main">
              <a:ext uri="{FF2B5EF4-FFF2-40B4-BE49-F238E27FC236}">
                <a16:creationId xmlns:a16="http://schemas.microsoft.com/office/drawing/2014/main" id="{E53EFF21-054A-47BB-A554-081FBA7A7E2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Neither build option covers annual run costs or recovers the investment by 2033 at the modeled regional scale. Gate a build on quoted costs and payback, not a calendar date.</a:t>
            </a:r>
          </a:p>
        </p:txBody>
      </p:sp>
    </p:spTree>
    <p:extLst>
      <p:ext uri="{BB962C8B-B14F-4D97-AF65-F5344CB8AC3E}">
        <p14:creationId xmlns:p14="http://schemas.microsoft.com/office/powerpoint/2010/main" val="2050035508"/>
      </p:ext>
    </p:extLst>
  </p:cSld>
</p:sld>
</file>

<file path=ppt/slides/slide3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CF12807D-E6FB-49BE-8852-1994DD4E580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00BFDBFC-D7AA-4F6B-A7EC-79A438D3BE4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81B3EB09-4DDC-4D23-9ECC-CF427FCA226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1">
            <a:extLst xmlns:a="http://schemas.openxmlformats.org/drawingml/2006/main">
              <a:ext uri="{FF2B5EF4-FFF2-40B4-BE49-F238E27FC236}">
                <a16:creationId xmlns:a16="http://schemas.microsoft.com/office/drawing/2014/main" id="{9D26A8F3-6FE2-489C-95D5-C68C4AAA180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31</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C96E5390-C66E-4ED2-B4D4-2F8088738DA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134108943"/>
      </p:ext>
    </p:extLst>
  </p:cSld>
</p:sld>
</file>

<file path=ppt/slides/slide3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D90F7D3E-EC52-4555-BB73-0321898263C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6EC91B7E-9228-4496-B847-F6F317E72DE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8B282322-7101-4782-90A8-6031EFA402A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2">
            <a:extLst xmlns:a="http://schemas.openxmlformats.org/drawingml/2006/main">
              <a:ext uri="{FF2B5EF4-FFF2-40B4-BE49-F238E27FC236}">
                <a16:creationId xmlns:a16="http://schemas.microsoft.com/office/drawing/2014/main" id="{9ECF460E-A6D5-451F-83BC-B7F3EEB0B44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32</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B3A775EE-EABB-4528-A7D3-7F06EA60D714}"/>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98F2CA9B-20AD-4049-AFFE-C41D919DE760}"/>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8B7060DA-1787-407D-A68E-04DD5BF2C4EB}"/>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FDFEAAD4-6DE5-4759-9803-6289025BB5D6}"/>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443E41BB-5862-4CE5-ACFB-531BF20D0BC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1685929010"/>
      </p:ext>
    </p:extLst>
  </p:cSld>
</p:sld>
</file>

<file path=ppt/slides/slide3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21A44175-F88E-44DD-9214-96241298F80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E14415C3-DB48-4051-93A3-A699D3E6843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5C49329D-0C97-4548-9A4B-3F9504846AA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3">
            <a:extLst xmlns:a="http://schemas.openxmlformats.org/drawingml/2006/main">
              <a:ext uri="{FF2B5EF4-FFF2-40B4-BE49-F238E27FC236}">
                <a16:creationId xmlns:a16="http://schemas.microsoft.com/office/drawing/2014/main" id="{41DF189A-CEA5-4DDC-AA85-D5ABF4F530E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33</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240 launch households; measure second-season paid retention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Repeat bookings persist under the proposed total fees</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Pilot CAC around $55; test a path below $50</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At least $0.50 per repeat job across the actual service mix</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Reliable service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3BF05E6A-5CEA-4A5E-91C9-266169460F3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1186000457"/>
      </p:ext>
    </p:extLst>
  </p:cSld>
</p:sld>
</file>

<file path=ppt/slides/slide3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D90CD0E8-55C2-4006-85FD-82B2E85D87A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89144DE6-6A2F-49B5-A06A-C5C29142635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CD6E5214-DA45-43E4-9203-7D1A88006F7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4">
            <a:extLst xmlns:a="http://schemas.openxmlformats.org/drawingml/2006/main">
              <a:ext uri="{FF2B5EF4-FFF2-40B4-BE49-F238E27FC236}">
                <a16:creationId xmlns:a16="http://schemas.microsoft.com/office/drawing/2014/main" id="{51985014-2267-4E08-A7E8-F4FAA7DB3E9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34</a:t>
            </a:r>
          </a:p>
        </p:txBody>
      </p:sp>
      <p:sp>
        <p:nvSpPr>
          <p:cNvPr id="5" name="Households and paid visits">
            <a:extLst xmlns:a="http://schemas.openxmlformats.org/drawingml/2006/main">
              <a:ext uri="{FF2B5EF4-FFF2-40B4-BE49-F238E27FC236}">
                <a16:creationId xmlns:a16="http://schemas.microsoft.com/office/drawing/2014/main" id="{DF9C7C73-5DBE-40F8-BBB2-3A7DADDAC6E7}"/>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38E54163-D8B9-4CBE-85C7-B59DBD88224D}"/>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base. Maintenance and separate projects then reflect capture and completion.</a:t>
            </a:r>
          </a:p>
        </p:txBody>
      </p:sp>
      <p:sp>
        <p:nvSpPr>
          <p:cNvPr id="7" name="Retained service economics">
            <a:extLst xmlns:a="http://schemas.openxmlformats.org/drawingml/2006/main">
              <a:ext uri="{FF2B5EF4-FFF2-40B4-BE49-F238E27FC236}">
                <a16:creationId xmlns:a16="http://schemas.microsoft.com/office/drawing/2014/main" id="{743DFF75-EA53-4A2B-B16D-B119033F4033}"/>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Retained service economics</a:t>
            </a:r>
          </a:p>
        </p:txBody>
      </p:sp>
      <p:sp>
        <p:nvSpPr>
          <p:cNvPr id="8" name="The 2031 base mix retains $2.05 per repeat job aft">
            <a:extLst xmlns:a="http://schemas.openxmlformats.org/drawingml/2006/main">
              <a:ext uri="{FF2B5EF4-FFF2-40B4-BE49-F238E27FC236}">
                <a16:creationId xmlns:a16="http://schemas.microsoft.com/office/drawing/2014/main" id="{29833D1B-3F1C-4C0B-95A9-108AB184C088}"/>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2031 base mix retains $2.05 per repeat job after variable costs. Processing is recovered at cost; acquisition and fixed overhead remain separate.</a:t>
            </a:r>
          </a:p>
        </p:txBody>
      </p:sp>
      <p:sp>
        <p:nvSpPr>
          <p:cNvPr id="9" name="Profit and cash">
            <a:extLst xmlns:a="http://schemas.openxmlformats.org/drawingml/2006/main">
              <a:ext uri="{FF2B5EF4-FFF2-40B4-BE49-F238E27FC236}">
                <a16:creationId xmlns:a16="http://schemas.microsoft.com/office/drawing/2014/main" id="{F86AE976-A240-4B4F-9ADD-E9825E5BB92A}"/>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Profit and cash</a:t>
            </a:r>
          </a:p>
        </p:txBody>
      </p:sp>
      <p:sp>
        <p:nvSpPr>
          <p:cNvPr id="10" name="Payroll includes founder pay. Fixed costs run all ">
            <a:extLst xmlns:a="http://schemas.openxmlformats.org/drawingml/2006/main">
              <a:ext uri="{FF2B5EF4-FFF2-40B4-BE49-F238E27FC236}">
                <a16:creationId xmlns:a16="http://schemas.microsoft.com/office/drawing/2014/main" id="{1E932934-B892-4055-95F3-FC8B7716C202}"/>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Payroll includes founder pay. Fixed costs run all year. Cash also funds equipment and a modeled risk reserve.</a:t>
            </a:r>
          </a:p>
        </p:txBody>
      </p:sp>
      <p:sp>
        <p:nvSpPr>
          <p:cNvPr id="11" name="A cohort check">
            <a:extLst xmlns:a="http://schemas.openxmlformats.org/drawingml/2006/main">
              <a:ext uri="{FF2B5EF4-FFF2-40B4-BE49-F238E27FC236}">
                <a16:creationId xmlns:a16="http://schemas.microsoft.com/office/drawing/2014/main" id="{5D98C768-22CE-4DF0-B24A-B2D60D257B77}"/>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155 of five-year contri">
            <a:extLst xmlns:a="http://schemas.openxmlformats.org/drawingml/2006/main">
              <a:ext uri="{FF2B5EF4-FFF2-40B4-BE49-F238E27FC236}">
                <a16:creationId xmlns:a16="http://schemas.microsoft.com/office/drawing/2014/main" id="{9816C1CB-C340-4D0D-98DE-F49C202C06A4}"/>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$155 of five-year contribution versus $48 CAC, or 3.2x. This assumes retention and unchanged cohort economics.</a:t>
            </a:r>
          </a:p>
        </p:txBody>
      </p:sp>
    </p:spTree>
    <p:extLst>
      <p:ext uri="{BB962C8B-B14F-4D97-AF65-F5344CB8AC3E}">
        <p14:creationId xmlns:p14="http://schemas.microsoft.com/office/powerpoint/2010/main" val="671716117"/>
      </p:ext>
    </p:extLst>
  </p:cSld>
</p:sld>
</file>

<file path=ppt/slides/slide3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1" name="Sources and basis">
            <a:extLst xmlns:a="http://schemas.openxmlformats.org/drawingml/2006/main">
              <a:ext uri="{FF2B5EF4-FFF2-40B4-BE49-F238E27FC236}">
                <a16:creationId xmlns:a16="http://schemas.microsoft.com/office/drawing/2014/main" id="{B37CBDC3-642B-419D-8D3E-B2E491682B4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0, 2026. Financial projections">
            <a:extLst xmlns:a="http://schemas.openxmlformats.org/drawingml/2006/main">
              <a:ext uri="{FF2B5EF4-FFF2-40B4-BE49-F238E27FC236}">
                <a16:creationId xmlns:a16="http://schemas.microsoft.com/office/drawing/2014/main" id="{7C168A3B-79E4-423C-B4B2-D0675CC0C42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20,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8DDE45BA-0713-46AC-936C-CA833B02196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5">
            <a:extLst xmlns:a="http://schemas.openxmlformats.org/drawingml/2006/main">
              <a:ext uri="{FF2B5EF4-FFF2-40B4-BE49-F238E27FC236}">
                <a16:creationId xmlns:a16="http://schemas.microsoft.com/office/drawing/2014/main" id="{2CC05BC6-0D1F-473C-92B8-30AFC3B9FB9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35</a:t>
            </a:r>
          </a:p>
        </p:txBody>
      </p:sp>
      <p:sp>
        <p:nvSpPr>
          <p:cNvPr id="5" name="Company materials">
            <a:extLst xmlns:a="http://schemas.openxmlformats.org/drawingml/2006/main">
              <a:ext uri="{FF2B5EF4-FFF2-40B4-BE49-F238E27FC236}">
                <a16:creationId xmlns:a16="http://schemas.microsoft.com/office/drawing/2014/main" id="{0097FAB9-7816-441A-983B-36C4B824C95B}"/>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29EB6F8B-8BE8-40EA-980E-FD68649EADE2}"/>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8D9768CD-1776-4834-97AD-6420983370B0}"/>
              </a:ext>
            </a:extLst>
          </p:cNvPr>
          <p:cNvSpPr>
            <a:spLocks xmlns:a="http://schemas.openxmlformats.org/drawingml/2006/main" noGrp="1"/>
          </p:cNvSpPr>
          <p:nvPr/>
        </p:nvSpPr>
        <p:spPr>
          <a:xfrm xmlns:a="http://schemas.openxmlformats.org/drawingml/2006/main">
            <a:off x="628650" y="38766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pricing">
            <a:extLst xmlns:a="http://schemas.openxmlformats.org/drawingml/2006/main">
              <a:ext uri="{FF2B5EF4-FFF2-40B4-BE49-F238E27FC236}">
                <a16:creationId xmlns:a16="http://schemas.microsoft.com/office/drawing/2014/main" id="{FB864034-FD15-4E5B-BDBA-0F85EE238668}"/>
              </a:ext>
            </a:extLst>
          </p:cNvPr>
          <p:cNvSpPr>
            <a:spLocks xmlns:a="http://schemas.openxmlformats.org/drawingml/2006/main" noGrp="1"/>
          </p:cNvSpPr>
          <p:nvPr/>
        </p:nvSpPr>
        <p:spPr>
          <a:xfrm xmlns:a="http://schemas.openxmlformats.org/drawingml/2006/main">
            <a:off x="62865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11b8e61a2d9e40bc"/>
              </a:rPr>
              <a:t>Stripe Payments pricing</a:t>
            </a:r>
          </a:p>
        </p:txBody>
      </p:sp>
      <p:sp>
        <p:nvSpPr>
          <p:cNvPr id="9" name="Stripe Connect pricing">
            <a:extLst xmlns:a="http://schemas.openxmlformats.org/drawingml/2006/main">
              <a:ext uri="{FF2B5EF4-FFF2-40B4-BE49-F238E27FC236}">
                <a16:creationId xmlns:a16="http://schemas.microsoft.com/office/drawing/2014/main" id="{A2A9C479-0C3B-4816-89FB-1F1826E50094}"/>
              </a:ext>
            </a:extLst>
          </p:cNvPr>
          <p:cNvSpPr>
            <a:spLocks xmlns:a="http://schemas.openxmlformats.org/drawingml/2006/main" noGrp="1"/>
          </p:cNvSpPr>
          <p:nvPr/>
        </p:nvSpPr>
        <p:spPr>
          <a:xfrm xmlns:a="http://schemas.openxmlformats.org/drawingml/2006/main">
            <a:off x="62865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1faad8781f6144eb"/>
              </a:rPr>
              <a:t>Stripe Connect pricing</a:t>
            </a:r>
          </a:p>
        </p:txBody>
      </p:sp>
      <p:sp>
        <p:nvSpPr>
          <p:cNvPr id="10" name="Stripe Financial Connections">
            <a:extLst xmlns:a="http://schemas.openxmlformats.org/drawingml/2006/main">
              <a:ext uri="{FF2B5EF4-FFF2-40B4-BE49-F238E27FC236}">
                <a16:creationId xmlns:a16="http://schemas.microsoft.com/office/drawing/2014/main" id="{5F6DF233-FFE5-475B-BF81-5820772859AB}"/>
              </a:ext>
            </a:extLst>
          </p:cNvPr>
          <p:cNvSpPr>
            <a:spLocks xmlns:a="http://schemas.openxmlformats.org/drawingml/2006/main" noGrp="1"/>
          </p:cNvSpPr>
          <p:nvPr/>
        </p:nvSpPr>
        <p:spPr>
          <a:xfrm xmlns:a="http://schemas.openxmlformats.org/drawingml/2006/main">
            <a:off x="62865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a30719e4ffd64d26"/>
              </a:rPr>
              <a:t>Stripe Financial Connections</a:t>
            </a:r>
          </a:p>
        </p:txBody>
      </p:sp>
      <p:sp>
        <p:nvSpPr>
          <p:cNvPr id="11" name="Zocdoc: current pricing help">
            <a:extLst xmlns:a="http://schemas.openxmlformats.org/drawingml/2006/main">
              <a:ext uri="{FF2B5EF4-FFF2-40B4-BE49-F238E27FC236}">
                <a16:creationId xmlns:a16="http://schemas.microsoft.com/office/drawing/2014/main" id="{D2A9DFF3-B003-4990-A0EC-702A4330FFD1}"/>
              </a:ext>
            </a:extLst>
          </p:cNvPr>
          <p:cNvSpPr>
            <a:spLocks xmlns:a="http://schemas.openxmlformats.org/drawingml/2006/main" noGrp="1"/>
          </p:cNvSpPr>
          <p:nvPr/>
        </p:nvSpPr>
        <p:spPr>
          <a:xfrm xmlns:a="http://schemas.openxmlformats.org/drawingml/2006/main">
            <a:off x="62865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55170895b4c54720"/>
              </a:rPr>
              <a:t>Zocdoc: current pricing help</a:t>
            </a:r>
          </a:p>
        </p:txBody>
      </p:sp>
      <p:sp>
        <p:nvSpPr>
          <p:cNvPr id="12" name="Zocdoc: published booking-fee range">
            <a:extLst xmlns:a="http://schemas.openxmlformats.org/drawingml/2006/main">
              <a:ext uri="{FF2B5EF4-FFF2-40B4-BE49-F238E27FC236}">
                <a16:creationId xmlns:a16="http://schemas.microsoft.com/office/drawing/2014/main" id="{20C38239-A664-477E-A918-0626DC367E6D}"/>
              </a:ext>
            </a:extLst>
          </p:cNvPr>
          <p:cNvSpPr>
            <a:spLocks xmlns:a="http://schemas.openxmlformats.org/drawingml/2006/main" noGrp="1"/>
          </p:cNvSpPr>
          <p:nvPr/>
        </p:nvSpPr>
        <p:spPr>
          <a:xfrm xmlns:a="http://schemas.openxmlformats.org/drawingml/2006/main">
            <a:off x="62865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00fcb340c8694f0a"/>
              </a:rPr>
              <a:t>Zocdoc: published booking-fee range</a:t>
            </a:r>
          </a:p>
        </p:txBody>
      </p:sp>
      <p:sp>
        <p:nvSpPr>
          <p:cNvPr id="13" name="Visa: interchange and merchant fees">
            <a:extLst xmlns:a="http://schemas.openxmlformats.org/drawingml/2006/main">
              <a:ext uri="{FF2B5EF4-FFF2-40B4-BE49-F238E27FC236}">
                <a16:creationId xmlns:a16="http://schemas.microsoft.com/office/drawing/2014/main" id="{9050E65A-4BED-490D-9C13-EE1AD8379501}"/>
              </a:ext>
            </a:extLst>
          </p:cNvPr>
          <p:cNvSpPr>
            <a:spLocks xmlns:a="http://schemas.openxmlformats.org/drawingml/2006/main" noGrp="1"/>
          </p:cNvSpPr>
          <p:nvPr/>
        </p:nvSpPr>
        <p:spPr>
          <a:xfrm xmlns:a="http://schemas.openxmlformats.org/drawingml/2006/main">
            <a:off x="62865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8681f72248354c41"/>
              </a:rPr>
              <a:t>Visa: interchange and merchant fees</a:t>
            </a:r>
          </a:p>
        </p:txBody>
      </p:sp>
      <p:sp>
        <p:nvSpPr>
          <p:cNvPr id="14" name="Federal Reserve: ACH fees">
            <a:extLst xmlns:a="http://schemas.openxmlformats.org/drawingml/2006/main">
              <a:ext uri="{FF2B5EF4-FFF2-40B4-BE49-F238E27FC236}">
                <a16:creationId xmlns:a16="http://schemas.microsoft.com/office/drawing/2014/main" id="{F6B4EB3B-AF41-4291-8317-058FA8B7112D}"/>
              </a:ext>
            </a:extLst>
          </p:cNvPr>
          <p:cNvSpPr>
            <a:spLocks xmlns:a="http://schemas.openxmlformats.org/drawingml/2006/main" noGrp="1"/>
          </p:cNvSpPr>
          <p:nvPr/>
        </p:nvSpPr>
        <p:spPr>
          <a:xfrm xmlns:a="http://schemas.openxmlformats.org/drawingml/2006/main">
            <a:off x="640080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114fedc20f9149f2"/>
              </a:rPr>
              <a:t>Federal Reserve: ACH fees</a:t>
            </a:r>
          </a:p>
        </p:txBody>
      </p:sp>
      <p:sp>
        <p:nvSpPr>
          <p:cNvPr id="15" name="PCI Security Standards Council">
            <a:extLst xmlns:a="http://schemas.openxmlformats.org/drawingml/2006/main">
              <a:ext uri="{FF2B5EF4-FFF2-40B4-BE49-F238E27FC236}">
                <a16:creationId xmlns:a16="http://schemas.microsoft.com/office/drawing/2014/main" id="{BFDACF1F-40E2-4B50-AB4C-70A1934A690B}"/>
              </a:ext>
            </a:extLst>
          </p:cNvPr>
          <p:cNvSpPr>
            <a:spLocks xmlns:a="http://schemas.openxmlformats.org/drawingml/2006/main" noGrp="1"/>
          </p:cNvSpPr>
          <p:nvPr/>
        </p:nvSpPr>
        <p:spPr>
          <a:xfrm xmlns:a="http://schemas.openxmlformats.org/drawingml/2006/main">
            <a:off x="640080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4beef640b7334c81"/>
              </a:rPr>
              <a:t>PCI Security Standards Council</a:t>
            </a:r>
          </a:p>
        </p:txBody>
      </p:sp>
      <p:sp>
        <p:nvSpPr>
          <p:cNvPr id="16" name="Census QuickFacts: Barnegat">
            <a:extLst xmlns:a="http://schemas.openxmlformats.org/drawingml/2006/main">
              <a:ext uri="{FF2B5EF4-FFF2-40B4-BE49-F238E27FC236}">
                <a16:creationId xmlns:a16="http://schemas.microsoft.com/office/drawing/2014/main" id="{386BFF9E-E989-45BA-981D-E53DA73EC192}"/>
              </a:ext>
            </a:extLst>
          </p:cNvPr>
          <p:cNvSpPr>
            <a:spLocks xmlns:a="http://schemas.openxmlformats.org/drawingml/2006/main" noGrp="1"/>
          </p:cNvSpPr>
          <p:nvPr/>
        </p:nvSpPr>
        <p:spPr>
          <a:xfrm xmlns:a="http://schemas.openxmlformats.org/drawingml/2006/main">
            <a:off x="640080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8f3de6f2048847a5"/>
              </a:rPr>
              <a:t>Census QuickFacts: Barnegat</a:t>
            </a:r>
          </a:p>
        </p:txBody>
      </p:sp>
      <p:sp>
        <p:nvSpPr>
          <p:cNvPr id="17" name="Jobber: software pricing">
            <a:extLst xmlns:a="http://schemas.openxmlformats.org/drawingml/2006/main">
              <a:ext uri="{FF2B5EF4-FFF2-40B4-BE49-F238E27FC236}">
                <a16:creationId xmlns:a16="http://schemas.microsoft.com/office/drawing/2014/main" id="{3992C778-29F7-4CBE-901B-4507C1F0CE85}"/>
              </a:ext>
            </a:extLst>
          </p:cNvPr>
          <p:cNvSpPr>
            <a:spLocks xmlns:a="http://schemas.openxmlformats.org/drawingml/2006/main" noGrp="1"/>
          </p:cNvSpPr>
          <p:nvPr/>
        </p:nvSpPr>
        <p:spPr>
          <a:xfrm xmlns:a="http://schemas.openxmlformats.org/drawingml/2006/main">
            <a:off x="640080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1c8e9767aa3944ad"/>
              </a:rPr>
              <a:t>Jobber: software pricing</a:t>
            </a:r>
          </a:p>
        </p:txBody>
      </p:sp>
      <p:sp>
        <p:nvSpPr>
          <p:cNvPr id="18" name="Zocdoc: Sponsored Results cost">
            <a:extLst xmlns:a="http://schemas.openxmlformats.org/drawingml/2006/main">
              <a:ext uri="{FF2B5EF4-FFF2-40B4-BE49-F238E27FC236}">
                <a16:creationId xmlns:a16="http://schemas.microsoft.com/office/drawing/2014/main" id="{9D0C46E4-2554-4FF0-B1A1-034A1C2BF150}"/>
              </a:ext>
            </a:extLst>
          </p:cNvPr>
          <p:cNvSpPr>
            <a:spLocks xmlns:a="http://schemas.openxmlformats.org/drawingml/2006/main" noGrp="1"/>
          </p:cNvSpPr>
          <p:nvPr/>
        </p:nvSpPr>
        <p:spPr>
          <a:xfrm xmlns:a="http://schemas.openxmlformats.org/drawingml/2006/main">
            <a:off x="640080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090927283e424ada"/>
              </a:rPr>
              <a:t>Zocdoc: Sponsored Results cost</a:t>
            </a:r>
          </a:p>
        </p:txBody>
      </p:sp>
      <p:sp>
        <p:nvSpPr>
          <p:cNvPr id="19" name="Stripe Billing pricing">
            <a:extLst xmlns:a="http://schemas.openxmlformats.org/drawingml/2006/main">
              <a:ext uri="{FF2B5EF4-FFF2-40B4-BE49-F238E27FC236}">
                <a16:creationId xmlns:a16="http://schemas.microsoft.com/office/drawing/2014/main" id="{8F2D5973-AA9C-4A1A-9C7F-E85E21E4E744}"/>
              </a:ext>
            </a:extLst>
          </p:cNvPr>
          <p:cNvSpPr>
            <a:spLocks xmlns:a="http://schemas.openxmlformats.org/drawingml/2006/main" noGrp="1"/>
          </p:cNvSpPr>
          <p:nvPr/>
        </p:nvSpPr>
        <p:spPr>
          <a:xfrm xmlns:a="http://schemas.openxmlformats.org/drawingml/2006/main">
            <a:off x="640080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d50dcb074ec7478a"/>
              </a:rPr>
              <a:t>Stripe Billing pricing</a:t>
            </a:r>
          </a:p>
        </p:txBody>
      </p:sp>
      <p:sp>
        <p:nvSpPr>
          <p:cNvPr id="20" name="External references are linked. Full citations are">
            <a:extLst xmlns:a="http://schemas.openxmlformats.org/drawingml/2006/main">
              <a:ext uri="{FF2B5EF4-FFF2-40B4-BE49-F238E27FC236}">
                <a16:creationId xmlns:a16="http://schemas.microsoft.com/office/drawing/2014/main" id="{2C0087A9-86B0-48FF-8AE8-E27C26B353B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External references are linked. Full citations are also in PowerPoint notes. Growth, costs, financing terms and exit values are assumptions. No historical financial statements were supplied.</a:t>
            </a:r>
          </a:p>
        </p:txBody>
      </p:sp>
    </p:spTree>
    <p:extLst>
      <p:ext uri="{BB962C8B-B14F-4D97-AF65-F5344CB8AC3E}">
        <p14:creationId xmlns:p14="http://schemas.microsoft.com/office/powerpoint/2010/main" val="681418379"/>
      </p:ext>
    </p:extLst>
  </p:cSld>
</p:sld>
</file>

<file path=ppt/slides/slide3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Geographic evidence and planning inputs">
            <a:extLst xmlns:a="http://schemas.openxmlformats.org/drawingml/2006/main">
              <a:ext uri="{FF2B5EF4-FFF2-40B4-BE49-F238E27FC236}">
                <a16:creationId xmlns:a16="http://schemas.microsoft.com/office/drawing/2014/main" id="{58066682-3FF6-4C5A-9A31-8ADA563543E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Geographic evidence and planning inputs</a:t>
            </a:r>
          </a:p>
        </p:txBody>
      </p:sp>
      <p:sp>
        <p:nvSpPr>
          <p:cNvPr id="2" name="Census QuickFacts sources 1–7. All links open the ">
            <a:extLst xmlns:a="http://schemas.openxmlformats.org/drawingml/2006/main">
              <a:ext uri="{FF2B5EF4-FFF2-40B4-BE49-F238E27FC236}">
                <a16:creationId xmlns:a16="http://schemas.microsoft.com/office/drawing/2014/main" id="{BEEB170A-8E77-4A38-A7C7-6C42FE0C5A3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QuickFacts sources 1–7. All links open the underlying municipal table.</a:t>
            </a:r>
          </a:p>
        </p:txBody>
      </p:sp>
      <p:sp>
        <p:nvSpPr>
          <p:cNvPr id="3" name="YardMatch">
            <a:extLst xmlns:a="http://schemas.openxmlformats.org/drawingml/2006/main">
              <a:ext uri="{FF2B5EF4-FFF2-40B4-BE49-F238E27FC236}">
                <a16:creationId xmlns:a16="http://schemas.microsoft.com/office/drawing/2014/main" id="{0BFF90FA-B40E-465A-83B9-B8ECACD7F74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6">
            <a:extLst xmlns:a="http://schemas.openxmlformats.org/drawingml/2006/main">
              <a:ext uri="{FF2B5EF4-FFF2-40B4-BE49-F238E27FC236}">
                <a16:creationId xmlns:a16="http://schemas.microsoft.com/office/drawing/2014/main" id="{A856B10F-A997-42E2-8295-39CBC9A36EB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36</a:t>
            </a:r>
          </a:p>
        </p:txBody>
      </p:sp>
      <p:graphicFrame>
        <p:nvGraphicFramePr>
          <p:cNvPr id="11" name=""/>
          <p:cNvGraphicFramePr/>
          <p:nvPr/>
        </p:nvGraphicFramePr>
        <p:xfrm>
          <a:off xmlns:a="http://schemas.openxmlformats.org/drawingml/2006/main" x="609600" y="2324100"/>
          <a:ext xmlns:a="http://schemas.openxmlformats.org/drawingml/2006/main" cx="10972800" cy="3333750"/>
        </p:xfrm>
        <a:graphic xmlns:a="http://schemas.openxmlformats.org/drawingml/2006/main">
          <a:graphicData uri="http://schemas.openxmlformats.org/drawingml/2006/table">
            <a:tbl>
              <a:tblPr/>
              <a:tblGrid>
                <a:gridCol w="4324350"/>
                <a:gridCol w="2047875"/>
                <a:gridCol w="2047875"/>
                <a:gridCol w="2552700"/>
              </a:tblGrid>
              <a:tr h="416719">
                <a:tc>
                  <a:txBody>
                    <a:bodyPr lIns="114300" tIns="76200" rIns="114300" bIns="76200">
                      <a:noAutofit/>
                    </a:bodyPr>
                    <a:lstStyle/>
                    <a:p>
                      <a:pPr algn="l"/>
                      <a:r>
                        <a:rPr sz="1725" b="1">
                          <a:solidFill>
                            <a:srgbClr val="FFFFFF"/>
                          </a:solidFill>
                          <a:latin typeface="Arial"/>
                          <a:ea typeface="Arial"/>
                          <a:cs typeface="Arial"/>
                        </a:rPr>
                        <a:t>Municipality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Households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Owner share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75bdc88f25614ace"/>
                        </a:rPr>
                        <a:t>Barnegat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10,265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$91,540</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153c5dab71aa456d"/>
                        </a:rPr>
                        <a:t>Stafford</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12,007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90.3%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$117,612</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5f95cd4b6f344c94"/>
                        </a:rPr>
                        <a:t>Lacey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11,338</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88.1%</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$102,624</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9371d4b1b37143c5"/>
                        </a:rPr>
                        <a:t>Ocean / Waretown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3,908</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88.3%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$100,524</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66e1130d151b45d6"/>
                        </a:rPr>
                        <a:t>Berkeley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21,950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$66,008</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66af3c9fa723453d"/>
                        </a:rPr>
                        <a:t>Toms River</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38,047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82.1%</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$99,547</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ad7b930cbe824a37"/>
                        </a:rPr>
                        <a:t>Brick</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30,289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82.2%</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$106,130</a:t>
                      </a:r>
                    </a:p>
                  </a:txBody>
                  <a:tcPr marL="91440" marR="91440" marT="45720" marB="45720" anchor="ctr">
                    <a:solidFill>
                      <a:srgbClr val="FFFFFF"/>
                    </a:solidFill>
                  </a:tcPr>
                </a:tc>
              </a:tr>
            </a:tbl>
          </a:graphicData>
        </a:graphic>
      </p:graphicFrame>
      <p:sp>
        <p:nvSpPr>
          <p:cNvPr id="6" name="Lawn eligibility, outsourcing, lot size, price pre">
            <a:extLst xmlns:a="http://schemas.openxmlformats.org/drawingml/2006/main">
              <a:ext uri="{FF2B5EF4-FFF2-40B4-BE49-F238E27FC236}">
                <a16:creationId xmlns:a16="http://schemas.microsoft.com/office/drawing/2014/main" id="{60893D37-52CD-4BBD-A544-CFD0C5A2566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Lawn eligibility, outsourcing, lot size, price premiums, launch timing and capacity are YardMatch assumptions, not Census findings. Editable sources and inputs appear in the workbook.</a:t>
            </a:r>
          </a:p>
        </p:txBody>
      </p:sp>
    </p:spTree>
    <p:extLst>
      <p:ext uri="{BB962C8B-B14F-4D97-AF65-F5344CB8AC3E}">
        <p14:creationId xmlns:p14="http://schemas.microsoft.com/office/powerpoint/2010/main" val="2010344685"/>
      </p:ext>
    </p:extLst>
  </p:cSld>
</p:sld>
</file>

<file path=ppt/slides/slide3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Geographic evidence and planning inputs">
            <a:extLst xmlns:a="http://schemas.openxmlformats.org/drawingml/2006/main">
              <a:ext uri="{FF2B5EF4-FFF2-40B4-BE49-F238E27FC236}">
                <a16:creationId xmlns:a16="http://schemas.microsoft.com/office/drawing/2014/main" id="{8F91FB55-1F88-4C95-8BD4-A4AD488EF0C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Geographic evidence and planning inputs</a:t>
            </a:r>
          </a:p>
        </p:txBody>
      </p:sp>
      <p:sp>
        <p:nvSpPr>
          <p:cNvPr id="2" name="Census QuickFacts sources 8–14. All links open the">
            <a:extLst xmlns:a="http://schemas.openxmlformats.org/drawingml/2006/main">
              <a:ext uri="{FF2B5EF4-FFF2-40B4-BE49-F238E27FC236}">
                <a16:creationId xmlns:a16="http://schemas.microsoft.com/office/drawing/2014/main" id="{F39A46CC-B926-457A-B42B-26169E5BA5D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QuickFacts sources 8–14. All links open the underlying municipal table.</a:t>
            </a:r>
          </a:p>
        </p:txBody>
      </p:sp>
      <p:sp>
        <p:nvSpPr>
          <p:cNvPr id="3" name="YardMatch">
            <a:extLst xmlns:a="http://schemas.openxmlformats.org/drawingml/2006/main">
              <a:ext uri="{FF2B5EF4-FFF2-40B4-BE49-F238E27FC236}">
                <a16:creationId xmlns:a16="http://schemas.microsoft.com/office/drawing/2014/main" id="{90F04320-CD16-41B6-99E8-05352286BC6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7">
            <a:extLst xmlns:a="http://schemas.openxmlformats.org/drawingml/2006/main">
              <a:ext uri="{FF2B5EF4-FFF2-40B4-BE49-F238E27FC236}">
                <a16:creationId xmlns:a16="http://schemas.microsoft.com/office/drawing/2014/main" id="{136ED944-E507-4CE7-8D90-E789B7AFBBE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37</a:t>
            </a:r>
          </a:p>
        </p:txBody>
      </p:sp>
      <p:graphicFrame>
        <p:nvGraphicFramePr>
          <p:cNvPr id="11" name=""/>
          <p:cNvGraphicFramePr/>
          <p:nvPr/>
        </p:nvGraphicFramePr>
        <p:xfrm>
          <a:off xmlns:a="http://schemas.openxmlformats.org/drawingml/2006/main" x="609600" y="2324100"/>
          <a:ext xmlns:a="http://schemas.openxmlformats.org/drawingml/2006/main" cx="10972800" cy="3333750"/>
        </p:xfrm>
        <a:graphic xmlns:a="http://schemas.openxmlformats.org/drawingml/2006/main">
          <a:graphicData uri="http://schemas.openxmlformats.org/drawingml/2006/table">
            <a:tbl>
              <a:tblPr/>
              <a:tblGrid>
                <a:gridCol w="4324350"/>
                <a:gridCol w="2047875"/>
                <a:gridCol w="2047875"/>
                <a:gridCol w="2552700"/>
              </a:tblGrid>
              <a:tr h="416719">
                <a:tc>
                  <a:txBody>
                    <a:bodyPr lIns="114300" tIns="76200" rIns="114300" bIns="76200">
                      <a:noAutofit/>
                    </a:bodyPr>
                    <a:lstStyle/>
                    <a:p>
                      <a:pPr algn="l"/>
                      <a:r>
                        <a:rPr sz="1725" b="1">
                          <a:solidFill>
                            <a:srgbClr val="FFFFFF"/>
                          </a:solidFill>
                          <a:latin typeface="Arial"/>
                          <a:ea typeface="Arial"/>
                          <a:cs typeface="Arial"/>
                        </a:rPr>
                        <a:t>Municipality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Households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Owner share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8e2108b7416142d7"/>
                        </a:rPr>
                        <a:t>Jackson</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20,633</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87.0%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$115,511</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dd0817fac8e34591"/>
                        </a:rPr>
                        <a:t>Howell</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19,134</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88.8%</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$134,854</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dc46e1d76ca0443e"/>
                        </a:rPr>
                        <a:t>Wall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10,124</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83.4%</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$142,768</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f807bce4169d46a0"/>
                        </a:rPr>
                        <a:t>Middletown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25,211</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85.7%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$141,810</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069785f9e8484f6a"/>
                        </a:rPr>
                        <a:t>Holmdel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6,429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91.6%</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$165,013</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461b90ce7e034dee"/>
                        </a:rPr>
                        <a:t>Colts Neck</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3,610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94.3%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$199,573</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8073863176ea4930"/>
                        </a:rPr>
                        <a:t>Rumson</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2,451</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92.9%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$250,000+</a:t>
                      </a:r>
                    </a:p>
                  </a:txBody>
                  <a:tcPr marL="91440" marR="91440" marT="45720" marB="45720" anchor="ctr">
                    <a:solidFill>
                      <a:srgbClr val="FFFFFF"/>
                    </a:solidFill>
                  </a:tcPr>
                </a:tc>
              </a:tr>
            </a:tbl>
          </a:graphicData>
        </a:graphic>
      </p:graphicFrame>
      <p:sp>
        <p:nvSpPr>
          <p:cNvPr id="6" name="Lawn eligibility, outsourcing, lot size, price pre">
            <a:extLst xmlns:a="http://schemas.openxmlformats.org/drawingml/2006/main">
              <a:ext uri="{FF2B5EF4-FFF2-40B4-BE49-F238E27FC236}">
                <a16:creationId xmlns:a16="http://schemas.microsoft.com/office/drawing/2014/main" id="{9D0BB28C-8AED-4962-8B80-0A76BFF8E6C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Lawn eligibility, outsourcing, lot size, price premiums, launch timing and capacity are YardMatch assumptions, not Census findings. Editable sources and inputs appear in the workbook.</a:t>
            </a:r>
          </a:p>
        </p:txBody>
      </p:sp>
    </p:spTree>
    <p:extLst>
      <p:ext uri="{BB962C8B-B14F-4D97-AF65-F5344CB8AC3E}">
        <p14:creationId xmlns:p14="http://schemas.microsoft.com/office/powerpoint/2010/main" val="7898859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2026-09-21T03:36:15.3130000Z</dcterms:created>
  <dcterms:modified xsi:type="dcterms:W3CDTF">2026-09-21T03:36:15.3140000Z</dcterms:modified>
</coreProperties>
</file>