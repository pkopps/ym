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b2553e0401c4ccf" /><Relationship Type="http://schemas.openxmlformats.org/officeDocument/2006/relationships/extended-properties" Target="/docProps/app.xml" Id="R709e0792beb74fc4" /><Relationship Type="http://schemas.openxmlformats.org/officeDocument/2006/relationships/officeDocument" Target="/ppt/presentation.xml" Id="R5ddf6e8cd1304ff7" /></Relationships>
</file>

<file path=ppt/presentation.xml><?xml version="1.0" encoding="utf-8"?>
<p:presentation xmlns:p="http://schemas.openxmlformats.org/presentationml/2006/main">
  <p:sldMasterIdLst>
    <p:sldMasterId xmlns:r="http://schemas.openxmlformats.org/officeDocument/2006/relationships" id="2147483648" r:id="R892799da9adc42f8"/>
  </p:sldMasterIdLst>
  <p:notesMasterIdLst>
    <p:notesMasterId xmlns:r="http://schemas.openxmlformats.org/officeDocument/2006/relationships" r:id="R9accc3b650154ad2"/>
  </p:notesMasterIdLst>
  <p:sldIdLst>
    <p:sldId xmlns:r="http://schemas.openxmlformats.org/officeDocument/2006/relationships" id="256" r:id="Rc2d1aeaf6f9447ad"/>
    <p:sldId xmlns:r="http://schemas.openxmlformats.org/officeDocument/2006/relationships" id="257" r:id="R84d398a7b2424842"/>
    <p:sldId xmlns:r="http://schemas.openxmlformats.org/officeDocument/2006/relationships" id="258" r:id="R4ab455b234d44342"/>
    <p:sldId xmlns:r="http://schemas.openxmlformats.org/officeDocument/2006/relationships" id="259" r:id="R10159d65b3de493c"/>
    <p:sldId xmlns:r="http://schemas.openxmlformats.org/officeDocument/2006/relationships" id="260" r:id="Ref8af34b8c4a4a90"/>
    <p:sldId xmlns:r="http://schemas.openxmlformats.org/officeDocument/2006/relationships" id="261" r:id="Rc692df9d55bb48cf"/>
    <p:sldId xmlns:r="http://schemas.openxmlformats.org/officeDocument/2006/relationships" id="262" r:id="R3d3c41eaeb994473"/>
    <p:sldId xmlns:r="http://schemas.openxmlformats.org/officeDocument/2006/relationships" id="263" r:id="Rb37e33bd22e74996"/>
    <p:sldId xmlns:r="http://schemas.openxmlformats.org/officeDocument/2006/relationships" id="264" r:id="R3fc2a7c180334ab5"/>
    <p:sldId xmlns:r="http://schemas.openxmlformats.org/officeDocument/2006/relationships" id="265" r:id="R814a3d23c59d46c3"/>
    <p:sldId xmlns:r="http://schemas.openxmlformats.org/officeDocument/2006/relationships" id="266" r:id="R66d5d44ff4a64dbe"/>
    <p:sldId xmlns:r="http://schemas.openxmlformats.org/officeDocument/2006/relationships" id="267" r:id="R74ff81fbd78f4bda"/>
    <p:sldId xmlns:r="http://schemas.openxmlformats.org/officeDocument/2006/relationships" id="268" r:id="Reca392d06cfd4cff"/>
    <p:sldId xmlns:r="http://schemas.openxmlformats.org/officeDocument/2006/relationships" id="269" r:id="R6c7bd80c1b04474c"/>
    <p:sldId xmlns:r="http://schemas.openxmlformats.org/officeDocument/2006/relationships" id="270" r:id="R09d8b382e56143f2"/>
    <p:sldId xmlns:r="http://schemas.openxmlformats.org/officeDocument/2006/relationships" id="271" r:id="Rb5c43c2aab4a4416"/>
    <p:sldId xmlns:r="http://schemas.openxmlformats.org/officeDocument/2006/relationships" id="272" r:id="R97c3b7ff610e44ed"/>
    <p:sldId xmlns:r="http://schemas.openxmlformats.org/officeDocument/2006/relationships" id="273" r:id="R9898317835964432"/>
    <p:sldId xmlns:r="http://schemas.openxmlformats.org/officeDocument/2006/relationships" id="274" r:id="R57c7da23bf484dd7"/>
    <p:sldId xmlns:r="http://schemas.openxmlformats.org/officeDocument/2006/relationships" id="275" r:id="Ra0f789df8e85417f"/>
    <p:sldId xmlns:r="http://schemas.openxmlformats.org/officeDocument/2006/relationships" id="276" r:id="Rd403447c097c4963"/>
    <p:sldId xmlns:r="http://schemas.openxmlformats.org/officeDocument/2006/relationships" id="277" r:id="R6c7eecf4a2024500"/>
    <p:sldId xmlns:r="http://schemas.openxmlformats.org/officeDocument/2006/relationships" id="278" r:id="R46a4b575581b4e17"/>
    <p:sldId xmlns:r="http://schemas.openxmlformats.org/officeDocument/2006/relationships" id="279" r:id="R977ba8e09194470b"/>
    <p:sldId xmlns:r="http://schemas.openxmlformats.org/officeDocument/2006/relationships" id="280" r:id="Rf5980e13e6464cad"/>
    <p:sldId xmlns:r="http://schemas.openxmlformats.org/officeDocument/2006/relationships" id="281" r:id="R8a2fe3f4056f4df7"/>
    <p:sldId xmlns:r="http://schemas.openxmlformats.org/officeDocument/2006/relationships" id="282" r:id="Raca8686f6dc34a25"/>
    <p:sldId xmlns:r="http://schemas.openxmlformats.org/officeDocument/2006/relationships" id="283" r:id="Rfe8a7ef2bc274f8a"/>
    <p:sldId xmlns:r="http://schemas.openxmlformats.org/officeDocument/2006/relationships" id="284" r:id="Re58d90d96efd43a9"/>
    <p:sldId xmlns:r="http://schemas.openxmlformats.org/officeDocument/2006/relationships" id="285" r:id="Rb03be48467f3491a"/>
    <p:sldId xmlns:r="http://schemas.openxmlformats.org/officeDocument/2006/relationships" id="286" r:id="Rd863e3766166449a"/>
    <p:sldId xmlns:r="http://schemas.openxmlformats.org/officeDocument/2006/relationships" id="287" r:id="Rb64037db673146b0"/>
    <p:sldId xmlns:r="http://schemas.openxmlformats.org/officeDocument/2006/relationships" id="288" r:id="Rc335626c37604bce"/>
    <p:sldId xmlns:r="http://schemas.openxmlformats.org/officeDocument/2006/relationships" id="289" r:id="Rec9d464c0cc54f39"/>
    <p:sldId xmlns:r="http://schemas.openxmlformats.org/officeDocument/2006/relationships" id="290" r:id="R093ac38bec144c95"/>
    <p:sldId xmlns:r="http://schemas.openxmlformats.org/officeDocument/2006/relationships" id="291" r:id="Rb116b099c8864853"/>
    <p:sldId xmlns:r="http://schemas.openxmlformats.org/officeDocument/2006/relationships" id="292" r:id="R2ba3d47d7f40438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a9fa0c39554ec7" /><Relationship Type="http://schemas.openxmlformats.org/officeDocument/2006/relationships/slideMaster" Target="/ppt/slideMasters/slideMaster1.xml" Id="R892799da9adc42f8" /><Relationship Type="http://schemas.openxmlformats.org/officeDocument/2006/relationships/notesMaster" Target="/ppt/notesMasters/notesMaster1.xml" Id="R9accc3b650154ad2" /><Relationship Type="http://schemas.openxmlformats.org/officeDocument/2006/relationships/presProps" Target="/ppt/presProps.xml" Id="R7aedbefde5ce419f" /><Relationship Type="http://schemas.openxmlformats.org/officeDocument/2006/relationships/tableStyles" Target="/ppt/tableStyles.xml" Id="Rfc424aa24a424d08" /><Relationship Type="http://schemas.openxmlformats.org/officeDocument/2006/relationships/slide" Target="/ppt/slides/slide1.xml" Id="Rc2d1aeaf6f9447ad" /><Relationship Type="http://schemas.openxmlformats.org/officeDocument/2006/relationships/slide" Target="/ppt/slides/slide2.xml" Id="R84d398a7b2424842" /><Relationship Type="http://schemas.openxmlformats.org/officeDocument/2006/relationships/slide" Target="/ppt/slides/slide3.xml" Id="R4ab455b234d44342" /><Relationship Type="http://schemas.openxmlformats.org/officeDocument/2006/relationships/slide" Target="/ppt/slides/slide4.xml" Id="R10159d65b3de493c" /><Relationship Type="http://schemas.openxmlformats.org/officeDocument/2006/relationships/slide" Target="/ppt/slides/slide5.xml" Id="Ref8af34b8c4a4a90" /><Relationship Type="http://schemas.openxmlformats.org/officeDocument/2006/relationships/slide" Target="/ppt/slides/slide6.xml" Id="Rc692df9d55bb48cf" /><Relationship Type="http://schemas.openxmlformats.org/officeDocument/2006/relationships/slide" Target="/ppt/slides/slide7.xml" Id="R3d3c41eaeb994473" /><Relationship Type="http://schemas.openxmlformats.org/officeDocument/2006/relationships/slide" Target="/ppt/slides/slide8.xml" Id="Rb37e33bd22e74996" /><Relationship Type="http://schemas.openxmlformats.org/officeDocument/2006/relationships/slide" Target="/ppt/slides/slide9.xml" Id="R3fc2a7c180334ab5" /><Relationship Type="http://schemas.openxmlformats.org/officeDocument/2006/relationships/slide" Target="/ppt/slides/slide10.xml" Id="R814a3d23c59d46c3" /><Relationship Type="http://schemas.openxmlformats.org/officeDocument/2006/relationships/slide" Target="/ppt/slides/slide11.xml" Id="R66d5d44ff4a64dbe" /><Relationship Type="http://schemas.openxmlformats.org/officeDocument/2006/relationships/slide" Target="/ppt/slides/slide12.xml" Id="R74ff81fbd78f4bda" /><Relationship Type="http://schemas.openxmlformats.org/officeDocument/2006/relationships/slide" Target="/ppt/slides/slide13.xml" Id="Reca392d06cfd4cff" /><Relationship Type="http://schemas.openxmlformats.org/officeDocument/2006/relationships/slide" Target="/ppt/slides/slide14.xml" Id="R6c7bd80c1b04474c" /><Relationship Type="http://schemas.openxmlformats.org/officeDocument/2006/relationships/slide" Target="/ppt/slides/slide15.xml" Id="R09d8b382e56143f2" /><Relationship Type="http://schemas.openxmlformats.org/officeDocument/2006/relationships/slide" Target="/ppt/slides/slide16.xml" Id="Rb5c43c2aab4a4416" /><Relationship Type="http://schemas.openxmlformats.org/officeDocument/2006/relationships/slide" Target="/ppt/slides/slide17.xml" Id="R97c3b7ff610e44ed" /><Relationship Type="http://schemas.openxmlformats.org/officeDocument/2006/relationships/slide" Target="/ppt/slides/slide18.xml" Id="R9898317835964432" /><Relationship Type="http://schemas.openxmlformats.org/officeDocument/2006/relationships/slide" Target="/ppt/slides/slide19.xml" Id="R57c7da23bf484dd7" /><Relationship Type="http://schemas.openxmlformats.org/officeDocument/2006/relationships/slide" Target="/ppt/slides/slide20.xml" Id="Ra0f789df8e85417f" /><Relationship Type="http://schemas.openxmlformats.org/officeDocument/2006/relationships/slide" Target="/ppt/slides/slide21.xml" Id="Rd403447c097c4963" /><Relationship Type="http://schemas.openxmlformats.org/officeDocument/2006/relationships/slide" Target="/ppt/slides/slide22.xml" Id="R6c7eecf4a2024500" /><Relationship Type="http://schemas.openxmlformats.org/officeDocument/2006/relationships/slide" Target="/ppt/slides/slide23.xml" Id="R46a4b575581b4e17" /><Relationship Type="http://schemas.openxmlformats.org/officeDocument/2006/relationships/slide" Target="/ppt/slides/slide24.xml" Id="R977ba8e09194470b" /><Relationship Type="http://schemas.openxmlformats.org/officeDocument/2006/relationships/slide" Target="/ppt/slides/slide25.xml" Id="Rf5980e13e6464cad" /><Relationship Type="http://schemas.openxmlformats.org/officeDocument/2006/relationships/slide" Target="/ppt/slides/slide26.xml" Id="R8a2fe3f4056f4df7" /><Relationship Type="http://schemas.openxmlformats.org/officeDocument/2006/relationships/slide" Target="/ppt/slides/slide27.xml" Id="Raca8686f6dc34a25" /><Relationship Type="http://schemas.openxmlformats.org/officeDocument/2006/relationships/slide" Target="/ppt/slides/slide28.xml" Id="Rfe8a7ef2bc274f8a" /><Relationship Type="http://schemas.openxmlformats.org/officeDocument/2006/relationships/slide" Target="/ppt/slides/slide29.xml" Id="Re58d90d96efd43a9" /><Relationship Type="http://schemas.openxmlformats.org/officeDocument/2006/relationships/slide" Target="/ppt/slides/slide30.xml" Id="Rb03be48467f3491a" /><Relationship Type="http://schemas.openxmlformats.org/officeDocument/2006/relationships/slide" Target="/ppt/slides/slide31.xml" Id="Rd863e3766166449a" /><Relationship Type="http://schemas.openxmlformats.org/officeDocument/2006/relationships/slide" Target="/ppt/slides/slide32.xml" Id="Rb64037db673146b0" /><Relationship Type="http://schemas.openxmlformats.org/officeDocument/2006/relationships/slide" Target="/ppt/slides/slide33.xml" Id="Rc335626c37604bce" /><Relationship Type="http://schemas.openxmlformats.org/officeDocument/2006/relationships/slide" Target="/ppt/slides/slide34.xml" Id="Rec9d464c0cc54f39" /><Relationship Type="http://schemas.openxmlformats.org/officeDocument/2006/relationships/slide" Target="/ppt/slides/slide35.xml" Id="R093ac38bec144c95" /><Relationship Type="http://schemas.openxmlformats.org/officeDocument/2006/relationships/slide" Target="/ppt/slides/slide36.xml" Id="Rb116b099c8864853" /><Relationship Type="http://schemas.openxmlformats.org/officeDocument/2006/relationships/slide" Target="/ppt/slides/slide37.xml" Id="R2ba3d47d7f4043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745c0c8bf14d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3c804e4e314552" /><Relationship Type="http://schemas.openxmlformats.org/officeDocument/2006/relationships/notesMaster" Target="/ppt/notesMasters/notesMaster1.xml" Id="Rb44fcde6b7a948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c9f12c2671432a" /><Relationship Type="http://schemas.openxmlformats.org/officeDocument/2006/relationships/notesMaster" Target="/ppt/notesMasters/notesMaster1.xml" Id="Rb5380c4bc54e45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7041a60e3e48d3" /><Relationship Type="http://schemas.openxmlformats.org/officeDocument/2006/relationships/notesMaster" Target="/ppt/notesMasters/notesMaster1.xml" Id="Rc1697a983a9942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8cbcca1fa34d7f" /><Relationship Type="http://schemas.openxmlformats.org/officeDocument/2006/relationships/notesMaster" Target="/ppt/notesMasters/notesMaster1.xml" Id="R2335ba33dfd74f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be17849b5c448a" /><Relationship Type="http://schemas.openxmlformats.org/officeDocument/2006/relationships/notesMaster" Target="/ppt/notesMasters/notesMaster1.xml" Id="R2e7a3a731a2d46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6b225e45c8469d" /><Relationship Type="http://schemas.openxmlformats.org/officeDocument/2006/relationships/notesMaster" Target="/ppt/notesMasters/notesMaster1.xml" Id="R7bb7d9eae60148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8d9d9ae14149f9" /><Relationship Type="http://schemas.openxmlformats.org/officeDocument/2006/relationships/notesMaster" Target="/ppt/notesMasters/notesMaster1.xml" Id="R656a2b2e55a247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7100d707098480b" /><Relationship Type="http://schemas.openxmlformats.org/officeDocument/2006/relationships/notesMaster" Target="/ppt/notesMasters/notesMaster1.xml" Id="R8eb7192ad41a48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916fbea4e74043" /><Relationship Type="http://schemas.openxmlformats.org/officeDocument/2006/relationships/notesMaster" Target="/ppt/notesMasters/notesMaster1.xml" Id="Rcdbfefbaeba84c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7eab8b600e44e77" /><Relationship Type="http://schemas.openxmlformats.org/officeDocument/2006/relationships/notesMaster" Target="/ppt/notesMasters/notesMaster1.xml" Id="R70478f9b02a449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d34402f70d4258" /><Relationship Type="http://schemas.openxmlformats.org/officeDocument/2006/relationships/notesMaster" Target="/ppt/notesMasters/notesMaster1.xml" Id="R346f88643de443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6e2b72b0134884" /><Relationship Type="http://schemas.openxmlformats.org/officeDocument/2006/relationships/notesMaster" Target="/ppt/notesMasters/notesMaster1.xml" Id="Rb63c65c42bb54b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a0df165ab74bef" /><Relationship Type="http://schemas.openxmlformats.org/officeDocument/2006/relationships/notesMaster" Target="/ppt/notesMasters/notesMaster1.xml" Id="Rd20afcd5f833464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cb02aa8f8944ad" /><Relationship Type="http://schemas.openxmlformats.org/officeDocument/2006/relationships/notesMaster" Target="/ppt/notesMasters/notesMaster1.xml" Id="R705acf9a7cc340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0c2d22ddbd46bd" /><Relationship Type="http://schemas.openxmlformats.org/officeDocument/2006/relationships/notesMaster" Target="/ppt/notesMasters/notesMaster1.xml" Id="Rece9190eba484a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18f620185b84caa" /><Relationship Type="http://schemas.openxmlformats.org/officeDocument/2006/relationships/notesMaster" Target="/ppt/notesMasters/notesMaster1.xml" Id="R75e6028f3d1848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8c28edb00e40ee" /><Relationship Type="http://schemas.openxmlformats.org/officeDocument/2006/relationships/notesMaster" Target="/ppt/notesMasters/notesMaster1.xml" Id="R942e414d2ea645b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0d3dca2c794c57" /><Relationship Type="http://schemas.openxmlformats.org/officeDocument/2006/relationships/notesMaster" Target="/ppt/notesMasters/notesMaster1.xml" Id="R4e3a5e04156442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d4f3936a3434d2c" /><Relationship Type="http://schemas.openxmlformats.org/officeDocument/2006/relationships/notesMaster" Target="/ppt/notesMasters/notesMaster1.xml" Id="R9f175c1c1e9445b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82028d3eeed4bbc" /><Relationship Type="http://schemas.openxmlformats.org/officeDocument/2006/relationships/notesMaster" Target="/ppt/notesMasters/notesMaster1.xml" Id="Rccf320eb4667488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83a0d9859b34a0e" /><Relationship Type="http://schemas.openxmlformats.org/officeDocument/2006/relationships/notesMaster" Target="/ppt/notesMasters/notesMaster1.xml" Id="Re29d4aa078d04a2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ffc6d6a5084cf7" /><Relationship Type="http://schemas.openxmlformats.org/officeDocument/2006/relationships/notesMaster" Target="/ppt/notesMasters/notesMaster1.xml" Id="Re324205c218d430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13641f6eea44723" /><Relationship Type="http://schemas.openxmlformats.org/officeDocument/2006/relationships/notesMaster" Target="/ppt/notesMasters/notesMaster1.xml" Id="R7a0040ac9445469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43c1a5b62174f16" /><Relationship Type="http://schemas.openxmlformats.org/officeDocument/2006/relationships/notesMaster" Target="/ppt/notesMasters/notesMaster1.xml" Id="Rb7b0c1e81d6146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a438a5ed48243a7" /><Relationship Type="http://schemas.openxmlformats.org/officeDocument/2006/relationships/notesMaster" Target="/ppt/notesMasters/notesMaster1.xml" Id="R2fa15a684d7e4fa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d3b1b8171d34244" /><Relationship Type="http://schemas.openxmlformats.org/officeDocument/2006/relationships/notesMaster" Target="/ppt/notesMasters/notesMaster1.xml" Id="R03a8babbc02d4e1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d1aef79b13f41ad" /><Relationship Type="http://schemas.openxmlformats.org/officeDocument/2006/relationships/notesMaster" Target="/ppt/notesMasters/notesMaster1.xml" Id="R546b8cc37834400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dc2e620def14e4a" /><Relationship Type="http://schemas.openxmlformats.org/officeDocument/2006/relationships/notesMaster" Target="/ppt/notesMasters/notesMaster1.xml" Id="R1992fb9dd1cc498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66656d81c544882" /><Relationship Type="http://schemas.openxmlformats.org/officeDocument/2006/relationships/notesMaster" Target="/ppt/notesMasters/notesMaster1.xml" Id="R1f80793f64ad4c0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4149f42cf3d4310" /><Relationship Type="http://schemas.openxmlformats.org/officeDocument/2006/relationships/notesMaster" Target="/ppt/notesMasters/notesMaster1.xml" Id="Ra61763e642244ee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0a1aab1479a4405" /><Relationship Type="http://schemas.openxmlformats.org/officeDocument/2006/relationships/notesMaster" Target="/ppt/notesMasters/notesMaster1.xml" Id="Ra7a1b353689c403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0998602f74e4d63" /><Relationship Type="http://schemas.openxmlformats.org/officeDocument/2006/relationships/notesMaster" Target="/ppt/notesMasters/notesMaster1.xml" Id="Ra055b47bc3ae45b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fe52d078efc4653" /><Relationship Type="http://schemas.openxmlformats.org/officeDocument/2006/relationships/notesMaster" Target="/ppt/notesMasters/notesMaster1.xml" Id="R5d128d6acafa425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864cccd033e4804" /><Relationship Type="http://schemas.openxmlformats.org/officeDocument/2006/relationships/notesMaster" Target="/ppt/notesMasters/notesMaster1.xml" Id="R1b8746ebbe4c4c9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83d4b9336e44b4d" /><Relationship Type="http://schemas.openxmlformats.org/officeDocument/2006/relationships/notesMaster" Target="/ppt/notesMasters/notesMaster1.xml" Id="R0ff75253bc1047b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0cc182ab32a47c4" /><Relationship Type="http://schemas.openxmlformats.org/officeDocument/2006/relationships/notesMaster" Target="/ppt/notesMasters/notesMaster1.xml" Id="R4fb251456f384bd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11d0da1224d4f53" /><Relationship Type="http://schemas.openxmlformats.org/officeDocument/2006/relationships/notesMaster" Target="/ppt/notesMasters/notesMaster1.xml" Id="R7f2b121f168844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20, 2026. 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Typical $45, large $65, very large $90. Planning tiers based on serviceable property scope, not income or ZIP code. Classify at first match and disclose the fee before acceptance. Thresholds require provider quote validation. New-customer town/lot mix determines finder revenue; waivers are proportional within each town. No later service or size change with the same provider generates another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20, 2026. All 2027-2033 figures are illustrative forecasts, not actuals or promises. US dollars. No commercial actuals supplied. Standard US card rate 2.9% + $0.30. ACH 0.8% capped at $5. Platform fee max($4.49,1% of job price). Initial bank-link cost and Connect account/payout fees borne by YardMatch. Repeat contribution uses 2031 volume allocation. No provider labor or equipment expense deducted.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Town forecast weights are based on full-season household exposure. Town-specific price tiers use 1.00 / 1.15 / 1.30, with lot factors 1.00 / 1.35 / 1.80. Correlated joint weights replace the former independent demographic mixes. All town price and lot assumptions are unvalidated. Income is not proof of lot size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Census ACS 2020-2024; income in 2024 dollars. Rumson median income is top-coded at $250,000+. Higher house value does not itself establish turf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20,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streams sheet. Proposed products, not shipped features or validated demand. Market reference checked September 20, 2026: https://www.getjobber.com/pricing/ lists Core at $49/month, no commitment, one user, and Connect at $139/month, no commitment, one user. These are feature/billing references, not direct product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Provider-owned crew engagement and compensation follow ROADMAP.md. Proposed optional Teams features must add value beyond essential tools already included in the core service. Worker-paid job access, wage deductions and mandatory paid credentials are excluded from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Primary source: https://www.zocdoc.com/provider-help/en/articles/8709753-how-much-does-sponsored-results-cost . Zocdoc charges sponsored fees above booking fees using bid-based advertising. YardMatch proposal differs: completed-first-job fee, no repeat-pair charge, one disclosed option within qualified backups. ROADMAP.md currently keeps sponsorship dormant and main recommendations quality-first. This is a commercial experiment, not an approved ranking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Pro-only adoption 30%, Teams adoption 12%, nine paid months, using the active-provider totals in the town forecast. Subscription net revenue after 2% credits/noncollection. Sponsorship: 12% provider participation, 27% first-job eligibility, 30% sponsored selection, capped by budget. No incremental households or GMV assumed. Subscription launch 2028, $120k build, annual fixed costs start $60k grow 35%; sponsorship launch 2030, $50k build, annual costs start $30k grow 30%. Variable delivery, card processing and 0.7% Billing fees also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Revenue is finder fees after welcome waivers plus per-transaction MAX($4.49,1% of price). Processing recovery offsets expense and is excluded from net marketplace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Recurring fee is the greater of $4.49 or 1% plus actual processing. Property finder fees remain $45 / $65 / $90. Compensation grows from $100,000 per employee in 2027 to $110,000 in 2033; five includes founder. Extra CAC efficiency phases in through 2033, maintaining town differentials. No change to household counts, provider supply or booking volume is assumed. Fee-only comparison preserves the former payroll and CAC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20,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20,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checked September 20, 2026: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20,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bc63ca2b8540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9b8efe7c2241a9" /><Relationship Type="http://schemas.openxmlformats.org/officeDocument/2006/relationships/slideLayout" Target="/ppt/slideLayouts/slideLayout1.xml" Id="Reddc3fa7dfcf4e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dc3fa7dfcf4e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9f5ff4fbb146e0" /><Relationship Type="http://schemas.openxmlformats.org/officeDocument/2006/relationships/image" Target="/ppt/media/image.png" Id="R0d8663e55ac44e1c" /><Relationship Type="http://schemas.openxmlformats.org/officeDocument/2006/relationships/notesSlide" Target="/ppt/notesSlides/notesSlide1.xml" Id="R1fa305b0f13a42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f65d20d1df41a8" /><Relationship Type="http://schemas.openxmlformats.org/officeDocument/2006/relationships/notesSlide" Target="/ppt/notesSlides/notesSlide2.xml" Id="Re3326de0ba784d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5ab51ea7304c0c" /><Relationship Type="http://schemas.openxmlformats.org/officeDocument/2006/relationships/notesSlide" Target="/ppt/notesSlides/notesSlide3.xml" Id="R0edf8d5c6fe448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781da3c3974f50" /><Relationship Type="http://schemas.openxmlformats.org/officeDocument/2006/relationships/image" Target="/ppt/media/image2.png" Id="Rcf0ac524d145444c" /><Relationship Type="http://schemas.openxmlformats.org/officeDocument/2006/relationships/notesSlide" Target="/ppt/notesSlides/notesSlide4.xml" Id="R8a6ae8294bc04c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4096d466a24b80" /><Relationship Type="http://schemas.openxmlformats.org/officeDocument/2006/relationships/image" Target="/ppt/media/image3.png" Id="Rc5960f84bd744ba1" /><Relationship Type="http://schemas.openxmlformats.org/officeDocument/2006/relationships/notesSlide" Target="/ppt/notesSlides/notesSlide5.xml" Id="Rc8a14e9ac16c44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2f4cdc12034e3e" /><Relationship Type="http://schemas.openxmlformats.org/officeDocument/2006/relationships/notesSlide" Target="/ppt/notesSlides/notesSlide6.xml" Id="Rca2bd215942f49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18e33ec8104971" /><Relationship Type="http://schemas.openxmlformats.org/officeDocument/2006/relationships/notesSlide" Target="/ppt/notesSlides/notesSlide7.xml" Id="Rb0ea13777f2d49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c6fd5cf2804411" /><Relationship Type="http://schemas.openxmlformats.org/officeDocument/2006/relationships/notesSlide" Target="/ppt/notesSlides/notesSlide8.xml" Id="Re7ea6586d48543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2f3fd548244c3e" /><Relationship Type="http://schemas.openxmlformats.org/officeDocument/2006/relationships/notesSlide" Target="/ppt/notesSlides/notesSlide9.xml" Id="R9874e54669a541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1b0f56a257451e" /><Relationship Type="http://schemas.openxmlformats.org/officeDocument/2006/relationships/notesSlide" Target="/ppt/notesSlides/notesSlide10.xml" Id="R2a83b197e20e4e9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4261e9a590b4d27" /><Relationship Type="http://schemas.openxmlformats.org/officeDocument/2006/relationships/notesSlide" Target="/ppt/notesSlides/notesSlide11.xml" Id="Rb08e99faef134bd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bc706de82c44933" /><Relationship Type="http://schemas.openxmlformats.org/officeDocument/2006/relationships/notesSlide" Target="/ppt/notesSlides/notesSlide12.xml" Id="R68ce173b32dc491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4a3239fb81842a8" /><Relationship Type="http://schemas.openxmlformats.org/officeDocument/2006/relationships/notesSlide" Target="/ppt/notesSlides/notesSlide13.xml" Id="Rde91e9c9d8284ae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4625a6a044e4535" /><Relationship Type="http://schemas.openxmlformats.org/officeDocument/2006/relationships/notesSlide" Target="/ppt/notesSlides/notesSlide14.xml" Id="Rd36b34d15df54b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423159e72f44c0" /><Relationship Type="http://schemas.openxmlformats.org/officeDocument/2006/relationships/notesSlide" Target="/ppt/notesSlides/notesSlide15.xml" Id="R4912ae91219d4dd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df4febc7ae24356" /><Relationship Type="http://schemas.openxmlformats.org/officeDocument/2006/relationships/notesSlide" Target="/ppt/notesSlides/notesSlide16.xml" Id="R420d75c486e74b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5cd11e3ad5421a" /><Relationship Type="http://schemas.openxmlformats.org/officeDocument/2006/relationships/notesSlide" Target="/ppt/notesSlides/notesSlide17.xml" Id="R515e1b1124724c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6a27ee26d784cb9" /><Relationship Type="http://schemas.openxmlformats.org/officeDocument/2006/relationships/notesSlide" Target="/ppt/notesSlides/notesSlide18.xml" Id="Rf4a23e0d11eb40b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d72f5e285424930" /><Relationship Type="http://schemas.openxmlformats.org/officeDocument/2006/relationships/notesSlide" Target="/ppt/notesSlides/notesSlide19.xml" Id="R5871dc20e0e4448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ec09514c12a4964" /><Relationship Type="http://schemas.openxmlformats.org/officeDocument/2006/relationships/notesSlide" Target="/ppt/notesSlides/notesSlide20.xml" Id="R7efeb7e1f094408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93ab9d109974cfe" /><Relationship Type="http://schemas.openxmlformats.org/officeDocument/2006/relationships/notesSlide" Target="/ppt/notesSlides/notesSlide21.xml" Id="R9053d50435824dc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f6f25aa232e4f03" /><Relationship Type="http://schemas.openxmlformats.org/officeDocument/2006/relationships/notesSlide" Target="/ppt/notesSlides/notesSlide22.xml" Id="Rdde75f0e89154e8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62a9404a268458e" /><Relationship Type="http://schemas.openxmlformats.org/officeDocument/2006/relationships/notesSlide" Target="/ppt/notesSlides/notesSlide23.xml" Id="Rf54f3243bd8a485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5ad2ba683754896" /><Relationship Type="http://schemas.openxmlformats.org/officeDocument/2006/relationships/chart" Target="/ppt/slides/charts/chart1.xml" Id="Rbb2b6a7f0fbd439a" /><Relationship Type="http://schemas.openxmlformats.org/officeDocument/2006/relationships/notesSlide" Target="/ppt/notesSlides/notesSlide24.xml" Id="R1519beeb3e114ff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fea7a9af51c4ec9" /><Relationship Type="http://schemas.openxmlformats.org/officeDocument/2006/relationships/notesSlide" Target="/ppt/notesSlides/notesSlide25.xml" Id="Raa950c4876db44d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61d044d8eb846f3" /><Relationship Type="http://schemas.openxmlformats.org/officeDocument/2006/relationships/notesSlide" Target="/ppt/notesSlides/notesSlide26.xml" Id="R2a72f3e2933e460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ccecef00a7c45c3" /><Relationship Type="http://schemas.openxmlformats.org/officeDocument/2006/relationships/notesSlide" Target="/ppt/notesSlides/notesSlide27.xml" Id="Raadafc27738149c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0dabd1359c346d5" /><Relationship Type="http://schemas.openxmlformats.org/officeDocument/2006/relationships/notesSlide" Target="/ppt/notesSlides/notesSlide28.xml" Id="R6557521068704bb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0873674d2984037" /><Relationship Type="http://schemas.openxmlformats.org/officeDocument/2006/relationships/notesSlide" Target="/ppt/notesSlides/notesSlide29.xml" Id="R4fb61e378f6146d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d07fd4d8af344ee" /><Relationship Type="http://schemas.openxmlformats.org/officeDocument/2006/relationships/notesSlide" Target="/ppt/notesSlides/notesSlide30.xml" Id="R65f0ed4948364f1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1302eb5307b4bef" /><Relationship Type="http://schemas.openxmlformats.org/officeDocument/2006/relationships/notesSlide" Target="/ppt/notesSlides/notesSlide31.xml" Id="R51bc0f73d17a49f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86bfd424b1a4d85" /><Relationship Type="http://schemas.openxmlformats.org/officeDocument/2006/relationships/notesSlide" Target="/ppt/notesSlides/notesSlide32.xml" Id="R55d88bdce58f4a6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dd73402130644cf" /><Relationship Type="http://schemas.openxmlformats.org/officeDocument/2006/relationships/notesSlide" Target="/ppt/notesSlides/notesSlide33.xml" Id="Rb8da928a96d4411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ab241ea3ab347ff" /><Relationship Type="http://schemas.openxmlformats.org/officeDocument/2006/relationships/notesSlide" Target="/ppt/notesSlides/notesSlide34.xml" Id="R550975b049214de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ad88344aa934f5c" /><Relationship Type="http://schemas.openxmlformats.org/officeDocument/2006/relationships/hyperlink" Target="https://stripe.com/pricing" TargetMode="External" Id="R4a734ac961b14180" /><Relationship Type="http://schemas.openxmlformats.org/officeDocument/2006/relationships/hyperlink" Target="https://stripe.com/connect/pricing" TargetMode="External" Id="R831670ade595454c" /><Relationship Type="http://schemas.openxmlformats.org/officeDocument/2006/relationships/hyperlink" Target="https://stripe.com/financial-connections" TargetMode="External" Id="R66ad6e580eba4b91" /><Relationship Type="http://schemas.openxmlformats.org/officeDocument/2006/relationships/hyperlink" Target="https://www.zocdoc.com/provider-help/en/articles/10859404-understanding-zocdoc-pricing-and-billing" TargetMode="External" Id="R62684e0e2ec842f5" /><Relationship Type="http://schemas.openxmlformats.org/officeDocument/2006/relationships/hyperlink" Target="https://www.zocdoc.com/about/understanding-your-bill/" TargetMode="External" Id="R00d87e2b1d9942ec" /><Relationship Type="http://schemas.openxmlformats.org/officeDocument/2006/relationships/hyperlink" Target="https://usa.visa.com/support/small-business/regulations-fees.html" TargetMode="External" Id="R24649a88792c416d" /><Relationship Type="http://schemas.openxmlformats.org/officeDocument/2006/relationships/hyperlink" Target="https://www.frbservices.org/resources/fees/ach-2026" TargetMode="External" Id="R5a8b0a1dbe4641e1" /><Relationship Type="http://schemas.openxmlformats.org/officeDocument/2006/relationships/hyperlink" Target="https://www.pcisecuritystandards.org/standards/pci-dss/" TargetMode="External" Id="R944e1dcf15934e78" /><Relationship Type="http://schemas.openxmlformats.org/officeDocument/2006/relationships/hyperlink" Target="https://www.census.gov/quickfacts/fact/table/barnegattownshipoceancountynewjersey/PST045225" TargetMode="External" Id="R2b6cbd43a0bd488e" /><Relationship Type="http://schemas.openxmlformats.org/officeDocument/2006/relationships/hyperlink" Target="https://www.getjobber.com/pricing/" TargetMode="External" Id="R59403efde72141ea" /><Relationship Type="http://schemas.openxmlformats.org/officeDocument/2006/relationships/hyperlink" Target="https://www.zocdoc.com/provider-help/en/articles/8709753-how-much-does-sponsored-results-cost" TargetMode="External" Id="Rc66d7aa3d62649d6" /><Relationship Type="http://schemas.openxmlformats.org/officeDocument/2006/relationships/hyperlink" Target="https://stripe.com/billing/pricing" TargetMode="External" Id="Rf842b9337b0d4916" /><Relationship Type="http://schemas.openxmlformats.org/officeDocument/2006/relationships/notesSlide" Target="/ppt/notesSlides/notesSlide35.xml" Id="Rc8dc8a2e6b9a48e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12060775ee448d5" /><Relationship Type="http://schemas.openxmlformats.org/officeDocument/2006/relationships/hyperlink" Target="https://www.census.gov/quickfacts/fact/table/barnegattownshipoceancountynewjersey/PST045225" TargetMode="External" Id="R938a1757e8174823" /><Relationship Type="http://schemas.openxmlformats.org/officeDocument/2006/relationships/hyperlink" Target="https://www.census.gov/quickfacts/fact/table/staffordtownshipoceancountynewjersey/PST045225" TargetMode="External" Id="R6b05972f9cd6411e" /><Relationship Type="http://schemas.openxmlformats.org/officeDocument/2006/relationships/hyperlink" Target="https://www.census.gov/quickfacts/fact/table/laceytownshipoceancountynewjersey/PST045225" TargetMode="External" Id="R122e3acc88b3408e" /><Relationship Type="http://schemas.openxmlformats.org/officeDocument/2006/relationships/hyperlink" Target="https://www.census.gov/quickfacts/fact/table/oceantownshipoceancountynewjersey/PST045225" TargetMode="External" Id="R954371fbf1924e38" /><Relationship Type="http://schemas.openxmlformats.org/officeDocument/2006/relationships/hyperlink" Target="https://www.census.gov/quickfacts/fact/table/berkeleytownshipoceancountynewjersey/PST045225" TargetMode="External" Id="R8cacb6a61dbe47ff" /><Relationship Type="http://schemas.openxmlformats.org/officeDocument/2006/relationships/hyperlink" Target="https://www.census.gov/quickfacts/fact/table/tomsrivertownshipoceancountynewjersey/PST045225" TargetMode="External" Id="R54ea609b10f4486e" /><Relationship Type="http://schemas.openxmlformats.org/officeDocument/2006/relationships/hyperlink" Target="https://www.census.gov/quickfacts/fact/table/bricktownshipoceancountynewjersey/PST045225" TargetMode="External" Id="Rafbc1e55740c48e2" /><Relationship Type="http://schemas.openxmlformats.org/officeDocument/2006/relationships/notesSlide" Target="/ppt/notesSlides/notesSlide36.xml" Id="Re7a5ce36dc954c2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721a102b6584b7e" /><Relationship Type="http://schemas.openxmlformats.org/officeDocument/2006/relationships/hyperlink" Target="https://www.census.gov/quickfacts/fact/table/jacksontownshipoceancountynewjersey/PST045225" TargetMode="External" Id="R5e4c438341544fb0" /><Relationship Type="http://schemas.openxmlformats.org/officeDocument/2006/relationships/hyperlink" Target="https://www.census.gov/quickfacts/fact/table/howelltownshipmonmouthcountynewjersey/PST045225" TargetMode="External" Id="R5751e514b12542ad" /><Relationship Type="http://schemas.openxmlformats.org/officeDocument/2006/relationships/hyperlink" Target="https://www.census.gov/quickfacts/fact/table/walltownshipmonmouthcountynewjersey/PST045225" TargetMode="External" Id="R4f7be8db968049f2" /><Relationship Type="http://schemas.openxmlformats.org/officeDocument/2006/relationships/hyperlink" Target="https://www.census.gov/quickfacts/fact/table/middletowntownshipmonmouthcountynewjersey/PST045225" TargetMode="External" Id="R3768c61ab0a64f1d" /><Relationship Type="http://schemas.openxmlformats.org/officeDocument/2006/relationships/hyperlink" Target="https://www.census.gov/quickfacts/fact/table/holmdeltownshipmonmouthcountynewjersey/PST045225" TargetMode="External" Id="R692d9f2d218647c8" /><Relationship Type="http://schemas.openxmlformats.org/officeDocument/2006/relationships/hyperlink" Target="https://www.census.gov/quickfacts/fact/table/coltsnecktownshipmonmouthcountynewjersey/PST045225" TargetMode="External" Id="R2b61a6ded4194501" /><Relationship Type="http://schemas.openxmlformats.org/officeDocument/2006/relationships/hyperlink" Target="https://www.census.gov/quickfacts/fact/table/rumsonboroughnewjersey/PST045225" TargetMode="External" Id="R424b9797b8674e71" /><Relationship Type="http://schemas.openxmlformats.org/officeDocument/2006/relationships/notesSlide" Target="/ppt/notesSlides/notesSlide37.xml" Id="Rc2626918bdde472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0.012226</c:v>
                </c:pt>
                <c:pt idx="1">
                  <c:v>0.050178</c:v>
                </c:pt>
                <c:pt idx="2">
                  <c:v>0.104879</c:v>
                </c:pt>
                <c:pt idx="3">
                  <c:v>0.171307</c:v>
                </c:pt>
                <c:pt idx="4">
                  <c:v>0.233759</c:v>
                </c:pt>
                <c:pt idx="5">
                  <c:v>0.301908</c:v>
                </c:pt>
                <c:pt idx="6">
                  <c:v>0.341678</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0.009527</c:v>
                </c:pt>
                <c:pt idx="1">
                  <c:v>0.052281</c:v>
                </c:pt>
                <c:pt idx="2">
                  <c:v>0.151336</c:v>
                </c:pt>
                <c:pt idx="3">
                  <c:v>0.317129</c:v>
                </c:pt>
                <c:pt idx="4">
                  <c:v>0.543366</c:v>
                </c:pt>
                <c:pt idx="5">
                  <c:v>0.81308</c:v>
                </c:pt>
                <c:pt idx="6">
                  <c:v>1.099579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0.3"/>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859DCD37-2A09-4BEB-AA86-03ED444C027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9F407B27-628A-42F1-BC8F-D7912667B42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d8663e55ac44e1c"/>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0880E821-C151-491A-8EFA-4BB38844FFB2}"/>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9F59BAF5-08F3-42AC-A875-E79C4E5955A0}"/>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1A6C04A8-65F3-488C-B107-AED02B73512A}"/>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1793933070"/>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378BB358-E090-406D-ABD4-68A4C67E264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44FC2FAD-3047-43A9-A82E-195E0FD22AE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67F700FB-B99E-4600-93A3-C5DF2D69307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C89AEEB6-A86F-4B08-9612-9C5CE9284F3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B94E8B6B-C562-488B-B8AA-D31D0FFCDCE3}"/>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EDB68A1B-7D77-4880-A63B-AAF165EE1CB9}"/>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2C44F1D6-CEF3-4396-96F2-F58F35490B0D}"/>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6B8EC564-74BB-4C70-899C-F6724F9C9116}"/>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9326DFA6-8CCC-42D2-A4F1-6BCA0737E0D4}"/>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Property-based finder fees and recurring service f">
            <a:extLst xmlns:a="http://schemas.openxmlformats.org/drawingml/2006/main">
              <a:ext uri="{FF2B5EF4-FFF2-40B4-BE49-F238E27FC236}">
                <a16:creationId xmlns:a16="http://schemas.microsoft.com/office/drawing/2014/main" id="{E891B042-C6B9-47F7-98D9-79CF83F0BA34}"/>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Property-based finder fees and recurring service fees can fund ongoing care. Providers also cover payment processing at cost. A pilot must validate acceptance and retention.</a:t>
            </a:r>
          </a:p>
        </p:txBody>
      </p:sp>
      <p:sp>
        <p:nvSpPr>
          <p:cNvPr id="11" name="Investment hypothesis. Core forecasts use finder a">
            <a:extLst xmlns:a="http://schemas.openxmlformats.org/drawingml/2006/main">
              <a:ext uri="{FF2B5EF4-FFF2-40B4-BE49-F238E27FC236}">
                <a16:creationId xmlns:a16="http://schemas.microsoft.com/office/drawing/2014/main" id="{76ACD7BB-DFCE-48FA-BF06-EE076108E5E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Core forecasts use finder and service fees. Optional provider subscriptions and sponsorship appear as separate expansion cases.</a:t>
            </a:r>
          </a:p>
        </p:txBody>
      </p:sp>
    </p:spTree>
    <p:extLst>
      <p:ext uri="{BB962C8B-B14F-4D97-AF65-F5344CB8AC3E}">
        <p14:creationId xmlns:p14="http://schemas.microsoft.com/office/powerpoint/2010/main" val="1023046559"/>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37137FA6-27F4-4EB2-BE96-FF76E99AB8A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F48371FD-001D-4558-9D67-4809C8C322D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7CD475BF-795C-4EED-A326-382B0239FD2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63212BBB-B284-433F-A858-0BEBAC5B808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5ECD1D69-258C-4DFD-8909-9E778309989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149766658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32F6F7E4-B435-43CD-AAC5-B5CB222B42B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CF4CAF28-6070-4B7E-A8AB-CC41EEA5B52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7A3D384A-74E5-44B4-8279-25A1D89CCC2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75C1A5FD-8E9F-4EEC-97B6-452C303DEBB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f0ac524d145444c"/>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3175125E-FC4D-4D38-A7EC-6B1D7824DFAA}"/>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B5E97B2B-8F31-48EB-A9A5-889CBE96E81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366373736"/>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AF772575-6B4F-4CEF-9550-6C3C8F6F3E4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D9B06827-5775-4CA9-AC1C-D08694814FF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540C1A7B-EB07-4527-9B80-0C889B8370F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C4756121-3A5A-4F15-8460-5D5C5F1FE1C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5960f84bd744ba1"/>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E04C0648-D98D-4275-99F8-C6632275AE65}"/>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D26FC6FA-B8F9-4AA8-94DF-8DC45F67D696}"/>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ADB4A88C-5052-42A0-8F46-66349F34C88E}"/>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86E42A2E-BC04-4ABD-963B-986D059F63DB}"/>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532235A1-ECD4-4272-ACC1-335A6EEA70A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22629906"/>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Finder fees increase with property scope">
            <a:extLst xmlns:a="http://schemas.openxmlformats.org/drawingml/2006/main">
              <a:ext uri="{FF2B5EF4-FFF2-40B4-BE49-F238E27FC236}">
                <a16:creationId xmlns:a16="http://schemas.microsoft.com/office/drawing/2014/main" id="{97AA1621-4CDB-43D1-94BE-B024BF23E7D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Finder fees increase with property scope</a:t>
            </a:r>
          </a:p>
        </p:txBody>
      </p:sp>
      <p:sp>
        <p:nvSpPr>
          <p:cNvPr id="2" name="Proposed acquisition fees, paid by the provider on">
            <a:extLst xmlns:a="http://schemas.openxmlformats.org/drawingml/2006/main">
              <a:ext uri="{FF2B5EF4-FFF2-40B4-BE49-F238E27FC236}">
                <a16:creationId xmlns:a16="http://schemas.microsoft.com/office/drawing/2014/main" id="{7FDF5AE8-EA3E-4637-86D9-D2E74F297E6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acquisition fees, paid by the provider once per new customer/provider relationship.</a:t>
            </a:r>
          </a:p>
        </p:txBody>
      </p:sp>
      <p:sp>
        <p:nvSpPr>
          <p:cNvPr id="3" name="YardMatch">
            <a:extLst xmlns:a="http://schemas.openxmlformats.org/drawingml/2006/main">
              <a:ext uri="{FF2B5EF4-FFF2-40B4-BE49-F238E27FC236}">
                <a16:creationId xmlns:a16="http://schemas.microsoft.com/office/drawing/2014/main" id="{66FD54BE-483F-43CF-BCF4-487E698D002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8D0AF58E-940D-47A0-91A7-19D888F9DA1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graphicFrame>
        <p:nvGraphicFramePr>
          <p:cNvPr id="13" name=""/>
          <p:cNvGraphicFramePr/>
          <p:nvPr/>
        </p:nvGraphicFramePr>
        <p:xfrm>
          <a:off xmlns:a="http://schemas.openxmlformats.org/drawingml/2006/main" x="609600" y="2333625"/>
          <a:ext xmlns:a="http://schemas.openxmlformats.org/drawingml/2006/main" cx="10972800" cy="2324100"/>
        </p:xfrm>
        <a:graphic xmlns:a="http://schemas.openxmlformats.org/drawingml/2006/main">
          <a:graphicData uri="http://schemas.openxmlformats.org/drawingml/2006/table">
            <a:tbl>
              <a:tblPr/>
              <a:tblGrid>
                <a:gridCol w="3009900"/>
                <a:gridCol w="1990725"/>
                <a:gridCol w="2838450"/>
                <a:gridCol w="3133725"/>
              </a:tblGrid>
              <a:tr h="581025">
                <a:tc>
                  <a:txBody>
                    <a:bodyPr lIns="114300" tIns="76200" rIns="114300" bIns="76200">
                      <a:noAutofit/>
                    </a:bodyPr>
                    <a:lstStyle/>
                    <a:p>
                      <a:pPr algn="l"/>
                      <a:r>
                        <a:rPr sz="1875" b="1">
                          <a:solidFill>
                            <a:srgbClr val="FFFFFF"/>
                          </a:solidFill>
                          <a:latin typeface="Arial"/>
                          <a:ea typeface="Arial"/>
                          <a:cs typeface="Arial"/>
                        </a:rPr>
                        <a:t>Property tier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Finder fee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Example first bill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proceeds</a:t>
                      </a:r>
                    </a:p>
                  </a:txBody>
                  <a:tcPr marL="91440" marR="91440" marT="45720" marB="45720" anchor="ctr">
                    <a:solidFill>
                      <a:srgbClr val="205938"/>
                    </a:solidFill>
                  </a:tcPr>
                </a:tc>
              </a:tr>
              <a:tr h="581025">
                <a:tc>
                  <a:txBody>
                    <a:bodyPr lIns="114300" tIns="76200" rIns="114300" bIns="76200">
                      <a:noAutofit/>
                    </a:bodyPr>
                    <a:lstStyle/>
                    <a:p>
                      <a:pPr algn="l"/>
                      <a:r>
                        <a:rPr sz="1875" b="0">
                          <a:solidFill>
                            <a:srgbClr val="14281D"/>
                          </a:solidFill>
                          <a:latin typeface="Arial"/>
                          <a:ea typeface="Arial"/>
                          <a:cs typeface="Arial"/>
                        </a:rPr>
                        <a:t>Typical</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$8.47</a:t>
                      </a:r>
                    </a:p>
                  </a:txBody>
                  <a:tcPr marL="91440" marR="91440" marT="45720" marB="45720" anchor="ctr">
                    <a:solidFill>
                      <a:srgbClr val="FFFFFF"/>
                    </a:solidFill>
                  </a:tcPr>
                </a:tc>
              </a:tr>
              <a:tr h="581025">
                <a:tc>
                  <a:txBody>
                    <a:bodyPr lIns="114300" tIns="76200" rIns="114300" bIns="76200">
                      <a:noAutofit/>
                    </a:bodyPr>
                    <a:lstStyle/>
                    <a:p>
                      <a:pPr algn="l"/>
                      <a:r>
                        <a:rPr sz="1875" b="0">
                          <a:solidFill>
                            <a:srgbClr val="14281D"/>
                          </a:solidFill>
                          <a:latin typeface="Arial"/>
                          <a:ea typeface="Arial"/>
                          <a:cs typeface="Arial"/>
                        </a:rPr>
                        <a:t>Large</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$81</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$8.86</a:t>
                      </a:r>
                    </a:p>
                  </a:txBody>
                  <a:tcPr marL="91440" marR="91440" marT="45720" marB="45720" anchor="ctr">
                    <a:solidFill>
                      <a:srgbClr val="F7F5EF"/>
                    </a:solidFill>
                  </a:tcPr>
                </a:tc>
              </a:tr>
              <a:tr h="581025">
                <a:tc>
                  <a:txBody>
                    <a:bodyPr lIns="114300" tIns="76200" rIns="114300" bIns="76200">
                      <a:noAutofit/>
                    </a:bodyPr>
                    <a:lstStyle/>
                    <a:p>
                      <a:pPr algn="l"/>
                      <a:r>
                        <a:rPr sz="1875" b="0">
                          <a:solidFill>
                            <a:srgbClr val="14281D"/>
                          </a:solidFill>
                          <a:latin typeface="Arial"/>
                          <a:ea typeface="Arial"/>
                          <a:cs typeface="Arial"/>
                        </a:rPr>
                        <a:t>Very large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$10.08</a:t>
                      </a:r>
                    </a:p>
                  </a:txBody>
                  <a:tcPr marL="91440" marR="91440" marT="45720" marB="45720" anchor="ctr">
                    <a:solidFill>
                      <a:srgbClr val="FFFFFF"/>
                    </a:solidFill>
                  </a:tcPr>
                </a:tc>
              </a:tr>
            </a:tbl>
          </a:graphicData>
        </a:graphic>
      </p:graphicFrame>
      <p:sp>
        <p:nvSpPr>
          <p:cNvPr id="6" name="Recurring fee: $4.49 minimum or 1% of the bill">
            <a:extLst xmlns:a="http://schemas.openxmlformats.org/drawingml/2006/main">
              <a:ext uri="{FF2B5EF4-FFF2-40B4-BE49-F238E27FC236}">
                <a16:creationId xmlns:a16="http://schemas.microsoft.com/office/drawing/2014/main" id="{E690EE8A-AD6C-465D-8A57-12FF1FD5B565}"/>
              </a:ext>
            </a:extLst>
          </p:cNvPr>
          <p:cNvSpPr>
            <a:spLocks xmlns:a="http://schemas.openxmlformats.org/drawingml/2006/main" noGrp="1"/>
          </p:cNvSpPr>
          <p:nvPr/>
        </p:nvSpPr>
        <p:spPr>
          <a:xfrm xmlns:a="http://schemas.openxmlformats.org/drawingml/2006/main">
            <a:off x="628650" y="48768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05938"/>
                </a:solidFill>
                <a:latin typeface="Arial"/>
                <a:ea typeface="Arial"/>
                <a:cs typeface="Arial"/>
              </a:defRPr>
            </a:pPr>
            <a:r>
              <a:rPr sz="2325" b="1">
                <a:solidFill>
                  <a:srgbClr val="205938"/>
                </a:solidFill>
                <a:latin typeface="Arial"/>
                <a:ea typeface="Arial"/>
                <a:cs typeface="Arial"/>
              </a:rPr>
              <a:t>Recurring fee: $4.49 minimum or 1% of the bill</a:t>
            </a:r>
          </a:p>
        </p:txBody>
      </p:sp>
      <p:sp>
        <p:nvSpPr>
          <p:cNvPr id="7" name="Providers also cover actual card / ACH processing ">
            <a:extLst xmlns:a="http://schemas.openxmlformats.org/drawingml/2006/main">
              <a:ext uri="{FF2B5EF4-FFF2-40B4-BE49-F238E27FC236}">
                <a16:creationId xmlns:a16="http://schemas.microsoft.com/office/drawing/2014/main" id="{A41BE4A8-0F24-4FFD-9D9D-95640081EA25}"/>
              </a:ext>
            </a:extLst>
          </p:cNvPr>
          <p:cNvSpPr>
            <a:spLocks xmlns:a="http://schemas.openxmlformats.org/drawingml/2006/main" noGrp="1"/>
          </p:cNvSpPr>
          <p:nvPr/>
        </p:nvSpPr>
        <p:spPr>
          <a:xfrm xmlns:a="http://schemas.openxmlformats.org/drawingml/2006/main">
            <a:off x="628650" y="54102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Providers also cover actual card / ACH processing on each service.</a:t>
            </a:r>
          </a:p>
        </p:txBody>
      </p:sp>
      <p:sp>
        <p:nvSpPr>
          <p:cNvPr id="8" name="First-job examples use basic mowing, property fact">
            <a:extLst xmlns:a="http://schemas.openxmlformats.org/drawingml/2006/main">
              <a:ext uri="{FF2B5EF4-FFF2-40B4-BE49-F238E27FC236}">
                <a16:creationId xmlns:a16="http://schemas.microsoft.com/office/drawing/2014/main" id="{9F664F3A-6C78-46FE-BF7C-A4A385D81B8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First-job examples use basic mowing, property factors of 1.00 / 1.35 / 1.80, and card processing. Proceeds exclude provider labor and materials. First-client finder waiver remains. Validate acceptance and actual yard-size bands.</a:t>
            </a:r>
          </a:p>
        </p:txBody>
      </p:sp>
    </p:spTree>
    <p:extLst>
      <p:ext uri="{BB962C8B-B14F-4D97-AF65-F5344CB8AC3E}">
        <p14:creationId xmlns:p14="http://schemas.microsoft.com/office/powerpoint/2010/main" val="1529432597"/>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343F4905-9D94-4B74-B19C-715AE2A6513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C21EB10F-5C16-4CDE-8F85-AA3CF2025EB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EE30ED59-B7F5-4FA8-99F5-3AF25F46F74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E9B4E3AB-EE71-44C4-BFFC-F57BC87AADE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98BAE954-E6D3-4A20-86FF-DF207151D370}"/>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C6D8DE7F-7BF3-4548-8BD1-4948F63D80C2}"/>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B7BD89A8-10F4-488F-A3CC-4A70B28D6410}"/>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46A6C3EB-3C72-4FE9-8E62-D0636917A788}"/>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finder fee follows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DF597B01-DFAB-4E6E-936A-A7A53DC1C5C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664574203"/>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98A382E1-E311-4A25-BE3C-E19B61F204E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AE7643D6-9D5A-42DD-8657-247969E1053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C986710A-1143-4E00-A8DE-EAA321D18CC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65AE4A38-AA9F-4E0B-BB4B-BA4D1DF9CA4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Service + processing fees apply.</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4FE10DE8-6DF9-41C6-A879-DAC1CA7010B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55965919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larger job pays a proportionate service fee">
            <a:extLst xmlns:a="http://schemas.openxmlformats.org/drawingml/2006/main">
              <a:ext uri="{FF2B5EF4-FFF2-40B4-BE49-F238E27FC236}">
                <a16:creationId xmlns:a16="http://schemas.microsoft.com/office/drawing/2014/main" id="{698BDE00-75DE-4145-903D-422F93B7EF5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larger job pays a proportionate service fee</a:t>
            </a:r>
          </a:p>
        </p:txBody>
      </p:sp>
      <p:sp>
        <p:nvSpPr>
          <p:cNvPr id="2" name="Recurring provider charges include the platform fe">
            <a:extLst xmlns:a="http://schemas.openxmlformats.org/drawingml/2006/main">
              <a:ext uri="{FF2B5EF4-FFF2-40B4-BE49-F238E27FC236}">
                <a16:creationId xmlns:a16="http://schemas.microsoft.com/office/drawing/2014/main" id="{1A99ED14-9A81-4D73-ABE2-580BA4725FD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Recurring provider charges include the platform fee and payment processing, with no finder fee on repeats.</a:t>
            </a:r>
          </a:p>
        </p:txBody>
      </p:sp>
      <p:sp>
        <p:nvSpPr>
          <p:cNvPr id="3" name="YardMatch">
            <a:extLst xmlns:a="http://schemas.openxmlformats.org/drawingml/2006/main">
              <a:ext uri="{FF2B5EF4-FFF2-40B4-BE49-F238E27FC236}">
                <a16:creationId xmlns:a16="http://schemas.microsoft.com/office/drawing/2014/main" id="{C16D7FF7-617A-4D50-8B0F-0626A504D9E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27933AF3-62B1-41DD-8FB9-C79C0125B0D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2190750"/>
                <a:gridCol w="1809750"/>
                <a:gridCol w="2095500"/>
                <a:gridCol w="2095500"/>
              </a:tblGrid>
              <a:tr h="519113">
                <a:tc>
                  <a:txBody>
                    <a:bodyPr lIns="114300" tIns="76200" rIns="114300" bIns="76200">
                      <a:noAutofit/>
                    </a:bodyPr>
                    <a:lstStyle/>
                    <a:p>
                      <a:pPr algn="l"/>
                      <a:r>
                        <a:rPr sz="1800"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Platform fee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card</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if ACH</a:t>
                      </a:r>
                    </a:p>
                  </a:txBody>
                  <a:tcPr marL="91440" marR="91440" marT="45720" marB="45720" anchor="ctr">
                    <a:solidFill>
                      <a:srgbClr val="205938"/>
                    </a:solidFill>
                  </a:tcPr>
                </a:tc>
              </a:tr>
              <a:tr h="519113">
                <a:tc>
                  <a:txBody>
                    <a:bodyPr lIns="114300" tIns="76200" rIns="114300" bIns="76200">
                      <a:noAutofit/>
                    </a:bodyPr>
                    <a:lstStyle/>
                    <a:p>
                      <a:pPr algn="l"/>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$4.49</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$6.53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$4.97</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$4.49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$7.69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$5.29</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$4.49</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$13.49</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$6.89</a:t>
                      </a:r>
                    </a:p>
                  </a:txBody>
                  <a:tcPr marL="91440" marR="91440" marT="45720" marB="45720" anchor="ctr">
                    <a:solidFill>
                      <a:srgbClr val="FFFFFF"/>
                    </a:solidFill>
                  </a:tcPr>
                </a:tc>
              </a:tr>
              <a:tr h="519113">
                <a:tc>
                  <a:txBody>
                    <a:bodyPr lIns="114300" tIns="76200" rIns="114300" bIns="76200">
                      <a:noAutofit/>
                    </a:bodyPr>
                    <a:lstStyle/>
                    <a:p>
                      <a:pPr algn="l"/>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$39.30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$15.00</a:t>
                      </a:r>
                    </a:p>
                  </a:txBody>
                  <a:tcPr marL="91440" marR="91440" marT="45720" marB="45720" anchor="ctr">
                    <a:solidFill>
                      <a:srgbClr val="F7F5EF"/>
                    </a:solidFill>
                  </a:tcPr>
                </a:tc>
              </a:tr>
              <a:tr h="519113">
                <a:tc>
                  <a:txBody>
                    <a:bodyPr lIns="114300" tIns="76200" rIns="114300" bIns="76200">
                      <a:noAutofit/>
                    </a:bodyPr>
                    <a:lstStyle/>
                    <a:p>
                      <a:pPr algn="l"/>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$97.80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$30.00</a:t>
                      </a:r>
                    </a:p>
                  </a:txBody>
                  <a:tcPr marL="91440" marR="91440" marT="45720" marB="45720" anchor="ctr">
                    <a:solidFill>
                      <a:srgbClr val="FFFFFF"/>
                    </a:solidFill>
                  </a:tcPr>
                </a:tc>
              </a:tr>
            </a:tbl>
          </a:graphicData>
        </a:graphic>
      </p:graphicFrame>
      <p:sp>
        <p:nvSpPr>
          <p:cNvPr id="6" name="$3.52">
            <a:extLst xmlns:a="http://schemas.openxmlformats.org/drawingml/2006/main">
              <a:ext uri="{FF2B5EF4-FFF2-40B4-BE49-F238E27FC236}">
                <a16:creationId xmlns:a16="http://schemas.microsoft.com/office/drawing/2014/main" id="{1BCA875C-247C-4D9E-8739-B55B4E92E998}"/>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$3.52</a:t>
            </a:r>
          </a:p>
        </p:txBody>
      </p:sp>
      <p:sp>
        <p:nvSpPr>
          <p:cNvPr id="7" name="Average repeat contribution in the 2031 base mix">
            <a:extLst xmlns:a="http://schemas.openxmlformats.org/drawingml/2006/main">
              <a:ext uri="{FF2B5EF4-FFF2-40B4-BE49-F238E27FC236}">
                <a16:creationId xmlns:a16="http://schemas.microsoft.com/office/drawing/2014/main" id="{FCBAB283-49B8-4165-85B9-57F015169EC9}"/>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Recurring platform pricing changes above $449. A b">
            <a:extLst xmlns:a="http://schemas.openxmlformats.org/drawingml/2006/main">
              <a:ext uri="{FF2B5EF4-FFF2-40B4-BE49-F238E27FC236}">
                <a16:creationId xmlns:a16="http://schemas.microsoft.com/office/drawing/2014/main" id="{3BDF3B60-EE06-4F1A-8C42-51169DAB1F5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Recurring platform pricing changes above $449. A bundle on one invoice counts once. Processing recovery is excluded from net platform revenue. Fees still require provider acceptance testing.</a:t>
            </a:r>
          </a:p>
        </p:txBody>
      </p:sp>
    </p:spTree>
    <p:extLst>
      <p:ext uri="{BB962C8B-B14F-4D97-AF65-F5344CB8AC3E}">
        <p14:creationId xmlns:p14="http://schemas.microsoft.com/office/powerpoint/2010/main" val="178838296"/>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7836382A-6CF0-4ABC-B623-DCF116EEF47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5809B885-6CD2-415A-A8D8-9441B1F8139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FB5372EC-7682-42D3-891D-2494FAA0CA8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C08DB018-7EDC-441F-B16C-07C9E55C7B8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6EAB8DCE-4651-46B4-AC68-7EF59A1A106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pay the service fee plus processing, with no new finder fee for the same provider.</a:t>
            </a:r>
          </a:p>
        </p:txBody>
      </p:sp>
    </p:spTree>
    <p:extLst>
      <p:ext uri="{BB962C8B-B14F-4D97-AF65-F5344CB8AC3E}">
        <p14:creationId xmlns:p14="http://schemas.microsoft.com/office/powerpoint/2010/main" val="792336137"/>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3484E28E-EE10-4AEF-A909-18414BC5440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Named town launches, service mix and 3% annual pri">
            <a:extLst xmlns:a="http://schemas.openxmlformats.org/drawingml/2006/main">
              <a:ext uri="{FF2B5EF4-FFF2-40B4-BE49-F238E27FC236}">
                <a16:creationId xmlns:a16="http://schemas.microsoft.com/office/drawing/2014/main" id="{A84B1460-1107-4696-9752-B25EDE2A9F5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Named town launches, service mix and 3% annual price escalation determine the weighted average.</a:t>
            </a:r>
          </a:p>
        </p:txBody>
      </p:sp>
      <p:sp>
        <p:nvSpPr>
          <p:cNvPr id="3" name="YardMatch">
            <a:extLst xmlns:a="http://schemas.openxmlformats.org/drawingml/2006/main">
              <a:ext uri="{FF2B5EF4-FFF2-40B4-BE49-F238E27FC236}">
                <a16:creationId xmlns:a16="http://schemas.microsoft.com/office/drawing/2014/main" id="{BC1A7263-80EB-4A72-B654-DEC0B7D2870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3688E5A4-5B5B-4AB6-BABB-0E04D28165F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E8FB0F5F-623F-46DE-921B-C1C1A3830D3D}"/>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A35A9B6E-4C69-4673-BA85-850BB0D66CC5}"/>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A9940B74-59CB-4E29-A713-AC106714F9B9}"/>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FE7D4D53-2B3B-4655-87E3-466BB3E0DB14}"/>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$82.87</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$98.01</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$117.84</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$91.82</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$112.45</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$138.69</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752CD3A2-0866-4334-A12F-137D5683FAF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Town / lot weights stay correlated. Pricing assumptions are editable and need provider quotes.</a:t>
            </a:r>
          </a:p>
        </p:txBody>
      </p:sp>
    </p:spTree>
    <p:extLst>
      <p:ext uri="{BB962C8B-B14F-4D97-AF65-F5344CB8AC3E}">
        <p14:creationId xmlns:p14="http://schemas.microsoft.com/office/powerpoint/2010/main" val="1881715114"/>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rnegat demand now has a defined funnel">
            <a:extLst xmlns:a="http://schemas.openxmlformats.org/drawingml/2006/main">
              <a:ext uri="{FF2B5EF4-FFF2-40B4-BE49-F238E27FC236}">
                <a16:creationId xmlns:a16="http://schemas.microsoft.com/office/drawing/2014/main" id="{A5899306-D361-4A60-8BAB-DAE41B2E257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demand now has a defined funnel</a:t>
            </a:r>
          </a:p>
        </p:txBody>
      </p:sp>
      <p:sp>
        <p:nvSpPr>
          <p:cNvPr id="2" name="Census facts anchor the denominator. Lawn eligibil">
            <a:extLst xmlns:a="http://schemas.openxmlformats.org/drawingml/2006/main">
              <a:ext uri="{FF2B5EF4-FFF2-40B4-BE49-F238E27FC236}">
                <a16:creationId xmlns:a16="http://schemas.microsoft.com/office/drawing/2014/main" id="{79655E59-3033-4301-B85B-9A9D8F2BC4B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facts anchor the denominator. Lawn eligibility and willingness to hire are assumptions.</a:t>
            </a:r>
          </a:p>
        </p:txBody>
      </p:sp>
      <p:sp>
        <p:nvSpPr>
          <p:cNvPr id="3" name="YardMatch">
            <a:extLst xmlns:a="http://schemas.openxmlformats.org/drawingml/2006/main">
              <a:ext uri="{FF2B5EF4-FFF2-40B4-BE49-F238E27FC236}">
                <a16:creationId xmlns:a16="http://schemas.microsoft.com/office/drawing/2014/main" id="{A7C0D8C3-479B-4C1A-B997-F8B4985C2C1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F5C5241F-8780-47A3-B476-2C03A9A90D7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333625"/>
          <a:ext xmlns:a="http://schemas.openxmlformats.org/drawingml/2006/main" cx="10972800" cy="3152775"/>
        </p:xfrm>
        <a:graphic xmlns:a="http://schemas.openxmlformats.org/drawingml/2006/main">
          <a:graphicData uri="http://schemas.openxmlformats.org/drawingml/2006/table">
            <a:tbl>
              <a:tblPr/>
              <a:tblGrid>
                <a:gridCol w="8210550"/>
                <a:gridCol w="2762250"/>
              </a:tblGrid>
              <a:tr h="525463">
                <a:tc>
                  <a:txBody>
                    <a:bodyPr lIns="114300" tIns="76200" rIns="114300" bIns="76200">
                      <a:noAutofit/>
                    </a:bodyPr>
                    <a:lstStyle/>
                    <a:p>
                      <a:pPr algn="l"/>
                      <a:r>
                        <a:rPr sz="1875" b="1">
                          <a:solidFill>
                            <a:srgbClr val="FFFFFF"/>
                          </a:solidFill>
                          <a:latin typeface="Arial"/>
                          <a:ea typeface="Arial"/>
                          <a:cs typeface="Arial"/>
                        </a:rPr>
                        <a:t>Barnegat launch funnel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Households</a:t>
                      </a:r>
                    </a:p>
                  </a:txBody>
                  <a:tcPr marL="91440" marR="91440" marT="45720" marB="45720" anchor="ctr">
                    <a:solidFill>
                      <a:srgbClr val="205938"/>
                    </a:solidFill>
                  </a:tcPr>
                </a:tc>
              </a:tr>
              <a:tr h="525463">
                <a:tc>
                  <a:txBody>
                    <a:bodyPr lIns="114300" tIns="76200" rIns="114300" bIns="76200">
                      <a:noAutofit/>
                    </a:bodyPr>
                    <a:lstStyle/>
                    <a:p>
                      <a:pPr algn="l"/>
                      <a:r>
                        <a:rPr sz="1875" b="0">
                          <a:solidFill>
                            <a:srgbClr val="14281D"/>
                          </a:solidFill>
                          <a:latin typeface="Arial"/>
                          <a:ea typeface="Arial"/>
                          <a:cs typeface="Arial"/>
                        </a:rPr>
                        <a:t>Census occupied households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10,265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Owner-occupied estimate: 88%</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9,033</a:t>
                      </a:r>
                    </a:p>
                  </a:txBody>
                  <a:tcPr marL="91440" marR="91440" marT="45720" marB="45720" anchor="ctr">
                    <a:solidFill>
                      <a:srgbClr val="F7F5EF"/>
                    </a:solidFill>
                  </a:tcPr>
                </a:tc>
              </a:tr>
              <a:tr h="525463">
                <a:tc>
                  <a:txBody>
                    <a:bodyPr lIns="114300" tIns="76200" rIns="114300" bIns="76200">
                      <a:noAutofit/>
                    </a:bodyPr>
                    <a:lstStyle/>
                    <a:p>
                      <a:pPr algn="l"/>
                      <a:r>
                        <a:rPr sz="1875" b="0">
                          <a:solidFill>
                            <a:srgbClr val="14281D"/>
                          </a:solidFill>
                          <a:latin typeface="Arial"/>
                          <a:ea typeface="Arial"/>
                          <a:cs typeface="Arial"/>
                        </a:rPr>
                        <a:t>Assumed lawn-care eligibility: 75%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6,775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Assumed propensity to hire: 45%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3,049</a:t>
                      </a:r>
                    </a:p>
                  </a:txBody>
                  <a:tcPr marL="91440" marR="91440" marT="45720" marB="45720" anchor="ctr">
                    <a:solidFill>
                      <a:srgbClr val="F7F5EF"/>
                    </a:solidFill>
                  </a:tcPr>
                </a:tc>
              </a:tr>
              <a:tr h="525463">
                <a:tc>
                  <a:txBody>
                    <a:bodyPr lIns="114300" tIns="76200" rIns="114300" bIns="76200">
                      <a:noAutofit/>
                    </a:bodyPr>
                    <a:lstStyle/>
                    <a:p>
                      <a:pPr algn="l"/>
                      <a:r>
                        <a:rPr sz="1875" b="1">
                          <a:solidFill>
                            <a:srgbClr val="14281D"/>
                          </a:solidFill>
                          <a:latin typeface="Arial"/>
                          <a:ea typeface="Arial"/>
                          <a:cs typeface="Arial"/>
                        </a:rPr>
                        <a:t>2027 active customers after supply cap</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240</a:t>
                      </a:r>
                    </a:p>
                  </a:txBody>
                  <a:tcPr marL="91440" marR="91440" marT="45720" marB="45720" anchor="ctr">
                    <a:solidFill>
                      <a:srgbClr val="E8EDDF"/>
                    </a:solidFill>
                  </a:tcPr>
                </a:tc>
              </a:tr>
            </a:tbl>
          </a:graphicData>
        </a:graphic>
      </p:graphicFrame>
      <p:sp>
        <p:nvSpPr>
          <p:cNvPr id="6" name="Base acquisition starts at 8% of the never-acquire">
            <a:extLst xmlns:a="http://schemas.openxmlformats.org/drawingml/2006/main">
              <a:ext uri="{FF2B5EF4-FFF2-40B4-BE49-F238E27FC236}">
                <a16:creationId xmlns:a16="http://schemas.microsoft.com/office/drawing/2014/main" id="{1532BDD0-9ED1-4871-A0E1-B6C819A6A73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acquisition starts at 8% of the never-acquired outsourcing pool. Six planned providers × 40 households cap launch at 240. No provider commitments or measured hiring propensity are claimed.</a:t>
            </a:r>
          </a:p>
        </p:txBody>
      </p:sp>
    </p:spTree>
    <p:extLst>
      <p:ext uri="{BB962C8B-B14F-4D97-AF65-F5344CB8AC3E}">
        <p14:creationId xmlns:p14="http://schemas.microsoft.com/office/powerpoint/2010/main" val="1072217281"/>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 named rollout from Ocean to Monmouth County">
            <a:extLst xmlns:a="http://schemas.openxmlformats.org/drawingml/2006/main">
              <a:ext uri="{FF2B5EF4-FFF2-40B4-BE49-F238E27FC236}">
                <a16:creationId xmlns:a16="http://schemas.microsoft.com/office/drawing/2014/main" id="{442191FD-1286-48AD-9E5C-0B50DF98EF9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named rollout from Ocean to Monmouth County</a:t>
            </a:r>
          </a:p>
        </p:txBody>
      </p:sp>
      <p:sp>
        <p:nvSpPr>
          <p:cNvPr id="2" name="Illustrative launch years. Each town has its own d">
            <a:extLst xmlns:a="http://schemas.openxmlformats.org/drawingml/2006/main">
              <a:ext uri="{FF2B5EF4-FFF2-40B4-BE49-F238E27FC236}">
                <a16:creationId xmlns:a16="http://schemas.microsoft.com/office/drawing/2014/main" id="{6B1B8112-37B6-403F-BCEE-0D3AA14D7AE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launch years. Each town has its own demand pool, provider plan, acquisition cost and local budget.</a:t>
            </a:r>
          </a:p>
        </p:txBody>
      </p:sp>
      <p:sp>
        <p:nvSpPr>
          <p:cNvPr id="3" name="YardMatch">
            <a:extLst xmlns:a="http://schemas.openxmlformats.org/drawingml/2006/main">
              <a:ext uri="{FF2B5EF4-FFF2-40B4-BE49-F238E27FC236}">
                <a16:creationId xmlns:a16="http://schemas.microsoft.com/office/drawing/2014/main" id="{50872ADB-D435-4E3A-B14A-C934C7BC844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49CAE0F1-6526-46CA-A897-34BEDA7F9BB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33625"/>
          <a:ext xmlns:a="http://schemas.openxmlformats.org/drawingml/2006/main" cx="10972800" cy="3381375"/>
        </p:xfrm>
        <a:graphic xmlns:a="http://schemas.openxmlformats.org/drawingml/2006/main">
          <a:graphicData uri="http://schemas.openxmlformats.org/drawingml/2006/table">
            <a:tbl>
              <a:tblPr/>
              <a:tblGrid>
                <a:gridCol w="1466850"/>
                <a:gridCol w="7667625"/>
                <a:gridCol w="1838325"/>
              </a:tblGrid>
              <a:tr h="422672">
                <a:tc>
                  <a:txBody>
                    <a:bodyPr lIns="114300" tIns="76200" rIns="114300" bIns="76200">
                      <a:noAutofit/>
                    </a:bodyPr>
                    <a:lstStyle/>
                    <a:p>
                      <a:pPr algn="l"/>
                      <a:r>
                        <a:rPr sz="1800" b="1">
                          <a:solidFill>
                            <a:srgbClr val="FFFFFF"/>
                          </a:solidFill>
                          <a:latin typeface="Arial"/>
                          <a:ea typeface="Arial"/>
                          <a:cs typeface="Arial"/>
                        </a:rPr>
                        <a:t>Year</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New towns</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towns</a:t>
                      </a:r>
                    </a:p>
                  </a:txBody>
                  <a:tcPr marL="91440" marR="91440" marT="45720" marB="45720" anchor="ctr">
                    <a:solidFill>
                      <a:srgbClr val="205938"/>
                    </a:solidFill>
                  </a:tcPr>
                </a:tc>
              </a:tr>
              <a:tr h="422672">
                <a:tc>
                  <a:txBody>
                    <a:bodyPr lIns="114300" tIns="76200" rIns="114300" bIns="76200">
                      <a:noAutofit/>
                    </a:bodyPr>
                    <a:lstStyle/>
                    <a:p>
                      <a:pPr algn="l"/>
                      <a:r>
                        <a:rPr sz="1800" b="0">
                          <a:solidFill>
                            <a:srgbClr val="14281D"/>
                          </a:solidFill>
                          <a:latin typeface="Arial"/>
                          <a:ea typeface="Arial"/>
                          <a:cs typeface="Arial"/>
                        </a:rPr>
                        <a:t>2027</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2028</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Stafford, Lacey, Ocean / Waretown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2029</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Berkeley, Toms River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2030</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Brick, Jackson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2031</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Howell, Wall</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2032</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Middletown, Holmdel</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Colts Neck, Rumson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bl>
          </a:graphicData>
        </a:graphic>
      </p:graphicFrame>
      <p:sp>
        <p:nvSpPr>
          <p:cNvPr id="6" name="Municipal boundaries avoid overlapping CDPs or cou">
            <a:extLst xmlns:a="http://schemas.openxmlformats.org/drawingml/2006/main">
              <a:ext uri="{FF2B5EF4-FFF2-40B4-BE49-F238E27FC236}">
                <a16:creationId xmlns:a16="http://schemas.microsoft.com/office/drawing/2014/main" id="{0C8B3367-6970-4CC9-8D5F-D85C48295EC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Municipal boundaries avoid overlapping CDPs or county totals. Ocean / Waretown refers to Ocean township in Ocean County. Launches remain conditional on supply, paid retention and service reliability.</a:t>
            </a:r>
          </a:p>
        </p:txBody>
      </p:sp>
    </p:spTree>
    <p:extLst>
      <p:ext uri="{BB962C8B-B14F-4D97-AF65-F5344CB8AC3E}">
        <p14:creationId xmlns:p14="http://schemas.microsoft.com/office/powerpoint/2010/main" val="737273544"/>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ffluent towns affect demand and job value">
            <a:extLst xmlns:a="http://schemas.openxmlformats.org/drawingml/2006/main">
              <a:ext uri="{FF2B5EF4-FFF2-40B4-BE49-F238E27FC236}">
                <a16:creationId xmlns:a16="http://schemas.microsoft.com/office/drawing/2014/main" id="{9F7B06A3-8510-4831-B603-9E223AA2C07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Affluent towns affect demand and job value</a:t>
            </a:r>
          </a:p>
        </p:txBody>
      </p:sp>
      <p:sp>
        <p:nvSpPr>
          <p:cNvPr id="2" name="Income and home values are observed. Outsourcing, ">
            <a:extLst xmlns:a="http://schemas.openxmlformats.org/drawingml/2006/main">
              <a:ext uri="{FF2B5EF4-FFF2-40B4-BE49-F238E27FC236}">
                <a16:creationId xmlns:a16="http://schemas.microsoft.com/office/drawing/2014/main" id="{25BA8640-16C1-4C2C-8FC1-109DC7A7E02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Income and home values are observed. Outsourcing, yard sizes and price tiers remain explicit hypotheses.</a:t>
            </a:r>
          </a:p>
        </p:txBody>
      </p:sp>
      <p:sp>
        <p:nvSpPr>
          <p:cNvPr id="3" name="YardMatch">
            <a:extLst xmlns:a="http://schemas.openxmlformats.org/drawingml/2006/main">
              <a:ext uri="{FF2B5EF4-FFF2-40B4-BE49-F238E27FC236}">
                <a16:creationId xmlns:a16="http://schemas.microsoft.com/office/drawing/2014/main" id="{2E2C23AE-E02E-42E8-A654-1FD54607310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C5945580-95A5-4EEC-86EC-80FA69AA061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
          <p:cNvGraphicFramePr/>
          <p:nvPr/>
        </p:nvGraphicFramePr>
        <p:xfrm>
          <a:off xmlns:a="http://schemas.openxmlformats.org/drawingml/2006/main" x="609600" y="2333625"/>
          <a:ext xmlns:a="http://schemas.openxmlformats.org/drawingml/2006/main" cx="10972800" cy="3267075"/>
        </p:xfrm>
        <a:graphic xmlns:a="http://schemas.openxmlformats.org/drawingml/2006/main">
          <a:graphicData uri="http://schemas.openxmlformats.org/drawingml/2006/table">
            <a:tbl>
              <a:tblPr/>
              <a:tblGrid>
                <a:gridCol w="2571750"/>
                <a:gridCol w="2381250"/>
                <a:gridCol w="2190750"/>
                <a:gridCol w="3829050"/>
              </a:tblGrid>
              <a:tr h="466725">
                <a:tc>
                  <a:txBody>
                    <a:bodyPr lIns="114300" tIns="76200" rIns="114300" bIns="76200">
                      <a:noAutofit/>
                    </a:bodyPr>
                    <a:lstStyle/>
                    <a:p>
                      <a:pPr algn="l"/>
                      <a:r>
                        <a:rPr sz="1725" b="1">
                          <a:solidFill>
                            <a:srgbClr val="FFFFFF"/>
                          </a:solidFill>
                          <a:latin typeface="Arial"/>
                          <a:ea typeface="Arial"/>
                          <a:cs typeface="Arial"/>
                        </a:rPr>
                        <a:t>Town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Assumed hiring</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Large / very large lots</a:t>
                      </a:r>
                    </a:p>
                  </a:txBody>
                  <a:tcPr marL="91440" marR="91440" marT="45720" marB="45720" anchor="ctr">
                    <a:solidFill>
                      <a:srgbClr val="205938"/>
                    </a:solidFill>
                  </a:tcPr>
                </a:tc>
              </a:tr>
              <a:tr h="466725">
                <a:tc>
                  <a:txBody>
                    <a:bodyPr lIns="114300" tIns="76200" rIns="114300" bIns="76200">
                      <a:noAutofit/>
                    </a:bodyPr>
                    <a:lstStyle/>
                    <a:p>
                      <a:pPr algn="l"/>
                      <a:r>
                        <a:rPr sz="1725"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 / 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 / 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35% / 15%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Holmdel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Colts Neck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40% / 40%</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Rumson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20%</a:t>
                      </a:r>
                    </a:p>
                  </a:txBody>
                  <a:tcPr marL="91440" marR="91440" marT="45720" marB="45720" anchor="ctr">
                    <a:solidFill>
                      <a:srgbClr val="F7F5EF"/>
                    </a:solidFill>
                  </a:tcPr>
                </a:tc>
              </a:tr>
            </a:tbl>
          </a:graphicData>
        </a:graphic>
      </p:graphicFrame>
      <p:sp>
        <p:nvSpPr>
          <p:cNvPr id="6" name="Hiring share applies only to eligible owner househ">
            <a:extLst xmlns:a="http://schemas.openxmlformats.org/drawingml/2006/main">
              <a:ext uri="{FF2B5EF4-FFF2-40B4-BE49-F238E27FC236}">
                <a16:creationId xmlns:a16="http://schemas.microsoft.com/office/drawing/2014/main" id="{15969428-2790-4151-8304-75DA777B223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Hiring share applies only to eligible owner households. Lot shares apply to modeled customers, not all housing. Premium towns also have higher cash CAC assumptions; no automatic retention improvement is assumed.</a:t>
            </a:r>
          </a:p>
        </p:txBody>
      </p:sp>
    </p:spTree>
    <p:extLst>
      <p:ext uri="{BB962C8B-B14F-4D97-AF65-F5344CB8AC3E}">
        <p14:creationId xmlns:p14="http://schemas.microsoft.com/office/powerpoint/2010/main" val="1520916124"/>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plan is bounded by demand and supply">
            <a:extLst xmlns:a="http://schemas.openxmlformats.org/drawingml/2006/main">
              <a:ext uri="{FF2B5EF4-FFF2-40B4-BE49-F238E27FC236}">
                <a16:creationId xmlns:a16="http://schemas.microsoft.com/office/drawing/2014/main" id="{5D79ED12-ACE6-4205-91FF-0EBA50C66EF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plan is bounded by demand and supply</a:t>
            </a:r>
          </a:p>
        </p:txBody>
      </p:sp>
      <p:sp>
        <p:nvSpPr>
          <p:cNvPr id="2" name="The household curve is now a sum of town cohorts, ">
            <a:extLst xmlns:a="http://schemas.openxmlformats.org/drawingml/2006/main">
              <a:ext uri="{FF2B5EF4-FFF2-40B4-BE49-F238E27FC236}">
                <a16:creationId xmlns:a16="http://schemas.microsoft.com/office/drawing/2014/main" id="{449FA52E-6C94-4454-973E-6F72BFC270F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household curve is now a sum of town cohorts, with launch timing and local capacity enforced.</a:t>
            </a:r>
          </a:p>
        </p:txBody>
      </p:sp>
      <p:sp>
        <p:nvSpPr>
          <p:cNvPr id="3" name="YardMatch">
            <a:extLst xmlns:a="http://schemas.openxmlformats.org/drawingml/2006/main">
              <a:ext uri="{FF2B5EF4-FFF2-40B4-BE49-F238E27FC236}">
                <a16:creationId xmlns:a16="http://schemas.microsoft.com/office/drawing/2014/main" id="{A4C75FDB-FB18-407C-AA1A-DFF02BFB759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2EC2D7DE-44A9-4572-9374-CC2EB20FBC54}"/>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33625"/>
          <a:ext xmlns:a="http://schemas.openxmlformats.org/drawingml/2006/main" cx="10972800" cy="3105150"/>
        </p:xfrm>
        <a:graphic xmlns:a="http://schemas.openxmlformats.org/drawingml/2006/main">
          <a:graphicData uri="http://schemas.openxmlformats.org/drawingml/2006/table">
            <a:tbl>
              <a:tblPr/>
              <a:tblGrid>
                <a:gridCol w="4657725"/>
                <a:gridCol w="2105025"/>
                <a:gridCol w="2105025"/>
                <a:gridCol w="2105025"/>
              </a:tblGrid>
              <a:tr h="517525">
                <a:tc>
                  <a:txBody>
                    <a:bodyPr lIns="114300" tIns="76200" rIns="114300" bIns="76200">
                      <a:noAutofit/>
                    </a:bodyPr>
                    <a:lstStyle/>
                    <a:p>
                      <a:pPr algn="l"/>
                      <a:r>
                        <a:rPr sz="1800" b="1">
                          <a:solidFill>
                            <a:srgbClr val="FFFFFF"/>
                          </a:solidFill>
                          <a:latin typeface="Arial"/>
                          <a:ea typeface="Arial"/>
                          <a:cs typeface="Arial"/>
                        </a:rPr>
                        <a:t>Base regional forecast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2033</a:t>
                      </a:r>
                    </a:p>
                  </a:txBody>
                  <a:tcPr marL="91440" marR="91440" marT="45720" marB="45720" anchor="ctr">
                    <a:solidFill>
                      <a:srgbClr val="205938"/>
                    </a:solidFill>
                  </a:tcPr>
                </a:tc>
              </a:tr>
              <a:tr h="517525">
                <a:tc>
                  <a:txBody>
                    <a:bodyPr lIns="114300" tIns="76200" rIns="114300" bIns="76200">
                      <a:noAutofit/>
                    </a:bodyPr>
                    <a:lstStyle/>
                    <a:p>
                      <a:pPr algn="l"/>
                      <a:r>
                        <a:rPr sz="1800" b="0">
                          <a:solidFill>
                            <a:srgbClr val="14281D"/>
                          </a:solidFill>
                          <a:latin typeface="Arial"/>
                          <a:ea typeface="Arial"/>
                          <a:cs typeface="Arial"/>
                        </a:rPr>
                        <a:t>Launched towns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r h="517525">
                <a:tc>
                  <a:txBody>
                    <a:bodyPr lIns="114300" tIns="76200" rIns="114300" bIns="76200">
                      <a:noAutofit/>
                    </a:bodyPr>
                    <a:lstStyle/>
                    <a:p>
                      <a:pPr algn="l"/>
                      <a:r>
                        <a:rPr sz="1800" b="0">
                          <a:solidFill>
                            <a:srgbClr val="14281D"/>
                          </a:solidFill>
                          <a:latin typeface="Arial"/>
                          <a:ea typeface="Arial"/>
                          <a:cs typeface="Arial"/>
                        </a:rPr>
                        <a:t>Assumed outsourcing households</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3,049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44,015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71,683</a:t>
                      </a:r>
                    </a:p>
                  </a:txBody>
                  <a:tcPr marL="91440" marR="91440" marT="45720" marB="45720" anchor="ctr">
                    <a:solidFill>
                      <a:srgbClr val="F7F5EF"/>
                    </a:solidFill>
                  </a:tcPr>
                </a:tc>
              </a:tr>
              <a:tr h="517525">
                <a:tc>
                  <a:txBody>
                    <a:bodyPr lIns="114300" tIns="76200" rIns="114300" bIns="76200">
                      <a:noAutofit/>
                    </a:bodyPr>
                    <a:lstStyle/>
                    <a:p>
                      <a:pPr algn="l"/>
                      <a:r>
                        <a:rPr sz="1800" b="1">
                          <a:solidFill>
                            <a:srgbClr val="14281D"/>
                          </a:solidFill>
                          <a:latin typeface="Arial"/>
                          <a:ea typeface="Arial"/>
                          <a:cs typeface="Arial"/>
                        </a:rPr>
                        <a:t>Active YardMatch households</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240</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5,592</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16,570</a:t>
                      </a:r>
                    </a:p>
                  </a:txBody>
                  <a:tcPr marL="91440" marR="91440" marT="45720" marB="45720" anchor="ctr">
                    <a:solidFill>
                      <a:srgbClr val="E8EDDF"/>
                    </a:solidFill>
                  </a:tcPr>
                </a:tc>
              </a:tr>
              <a:tr h="517525">
                <a:tc>
                  <a:txBody>
                    <a:bodyPr lIns="114300" tIns="76200" rIns="114300" bIns="76200">
                      <a:noAutofit/>
                    </a:bodyPr>
                    <a:lstStyle/>
                    <a:p>
                      <a:pPr algn="l"/>
                      <a:r>
                        <a:rPr sz="1800" b="0">
                          <a:solidFill>
                            <a:srgbClr val="14281D"/>
                          </a:solidFill>
                          <a:latin typeface="Arial"/>
                          <a:ea typeface="Arial"/>
                          <a:cs typeface="Arial"/>
                        </a:rPr>
                        <a:t>Qualified household capacity</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5,920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18,600</a:t>
                      </a:r>
                    </a:p>
                  </a:txBody>
                  <a:tcPr marL="91440" marR="91440" marT="45720" marB="45720" anchor="ctr">
                    <a:solidFill>
                      <a:srgbClr val="F7F5EF"/>
                    </a:solidFill>
                  </a:tcPr>
                </a:tc>
              </a:tr>
              <a:tr h="517525">
                <a:tc>
                  <a:txBody>
                    <a:bodyPr lIns="114300" tIns="76200" rIns="114300" bIns="76200">
                      <a:noAutofit/>
                    </a:bodyPr>
                    <a:lstStyle/>
                    <a:p>
                      <a:pPr algn="l"/>
                      <a:r>
                        <a:rPr sz="1800" b="0">
                          <a:solidFill>
                            <a:srgbClr val="14281D"/>
                          </a:solidFill>
                          <a:latin typeface="Arial"/>
                          <a:ea typeface="Arial"/>
                          <a:cs typeface="Arial"/>
                        </a:rPr>
                        <a:t>Local launch + annual coverage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$109,273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$163,585</a:t>
                      </a:r>
                    </a:p>
                  </a:txBody>
                  <a:tcPr marL="91440" marR="91440" marT="45720" marB="45720" anchor="ctr">
                    <a:solidFill>
                      <a:srgbClr val="FFFFFF"/>
                    </a:solidFill>
                  </a:tcPr>
                </a:tc>
              </a:tr>
            </a:tbl>
          </a:graphicData>
        </a:graphic>
      </p:graphicFrame>
      <p:sp>
        <p:nvSpPr>
          <p:cNvPr id="6" name="215,396 Census households across 14 towns support ">
            <a:extLst xmlns:a="http://schemas.openxmlformats.org/drawingml/2006/main">
              <a:ext uri="{FF2B5EF4-FFF2-40B4-BE49-F238E27FC236}">
                <a16:creationId xmlns:a16="http://schemas.microsoft.com/office/drawing/2014/main" id="{7861FC9B-C7F5-4602-8D0B-86435A9A3F1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215,396 Census households across 14 towns support an assumed 71,683-household outsourcing pool. The base captures 23% as active customers by 2033. No unnamed national expansion is included.</a:t>
            </a:r>
          </a:p>
        </p:txBody>
      </p:sp>
    </p:spTree>
    <p:extLst>
      <p:ext uri="{BB962C8B-B14F-4D97-AF65-F5344CB8AC3E}">
        <p14:creationId xmlns:p14="http://schemas.microsoft.com/office/powerpoint/2010/main" val="493302488"/>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9DC3E167-C4D3-4006-AE1E-BB0C177934B4}"/>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72747860-F188-4595-886B-6097EEE4F4C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D84848B6-1A52-4E6F-AE05-BE9EF27E400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BF0AEB5C-94ED-4DE4-AA0B-58CA095A176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sp>
        <p:nvSpPr>
          <p:cNvPr id="5" name="1. Concentrated provider launch">
            <a:extLst xmlns:a="http://schemas.openxmlformats.org/drawingml/2006/main">
              <a:ext uri="{FF2B5EF4-FFF2-40B4-BE49-F238E27FC236}">
                <a16:creationId xmlns:a16="http://schemas.microsoft.com/office/drawing/2014/main" id="{32BDE26C-C144-4DC6-968F-880FC398114B}"/>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25AB4D01-27F6-4019-BE6B-FE806BD32194}"/>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8C046209-AF75-4657-9CDA-E7C4972024A9}"/>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9E4EBED7-9ADF-47F2-8EC2-B1712118B457}"/>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0A5E3CCC-F07F-4B89-84A1-1A01FBC43B59}"/>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0AE625CA-6193-4B03-9B4D-08C56320F717}"/>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AF357938-4B08-401B-BF6E-C96063C694D6}"/>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9E9681F2-6A52-44D4-A5AE-20EC6802AAF2}"/>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1324662586"/>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99FC2503-5B2E-40C2-8419-AB8CF29D68C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8D3A68EB-83C5-4104-B1D2-CC156D335B0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E49E9DA2-173D-479A-9129-31E5FE7D56B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36157E9B-98D4-476F-9840-2816C217815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sp>
        <p:nvSpPr>
          <p:cNvPr id="5" name="Product foundation">
            <a:extLst xmlns:a="http://schemas.openxmlformats.org/drawingml/2006/main">
              <a:ext uri="{FF2B5EF4-FFF2-40B4-BE49-F238E27FC236}">
                <a16:creationId xmlns:a16="http://schemas.microsoft.com/office/drawing/2014/main" id="{F4699A05-CA8D-4E3E-A057-6F7EF20D86C7}"/>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C2D93745-691D-49B5-9018-15BC070909F7}"/>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BE1F51A6-97BA-4DDF-90EC-D6CB5CE1332A}"/>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94282BD8-6592-4A7A-8E60-FFB5DE7371DF}"/>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5CAFFDB9-8CF6-42AC-8A47-D4022B5C0A6F}"/>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87F55AFC-2382-4A99-8C80-3731DB0E9081}"/>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B8AECBD8-BDFE-42CB-9FA2-11B68AB33459}"/>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60B85C6E-93C0-4923-BC3D-C29756051334}"/>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1185296680"/>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1E2E4916-C1E8-4A64-A3E2-C7A854D1C38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7AA628E0-3626-4143-B8E4-F84459C02F2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A9B6C18A-467F-4A7B-B74B-7D37D1D3DCA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28AA461D-7BE4-410E-9A3D-AF46F80E3BF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BDB9B561-C8B7-4D9B-9013-FC7E924DCF5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Core forecasts exclude optional provider products. Those expansion cases do not add extra finder fees for the same relationship.</a:t>
            </a:r>
          </a:p>
        </p:txBody>
      </p:sp>
    </p:spTree>
    <p:extLst>
      <p:ext uri="{BB962C8B-B14F-4D97-AF65-F5344CB8AC3E}">
        <p14:creationId xmlns:p14="http://schemas.microsoft.com/office/powerpoint/2010/main" val="1906021362"/>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vider subscriptions add a software business">
            <a:extLst xmlns:a="http://schemas.openxmlformats.org/drawingml/2006/main">
              <a:ext uri="{FF2B5EF4-FFF2-40B4-BE49-F238E27FC236}">
                <a16:creationId xmlns:a16="http://schemas.microsoft.com/office/drawing/2014/main" id="{977D484A-9192-4AFC-B50A-68179B29080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Provider subscriptions add a software business</a:t>
            </a:r>
          </a:p>
        </p:txBody>
      </p:sp>
      <p:sp>
        <p:nvSpPr>
          <p:cNvPr id="2" name="Proposed monthly prices for optional features. Tra">
            <a:extLst xmlns:a="http://schemas.openxmlformats.org/drawingml/2006/main">
              <a:ext uri="{FF2B5EF4-FFF2-40B4-BE49-F238E27FC236}">
                <a16:creationId xmlns:a16="http://schemas.microsoft.com/office/drawing/2014/main" id="{2E71A587-3C46-4FBD-9770-40B1947D364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monthly prices for optional features. Transaction fees still apply.</a:t>
            </a:r>
          </a:p>
        </p:txBody>
      </p:sp>
      <p:sp>
        <p:nvSpPr>
          <p:cNvPr id="3" name="YardMatch">
            <a:extLst xmlns:a="http://schemas.openxmlformats.org/drawingml/2006/main">
              <a:ext uri="{FF2B5EF4-FFF2-40B4-BE49-F238E27FC236}">
                <a16:creationId xmlns:a16="http://schemas.microsoft.com/office/drawing/2014/main" id="{59FA5ADC-3709-4C51-AE25-4F5E411BBDB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A877BB66-9119-4D19-ACA3-15EA18302D3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43150"/>
          <a:ext xmlns:a="http://schemas.openxmlformats.org/drawingml/2006/main" cx="10972800" cy="3028950"/>
        </p:xfrm>
        <a:graphic xmlns:a="http://schemas.openxmlformats.org/drawingml/2006/main">
          <a:graphicData uri="http://schemas.openxmlformats.org/drawingml/2006/table">
            <a:tbl>
              <a:tblPr/>
              <a:tblGrid>
                <a:gridCol w="2895600"/>
                <a:gridCol w="2352675"/>
                <a:gridCol w="5724525"/>
              </a:tblGrid>
              <a:tr h="757238">
                <a:tc>
                  <a:txBody>
                    <a:bodyPr lIns="114300" tIns="76200" rIns="114300" bIns="76200">
                      <a:noAutofit/>
                    </a:bodyPr>
                    <a:lstStyle/>
                    <a:p>
                      <a:pPr algn="l"/>
                      <a:r>
                        <a:rPr sz="1875" b="1">
                          <a:solidFill>
                            <a:srgbClr val="FFFFFF"/>
                          </a:solidFill>
                          <a:latin typeface="Arial"/>
                          <a:ea typeface="Arial"/>
                          <a:cs typeface="Arial"/>
                        </a:rPr>
                        <a:t>Plan</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price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Reason to pay</a:t>
                      </a:r>
                    </a:p>
                  </a:txBody>
                  <a:tcPr marL="91440" marR="91440" marT="45720" marB="45720" anchor="ctr">
                    <a:solidFill>
                      <a:srgbClr val="205938"/>
                    </a:solidFill>
                  </a:tcPr>
                </a:tc>
              </a:tr>
              <a:tr h="757238">
                <a:tc>
                  <a:txBody>
                    <a:bodyPr lIns="114300" tIns="76200" rIns="114300" bIns="76200">
                      <a:noAutofit/>
                    </a:bodyPr>
                    <a:lstStyle/>
                    <a:p>
                      <a:pPr algn="l"/>
                      <a:r>
                        <a:rPr sz="1875" b="0">
                          <a:solidFill>
                            <a:srgbClr val="14281D"/>
                          </a:solidFill>
                          <a:latin typeface="Arial"/>
                          <a:ea typeface="Arial"/>
                          <a:cs typeface="Arial"/>
                        </a:rPr>
                        <a:t>Core marketplace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 subscription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Booking, job details, crew assignments and essential communication</a:t>
                      </a:r>
                    </a:p>
                  </a:txBody>
                  <a:tcPr marL="91440" marR="91440" marT="45720" marB="45720" anchor="ctr">
                    <a:solidFill>
                      <a:srgbClr val="FFFFFF"/>
                    </a:solidFill>
                  </a:tcPr>
                </a:tc>
              </a:tr>
              <a:tr h="757238">
                <a:tc>
                  <a:txBody>
                    <a:bodyPr lIns="114300" tIns="76200" rIns="114300" bIns="76200">
                      <a:noAutofit/>
                    </a:bodyPr>
                    <a:lstStyle/>
                    <a:p>
                      <a:pPr algn="l"/>
                      <a:r>
                        <a:rPr sz="1875" b="0">
                          <a:solidFill>
                            <a:srgbClr val="14281D"/>
                          </a:solidFill>
                          <a:latin typeface="Arial"/>
                          <a:ea typeface="Arial"/>
                          <a:cs typeface="Arial"/>
                        </a:rPr>
                        <a:t>Pro</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$49 / month</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Job margin reports, quote follow-ups and advanced business reporting</a:t>
                      </a:r>
                    </a:p>
                  </a:txBody>
                  <a:tcPr marL="91440" marR="91440" marT="45720" marB="45720" anchor="ctr">
                    <a:solidFill>
                      <a:srgbClr val="F7F5EF"/>
                    </a:solidFill>
                  </a:tcPr>
                </a:tc>
              </a:tr>
              <a:tr h="757238">
                <a:tc>
                  <a:txBody>
                    <a:bodyPr lIns="114300" tIns="76200" rIns="114300" bIns="76200">
                      <a:noAutofit/>
                    </a:bodyPr>
                    <a:lstStyle/>
                    <a:p>
                      <a:pPr algn="l"/>
                      <a:r>
                        <a:rPr sz="1875" b="0">
                          <a:solidFill>
                            <a:srgbClr val="14281D"/>
                          </a:solidFill>
                          <a:latin typeface="Arial"/>
                          <a:ea typeface="Arial"/>
                          <a:cs typeface="Arial"/>
                        </a:rPr>
                        <a:t>Teams, including Pro</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 / month</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Timesheet approvals / exports, labor budgets and crew utilization</a:t>
                      </a:r>
                    </a:p>
                  </a:txBody>
                  <a:tcPr marL="91440" marR="91440" marT="45720" marB="45720" anchor="ctr">
                    <a:solidFill>
                      <a:srgbClr val="FFFFFF"/>
                    </a:solidFill>
                  </a:tcPr>
                </a:tc>
              </a:tr>
            </a:tbl>
          </a:graphicData>
        </a:graphic>
      </p:graphicFrame>
      <p:sp>
        <p:nvSpPr>
          <p:cNvPr id="6" name="Pro and Teams are mutually exclusive. Core service">
            <a:extLst xmlns:a="http://schemas.openxmlformats.org/drawingml/2006/main">
              <a:ext uri="{FF2B5EF4-FFF2-40B4-BE49-F238E27FC236}">
                <a16:creationId xmlns:a16="http://schemas.microsoft.com/office/drawing/2014/main" id="{3AE39C73-B22E-4B71-A43A-F982E0603E0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are mutually exclusive. Core service delivery remains accessible. The optional model allows nine paid months per year and makes no assumed retention or customer-acquisition improvement.</a:t>
            </a:r>
          </a:p>
        </p:txBody>
      </p:sp>
    </p:spTree>
    <p:extLst>
      <p:ext uri="{BB962C8B-B14F-4D97-AF65-F5344CB8AC3E}">
        <p14:creationId xmlns:p14="http://schemas.microsoft.com/office/powerpoint/2010/main" val="921408515"/>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Crew tools have a business buyer">
            <a:extLst xmlns:a="http://schemas.openxmlformats.org/drawingml/2006/main">
              <a:ext uri="{FF2B5EF4-FFF2-40B4-BE49-F238E27FC236}">
                <a16:creationId xmlns:a16="http://schemas.microsoft.com/office/drawing/2014/main" id="{922195E3-F373-46AB-AF93-C66D805013A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Crew tools have a business buyer</a:t>
            </a:r>
          </a:p>
        </p:txBody>
      </p:sp>
      <p:sp>
        <p:nvSpPr>
          <p:cNvPr id="2" name="Landscaping businesses pay for advanced team tools">
            <a:extLst xmlns:a="http://schemas.openxmlformats.org/drawingml/2006/main">
              <a:ext uri="{FF2B5EF4-FFF2-40B4-BE49-F238E27FC236}">
                <a16:creationId xmlns:a16="http://schemas.microsoft.com/office/drawing/2014/main" id="{B5D96A6D-A345-41BA-A514-AF378B741D4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Landscaping businesses pay for advanced team tools. Individual crew members pay $0.</a:t>
            </a:r>
          </a:p>
        </p:txBody>
      </p:sp>
      <p:sp>
        <p:nvSpPr>
          <p:cNvPr id="3" name="YardMatch">
            <a:extLst xmlns:a="http://schemas.openxmlformats.org/drawingml/2006/main">
              <a:ext uri="{FF2B5EF4-FFF2-40B4-BE49-F238E27FC236}">
                <a16:creationId xmlns:a16="http://schemas.microsoft.com/office/drawing/2014/main" id="{6F095710-6412-487F-8EED-56054AA8720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49FB1B9B-37F1-4EBE-B3A2-B07DC9121E1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sp>
        <p:nvSpPr>
          <p:cNvPr id="5" name="Value for the business owner">
            <a:extLst xmlns:a="http://schemas.openxmlformats.org/drawingml/2006/main">
              <a:ext uri="{FF2B5EF4-FFF2-40B4-BE49-F238E27FC236}">
                <a16:creationId xmlns:a16="http://schemas.microsoft.com/office/drawing/2014/main" id="{7705CA4A-FF9B-48C9-83C8-D8E6972D9B5D}"/>
              </a:ext>
            </a:extLst>
          </p:cNvPr>
          <p:cNvSpPr>
            <a:spLocks xmlns:a="http://schemas.openxmlformats.org/drawingml/2006/main" noGrp="1"/>
          </p:cNvSpPr>
          <p:nvPr/>
        </p:nvSpPr>
        <p:spPr>
          <a:xfrm xmlns:a="http://schemas.openxmlformats.org/drawingml/2006/main">
            <a:off x="6286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Value for the business owner</a:t>
            </a:r>
          </a:p>
        </p:txBody>
      </p:sp>
      <p:sp>
        <p:nvSpPr>
          <p:cNvPr id="6" name="Connect approved time to labor budgets. Compare cr">
            <a:extLst xmlns:a="http://schemas.openxmlformats.org/drawingml/2006/main">
              <a:ext uri="{FF2B5EF4-FFF2-40B4-BE49-F238E27FC236}">
                <a16:creationId xmlns:a16="http://schemas.microsoft.com/office/drawing/2014/main" id="{5B2AECAF-9E47-42CB-9212-A6649887F6BB}"/>
              </a:ext>
            </a:extLst>
          </p:cNvPr>
          <p:cNvSpPr>
            <a:spLocks xmlns:a="http://schemas.openxmlformats.org/drawingml/2006/main" noGrp="1"/>
          </p:cNvSpPr>
          <p:nvPr/>
        </p:nvSpPr>
        <p:spPr>
          <a:xfrm xmlns:a="http://schemas.openxmlformats.org/drawingml/2006/main">
            <a:off x="6286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Connect approved time to labor budgets. Compare crew utilization and job margin. Export records to existing payroll software.</a:t>
            </a:r>
          </a:p>
        </p:txBody>
      </p:sp>
      <p:sp>
        <p:nvSpPr>
          <p:cNvPr id="7" name="Access for the crew member">
            <a:extLst xmlns:a="http://schemas.openxmlformats.org/drawingml/2006/main">
              <a:ext uri="{FF2B5EF4-FFF2-40B4-BE49-F238E27FC236}">
                <a16:creationId xmlns:a16="http://schemas.microsoft.com/office/drawing/2014/main" id="{E1CAFAB9-E1B0-4A7B-BED7-BD108B484AB0}"/>
              </a:ext>
            </a:extLst>
          </p:cNvPr>
          <p:cNvSpPr>
            <a:spLocks xmlns:a="http://schemas.openxmlformats.org/drawingml/2006/main" noGrp="1"/>
          </p:cNvSpPr>
          <p:nvPr/>
        </p:nvSpPr>
        <p:spPr>
          <a:xfrm xmlns:a="http://schemas.openxmlformats.org/drawingml/2006/main">
            <a:off x="64198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Access for the crew member</a:t>
            </a:r>
          </a:p>
        </p:txBody>
      </p:sp>
      <p:sp>
        <p:nvSpPr>
          <p:cNvPr id="8" name="View assignments, communicate about the job and su">
            <a:extLst xmlns:a="http://schemas.openxmlformats.org/drawingml/2006/main">
              <a:ext uri="{FF2B5EF4-FFF2-40B4-BE49-F238E27FC236}">
                <a16:creationId xmlns:a16="http://schemas.microsoft.com/office/drawing/2014/main" id="{CFC782EA-F4E4-4848-802F-E28E9CC3F136}"/>
              </a:ext>
            </a:extLst>
          </p:cNvPr>
          <p:cNvSpPr>
            <a:spLocks xmlns:a="http://schemas.openxmlformats.org/drawingml/2006/main" noGrp="1"/>
          </p:cNvSpPr>
          <p:nvPr/>
        </p:nvSpPr>
        <p:spPr>
          <a:xfrm xmlns:a="http://schemas.openxmlformats.org/drawingml/2006/main">
            <a:off x="64198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View assignments, communicate about the job and submit essential service records through the core product.</a:t>
            </a:r>
          </a:p>
        </p:txBody>
      </p:sp>
      <p:sp>
        <p:nvSpPr>
          <p:cNvPr id="9" name="A $99 Teams plan includes the $49 Pro features">
            <a:extLst xmlns:a="http://schemas.openxmlformats.org/drawingml/2006/main">
              <a:ext uri="{FF2B5EF4-FFF2-40B4-BE49-F238E27FC236}">
                <a16:creationId xmlns:a16="http://schemas.microsoft.com/office/drawing/2014/main" id="{6BE215BC-235A-4D06-B4AF-CDAE02CF5E42}"/>
              </a:ext>
            </a:extLst>
          </p:cNvPr>
          <p:cNvSpPr>
            <a:spLocks xmlns:a="http://schemas.openxmlformats.org/drawingml/2006/main" noGrp="1"/>
          </p:cNvSpPr>
          <p:nvPr/>
        </p:nvSpPr>
        <p:spPr>
          <a:xfrm xmlns:a="http://schemas.openxmlformats.org/drawingml/2006/main">
            <a:off x="628650" y="4695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A $99 Teams plan includes the $49 Pro features</a:t>
            </a:r>
          </a:p>
        </p:txBody>
      </p:sp>
      <p:sp>
        <p:nvSpPr>
          <p:cNvPr id="10" name="Later options include employer-funded recruiting o">
            <a:extLst xmlns:a="http://schemas.openxmlformats.org/drawingml/2006/main">
              <a:ext uri="{FF2B5EF4-FFF2-40B4-BE49-F238E27FC236}">
                <a16:creationId xmlns:a16="http://schemas.microsoft.com/office/drawing/2014/main" id="{0E702CE9-BD81-43F4-A15E-61227DB79E97}"/>
              </a:ext>
            </a:extLst>
          </p:cNvPr>
          <p:cNvSpPr>
            <a:spLocks xmlns:a="http://schemas.openxmlformats.org/drawingml/2006/main" noGrp="1"/>
          </p:cNvSpPr>
          <p:nvPr/>
        </p:nvSpPr>
        <p:spPr>
          <a:xfrm xmlns:a="http://schemas.openxmlformats.org/drawingml/2006/main">
            <a:off x="628650" y="52387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Later options include employer-funded recruiting or optional training partnerships. Neither contributes revenue to this forecast.</a:t>
            </a:r>
          </a:p>
        </p:txBody>
      </p:sp>
      <p:sp>
        <p:nvSpPr>
          <p:cNvPr id="11" name="Basic coordination supports completion and retenti">
            <a:extLst xmlns:a="http://schemas.openxmlformats.org/drawingml/2006/main">
              <a:ext uri="{FF2B5EF4-FFF2-40B4-BE49-F238E27FC236}">
                <a16:creationId xmlns:a16="http://schemas.microsoft.com/office/drawing/2014/main" id="{C5A21D8E-63A9-4CFF-BC2F-7B1F84AB44A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Basic coordination supports completion and retention. Charging workers to access required job tools would add adoption friction without a clear benefit.</a:t>
            </a:r>
          </a:p>
        </p:txBody>
      </p:sp>
    </p:spTree>
    <p:extLst>
      <p:ext uri="{BB962C8B-B14F-4D97-AF65-F5344CB8AC3E}">
        <p14:creationId xmlns:p14="http://schemas.microsoft.com/office/powerpoint/2010/main" val="1459295010"/>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ponsored visibility can be a controlled pilot">
            <a:extLst xmlns:a="http://schemas.openxmlformats.org/drawingml/2006/main">
              <a:ext uri="{FF2B5EF4-FFF2-40B4-BE49-F238E27FC236}">
                <a16:creationId xmlns:a16="http://schemas.microsoft.com/office/drawing/2014/main" id="{69233E73-17C3-43C1-8447-72D19D618BE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Sponsored visibility can be a controlled pilot</a:t>
            </a:r>
          </a:p>
        </p:txBody>
      </p:sp>
      <p:sp>
        <p:nvSpPr>
          <p:cNvPr id="2" name="Proposed fee: $15 extra after a new relationship c">
            <a:extLst xmlns:a="http://schemas.openxmlformats.org/drawingml/2006/main">
              <a:ext uri="{FF2B5EF4-FFF2-40B4-BE49-F238E27FC236}">
                <a16:creationId xmlns:a16="http://schemas.microsoft.com/office/drawing/2014/main" id="{A2D708EB-35F5-4001-B667-5DEE585181D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fee: $15 extra after a new relationship completes a paid first job of $150 or more.</a:t>
            </a:r>
          </a:p>
        </p:txBody>
      </p:sp>
      <p:sp>
        <p:nvSpPr>
          <p:cNvPr id="3" name="YardMatch">
            <a:extLst xmlns:a="http://schemas.openxmlformats.org/drawingml/2006/main">
              <a:ext uri="{FF2B5EF4-FFF2-40B4-BE49-F238E27FC236}">
                <a16:creationId xmlns:a16="http://schemas.microsoft.com/office/drawing/2014/main" id="{46C6A59F-32BE-4D95-B5C3-65A649E8FEE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810C1B4D-ADEC-4F08-9667-0DF24CC3ED9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1" name=""/>
          <p:cNvGraphicFramePr/>
          <p:nvPr/>
        </p:nvGraphicFramePr>
        <p:xfrm>
          <a:off xmlns:a="http://schemas.openxmlformats.org/drawingml/2006/main" x="609600" y="2343150"/>
          <a:ext xmlns:a="http://schemas.openxmlformats.org/drawingml/2006/main" cx="10972800" cy="3057525"/>
        </p:xfrm>
        <a:graphic xmlns:a="http://schemas.openxmlformats.org/drawingml/2006/main">
          <a:graphicData uri="http://schemas.openxmlformats.org/drawingml/2006/table">
            <a:tbl>
              <a:tblPr/>
              <a:tblGrid>
                <a:gridCol w="4229100"/>
                <a:gridCol w="6743700"/>
              </a:tblGrid>
              <a:tr h="611505">
                <a:tc>
                  <a:txBody>
                    <a:bodyPr lIns="114300" tIns="76200" rIns="114300" bIns="76200">
                      <a:noAutofit/>
                    </a:bodyPr>
                    <a:lstStyle/>
                    <a:p>
                      <a:pPr algn="l"/>
                      <a:r>
                        <a:rPr sz="1800" b="1">
                          <a:solidFill>
                            <a:srgbClr val="FFFFFF"/>
                          </a:solidFill>
                          <a:latin typeface="Arial"/>
                          <a:ea typeface="Arial"/>
                          <a:cs typeface="Arial"/>
                        </a:rPr>
                        <a:t>Pilot rule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Customer and provider effect</a:t>
                      </a:r>
                    </a:p>
                  </a:txBody>
                  <a:tcPr marL="91440" marR="91440" marT="45720" marB="45720" anchor="ctr">
                    <a:solidFill>
                      <a:srgbClr val="205938"/>
                    </a:solidFill>
                  </a:tcPr>
                </a:tc>
              </a:tr>
              <a:tr h="611505">
                <a:tc>
                  <a:txBody>
                    <a:bodyPr lIns="114300" tIns="76200" rIns="114300" bIns="76200">
                      <a:noAutofit/>
                    </a:bodyPr>
                    <a:lstStyle/>
                    <a:p>
                      <a:pPr algn="l"/>
                      <a:r>
                        <a:rPr sz="1800" b="0">
                          <a:solidFill>
                            <a:srgbClr val="14281D"/>
                          </a:solidFill>
                          <a:latin typeface="Arial"/>
                          <a:ea typeface="Arial"/>
                          <a:cs typeface="Arial"/>
                        </a:rPr>
                        <a:t>One labeled sponsored option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More visibility within a small set of qualified backups</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Service fit, capacity and quality gates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cannot qualify an unsuitable provider</a:t>
                      </a:r>
                    </a:p>
                  </a:txBody>
                  <a:tcPr marL="91440" marR="91440" marT="45720" marB="45720" anchor="ctr">
                    <a:solidFill>
                      <a:srgbClr val="F7F5EF"/>
                    </a:solidFill>
                  </a:tcPr>
                </a:tc>
              </a:tr>
              <a:tr h="611505">
                <a:tc>
                  <a:txBody>
                    <a:bodyPr lIns="114300" tIns="76200" rIns="114300" bIns="76200">
                      <a:noAutofit/>
                    </a:bodyPr>
                    <a:lstStyle/>
                    <a:p>
                      <a:pPr algn="l"/>
                      <a:r>
                        <a:rPr sz="1800" b="0">
                          <a:solidFill>
                            <a:srgbClr val="14281D"/>
                          </a:solidFill>
                          <a:latin typeface="Arial"/>
                          <a:ea typeface="Arial"/>
                          <a:cs typeface="Arial"/>
                        </a:rPr>
                        <a:t>Quality-first main recommendation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Sponsorship does not buy the main recommendation</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$150 monthly provider budget cap</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 only for an attributed, completed new relationship</a:t>
                      </a:r>
                    </a:p>
                  </a:txBody>
                  <a:tcPr marL="91440" marR="91440" marT="45720" marB="45720" anchor="ctr">
                    <a:solidFill>
                      <a:srgbClr val="F7F5EF"/>
                    </a:solidFill>
                  </a:tcPr>
                </a:tc>
              </a:tr>
            </a:tbl>
          </a:graphicData>
        </a:graphic>
      </p:graphicFrame>
      <p:sp>
        <p:nvSpPr>
          <p:cNvPr id="6" name="Fee is additional to the applicable $45 / $65 / $9">
            <a:extLst xmlns:a="http://schemas.openxmlformats.org/drawingml/2006/main">
              <a:ext uri="{FF2B5EF4-FFF2-40B4-BE49-F238E27FC236}">
                <a16:creationId xmlns:a16="http://schemas.microsoft.com/office/drawing/2014/main" id="{363AD441-96C9-4AB7-AA19-1806B4D1CBB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Fee is additional to the applicable $45 / $65 / $90 finder fee and recurring charges. No repeat-pair fee. Existing customers and canceled jobs are excluded. Measure incremental business with a holdout before wider rollout.</a:t>
            </a:r>
          </a:p>
        </p:txBody>
      </p:sp>
    </p:spTree>
    <p:extLst>
      <p:ext uri="{BB962C8B-B14F-4D97-AF65-F5344CB8AC3E}">
        <p14:creationId xmlns:p14="http://schemas.microsoft.com/office/powerpoint/2010/main" val="2046574642"/>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Optional products need more scale to pay back">
            <a:extLst xmlns:a="http://schemas.openxmlformats.org/drawingml/2006/main">
              <a:ext uri="{FF2B5EF4-FFF2-40B4-BE49-F238E27FC236}">
                <a16:creationId xmlns:a16="http://schemas.microsoft.com/office/drawing/2014/main" id="{A6604509-599E-47FA-885D-684B496B08E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Optional products need more scale to pay back</a:t>
            </a:r>
          </a:p>
        </p:txBody>
      </p:sp>
      <p:sp>
        <p:nvSpPr>
          <p:cNvPr id="2" name="Illustrative 2033 results using the same base hous">
            <a:extLst xmlns:a="http://schemas.openxmlformats.org/drawingml/2006/main">
              <a:ext uri="{FF2B5EF4-FFF2-40B4-BE49-F238E27FC236}">
                <a16:creationId xmlns:a16="http://schemas.microsoft.com/office/drawing/2014/main" id="{EC29D7EE-88EC-46D1-8225-B40D58C27F7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2033 results using the same base household and provider volumes. Stripe remains in place.</a:t>
            </a:r>
          </a:p>
        </p:txBody>
      </p:sp>
      <p:sp>
        <p:nvSpPr>
          <p:cNvPr id="3" name="YardMatch">
            <a:extLst xmlns:a="http://schemas.openxmlformats.org/drawingml/2006/main">
              <a:ext uri="{FF2B5EF4-FFF2-40B4-BE49-F238E27FC236}">
                <a16:creationId xmlns:a16="http://schemas.microsoft.com/office/drawing/2014/main" id="{4F57C181-1603-4790-8D6E-168BBDBBF94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B67EB7E4-3C63-43C0-8695-2EFD54CD84B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124200"/>
        </p:xfrm>
        <a:graphic xmlns:a="http://schemas.openxmlformats.org/drawingml/2006/main">
          <a:graphicData uri="http://schemas.openxmlformats.org/drawingml/2006/table">
            <a:tbl>
              <a:tblPr/>
              <a:tblGrid>
                <a:gridCol w="4257675"/>
                <a:gridCol w="2238375"/>
                <a:gridCol w="2238375"/>
                <a:gridCol w="2238375"/>
              </a:tblGrid>
              <a:tr h="520700">
                <a:tc>
                  <a:txBody>
                    <a:bodyPr lIns="114300" tIns="76200" rIns="114300" bIns="76200">
                      <a:noAutofit/>
                    </a:bodyPr>
                    <a:lstStyle/>
                    <a:p>
                      <a:pPr algn="l"/>
                      <a:r>
                        <a:rPr sz="1725" b="1">
                          <a:solidFill>
                            <a:srgbClr val="FFFFFF"/>
                          </a:solidFill>
                          <a:latin typeface="Arial"/>
                          <a:ea typeface="Arial"/>
                          <a:cs typeface="Arial"/>
                        </a:rPr>
                        <a:t>2033 result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Core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Subscriptions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Sponsorship</a:t>
                      </a:r>
                    </a:p>
                  </a:txBody>
                  <a:tcPr marL="91440" marR="91440" marT="45720" marB="45720" anchor="ctr">
                    <a:solidFill>
                      <a:srgbClr val="205938"/>
                    </a:solidFill>
                  </a:tcPr>
                </a:tc>
              </a:tr>
              <a:tr h="520700">
                <a:tc>
                  <a:txBody>
                    <a:bodyPr lIns="114300" tIns="76200" rIns="114300" bIns="76200">
                      <a:noAutofit/>
                    </a:bodyPr>
                    <a:lstStyle/>
                    <a:p>
                      <a:pPr algn="l"/>
                      <a:r>
                        <a:rPr sz="1725" b="0">
                          <a:solidFill>
                            <a:srgbClr val="14281D"/>
                          </a:solidFill>
                          <a:latin typeface="Arial"/>
                          <a:ea typeface="Arial"/>
                          <a:cs typeface="Arial"/>
                        </a:rPr>
                        <a:t>Optional annual net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$0.08m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$0.09m</a:t>
                      </a:r>
                    </a:p>
                  </a:txBody>
                  <a:tcPr marL="91440" marR="91440" marT="45720" marB="45720" anchor="ctr">
                    <a:solidFill>
                      <a:srgbClr val="FFFFFF"/>
                    </a:solidFill>
                  </a:tcPr>
                </a:tc>
              </a:tr>
              <a:tr h="520700">
                <a:tc>
                  <a:txBody>
                    <a:bodyPr lIns="114300" tIns="76200" rIns="114300" bIns="76200">
                      <a:noAutofit/>
                    </a:bodyPr>
                    <a:lstStyle/>
                    <a:p>
                      <a:pPr algn="l"/>
                      <a:r>
                        <a:rPr sz="1725" b="0">
                          <a:solidFill>
                            <a:srgbClr val="14281D"/>
                          </a:solidFill>
                          <a:latin typeface="Arial"/>
                          <a:ea typeface="Arial"/>
                          <a:cs typeface="Arial"/>
                        </a:rPr>
                        <a:t>Total net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$1.44m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$1.52m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$1.53m</a:t>
                      </a:r>
                    </a:p>
                  </a:txBody>
                  <a:tcPr marL="91440" marR="91440" marT="45720" marB="45720" anchor="ctr">
                    <a:solidFill>
                      <a:srgbClr val="F7F5EF"/>
                    </a:solidFill>
                  </a:tcPr>
                </a:tc>
              </a:tr>
              <a:tr h="520700">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$0.12m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($0.08)m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($0.14)m</a:t>
                      </a:r>
                    </a:p>
                  </a:txBody>
                  <a:tcPr marL="91440" marR="91440" marT="45720" marB="45720" anchor="ctr">
                    <a:solidFill>
                      <a:srgbClr val="E8EDDF"/>
                    </a:solidFill>
                  </a:tcPr>
                </a:tc>
              </a:tr>
              <a:tr h="520700">
                <a:tc>
                  <a:txBody>
                    <a:bodyPr lIns="114300" tIns="76200" rIns="114300" bIns="76200">
                      <a:noAutofit/>
                    </a:bodyPr>
                    <a:lstStyle/>
                    <a:p>
                      <a:pPr algn="l"/>
                      <a:r>
                        <a:rPr sz="1725"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$0.07m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($0.10)m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($0.16)m</a:t>
                      </a:r>
                    </a:p>
                  </a:txBody>
                  <a:tcPr marL="91440" marR="91440" marT="45720" marB="45720" anchor="ctr">
                    <a:solidFill>
                      <a:srgbClr val="E8EDDF"/>
                    </a:solidFill>
                  </a:tcPr>
                </a:tc>
              </a:tr>
              <a:tr h="520700">
                <a:tc>
                  <a:txBody>
                    <a:bodyPr lIns="114300" tIns="76200" rIns="114300" bIns="76200">
                      <a:noAutofit/>
                    </a:bodyPr>
                    <a:lstStyle/>
                    <a:p>
                      <a:pPr algn="l"/>
                      <a:r>
                        <a:rPr sz="1725"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Final column includes both subscriptions and spons">
            <a:extLst xmlns:a="http://schemas.openxmlformats.org/drawingml/2006/main">
              <a:ext uri="{FF2B5EF4-FFF2-40B4-BE49-F238E27FC236}">
                <a16:creationId xmlns:a16="http://schemas.microsoft.com/office/drawing/2014/main" id="{56C86A08-1F33-4331-B73E-1A0BE46D0CA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Final column includes both subscriptions and sponsorship. Their combined 2033 EBITDA impact is ($261,736) after incremental costs. Early spending still increases cash needs. Adoption is unvalidated.</a:t>
            </a:r>
          </a:p>
        </p:txBody>
      </p:sp>
    </p:spTree>
    <p:extLst>
      <p:ext uri="{BB962C8B-B14F-4D97-AF65-F5344CB8AC3E}">
        <p14:creationId xmlns:p14="http://schemas.microsoft.com/office/powerpoint/2010/main" val="2095730598"/>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forecast makes the assumptions visible">
            <a:extLst xmlns:a="http://schemas.openxmlformats.org/drawingml/2006/main">
              <a:ext uri="{FF2B5EF4-FFF2-40B4-BE49-F238E27FC236}">
                <a16:creationId xmlns:a16="http://schemas.microsoft.com/office/drawing/2014/main" id="{5F3E5006-1C38-4F28-A04F-E7454F04BDF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forecast makes the assumptions visible</a:t>
            </a:r>
          </a:p>
        </p:txBody>
      </p:sp>
      <p:sp>
        <p:nvSpPr>
          <p:cNvPr id="2" name="2027-2033 calendar years. Optional subscriptions a">
            <a:extLst xmlns:a="http://schemas.openxmlformats.org/drawingml/2006/main">
              <a:ext uri="{FF2B5EF4-FFF2-40B4-BE49-F238E27FC236}">
                <a16:creationId xmlns:a16="http://schemas.microsoft.com/office/drawing/2014/main" id="{C86F5F07-1F3C-4C9E-B2E5-F01B31E0541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Optional subscriptions and sponsorship are excluded from these core cases.</a:t>
            </a:r>
          </a:p>
        </p:txBody>
      </p:sp>
      <p:sp>
        <p:nvSpPr>
          <p:cNvPr id="3" name="YardMatch">
            <a:extLst xmlns:a="http://schemas.openxmlformats.org/drawingml/2006/main">
              <a:ext uri="{FF2B5EF4-FFF2-40B4-BE49-F238E27FC236}">
                <a16:creationId xmlns:a16="http://schemas.microsoft.com/office/drawing/2014/main" id="{46070928-749F-494D-9432-55CDBBAA93F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F2188EF6-2FBD-4370-A7A5-ED077D52E11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117 / 3,750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240 / 6,324</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320 / 7,838</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$74 / $54</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$40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$44 / $32</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F151C67B-1D46-4147-8066-F6BDA7706BF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5 paid staff in the base. Downside prices are 15% higher. All cases use the proposed property-tier finder fees and recurring fee plus processing.</a:t>
            </a:r>
          </a:p>
        </p:txBody>
      </p:sp>
    </p:spTree>
    <p:extLst>
      <p:ext uri="{BB962C8B-B14F-4D97-AF65-F5344CB8AC3E}">
        <p14:creationId xmlns:p14="http://schemas.microsoft.com/office/powerpoint/2010/main" val="1789794526"/>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4m in 2033">
            <a:extLst xmlns:a="http://schemas.openxmlformats.org/drawingml/2006/main">
              <a:ext uri="{FF2B5EF4-FFF2-40B4-BE49-F238E27FC236}">
                <a16:creationId xmlns:a16="http://schemas.microsoft.com/office/drawing/2014/main" id="{F184ED55-DDC6-4618-8C0E-5C0753E9CF6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$1.4m in 2033</a:t>
            </a:r>
          </a:p>
        </p:txBody>
      </p:sp>
      <p:sp>
        <p:nvSpPr>
          <p:cNvPr id="2" name="Net marketplace revenue, US$ millions. Finder fees">
            <a:extLst xmlns:a="http://schemas.openxmlformats.org/drawingml/2006/main">
              <a:ext uri="{FF2B5EF4-FFF2-40B4-BE49-F238E27FC236}">
                <a16:creationId xmlns:a16="http://schemas.microsoft.com/office/drawing/2014/main" id="{EFF0B8E3-C82D-4E77-AFDF-EAB2E790234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3144A656-59C7-46DF-B6E9-12170A0DCF9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5A5E4A67-4562-4D97-8C91-D8808503457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bb2b6a7f0fbd439a"/>
          </a:graphicData>
        </a:graphic>
      </p:graphicFrame>
      <p:sp>
        <p:nvSpPr>
          <p:cNvPr id="6" name="Base 2033: 16,570 year-end paying households, 0.24">
            <a:extLst xmlns:a="http://schemas.openxmlformats.org/drawingml/2006/main">
              <a:ext uri="{FF2B5EF4-FFF2-40B4-BE49-F238E27FC236}">
                <a16:creationId xmlns:a16="http://schemas.microsoft.com/office/drawing/2014/main" id="{00C4B9FB-D29C-43F5-9D3E-594AD64F729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16,570 year-end paying households, 0.24m paid jobs and $33.5m GMV. Revenue excludes GMV and processing passed through at cost.</a:t>
            </a:r>
          </a:p>
        </p:txBody>
      </p:sp>
    </p:spTree>
    <p:extLst>
      <p:ext uri="{BB962C8B-B14F-4D97-AF65-F5344CB8AC3E}">
        <p14:creationId xmlns:p14="http://schemas.microsoft.com/office/powerpoint/2010/main" val="1150579109"/>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EBITDA turns positive in 2033">
            <a:extLst xmlns:a="http://schemas.openxmlformats.org/drawingml/2006/main">
              <a:ext uri="{FF2B5EF4-FFF2-40B4-BE49-F238E27FC236}">
                <a16:creationId xmlns:a16="http://schemas.microsoft.com/office/drawing/2014/main" id="{A7FAE7B4-5B9B-4FA8-B18E-D82ED1A9EA3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EBITDA turns positive in 2033</a:t>
            </a:r>
          </a:p>
        </p:txBody>
      </p:sp>
      <p:sp>
        <p:nvSpPr>
          <p:cNvPr id="2" name="US$ millions. Recommended pricing; Stripe retained">
            <a:extLst xmlns:a="http://schemas.openxmlformats.org/drawingml/2006/main">
              <a:ext uri="{FF2B5EF4-FFF2-40B4-BE49-F238E27FC236}">
                <a16:creationId xmlns:a16="http://schemas.microsoft.com/office/drawing/2014/main" id="{1535F57F-8AF7-458A-B31F-1C9F8FE7FDD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Recommended pricing; Stripe retained throughout. Growth and fee acceptance are assumptions.</a:t>
            </a:r>
          </a:p>
        </p:txBody>
      </p:sp>
      <p:sp>
        <p:nvSpPr>
          <p:cNvPr id="3" name="YardMatch">
            <a:extLst xmlns:a="http://schemas.openxmlformats.org/drawingml/2006/main">
              <a:ext uri="{FF2B5EF4-FFF2-40B4-BE49-F238E27FC236}">
                <a16:creationId xmlns:a16="http://schemas.microsoft.com/office/drawing/2014/main" id="{D802AC92-74D7-4F49-B0E1-DE046678C7B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648765F9-BF97-4B14-9FD3-F9DCBBE308C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$0.10</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$0.26</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$0.49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$0.78</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$1.11</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$1.44</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$0.65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$0.92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$1.17</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($0.44)</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($0.09)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$0.12</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$0.10</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($0.12)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$0.07</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($0.37)</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($0.20)</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($0.03)</a:t>
                      </a:r>
                    </a:p>
                  </a:txBody>
                  <a:tcPr marL="91440" marR="91440" marT="45720" marB="45720" anchor="ctr">
                    <a:solidFill>
                      <a:srgbClr val="F7F5EF"/>
                    </a:solidFill>
                  </a:tcPr>
                </a:tc>
              </a:tr>
            </a:tbl>
          </a:graphicData>
        </a:graphic>
      </p:graphicFrame>
      <p:sp>
        <p:nvSpPr>
          <p:cNvPr id="6" name="2033 net income proxy: $0.07m. Free cash flow: ($0">
            <a:extLst xmlns:a="http://schemas.openxmlformats.org/drawingml/2006/main">
              <a:ext uri="{FF2B5EF4-FFF2-40B4-BE49-F238E27FC236}">
                <a16:creationId xmlns:a16="http://schemas.microsoft.com/office/drawing/2014/main" id="{1E5FDFDC-8F9D-44EF-8FFD-A66BF5471D3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$0.07m. Free cash flow: ($0.03)m. Positive EBITDA depends on the approved fee, payroll and CAC targets. Free cash flow also funds equipment and restricted risk cash.</a:t>
            </a:r>
          </a:p>
        </p:txBody>
      </p:sp>
    </p:spTree>
    <p:extLst>
      <p:ext uri="{BB962C8B-B14F-4D97-AF65-F5344CB8AC3E}">
        <p14:creationId xmlns:p14="http://schemas.microsoft.com/office/powerpoint/2010/main" val="1261417929"/>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7BA3D975-8FB9-436B-AD46-0ACFCD1B1C9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A5F627F0-F49D-4029-9F7D-4AF91266348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A029C10B-97D1-47DA-8DBE-FDFAF474353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750A17EB-FAB1-42D2-B288-30057296CC5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$0.32m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$0.78m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$1.24m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($0.62)m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($0.28)m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$0.09m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$0.54m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$1.44m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$2.36m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($0.57)m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$0.07m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$0.62m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2031</a:t>
                      </a:r>
                    </a:p>
                  </a:txBody>
                  <a:tcPr marL="91440" marR="91440" marT="45720" marB="45720" anchor="ctr">
                    <a:solidFill>
                      <a:srgbClr val="FFFFFF"/>
                    </a:solidFill>
                  </a:tcPr>
                </a:tc>
              </a:tr>
            </a:tbl>
          </a:graphicData>
        </a:graphic>
      </p:graphicFrame>
      <p:sp>
        <p:nvSpPr>
          <p:cNvPr id="6" name="First positive EBITDA: downside None by 2033, base">
            <a:extLst xmlns:a="http://schemas.openxmlformats.org/drawingml/2006/main">
              <a:ext uri="{FF2B5EF4-FFF2-40B4-BE49-F238E27FC236}">
                <a16:creationId xmlns:a16="http://schemas.microsoft.com/office/drawing/2014/main" id="{3730BBDE-02BC-458E-99CA-1E8A1C71949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First positive EBITDA: downside None by 2033, base 2033, upside 2031. All cases cap staffing at five. The model assumes fee acceptance and sufficient team capacity; validate both.</a:t>
            </a:r>
          </a:p>
        </p:txBody>
      </p:sp>
    </p:spTree>
    <p:extLst>
      <p:ext uri="{BB962C8B-B14F-4D97-AF65-F5344CB8AC3E}">
        <p14:creationId xmlns:p14="http://schemas.microsoft.com/office/powerpoint/2010/main" val="1002486632"/>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icing and cost targets close the gap">
            <a:extLst xmlns:a="http://schemas.openxmlformats.org/drawingml/2006/main">
              <a:ext uri="{FF2B5EF4-FFF2-40B4-BE49-F238E27FC236}">
                <a16:creationId xmlns:a16="http://schemas.microsoft.com/office/drawing/2014/main" id="{03A1DF3C-C174-426D-A82A-F97025E8A91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Pricing and cost targets close the gap</a:t>
            </a:r>
          </a:p>
        </p:txBody>
      </p:sp>
      <p:sp>
        <p:nvSpPr>
          <p:cNvPr id="2" name="Option 1: $4.49 or 1% per service, five staff with">
            <a:extLst xmlns:a="http://schemas.openxmlformats.org/drawingml/2006/main">
              <a:ext uri="{FF2B5EF4-FFF2-40B4-BE49-F238E27FC236}">
                <a16:creationId xmlns:a16="http://schemas.microsoft.com/office/drawing/2014/main" id="{7EE452B7-5337-455C-BF3A-8E59C9DA529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Option 1: $4.49 or 1% per service, five staff with $550,000 payroll, and $40 customer acquisition cost by 2033.</a:t>
            </a:r>
          </a:p>
        </p:txBody>
      </p:sp>
      <p:sp>
        <p:nvSpPr>
          <p:cNvPr id="3" name="YardMatch">
            <a:extLst xmlns:a="http://schemas.openxmlformats.org/drawingml/2006/main">
              <a:ext uri="{FF2B5EF4-FFF2-40B4-BE49-F238E27FC236}">
                <a16:creationId xmlns:a16="http://schemas.microsoft.com/office/drawing/2014/main" id="{724368A7-3CAA-439B-B4A0-0271B6918A0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79D5D347-B0CD-4221-90E4-76147E9B11C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graphicFrame>
        <p:nvGraphicFramePr>
          <p:cNvPr id="11" name=""/>
          <p:cNvGraphicFramePr/>
          <p:nvPr/>
        </p:nvGraphicFramePr>
        <p:xfrm>
          <a:off xmlns:a="http://schemas.openxmlformats.org/drawingml/2006/main" x="609600" y="2343150"/>
          <a:ext xmlns:a="http://schemas.openxmlformats.org/drawingml/2006/main" cx="10972800" cy="3133725"/>
        </p:xfrm>
        <a:graphic xmlns:a="http://schemas.openxmlformats.org/drawingml/2006/main">
          <a:graphicData uri="http://schemas.openxmlformats.org/drawingml/2006/table">
            <a:tbl>
              <a:tblPr/>
              <a:tblGrid>
                <a:gridCol w="4200525"/>
                <a:gridCol w="2257425"/>
                <a:gridCol w="2257425"/>
                <a:gridCol w="2257425"/>
              </a:tblGrid>
              <a:tr h="522288">
                <a:tc>
                  <a:txBody>
                    <a:bodyPr lIns="114300" tIns="76200" rIns="114300" bIns="76200">
                      <a:noAutofit/>
                    </a:bodyPr>
                    <a:lstStyle/>
                    <a:p>
                      <a:pPr algn="l"/>
                      <a:r>
                        <a:rPr sz="1725" b="1">
                          <a:solidFill>
                            <a:srgbClr val="FFFFFF"/>
                          </a:solidFill>
                          <a:latin typeface="Arial"/>
                          <a:ea typeface="Arial"/>
                          <a:cs typeface="Arial"/>
                        </a:rPr>
                        <a:t>2033 base comparison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Previous plan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Fee change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Full option 1</a:t>
                      </a:r>
                    </a:p>
                  </a:txBody>
                  <a:tcPr marL="91440" marR="91440" marT="45720" marB="45720" anchor="ctr">
                    <a:solidFill>
                      <a:srgbClr val="205938"/>
                    </a:solidFill>
                  </a:tcPr>
                </a:tc>
              </a:tr>
              <a:tr h="522288">
                <a:tc>
                  <a:txBody>
                    <a:bodyPr lIns="114300" tIns="76200" rIns="114300" bIns="76200">
                      <a:noAutofit/>
                    </a:bodyPr>
                    <a:lstStyle/>
                    <a:p>
                      <a:pPr algn="l"/>
                      <a:r>
                        <a:rPr sz="1725" b="0">
                          <a:solidFill>
                            <a:srgbClr val="14281D"/>
                          </a:solidFill>
                          <a:latin typeface="Arial"/>
                          <a:ea typeface="Arial"/>
                          <a:cs typeface="Arial"/>
                        </a:rPr>
                        <a:t>Recurring minimum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$2.99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$4.49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$4.49</a:t>
                      </a:r>
                    </a:p>
                  </a:txBody>
                  <a:tcPr marL="91440" marR="91440" marT="45720" marB="45720" anchor="ctr">
                    <a:solidFill>
                      <a:srgbClr val="FFFFFF"/>
                    </a:solidFill>
                  </a:tcPr>
                </a:tc>
              </a:tr>
              <a:tr h="522288">
                <a:tc>
                  <a:txBody>
                    <a:bodyPr lIns="114300" tIns="76200" rIns="114300" bIns="76200">
                      <a:noAutofit/>
                    </a:bodyPr>
                    <a:lstStyle/>
                    <a:p>
                      <a:pPr algn="l"/>
                      <a:r>
                        <a:rPr sz="1725" b="0">
                          <a:solidFill>
                            <a:srgbClr val="14281D"/>
                          </a:solidFill>
                          <a:latin typeface="Arial"/>
                          <a:ea typeface="Arial"/>
                          <a:cs typeface="Arial"/>
                        </a:rPr>
                        <a:t>Annual payroll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$550,000</a:t>
                      </a:r>
                    </a:p>
                  </a:txBody>
                  <a:tcPr marL="91440" marR="91440" marT="45720" marB="45720" anchor="ctr">
                    <a:solidFill>
                      <a:srgbClr val="F7F5EF"/>
                    </a:solidFill>
                  </a:tcPr>
                </a:tc>
              </a:tr>
              <a:tr h="522288">
                <a:tc>
                  <a:txBody>
                    <a:bodyPr lIns="114300" tIns="76200" rIns="114300" bIns="76200">
                      <a:noAutofit/>
                    </a:bodyPr>
                    <a:lstStyle/>
                    <a:p>
                      <a:pPr algn="l"/>
                      <a:r>
                        <a:rPr sz="1725" b="0">
                          <a:solidFill>
                            <a:srgbClr val="14281D"/>
                          </a:solidFill>
                          <a:latin typeface="Arial"/>
                          <a:ea typeface="Arial"/>
                          <a:cs typeface="Arial"/>
                        </a:rPr>
                        <a:t>Cost per new household</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$45.39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$45.39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$40.00</a:t>
                      </a:r>
                    </a:p>
                  </a:txBody>
                  <a:tcPr marL="91440" marR="91440" marT="45720" marB="45720" anchor="ctr">
                    <a:solidFill>
                      <a:srgbClr val="FFFFFF"/>
                    </a:solidFill>
                  </a:tcPr>
                </a:tc>
              </a:tr>
              <a:tr h="522288">
                <a:tc>
                  <a:txBody>
                    <a:bodyPr lIns="114300" tIns="76200" rIns="114300" bIns="76200">
                      <a:noAutofit/>
                    </a:bodyPr>
                    <a:lstStyle/>
                    <a:p>
                      <a:pPr algn="l"/>
                      <a:r>
                        <a:rPr sz="1725" b="0">
                          <a:solidFill>
                            <a:srgbClr val="14281D"/>
                          </a:solidFill>
                          <a:latin typeface="Arial"/>
                          <a:ea typeface="Arial"/>
                          <a:cs typeface="Arial"/>
                        </a:rPr>
                        <a:t>Total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$1.09m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$1.44m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$1.44m</a:t>
                      </a:r>
                    </a:p>
                  </a:txBody>
                  <a:tcPr marL="91440" marR="91440" marT="45720" marB="45720" anchor="ctr">
                    <a:solidFill>
                      <a:srgbClr val="F7F5EF"/>
                    </a:solidFill>
                  </a:tcPr>
                </a:tc>
              </a:tr>
              <a:tr h="522288">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($361,106)</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($11,285)</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$122,814</a:t>
                      </a:r>
                    </a:p>
                  </a:txBody>
                  <a:tcPr marL="91440" marR="91440" marT="45720" marB="45720" anchor="ctr">
                    <a:solidFill>
                      <a:srgbClr val="E8EDDF"/>
                    </a:solidFill>
                  </a:tcPr>
                </a:tc>
              </a:tr>
            </a:tbl>
          </a:graphicData>
        </a:graphic>
      </p:graphicFrame>
      <p:sp>
        <p:nvSpPr>
          <p:cNvPr id="6" name="The fee improves EBITDA by $349,821; payroll saves">
            <a:extLst xmlns:a="http://schemas.openxmlformats.org/drawingml/2006/main">
              <a:ext uri="{FF2B5EF4-FFF2-40B4-BE49-F238E27FC236}">
                <a16:creationId xmlns:a16="http://schemas.microsoft.com/office/drawing/2014/main" id="{D7848D71-A6EC-4581-8DBC-2BBD6AF30C9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fee improves EBITDA by $349,821; payroll saves $100,000; CAC saves $34,099. Provider acceptance, staffing capacity and acquisition efficiency remain to be validated.</a:t>
            </a:r>
          </a:p>
        </p:txBody>
      </p:sp>
    </p:spTree>
    <p:extLst>
      <p:ext uri="{BB962C8B-B14F-4D97-AF65-F5344CB8AC3E}">
        <p14:creationId xmlns:p14="http://schemas.microsoft.com/office/powerpoint/2010/main" val="1730446382"/>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23FB13EB-4799-4AB0-8E50-9D8A57461C1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0D8AF6F2-654E-4EA2-8442-789466CA534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51691121-BFB7-43EE-AF17-517563596B3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8">
            <a:extLst xmlns:a="http://schemas.openxmlformats.org/drawingml/2006/main">
              <a:ext uri="{FF2B5EF4-FFF2-40B4-BE49-F238E27FC236}">
                <a16:creationId xmlns:a16="http://schemas.microsoft.com/office/drawing/2014/main" id="{545CFB90-97B1-4E15-BB12-CB7D628BF0F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28</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$706,667</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$68,383</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Corporate + local operating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$195,420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$46,744</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($111,425)</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$905,789</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$569,211</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1E96F45C-6105-4EDB-815C-360D7FE4A996}"/>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3F2FDF60-F45E-4870-80DA-384ABDDDBD39}"/>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2.51m">
            <a:extLst xmlns:a="http://schemas.openxmlformats.org/drawingml/2006/main">
              <a:ext uri="{FF2B5EF4-FFF2-40B4-BE49-F238E27FC236}">
                <a16:creationId xmlns:a16="http://schemas.microsoft.com/office/drawing/2014/main" id="{E617BC60-05F1-4966-89A4-ACF1F2C668C4}"/>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$2.51m</a:t>
            </a:r>
          </a:p>
        </p:txBody>
      </p:sp>
      <p:sp>
        <p:nvSpPr>
          <p:cNvPr id="9" name="Peak cumulative cash deficit before financing unde">
            <a:extLst xmlns:a="http://schemas.openxmlformats.org/drawingml/2006/main">
              <a:ext uri="{FF2B5EF4-FFF2-40B4-BE49-F238E27FC236}">
                <a16:creationId xmlns:a16="http://schemas.microsoft.com/office/drawing/2014/main" id="{2AB0D7D9-6E90-48C4-9BAA-C9AE38964634}"/>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0.37m 2033 fixed-cost buffer gives $2.">
            <a:extLst xmlns:a="http://schemas.openxmlformats.org/drawingml/2006/main">
              <a:ext uri="{FF2B5EF4-FFF2-40B4-BE49-F238E27FC236}">
                <a16:creationId xmlns:a16="http://schemas.microsoft.com/office/drawing/2014/main" id="{D154C727-FAB5-4C75-85C7-A5B6C697732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$0.37m 2033 fixed-cost buffer gives $2.88m, before financing fees. The $1.5m round is an initial pilot illustration; follow-on capital would be needed.</a:t>
            </a:r>
          </a:p>
        </p:txBody>
      </p:sp>
    </p:spTree>
    <p:extLst>
      <p:ext uri="{BB962C8B-B14F-4D97-AF65-F5344CB8AC3E}">
        <p14:creationId xmlns:p14="http://schemas.microsoft.com/office/powerpoint/2010/main" val="41033917"/>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2588EFEB-9750-4E90-A8F6-9BB899825AD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805F09E9-6F15-4044-BBE3-B0110FEFB17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7ED6DEAB-C920-4795-9396-070C2C7DD55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9">
            <a:extLst xmlns:a="http://schemas.openxmlformats.org/drawingml/2006/main">
              <a:ext uri="{FF2B5EF4-FFF2-40B4-BE49-F238E27FC236}">
                <a16:creationId xmlns:a16="http://schemas.microsoft.com/office/drawing/2014/main" id="{024CBE98-0F8B-4740-8D15-C7C888519EEF}"/>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29</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197CC25A-CD07-4FC7-B600-39BDBA50275A}"/>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AE034A24-EBB3-4E28-8254-32D4F161028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1836506895"/>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41FA55B5-CFDF-4EAE-87CD-45DF39134D35}"/>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8E920C25-2B25-4E00-B6E3-4D414742AA8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5649A970-52B0-4460-A88E-5B5F2D1F278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0">
            <a:extLst xmlns:a="http://schemas.openxmlformats.org/drawingml/2006/main">
              <a:ext uri="{FF2B5EF4-FFF2-40B4-BE49-F238E27FC236}">
                <a16:creationId xmlns:a16="http://schemas.microsoft.com/office/drawing/2014/main" id="{6AC2A29D-E119-4EE8-B71A-4266BAC69CD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30</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($296,166)</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($286,037)</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($2,411,548)</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($2,065,549)</a:t>
                      </a:r>
                    </a:p>
                  </a:txBody>
                  <a:tcPr marL="91440" marR="91440" marT="45720" marB="45720" anchor="ctr">
                    <a:solidFill>
                      <a:srgbClr val="E8EDDF"/>
                    </a:solidFill>
                  </a:tcPr>
                </a:tc>
              </a:tr>
            </a:tbl>
          </a:graphicData>
        </a:graphic>
      </p:graphicFrame>
      <p:sp>
        <p:nvSpPr>
          <p:cNvPr id="6" name="Neither build option covers annual run costs or re">
            <a:extLst xmlns:a="http://schemas.openxmlformats.org/drawingml/2006/main">
              <a:ext uri="{FF2B5EF4-FFF2-40B4-BE49-F238E27FC236}">
                <a16:creationId xmlns:a16="http://schemas.microsoft.com/office/drawing/2014/main" id="{483ABA37-B478-4DA6-9967-4B73B2EB6CE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Neither build option covers annual run costs or recovers the investment by 2033 at the modeled regional scale. Gate a build on quoted costs and payback, not a calendar date.</a:t>
            </a:r>
          </a:p>
        </p:txBody>
      </p:sp>
    </p:spTree>
    <p:extLst>
      <p:ext uri="{BB962C8B-B14F-4D97-AF65-F5344CB8AC3E}">
        <p14:creationId xmlns:p14="http://schemas.microsoft.com/office/powerpoint/2010/main" val="1389479547"/>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A3B07071-09D9-4269-8009-ED27FBCF1FF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BA71678C-8592-45C0-9970-F135FD4002B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459549A7-6C26-46FC-BC76-631182C3487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1">
            <a:extLst xmlns:a="http://schemas.openxmlformats.org/drawingml/2006/main">
              <a:ext uri="{FF2B5EF4-FFF2-40B4-BE49-F238E27FC236}">
                <a16:creationId xmlns:a16="http://schemas.microsoft.com/office/drawing/2014/main" id="{92714F45-834A-4BEB-885F-53785A67ECD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31</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54E9A945-6E09-48B0-8525-697232DDFF8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649065009"/>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B36FA7EE-F39A-46A1-9F7E-7C20A87CA0C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A67EA24C-0FD1-4F1B-9A48-1ADB5A6A1F1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14D1EFA9-1157-4A51-ACCD-95D4B00FE9A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2">
            <a:extLst xmlns:a="http://schemas.openxmlformats.org/drawingml/2006/main">
              <a:ext uri="{FF2B5EF4-FFF2-40B4-BE49-F238E27FC236}">
                <a16:creationId xmlns:a16="http://schemas.microsoft.com/office/drawing/2014/main" id="{E0BFA9D5-B706-460D-BC7F-3A37A5BF214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32</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BC52787F-9CF0-48BA-92E9-76FAB7319756}"/>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9E675536-3455-46BC-B3A0-7B0EC6BA9E72}"/>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7F6084FE-DA5B-407F-99A8-44B8C2B2364F}"/>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AA69B442-50A7-43EB-BC45-C921558DE37B}"/>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4ACC260C-974C-435D-A69B-C5DF2CCA52E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1655428396"/>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D3059177-1D3A-4141-A41B-512F5256243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46FCEED3-93CE-466E-825B-6E6DA8AE944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B7314623-CDAC-433E-BAF1-A1B21866B47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3">
            <a:extLst xmlns:a="http://schemas.openxmlformats.org/drawingml/2006/main">
              <a:ext uri="{FF2B5EF4-FFF2-40B4-BE49-F238E27FC236}">
                <a16:creationId xmlns:a16="http://schemas.microsoft.com/office/drawing/2014/main" id="{61A238AB-8D72-4BD0-ABCC-9032BE51A9D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33</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240 launch households; measure second-season paid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bookings persist under the proposed total fees</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Pilot CAC around $55; validate a path to $40 by 2033</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D91EFC6B-9F22-4EF7-BBE4-3C83975FA2C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1344983335"/>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87A6A520-EB5C-41AA-987D-3DD8C2355CB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5A29F443-6345-4ACC-84EF-495B444B0F57}"/>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34607B0E-190E-49A0-9F2D-B7F6AD77CDB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4">
            <a:extLst xmlns:a="http://schemas.openxmlformats.org/drawingml/2006/main">
              <a:ext uri="{FF2B5EF4-FFF2-40B4-BE49-F238E27FC236}">
                <a16:creationId xmlns:a16="http://schemas.microsoft.com/office/drawing/2014/main" id="{E65475A1-9159-4F29-87BD-218E1DBE221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34</a:t>
            </a:r>
          </a:p>
        </p:txBody>
      </p:sp>
      <p:sp>
        <p:nvSpPr>
          <p:cNvPr id="5" name="Households and paid visits">
            <a:extLst xmlns:a="http://schemas.openxmlformats.org/drawingml/2006/main">
              <a:ext uri="{FF2B5EF4-FFF2-40B4-BE49-F238E27FC236}">
                <a16:creationId xmlns:a16="http://schemas.microsoft.com/office/drawing/2014/main" id="{EBCBE85C-2557-4DD1-9FF4-7143350BDC0F}"/>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72D5A441-7B00-46D5-803C-7067A7CA2516}"/>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tained service economics">
            <a:extLst xmlns:a="http://schemas.openxmlformats.org/drawingml/2006/main">
              <a:ext uri="{FF2B5EF4-FFF2-40B4-BE49-F238E27FC236}">
                <a16:creationId xmlns:a16="http://schemas.microsoft.com/office/drawing/2014/main" id="{7E1CD9B8-97FC-4F65-BF76-96E832CDFA4D}"/>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Retained service economics</a:t>
            </a:r>
          </a:p>
        </p:txBody>
      </p:sp>
      <p:sp>
        <p:nvSpPr>
          <p:cNvPr id="8" name="The 2031 base mix retains $3.52 per repeat job aft">
            <a:extLst xmlns:a="http://schemas.openxmlformats.org/drawingml/2006/main">
              <a:ext uri="{FF2B5EF4-FFF2-40B4-BE49-F238E27FC236}">
                <a16:creationId xmlns:a16="http://schemas.microsoft.com/office/drawing/2014/main" id="{E45877A8-12AA-48F2-A104-4774EF41BE84}"/>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retains $3.52 per repeat job after variable costs. Processing is recovered at cost; acquisition and fixed overhead remain separate.</a:t>
            </a:r>
          </a:p>
        </p:txBody>
      </p:sp>
      <p:sp>
        <p:nvSpPr>
          <p:cNvPr id="9" name="Profit and cash">
            <a:extLst xmlns:a="http://schemas.openxmlformats.org/drawingml/2006/main">
              <a:ext uri="{FF2B5EF4-FFF2-40B4-BE49-F238E27FC236}">
                <a16:creationId xmlns:a16="http://schemas.microsoft.com/office/drawing/2014/main" id="{42010655-CFC8-4105-9416-20D3344B8DE6}"/>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299C6615-3342-48BC-A0CF-356B851B7159}"/>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5346AD4A-4EBA-4B80-81B2-2176B3BC51BE}"/>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230 of five-year contri">
            <a:extLst xmlns:a="http://schemas.openxmlformats.org/drawingml/2006/main">
              <a:ext uri="{FF2B5EF4-FFF2-40B4-BE49-F238E27FC236}">
                <a16:creationId xmlns:a16="http://schemas.microsoft.com/office/drawing/2014/main" id="{0E3CABD3-D540-4961-9AE8-E9E6A952C299}"/>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$230 of five-year contribution versus $44 CAC, or 5.2x. This assumes retention and unchanged cohort economics.</a:t>
            </a:r>
          </a:p>
        </p:txBody>
      </p:sp>
    </p:spTree>
    <p:extLst>
      <p:ext uri="{BB962C8B-B14F-4D97-AF65-F5344CB8AC3E}">
        <p14:creationId xmlns:p14="http://schemas.microsoft.com/office/powerpoint/2010/main" val="419699798"/>
      </p:ext>
    </p:extLst>
  </p:cSld>
</p:sld>
</file>

<file path=ppt/slides/slide3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ources and basis">
            <a:extLst xmlns:a="http://schemas.openxmlformats.org/drawingml/2006/main">
              <a:ext uri="{FF2B5EF4-FFF2-40B4-BE49-F238E27FC236}">
                <a16:creationId xmlns:a16="http://schemas.microsoft.com/office/drawing/2014/main" id="{73C712A2-E8DB-40D3-A684-73B8CA620E1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0, 2026. Financial projections">
            <a:extLst xmlns:a="http://schemas.openxmlformats.org/drawingml/2006/main">
              <a:ext uri="{FF2B5EF4-FFF2-40B4-BE49-F238E27FC236}">
                <a16:creationId xmlns:a16="http://schemas.microsoft.com/office/drawing/2014/main" id="{430864EF-0145-4B5C-A289-1E5947899E4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20,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DA4FEE3A-1EAC-44CB-A7D7-262AE08AC04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5">
            <a:extLst xmlns:a="http://schemas.openxmlformats.org/drawingml/2006/main">
              <a:ext uri="{FF2B5EF4-FFF2-40B4-BE49-F238E27FC236}">
                <a16:creationId xmlns:a16="http://schemas.microsoft.com/office/drawing/2014/main" id="{B134688C-F5D1-48CF-A20E-AA8193454AF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35</a:t>
            </a:r>
          </a:p>
        </p:txBody>
      </p:sp>
      <p:sp>
        <p:nvSpPr>
          <p:cNvPr id="5" name="Company materials">
            <a:extLst xmlns:a="http://schemas.openxmlformats.org/drawingml/2006/main">
              <a:ext uri="{FF2B5EF4-FFF2-40B4-BE49-F238E27FC236}">
                <a16:creationId xmlns:a16="http://schemas.microsoft.com/office/drawing/2014/main" id="{252B9AB9-107C-48BD-809B-9DB838E837E9}"/>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BCE56007-AA06-49E9-ACE7-D1C12F3A6DCA}"/>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F3C05A24-4051-4FA2-BD75-EEDA594E30B2}"/>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22892E6D-3C92-411F-B53A-8BD29F1823B4}"/>
              </a:ext>
            </a:extLst>
          </p:cNvPr>
          <p:cNvSpPr>
            <a:spLocks xmlns:a="http://schemas.openxmlformats.org/drawingml/2006/main" noGrp="1"/>
          </p:cNvSpPr>
          <p:nvPr/>
        </p:nvSpPr>
        <p:spPr>
          <a:xfrm xmlns:a="http://schemas.openxmlformats.org/drawingml/2006/main">
            <a:off x="62865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4a734ac961b14180"/>
              </a:rPr>
              <a:t>Stripe Payments pricing</a:t>
            </a:r>
          </a:p>
        </p:txBody>
      </p:sp>
      <p:sp>
        <p:nvSpPr>
          <p:cNvPr id="9" name="Stripe Connect pricing">
            <a:extLst xmlns:a="http://schemas.openxmlformats.org/drawingml/2006/main">
              <a:ext uri="{FF2B5EF4-FFF2-40B4-BE49-F238E27FC236}">
                <a16:creationId xmlns:a16="http://schemas.microsoft.com/office/drawing/2014/main" id="{B4E439D4-C4D6-4AA4-8EE4-B97E6E2A1026}"/>
              </a:ext>
            </a:extLst>
          </p:cNvPr>
          <p:cNvSpPr>
            <a:spLocks xmlns:a="http://schemas.openxmlformats.org/drawingml/2006/main" noGrp="1"/>
          </p:cNvSpPr>
          <p:nvPr/>
        </p:nvSpPr>
        <p:spPr>
          <a:xfrm xmlns:a="http://schemas.openxmlformats.org/drawingml/2006/main">
            <a:off x="62865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831670ade595454c"/>
              </a:rPr>
              <a:t>Stripe Connect pricing</a:t>
            </a:r>
          </a:p>
        </p:txBody>
      </p:sp>
      <p:sp>
        <p:nvSpPr>
          <p:cNvPr id="10" name="Stripe Financial Connections">
            <a:extLst xmlns:a="http://schemas.openxmlformats.org/drawingml/2006/main">
              <a:ext uri="{FF2B5EF4-FFF2-40B4-BE49-F238E27FC236}">
                <a16:creationId xmlns:a16="http://schemas.microsoft.com/office/drawing/2014/main" id="{3F19E362-BCF7-42E4-959E-8343B242A663}"/>
              </a:ext>
            </a:extLst>
          </p:cNvPr>
          <p:cNvSpPr>
            <a:spLocks xmlns:a="http://schemas.openxmlformats.org/drawingml/2006/main" noGrp="1"/>
          </p:cNvSpPr>
          <p:nvPr/>
        </p:nvSpPr>
        <p:spPr>
          <a:xfrm xmlns:a="http://schemas.openxmlformats.org/drawingml/2006/main">
            <a:off x="62865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66ad6e580eba4b91"/>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E5AEC8C8-9708-4D3E-BB38-4E42D7272285}"/>
              </a:ext>
            </a:extLst>
          </p:cNvPr>
          <p:cNvSpPr>
            <a:spLocks xmlns:a="http://schemas.openxmlformats.org/drawingml/2006/main" noGrp="1"/>
          </p:cNvSpPr>
          <p:nvPr/>
        </p:nvSpPr>
        <p:spPr>
          <a:xfrm xmlns:a="http://schemas.openxmlformats.org/drawingml/2006/main">
            <a:off x="62865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62684e0e2ec842f5"/>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BD387925-B6AC-4BB4-BBBD-13051F561910}"/>
              </a:ext>
            </a:extLst>
          </p:cNvPr>
          <p:cNvSpPr>
            <a:spLocks xmlns:a="http://schemas.openxmlformats.org/drawingml/2006/main" noGrp="1"/>
          </p:cNvSpPr>
          <p:nvPr/>
        </p:nvSpPr>
        <p:spPr>
          <a:xfrm xmlns:a="http://schemas.openxmlformats.org/drawingml/2006/main">
            <a:off x="62865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00d87e2b1d9942ec"/>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090A2D7C-A542-4BDF-949B-C6A719C3DBDD}"/>
              </a:ext>
            </a:extLst>
          </p:cNvPr>
          <p:cNvSpPr>
            <a:spLocks xmlns:a="http://schemas.openxmlformats.org/drawingml/2006/main" noGrp="1"/>
          </p:cNvSpPr>
          <p:nvPr/>
        </p:nvSpPr>
        <p:spPr>
          <a:xfrm xmlns:a="http://schemas.openxmlformats.org/drawingml/2006/main">
            <a:off x="62865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24649a88792c416d"/>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3EBC1486-A59E-4777-AE75-4D554E9710FC}"/>
              </a:ext>
            </a:extLst>
          </p:cNvPr>
          <p:cNvSpPr>
            <a:spLocks xmlns:a="http://schemas.openxmlformats.org/drawingml/2006/main" noGrp="1"/>
          </p:cNvSpPr>
          <p:nvPr/>
        </p:nvSpPr>
        <p:spPr>
          <a:xfrm xmlns:a="http://schemas.openxmlformats.org/drawingml/2006/main">
            <a:off x="640080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5a8b0a1dbe4641e1"/>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14BA11FE-D242-4882-B699-7DF2F9D23425}"/>
              </a:ext>
            </a:extLst>
          </p:cNvPr>
          <p:cNvSpPr>
            <a:spLocks xmlns:a="http://schemas.openxmlformats.org/drawingml/2006/main" noGrp="1"/>
          </p:cNvSpPr>
          <p:nvPr/>
        </p:nvSpPr>
        <p:spPr>
          <a:xfrm xmlns:a="http://schemas.openxmlformats.org/drawingml/2006/main">
            <a:off x="640080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44e1dcf15934e78"/>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3D1BAC5B-3BE8-4C95-AEF2-FEDCB262453E}"/>
              </a:ext>
            </a:extLst>
          </p:cNvPr>
          <p:cNvSpPr>
            <a:spLocks xmlns:a="http://schemas.openxmlformats.org/drawingml/2006/main" noGrp="1"/>
          </p:cNvSpPr>
          <p:nvPr/>
        </p:nvSpPr>
        <p:spPr>
          <a:xfrm xmlns:a="http://schemas.openxmlformats.org/drawingml/2006/main">
            <a:off x="640080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2b6cbd43a0bd488e"/>
              </a:rPr>
              <a:t>Census QuickFacts: Barnegat</a:t>
            </a:r>
          </a:p>
        </p:txBody>
      </p:sp>
      <p:sp>
        <p:nvSpPr>
          <p:cNvPr id="17" name="Jobber: software pricing">
            <a:extLst xmlns:a="http://schemas.openxmlformats.org/drawingml/2006/main">
              <a:ext uri="{FF2B5EF4-FFF2-40B4-BE49-F238E27FC236}">
                <a16:creationId xmlns:a16="http://schemas.microsoft.com/office/drawing/2014/main" id="{664C05E2-A42F-4124-A613-F50F979CB012}"/>
              </a:ext>
            </a:extLst>
          </p:cNvPr>
          <p:cNvSpPr>
            <a:spLocks xmlns:a="http://schemas.openxmlformats.org/drawingml/2006/main" noGrp="1"/>
          </p:cNvSpPr>
          <p:nvPr/>
        </p:nvSpPr>
        <p:spPr>
          <a:xfrm xmlns:a="http://schemas.openxmlformats.org/drawingml/2006/main">
            <a:off x="640080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59403efde72141ea"/>
              </a:rPr>
              <a:t>Jobber: software pricing</a:t>
            </a:r>
          </a:p>
        </p:txBody>
      </p:sp>
      <p:sp>
        <p:nvSpPr>
          <p:cNvPr id="18" name="Zocdoc: Sponsored Results cost">
            <a:extLst xmlns:a="http://schemas.openxmlformats.org/drawingml/2006/main">
              <a:ext uri="{FF2B5EF4-FFF2-40B4-BE49-F238E27FC236}">
                <a16:creationId xmlns:a16="http://schemas.microsoft.com/office/drawing/2014/main" id="{C21C434B-6D4B-4AE2-A24A-D8A7EA95DAD1}"/>
              </a:ext>
            </a:extLst>
          </p:cNvPr>
          <p:cNvSpPr>
            <a:spLocks xmlns:a="http://schemas.openxmlformats.org/drawingml/2006/main" noGrp="1"/>
          </p:cNvSpPr>
          <p:nvPr/>
        </p:nvSpPr>
        <p:spPr>
          <a:xfrm xmlns:a="http://schemas.openxmlformats.org/drawingml/2006/main">
            <a:off x="640080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c66d7aa3d62649d6"/>
              </a:rPr>
              <a:t>Zocdoc: Sponsored Results cost</a:t>
            </a:r>
          </a:p>
        </p:txBody>
      </p:sp>
      <p:sp>
        <p:nvSpPr>
          <p:cNvPr id="19" name="Stripe Billing pricing">
            <a:extLst xmlns:a="http://schemas.openxmlformats.org/drawingml/2006/main">
              <a:ext uri="{FF2B5EF4-FFF2-40B4-BE49-F238E27FC236}">
                <a16:creationId xmlns:a16="http://schemas.microsoft.com/office/drawing/2014/main" id="{5652B82E-F83D-44DB-A83C-7D4C0B14BF8F}"/>
              </a:ext>
            </a:extLst>
          </p:cNvPr>
          <p:cNvSpPr>
            <a:spLocks xmlns:a="http://schemas.openxmlformats.org/drawingml/2006/main" noGrp="1"/>
          </p:cNvSpPr>
          <p:nvPr/>
        </p:nvSpPr>
        <p:spPr>
          <a:xfrm xmlns:a="http://schemas.openxmlformats.org/drawingml/2006/main">
            <a:off x="640080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f842b9337b0d4916"/>
              </a:rPr>
              <a:t>Stripe Billing pricing</a:t>
            </a:r>
          </a:p>
        </p:txBody>
      </p:sp>
      <p:sp>
        <p:nvSpPr>
          <p:cNvPr id="20" name="External references are linked. Full citations are">
            <a:extLst xmlns:a="http://schemas.openxmlformats.org/drawingml/2006/main">
              <a:ext uri="{FF2B5EF4-FFF2-40B4-BE49-F238E27FC236}">
                <a16:creationId xmlns:a16="http://schemas.microsoft.com/office/drawing/2014/main" id="{423AE1C3-E07F-4CE4-9503-8D9A1F2530C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583001302"/>
      </p:ext>
    </p:extLst>
  </p:cSld>
</p:sld>
</file>

<file path=ppt/slides/slide3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91226E0A-279B-4592-96D0-2D109775034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1–7. All links open the ">
            <a:extLst xmlns:a="http://schemas.openxmlformats.org/drawingml/2006/main">
              <a:ext uri="{FF2B5EF4-FFF2-40B4-BE49-F238E27FC236}">
                <a16:creationId xmlns:a16="http://schemas.microsoft.com/office/drawing/2014/main" id="{A375BBF2-D8AA-4F51-8069-5739F0ABC5F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1–7. All links open the underlying municipal table.</a:t>
            </a:r>
          </a:p>
        </p:txBody>
      </p:sp>
      <p:sp>
        <p:nvSpPr>
          <p:cNvPr id="3" name="YardMatch">
            <a:extLst xmlns:a="http://schemas.openxmlformats.org/drawingml/2006/main">
              <a:ext uri="{FF2B5EF4-FFF2-40B4-BE49-F238E27FC236}">
                <a16:creationId xmlns:a16="http://schemas.microsoft.com/office/drawing/2014/main" id="{EB8F10DC-2FE3-4F3B-B2B1-2A202FB3B1A8}"/>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6">
            <a:extLst xmlns:a="http://schemas.openxmlformats.org/drawingml/2006/main">
              <a:ext uri="{FF2B5EF4-FFF2-40B4-BE49-F238E27FC236}">
                <a16:creationId xmlns:a16="http://schemas.microsoft.com/office/drawing/2014/main" id="{F7B9B028-A241-471A-B7C9-E3244EEC3ED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36</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938a1757e8174823"/>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6b05972f9cd6411e"/>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12,007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90.3%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122e3acc88b3408e"/>
                        </a:rPr>
                        <a:t>Lacey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11,338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$102,624</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954371fbf1924e38"/>
                        </a:rPr>
                        <a:t>Ocean / Waretown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3,908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$100,524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cacb6a61dbe47ff"/>
                        </a:rPr>
                        <a:t>Berkeley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21,950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$66,008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54ea609b10f4486e"/>
                        </a:rPr>
                        <a:t>Toms River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38,047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82.1%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$99,547</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afbc1e55740c48e2"/>
                        </a:rPr>
                        <a:t>Brick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30,289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82.2%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$106,130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171DAA74-A7A2-4B2C-9626-66F81A5E4E3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1833312429"/>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1BFE15E2-5C93-47A9-98A9-4E77AD9BC6E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8–14. All links open the">
            <a:extLst xmlns:a="http://schemas.openxmlformats.org/drawingml/2006/main">
              <a:ext uri="{FF2B5EF4-FFF2-40B4-BE49-F238E27FC236}">
                <a16:creationId xmlns:a16="http://schemas.microsoft.com/office/drawing/2014/main" id="{4652DFD1-6313-4A0F-8956-44150D4B608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8–14. All links open the underlying municipal table.</a:t>
            </a:r>
          </a:p>
        </p:txBody>
      </p:sp>
      <p:sp>
        <p:nvSpPr>
          <p:cNvPr id="3" name="YardMatch">
            <a:extLst xmlns:a="http://schemas.openxmlformats.org/drawingml/2006/main">
              <a:ext uri="{FF2B5EF4-FFF2-40B4-BE49-F238E27FC236}">
                <a16:creationId xmlns:a16="http://schemas.microsoft.com/office/drawing/2014/main" id="{DD198A45-BC95-4CF3-B6FD-BB610107ACA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7">
            <a:extLst xmlns:a="http://schemas.openxmlformats.org/drawingml/2006/main">
              <a:ext uri="{FF2B5EF4-FFF2-40B4-BE49-F238E27FC236}">
                <a16:creationId xmlns:a16="http://schemas.microsoft.com/office/drawing/2014/main" id="{DA5D08CF-11DE-4F04-8CF1-BC1B0991C82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37</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5e4c438341544fb0"/>
                        </a:rPr>
                        <a:t>Jackson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20,633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87.0%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$115,511</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5751e514b12542ad"/>
                        </a:rPr>
                        <a:t>Howell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19,134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$134,854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4f7be8db968049f2"/>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10,124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83.4%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3768c61ab0a64f1d"/>
                        </a:rPr>
                        <a:t>Middletown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25,211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85.7%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$141,810</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692d9f2d218647c8"/>
                        </a:rPr>
                        <a:t>Holmdel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6,429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91.6%</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2b61a6ded4194501"/>
                        </a:rPr>
                        <a:t>Colts Neck</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3,610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94.3%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424b9797b8674e71"/>
                        </a:rPr>
                        <a:t>Rumson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2,451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533ADFB2-9FD0-4346-8319-69C23C2B7F95}"/>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11455058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2026-09-21T03:49:44.0760000Z</dcterms:created>
  <dcterms:modified xsi:type="dcterms:W3CDTF">2026-09-21T03:49:44.0760000Z</dcterms:modified>
</coreProperties>
</file>