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e135cd483ec459d" /><Relationship Type="http://schemas.openxmlformats.org/officeDocument/2006/relationships/extended-properties" Target="/docProps/app.xml" Id="R5f36ad562b6749b4" /><Relationship Type="http://schemas.openxmlformats.org/officeDocument/2006/relationships/officeDocument" Target="/ppt/presentation.xml" Id="R89269292da0647e6" /></Relationships>
</file>

<file path=ppt/presentation.xml><?xml version="1.0" encoding="utf-8"?>
<p:presentation xmlns:p="http://schemas.openxmlformats.org/presentationml/2006/main">
  <p:sldMasterIdLst>
    <p:sldMasterId xmlns:r="http://schemas.openxmlformats.org/officeDocument/2006/relationships" id="2147483648" r:id="Rcb613b411bd74901"/>
  </p:sldMasterIdLst>
  <p:notesMasterIdLst>
    <p:notesMasterId xmlns:r="http://schemas.openxmlformats.org/officeDocument/2006/relationships" r:id="R1f87489aba2a43e5"/>
  </p:notesMasterIdLst>
  <p:sldIdLst>
    <p:sldId xmlns:r="http://schemas.openxmlformats.org/officeDocument/2006/relationships" id="256" r:id="R7aa71c376a884b3f"/>
    <p:sldId xmlns:r="http://schemas.openxmlformats.org/officeDocument/2006/relationships" id="257" r:id="R6d77b189d80e4d45"/>
    <p:sldId xmlns:r="http://schemas.openxmlformats.org/officeDocument/2006/relationships" id="258" r:id="Rc04927d5d2cb4d85"/>
    <p:sldId xmlns:r="http://schemas.openxmlformats.org/officeDocument/2006/relationships" id="259" r:id="R509881cba70a4211"/>
    <p:sldId xmlns:r="http://schemas.openxmlformats.org/officeDocument/2006/relationships" id="260" r:id="R6e5a9a85b872456a"/>
    <p:sldId xmlns:r="http://schemas.openxmlformats.org/officeDocument/2006/relationships" id="261" r:id="Rb9a379a9e6624834"/>
    <p:sldId xmlns:r="http://schemas.openxmlformats.org/officeDocument/2006/relationships" id="262" r:id="Ra515480c6da64f18"/>
    <p:sldId xmlns:r="http://schemas.openxmlformats.org/officeDocument/2006/relationships" id="263" r:id="R806e90a9452b4fde"/>
    <p:sldId xmlns:r="http://schemas.openxmlformats.org/officeDocument/2006/relationships" id="264" r:id="Rf7c0b92bbb4e4032"/>
    <p:sldId xmlns:r="http://schemas.openxmlformats.org/officeDocument/2006/relationships" id="265" r:id="Rb38dfd4f8b7f4138"/>
    <p:sldId xmlns:r="http://schemas.openxmlformats.org/officeDocument/2006/relationships" id="266" r:id="Rcc17a0e41b6840e3"/>
    <p:sldId xmlns:r="http://schemas.openxmlformats.org/officeDocument/2006/relationships" id="267" r:id="Ra659e8d5b4064957"/>
    <p:sldId xmlns:r="http://schemas.openxmlformats.org/officeDocument/2006/relationships" id="268" r:id="R9d06e6721bda492a"/>
    <p:sldId xmlns:r="http://schemas.openxmlformats.org/officeDocument/2006/relationships" id="269" r:id="R9c09fbc7571a4c84"/>
    <p:sldId xmlns:r="http://schemas.openxmlformats.org/officeDocument/2006/relationships" id="270" r:id="R2fbb41c927134427"/>
    <p:sldId xmlns:r="http://schemas.openxmlformats.org/officeDocument/2006/relationships" id="271" r:id="Ra2a1b5cbae564a84"/>
    <p:sldId xmlns:r="http://schemas.openxmlformats.org/officeDocument/2006/relationships" id="272" r:id="Rb0cdb9ed922a4aa3"/>
    <p:sldId xmlns:r="http://schemas.openxmlformats.org/officeDocument/2006/relationships" id="273" r:id="R945ef170f1c54eb9"/>
    <p:sldId xmlns:r="http://schemas.openxmlformats.org/officeDocument/2006/relationships" id="274" r:id="R444e80d5a09d4523"/>
    <p:sldId xmlns:r="http://schemas.openxmlformats.org/officeDocument/2006/relationships" id="275" r:id="R3fd6e728b9784432"/>
    <p:sldId xmlns:r="http://schemas.openxmlformats.org/officeDocument/2006/relationships" id="276" r:id="R4396e34abe964ea1"/>
    <p:sldId xmlns:r="http://schemas.openxmlformats.org/officeDocument/2006/relationships" id="277" r:id="Rea2b5fb57fd244a3"/>
    <p:sldId xmlns:r="http://schemas.openxmlformats.org/officeDocument/2006/relationships" id="278" r:id="R33b368276e314942"/>
    <p:sldId xmlns:r="http://schemas.openxmlformats.org/officeDocument/2006/relationships" id="279" r:id="Ra2f1a76666be4aa4"/>
    <p:sldId xmlns:r="http://schemas.openxmlformats.org/officeDocument/2006/relationships" id="280" r:id="R3b08fa1a5fae4969"/>
    <p:sldId xmlns:r="http://schemas.openxmlformats.org/officeDocument/2006/relationships" id="281" r:id="R985f7670d7c441d7"/>
    <p:sldId xmlns:r="http://schemas.openxmlformats.org/officeDocument/2006/relationships" id="282" r:id="Ra0e8c05545e34e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c8ad66e2e44fe9" /><Relationship Type="http://schemas.openxmlformats.org/officeDocument/2006/relationships/slideMaster" Target="/ppt/slideMasters/slideMaster1.xml" Id="Rcb613b411bd74901" /><Relationship Type="http://schemas.openxmlformats.org/officeDocument/2006/relationships/notesMaster" Target="/ppt/notesMasters/notesMaster1.xml" Id="R1f87489aba2a43e5" /><Relationship Type="http://schemas.openxmlformats.org/officeDocument/2006/relationships/presProps" Target="/ppt/presProps.xml" Id="R06b2cfcf0d2d466f" /><Relationship Type="http://schemas.openxmlformats.org/officeDocument/2006/relationships/tableStyles" Target="/ppt/tableStyles.xml" Id="R556a6543ddc4485f" /><Relationship Type="http://schemas.openxmlformats.org/officeDocument/2006/relationships/slide" Target="/ppt/slides/slide1.xml" Id="R7aa71c376a884b3f" /><Relationship Type="http://schemas.openxmlformats.org/officeDocument/2006/relationships/slide" Target="/ppt/slides/slide2.xml" Id="R6d77b189d80e4d45" /><Relationship Type="http://schemas.openxmlformats.org/officeDocument/2006/relationships/slide" Target="/ppt/slides/slide3.xml" Id="Rc04927d5d2cb4d85" /><Relationship Type="http://schemas.openxmlformats.org/officeDocument/2006/relationships/slide" Target="/ppt/slides/slide4.xml" Id="R509881cba70a4211" /><Relationship Type="http://schemas.openxmlformats.org/officeDocument/2006/relationships/slide" Target="/ppt/slides/slide5.xml" Id="R6e5a9a85b872456a" /><Relationship Type="http://schemas.openxmlformats.org/officeDocument/2006/relationships/slide" Target="/ppt/slides/slide6.xml" Id="Rb9a379a9e6624834" /><Relationship Type="http://schemas.openxmlformats.org/officeDocument/2006/relationships/slide" Target="/ppt/slides/slide7.xml" Id="Ra515480c6da64f18" /><Relationship Type="http://schemas.openxmlformats.org/officeDocument/2006/relationships/slide" Target="/ppt/slides/slide8.xml" Id="R806e90a9452b4fde" /><Relationship Type="http://schemas.openxmlformats.org/officeDocument/2006/relationships/slide" Target="/ppt/slides/slide9.xml" Id="Rf7c0b92bbb4e4032" /><Relationship Type="http://schemas.openxmlformats.org/officeDocument/2006/relationships/slide" Target="/ppt/slides/slide10.xml" Id="Rb38dfd4f8b7f4138" /><Relationship Type="http://schemas.openxmlformats.org/officeDocument/2006/relationships/slide" Target="/ppt/slides/slide11.xml" Id="Rcc17a0e41b6840e3" /><Relationship Type="http://schemas.openxmlformats.org/officeDocument/2006/relationships/slide" Target="/ppt/slides/slide12.xml" Id="Ra659e8d5b4064957" /><Relationship Type="http://schemas.openxmlformats.org/officeDocument/2006/relationships/slide" Target="/ppt/slides/slide13.xml" Id="R9d06e6721bda492a" /><Relationship Type="http://schemas.openxmlformats.org/officeDocument/2006/relationships/slide" Target="/ppt/slides/slide14.xml" Id="R9c09fbc7571a4c84" /><Relationship Type="http://schemas.openxmlformats.org/officeDocument/2006/relationships/slide" Target="/ppt/slides/slide15.xml" Id="R2fbb41c927134427" /><Relationship Type="http://schemas.openxmlformats.org/officeDocument/2006/relationships/slide" Target="/ppt/slides/slide16.xml" Id="Ra2a1b5cbae564a84" /><Relationship Type="http://schemas.openxmlformats.org/officeDocument/2006/relationships/slide" Target="/ppt/slides/slide17.xml" Id="Rb0cdb9ed922a4aa3" /><Relationship Type="http://schemas.openxmlformats.org/officeDocument/2006/relationships/slide" Target="/ppt/slides/slide18.xml" Id="R945ef170f1c54eb9" /><Relationship Type="http://schemas.openxmlformats.org/officeDocument/2006/relationships/slide" Target="/ppt/slides/slide19.xml" Id="R444e80d5a09d4523" /><Relationship Type="http://schemas.openxmlformats.org/officeDocument/2006/relationships/slide" Target="/ppt/slides/slide20.xml" Id="R3fd6e728b9784432" /><Relationship Type="http://schemas.openxmlformats.org/officeDocument/2006/relationships/slide" Target="/ppt/slides/slide21.xml" Id="R4396e34abe964ea1" /><Relationship Type="http://schemas.openxmlformats.org/officeDocument/2006/relationships/slide" Target="/ppt/slides/slide22.xml" Id="Rea2b5fb57fd244a3" /><Relationship Type="http://schemas.openxmlformats.org/officeDocument/2006/relationships/slide" Target="/ppt/slides/slide23.xml" Id="R33b368276e314942" /><Relationship Type="http://schemas.openxmlformats.org/officeDocument/2006/relationships/slide" Target="/ppt/slides/slide24.xml" Id="Ra2f1a76666be4aa4" /><Relationship Type="http://schemas.openxmlformats.org/officeDocument/2006/relationships/slide" Target="/ppt/slides/slide25.xml" Id="R3b08fa1a5fae4969" /><Relationship Type="http://schemas.openxmlformats.org/officeDocument/2006/relationships/slide" Target="/ppt/slides/slide26.xml" Id="R985f7670d7c441d7" /><Relationship Type="http://schemas.openxmlformats.org/officeDocument/2006/relationships/slide" Target="/ppt/slides/slide27.xml" Id="Ra0e8c05545e34e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06e8bbbd634b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6c576900c34133" /><Relationship Type="http://schemas.openxmlformats.org/officeDocument/2006/relationships/notesMaster" Target="/ppt/notesMasters/notesMaster1.xml" Id="R72ae54d0dfae4c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8a8090c38c4cfe" /><Relationship Type="http://schemas.openxmlformats.org/officeDocument/2006/relationships/notesMaster" Target="/ppt/notesMasters/notesMaster1.xml" Id="R741625c67d064b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857b9b30b344bf" /><Relationship Type="http://schemas.openxmlformats.org/officeDocument/2006/relationships/notesMaster" Target="/ppt/notesMasters/notesMaster1.xml" Id="Rdc5223b7159046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f9c04508ce463d" /><Relationship Type="http://schemas.openxmlformats.org/officeDocument/2006/relationships/notesMaster" Target="/ppt/notesMasters/notesMaster1.xml" Id="Rf05647bb6de045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d51d13b3744f3e" /><Relationship Type="http://schemas.openxmlformats.org/officeDocument/2006/relationships/notesMaster" Target="/ppt/notesMasters/notesMaster1.xml" Id="Rc81aba668fd543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a3f4c8a4d34245" /><Relationship Type="http://schemas.openxmlformats.org/officeDocument/2006/relationships/notesMaster" Target="/ppt/notesMasters/notesMaster1.xml" Id="Rc4d3cdbcc8a84c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43df8fedfe4b55" /><Relationship Type="http://schemas.openxmlformats.org/officeDocument/2006/relationships/notesMaster" Target="/ppt/notesMasters/notesMaster1.xml" Id="R4eb9667a1f1940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a29077284d48b8" /><Relationship Type="http://schemas.openxmlformats.org/officeDocument/2006/relationships/notesMaster" Target="/ppt/notesMasters/notesMaster1.xml" Id="R8a7163f2fc224d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c171f6860342d5" /><Relationship Type="http://schemas.openxmlformats.org/officeDocument/2006/relationships/notesMaster" Target="/ppt/notesMasters/notesMaster1.xml" Id="Re0c782ba095643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8595a317b042f2" /><Relationship Type="http://schemas.openxmlformats.org/officeDocument/2006/relationships/notesMaster" Target="/ppt/notesMasters/notesMaster1.xml" Id="R14d13db9e0f04f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ceeca6256e4818" /><Relationship Type="http://schemas.openxmlformats.org/officeDocument/2006/relationships/notesMaster" Target="/ppt/notesMasters/notesMaster1.xml" Id="R77be7a16d5874a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f3e1b4f0974e86" /><Relationship Type="http://schemas.openxmlformats.org/officeDocument/2006/relationships/notesMaster" Target="/ppt/notesMasters/notesMaster1.xml" Id="R077d197f9f424a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fced25fe904ba7" /><Relationship Type="http://schemas.openxmlformats.org/officeDocument/2006/relationships/notesMaster" Target="/ppt/notesMasters/notesMaster1.xml" Id="R33857ba8d4824a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9324143b6c40c0" /><Relationship Type="http://schemas.openxmlformats.org/officeDocument/2006/relationships/notesMaster" Target="/ppt/notesMasters/notesMaster1.xml" Id="R861d6751599b40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964dd32c1945e1" /><Relationship Type="http://schemas.openxmlformats.org/officeDocument/2006/relationships/notesMaster" Target="/ppt/notesMasters/notesMaster1.xml" Id="R8fe3c71a8bd047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588118cf8948db" /><Relationship Type="http://schemas.openxmlformats.org/officeDocument/2006/relationships/notesMaster" Target="/ppt/notesMasters/notesMaster1.xml" Id="R4bd30a385c0147f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7d45fd01d842c8" /><Relationship Type="http://schemas.openxmlformats.org/officeDocument/2006/relationships/notesMaster" Target="/ppt/notesMasters/notesMaster1.xml" Id="Re994d41816e94f6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afcf22c15143e5" /><Relationship Type="http://schemas.openxmlformats.org/officeDocument/2006/relationships/notesMaster" Target="/ppt/notesMasters/notesMaster1.xml" Id="Rcd33403f23da41a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653e1fed1054eea" /><Relationship Type="http://schemas.openxmlformats.org/officeDocument/2006/relationships/notesMaster" Target="/ppt/notesMasters/notesMaster1.xml" Id="R4a08623d92e249e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78d5d93fcb4e36" /><Relationship Type="http://schemas.openxmlformats.org/officeDocument/2006/relationships/notesMaster" Target="/ppt/notesMasters/notesMaster1.xml" Id="Rc6945c8e7aaa4c0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841802f58741fa" /><Relationship Type="http://schemas.openxmlformats.org/officeDocument/2006/relationships/notesMaster" Target="/ppt/notesMasters/notesMaster1.xml" Id="R728965f4c52b44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ef2bd3dc6c47cc" /><Relationship Type="http://schemas.openxmlformats.org/officeDocument/2006/relationships/notesMaster" Target="/ppt/notesMasters/notesMaster1.xml" Id="R21e5978488654f3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571f1d2bebd4f29" /><Relationship Type="http://schemas.openxmlformats.org/officeDocument/2006/relationships/notesMaster" Target="/ppt/notesMasters/notesMaster1.xml" Id="R2c7f2a76cdd34a8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b8ff477d9a1423d" /><Relationship Type="http://schemas.openxmlformats.org/officeDocument/2006/relationships/notesMaster" Target="/ppt/notesMasters/notesMaster1.xml" Id="Raf5792f1a4ac4c0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01ad12ae39f43cb" /><Relationship Type="http://schemas.openxmlformats.org/officeDocument/2006/relationships/notesMaster" Target="/ppt/notesMasters/notesMaster1.xml" Id="R3f8e4a9566a2426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4e6ddc849d747a7" /><Relationship Type="http://schemas.openxmlformats.org/officeDocument/2006/relationships/notesMaster" Target="/ppt/notesMasters/notesMaster1.xml" Id="R6834c78124eb4aa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ca28adb5d86446c" /><Relationship Type="http://schemas.openxmlformats.org/officeDocument/2006/relationships/notesMaster" Target="/ppt/notesMasters/notesMaster1.xml" Id="Rb0435005625447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This is proposed investor-model pricing, not a live product change. $45 after the first completed paid service in each new relationship; first-client welcome waiver remains. Recurring platform fee is MAX($2.99,1% of service bill), plus actual card/ACH processing. YardMatch absorbs Connect account/payout, bank verification, support and loss allowances.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https://www.zocdoc.com/about/understanding-your-bill/ publicly lists $30-$140 by specialty/location but also refers to annual licensing. Treat as published reference, not a verified current nationwide quote. Current provider help says no upfront/subscription to join, Sponsored Results can cost extra and Practice Solutions has a monthly per-provider fee. Older https://www.zocdoc.com/about/newpricing/ says Practice Solutions is free; current help is prioritized.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Standard US card rate 2.9% + $0.30. ACH 0.8% capped at $5. Platform fee max($2.99,1% of job price). Initial bank-link cost and Connect account/payout fees borne by YardMatch. Repeat contribution uses 2031 volume allocation. No provider labor or equipment expense deducted.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Neighborhood multipliers 1.00 / 1.15 / 1.30, with 2027 shares 70% / 25% / 5% and 2033 shares 55% / 35% / 10%. Property multipliers 1.00 / 1.35 / 1.80, shares 70% / 25% / 5% in 2027 and 60% / 30% / 10% in 2033. Independent distributions compound. Maintenance mix ends 45% basic / 40% bundled / 15% expanded. Project frequency reaches 1.00 cleanup and 0.08 larger project. Same ACH, completion and capture rates across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per-transaction MAX($2.99,1% of price). Processing recovery offsets expense and is excluded from net marketplace revenue.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budget recalculates from the revised job mix. A finite pilot must validate proposed pricing and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https://usa.visa.com/support/small-business/regulations-fees.html explains interchange and acquiring-bank merchant discounts. https://www.frbservices.org/resources/fees/ach-2026 lists financial-institution ACH fees, not end-merchant prices. https://www.pcisecuritystandards.org/standards/pci-dss/ covers card-data security obligations. Source: YardMatch-Investor-Model.xlsx, assumptions and formula-driven Operating model, prepared September 20, 2026. All 2027-2033 figures are illustrative forecasts, not actuals or promises. US dollars. No commercial actuals supplied. Alternative assumptions are unquoted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Payments sheet: $600k build expensed half before launch and half at launch; $300k incremental annual operations growing 3%. Assumed alternative card 2.35%+$0.12, ACH min(0.10%+$0.25,$1.50), payout 0.10%+$0.10, active account $1/month. Unquoted estimates inclusive of replacement processing/network costs. Provider recovery stays 100%, so card/ACH savings are passed through. Table impact is pre-tax and includes build/run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17a2c2d5e145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2954f695ba4751" /><Relationship Type="http://schemas.openxmlformats.org/officeDocument/2006/relationships/slideLayout" Target="/ppt/slideLayouts/slideLayout1.xml" Id="R88a25e8a727b48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a25e8a727b48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f53a521a44476d" /><Relationship Type="http://schemas.openxmlformats.org/officeDocument/2006/relationships/image" Target="/ppt/media/image.png" Id="Rde17e56a121e4063" /><Relationship Type="http://schemas.openxmlformats.org/officeDocument/2006/relationships/notesSlide" Target="/ppt/notesSlides/notesSlide1.xml" Id="R85fab5dd6adc49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9dd4dc3e4a42ee" /><Relationship Type="http://schemas.openxmlformats.org/officeDocument/2006/relationships/notesSlide" Target="/ppt/notesSlides/notesSlide2.xml" Id="Rf6e04b0e417849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99fe024b46487f" /><Relationship Type="http://schemas.openxmlformats.org/officeDocument/2006/relationships/notesSlide" Target="/ppt/notesSlides/notesSlide3.xml" Id="R583878d85c4446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cf7bf46afb4e51" /><Relationship Type="http://schemas.openxmlformats.org/officeDocument/2006/relationships/image" Target="/ppt/media/image2.png" Id="Rf5adaa8d8e2147b2" /><Relationship Type="http://schemas.openxmlformats.org/officeDocument/2006/relationships/notesSlide" Target="/ppt/notesSlides/notesSlide4.xml" Id="R7ffc86b65c6244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0cb23b6b244323" /><Relationship Type="http://schemas.openxmlformats.org/officeDocument/2006/relationships/image" Target="/ppt/media/image3.png" Id="Rfd9f7f0e56434c86" /><Relationship Type="http://schemas.openxmlformats.org/officeDocument/2006/relationships/notesSlide" Target="/ppt/notesSlides/notesSlide5.xml" Id="R19ea08fe680040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8b267ec3af4f7d" /><Relationship Type="http://schemas.openxmlformats.org/officeDocument/2006/relationships/notesSlide" Target="/ppt/notesSlides/notesSlide6.xml" Id="R51b30883fd3642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21d475f95743d3" /><Relationship Type="http://schemas.openxmlformats.org/officeDocument/2006/relationships/notesSlide" Target="/ppt/notesSlides/notesSlide7.xml" Id="R01616cc164f345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cb068ad63f4ff8" /><Relationship Type="http://schemas.openxmlformats.org/officeDocument/2006/relationships/notesSlide" Target="/ppt/notesSlides/notesSlide8.xml" Id="R92f2f7bd387844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21256e5c614c6e" /><Relationship Type="http://schemas.openxmlformats.org/officeDocument/2006/relationships/notesSlide" Target="/ppt/notesSlides/notesSlide9.xml" Id="Rbdbfb079560f4c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a92f6d3ebd845ec" /><Relationship Type="http://schemas.openxmlformats.org/officeDocument/2006/relationships/notesSlide" Target="/ppt/notesSlides/notesSlide10.xml" Id="R5b705066b93541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bd0cff2492745a4" /><Relationship Type="http://schemas.openxmlformats.org/officeDocument/2006/relationships/notesSlide" Target="/ppt/notesSlides/notesSlide11.xml" Id="Re5adebab80c243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ea6962676d44316" /><Relationship Type="http://schemas.openxmlformats.org/officeDocument/2006/relationships/notesSlide" Target="/ppt/notesSlides/notesSlide12.xml" Id="Raf4729b69d3a48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3d0e35d7c64702" /><Relationship Type="http://schemas.openxmlformats.org/officeDocument/2006/relationships/notesSlide" Target="/ppt/notesSlides/notesSlide13.xml" Id="R02bf1bc55ddc4c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fed76604b64b8a" /><Relationship Type="http://schemas.openxmlformats.org/officeDocument/2006/relationships/notesSlide" Target="/ppt/notesSlides/notesSlide14.xml" Id="R3336176a1a9446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ee294bfd964b68" /><Relationship Type="http://schemas.openxmlformats.org/officeDocument/2006/relationships/notesSlide" Target="/ppt/notesSlides/notesSlide15.xml" Id="Rfb11678a22b945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d08b227ccfe4333" /><Relationship Type="http://schemas.openxmlformats.org/officeDocument/2006/relationships/notesSlide" Target="/ppt/notesSlides/notesSlide16.xml" Id="R869df17dfcc74e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58a92ad0b144903" /><Relationship Type="http://schemas.openxmlformats.org/officeDocument/2006/relationships/chart" Target="/ppt/slides/charts/chart1.xml" Id="R30f78b6f4b8c4400" /><Relationship Type="http://schemas.openxmlformats.org/officeDocument/2006/relationships/notesSlide" Target="/ppt/notesSlides/notesSlide17.xml" Id="R111481b6906144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2118477a9084c17" /><Relationship Type="http://schemas.openxmlformats.org/officeDocument/2006/relationships/notesSlide" Target="/ppt/notesSlides/notesSlide18.xml" Id="R8baebc20618841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9ceefc43d8d4ac1" /><Relationship Type="http://schemas.openxmlformats.org/officeDocument/2006/relationships/notesSlide" Target="/ppt/notesSlides/notesSlide19.xml" Id="Re3563735be874a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d2dc72ec7104039" /><Relationship Type="http://schemas.openxmlformats.org/officeDocument/2006/relationships/notesSlide" Target="/ppt/notesSlides/notesSlide20.xml" Id="R9bcfc4053c914d1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95c875f6c7448fd" /><Relationship Type="http://schemas.openxmlformats.org/officeDocument/2006/relationships/notesSlide" Target="/ppt/notesSlides/notesSlide21.xml" Id="Reb11515ebbea497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faedd8582eb443b" /><Relationship Type="http://schemas.openxmlformats.org/officeDocument/2006/relationships/notesSlide" Target="/ppt/notesSlides/notesSlide22.xml" Id="R0a83d81f3cfd498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68d3b41b6164bbc" /><Relationship Type="http://schemas.openxmlformats.org/officeDocument/2006/relationships/notesSlide" Target="/ppt/notesSlides/notesSlide23.xml" Id="R47ad6a551e43491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1815bb79aba46ea" /><Relationship Type="http://schemas.openxmlformats.org/officeDocument/2006/relationships/notesSlide" Target="/ppt/notesSlides/notesSlide24.xml" Id="R42dcbe46bf5b4ed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5b2a07c0b704e35" /><Relationship Type="http://schemas.openxmlformats.org/officeDocument/2006/relationships/notesSlide" Target="/ppt/notesSlides/notesSlide25.xml" Id="R6f31d9c54ac7478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b6638220b7748dc" /><Relationship Type="http://schemas.openxmlformats.org/officeDocument/2006/relationships/notesSlide" Target="/ppt/notesSlides/notesSlide26.xml" Id="R28603f50d7cd414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7746df1b4a0435c" /><Relationship Type="http://schemas.openxmlformats.org/officeDocument/2006/relationships/hyperlink" Target="https://stripe.com/pricing" TargetMode="External" Id="R47c80e7418844673" /><Relationship Type="http://schemas.openxmlformats.org/officeDocument/2006/relationships/hyperlink" Target="https://stripe.com/connect/pricing" TargetMode="External" Id="R395bb014f1514f17" /><Relationship Type="http://schemas.openxmlformats.org/officeDocument/2006/relationships/hyperlink" Target="https://stripe.com/financial-connections" TargetMode="External" Id="Rb2aa465a43564c9d" /><Relationship Type="http://schemas.openxmlformats.org/officeDocument/2006/relationships/hyperlink" Target="https://www.zocdoc.com/provider-help/en/articles/10859404-understanding-zocdoc-pricing-and-billing" TargetMode="External" Id="Rcadeb5f0578742a4" /><Relationship Type="http://schemas.openxmlformats.org/officeDocument/2006/relationships/hyperlink" Target="https://www.zocdoc.com/about/understanding-your-bill/" TargetMode="External" Id="R7e8eea9fad854fa5" /><Relationship Type="http://schemas.openxmlformats.org/officeDocument/2006/relationships/hyperlink" Target="https://usa.visa.com/support/small-business/regulations-fees.html" TargetMode="External" Id="R8192adbbda754f73" /><Relationship Type="http://schemas.openxmlformats.org/officeDocument/2006/relationships/hyperlink" Target="https://www.frbservices.org/resources/fees/ach-2026" TargetMode="External" Id="R056950aebfce4fab" /><Relationship Type="http://schemas.openxmlformats.org/officeDocument/2006/relationships/hyperlink" Target="https://www.pcisecuritystandards.org/standards/pci-dss/" TargetMode="External" Id="Ree5c37cb244e43f8" /><Relationship Type="http://schemas.openxmlformats.org/officeDocument/2006/relationships/hyperlink" Target="https://www.census.gov/quickfacts/fact/table/barnegattownshipoceancountynewjersey/SBO010223" TargetMode="External" Id="R1b16304fece648fc" /><Relationship Type="http://schemas.openxmlformats.org/officeDocument/2006/relationships/notesSlide" Target="/ppt/notesSlides/notesSlide27.xml" Id="R4927f677af8040f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0.013315</c:v>
                </c:pt>
                <c:pt idx="1">
                  <c:v>0.085891</c:v>
                </c:pt>
                <c:pt idx="2">
                  <c:v>0.359094</c:v>
                </c:pt>
                <c:pt idx="3">
                  <c:v>1.156601</c:v>
                </c:pt>
                <c:pt idx="4">
                  <c:v>3.001035</c:v>
                </c:pt>
                <c:pt idx="5">
                  <c:v>6.422378</c:v>
                </c:pt>
                <c:pt idx="6">
                  <c:v>11.92146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3DD0E7B3-D547-4A88-87D1-8F1E27E160B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C0AFBE7E-F8BA-44D4-8BBF-BD6DFE3870E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e17e56a121e4063"/>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05900901-8C83-4460-81DE-E77E17B4C15A}"/>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C2EBC9FB-3917-417A-9B2D-F1F4EBEC9C41}"/>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89EBBC27-B16B-4D9C-B777-8C13648E3ACB}"/>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1864175565"/>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6A7B7DD0-D249-4712-A41D-B327D59E972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EF5BE2D9-E910-4953-B61F-DB2D32A6428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CBC97D47-D935-4283-BA8F-3DA4F3C6F49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F4E7A6E8-AD9F-4C3D-9499-ABAAB27D450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3F1FBD69-7F10-4D4F-90FA-CFB6D7802342}"/>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087D35F8-5590-4E56-BD69-E99499F27B8C}"/>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F1D9E7C2-2CF7-4108-A86A-F179B0FC8F3F}"/>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E4F1E8A1-86DD-41E0-B520-DEEF826CB8C2}"/>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005E5B86-0F88-49C8-97A1-AFB5735CD165}"/>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A $45 finder fee and size-aware service fee can fu">
            <a:extLst xmlns:a="http://schemas.openxmlformats.org/drawingml/2006/main">
              <a:ext uri="{FF2B5EF4-FFF2-40B4-BE49-F238E27FC236}">
                <a16:creationId xmlns:a16="http://schemas.microsoft.com/office/drawing/2014/main" id="{6C6C3BD8-105C-4EF4-8083-8B52E25D3991}"/>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A $45 finder fee and size-aware service fee can fund ongoing care. Providers also cover payment processing at cost. A pilot must validate acceptance and retention.</a:t>
            </a:r>
          </a:p>
        </p:txBody>
      </p:sp>
      <p:sp>
        <p:nvSpPr>
          <p:cNvPr id="11" name="Investment hypothesis. The model does not assume s">
            <a:extLst xmlns:a="http://schemas.openxmlformats.org/drawingml/2006/main">
              <a:ext uri="{FF2B5EF4-FFF2-40B4-BE49-F238E27FC236}">
                <a16:creationId xmlns:a16="http://schemas.microsoft.com/office/drawing/2014/main" id="{7955A4F4-F815-48CE-82F5-B6FE6CD9D33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The model does not assume subscriptions, advertising or repeated finder fees from the same relationship.</a:t>
            </a:r>
          </a:p>
        </p:txBody>
      </p:sp>
    </p:spTree>
    <p:extLst>
      <p:ext uri="{BB962C8B-B14F-4D97-AF65-F5344CB8AC3E}">
        <p14:creationId xmlns:p14="http://schemas.microsoft.com/office/powerpoint/2010/main" val="1258720629"/>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849CDB50-FDF0-4D8C-809D-E4532B6A907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389227A1-A6A8-4636-A1E7-7AFB988A23D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768B2210-1A4E-4DA7-BCB9-2CB6BC8A224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E0A30C0C-39D6-4101-8058-4E4A8D3726E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B0A9FCB3-93A7-4C56-BCDF-A411C0B1E3F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159190654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4B5D7A99-2001-4D86-AA9B-465274D3DA8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08AB3607-6FFE-4C1B-BF15-2B68C5BFC15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DAEB2491-E7BA-4954-AEC1-D3ACC456B65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BCC9D1C8-D83B-4FB9-8CEC-1D28348C052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5adaa8d8e2147b2"/>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9864E04D-984A-41B8-B8CD-EFA82D3302EB}"/>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B19AC4F6-95DD-4843-99F8-10A24F65620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9632937"/>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D25964E3-6F29-48E0-809D-433D6A0F91D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0C5D7A81-D06B-490B-B3C3-66E5A010660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AAB94C92-5D1A-4682-820D-76E2CCE8B95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521CA685-38F0-4B8B-99FE-2CD37935718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d9f7f0e56434c86"/>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3238FFE7-6D88-49A6-B566-7951334081A6}"/>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AB21CE93-4384-445A-A5DC-430B2CF04BBE}"/>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E39E9654-873A-4B45-8231-79CE2C8CE8FE}"/>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E295286B-78BD-4C9E-9584-341356454BC0}"/>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00526650-5CCB-4CCC-8C89-CEC649E858E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1770599531"/>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Keep the finder fee. Repair the recurring fee.">
            <a:extLst xmlns:a="http://schemas.openxmlformats.org/drawingml/2006/main">
              <a:ext uri="{FF2B5EF4-FFF2-40B4-BE49-F238E27FC236}">
                <a16:creationId xmlns:a16="http://schemas.microsoft.com/office/drawing/2014/main" id="{9D7B2116-63C7-4EA8-BC02-B40CC8EEC0C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Keep the finder fee. Repair the recurring fee.</a:t>
            </a:r>
          </a:p>
        </p:txBody>
      </p:sp>
      <p:sp>
        <p:nvSpPr>
          <p:cNvPr id="2" name="Recommendation for the launch pilot. All charges a">
            <a:extLst xmlns:a="http://schemas.openxmlformats.org/drawingml/2006/main">
              <a:ext uri="{FF2B5EF4-FFF2-40B4-BE49-F238E27FC236}">
                <a16:creationId xmlns:a16="http://schemas.microsoft.com/office/drawing/2014/main" id="{66170908-C1DC-4F6B-B25B-C2CC4B76F98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Recommendation for the launch pilot. All charges are paid by the provider.</a:t>
            </a:r>
          </a:p>
        </p:txBody>
      </p:sp>
      <p:sp>
        <p:nvSpPr>
          <p:cNvPr id="3" name="YardMatch">
            <a:extLst xmlns:a="http://schemas.openxmlformats.org/drawingml/2006/main">
              <a:ext uri="{FF2B5EF4-FFF2-40B4-BE49-F238E27FC236}">
                <a16:creationId xmlns:a16="http://schemas.microsoft.com/office/drawing/2014/main" id="{C1886A82-7ED6-4072-8564-9F4B8547EA3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F82F0DD2-D8A3-4E27-8CB6-8247D399F18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7044E960-3057-4F7E-A02F-A4533D121B8A}"/>
              </a:ext>
            </a:extLst>
          </p:cNvPr>
          <p:cNvSpPr>
            <a:spLocks xmlns:a="http://schemas.openxmlformats.org/drawingml/2006/main" noGrp="1"/>
          </p:cNvSpPr>
          <p:nvPr/>
        </p:nvSpPr>
        <p:spPr>
          <a:xfrm xmlns:a="http://schemas.openxmlformats.org/drawingml/2006/main">
            <a:off x="647700" y="232410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205938"/>
                </a:solidFill>
                <a:latin typeface="Arial"/>
                <a:ea typeface="Arial"/>
                <a:cs typeface="Arial"/>
              </a:defRPr>
            </a:pPr>
            <a:r>
              <a:rPr sz="5250" b="1">
                <a:solidFill>
                  <a:srgbClr val="205938"/>
                </a:solidFill>
                <a:latin typeface="Arial"/>
                <a:ea typeface="Arial"/>
                <a:cs typeface="Arial"/>
              </a:rPr>
              <a:t>$45</a:t>
            </a:r>
          </a:p>
        </p:txBody>
      </p:sp>
      <p:sp>
        <p:nvSpPr>
          <p:cNvPr id="6" name="Once per new customer/provider pair,&#10;after the fir">
            <a:extLst xmlns:a="http://schemas.openxmlformats.org/drawingml/2006/main">
              <a:ext uri="{FF2B5EF4-FFF2-40B4-BE49-F238E27FC236}">
                <a16:creationId xmlns:a16="http://schemas.microsoft.com/office/drawing/2014/main" id="{50D2E18A-0277-4E49-BA70-3CC81AD97EC4}"/>
              </a:ext>
            </a:extLst>
          </p:cNvPr>
          <p:cNvSpPr>
            <a:spLocks xmlns:a="http://schemas.openxmlformats.org/drawingml/2006/main" noGrp="1"/>
          </p:cNvSpPr>
          <p:nvPr/>
        </p:nvSpPr>
        <p:spPr>
          <a:xfrm xmlns:a="http://schemas.openxmlformats.org/drawingml/2006/main">
            <a:off x="647700" y="3238500"/>
            <a:ext cx="4829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Once per new customer/provider pair,</a:t>
            </a:r>
          </a:p>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after the first paid completed job</a:t>
            </a:r>
          </a:p>
        </p:txBody>
      </p:sp>
      <p:sp>
        <p:nvSpPr>
          <p:cNvPr id="7" name="$2.99 minimum">
            <a:extLst xmlns:a="http://schemas.openxmlformats.org/drawingml/2006/main">
              <a:ext uri="{FF2B5EF4-FFF2-40B4-BE49-F238E27FC236}">
                <a16:creationId xmlns:a16="http://schemas.microsoft.com/office/drawing/2014/main" id="{5A814435-6DEC-4FA4-993C-DCE8F88DC30D}"/>
              </a:ext>
            </a:extLst>
          </p:cNvPr>
          <p:cNvSpPr>
            <a:spLocks xmlns:a="http://schemas.openxmlformats.org/drawingml/2006/main" noGrp="1"/>
          </p:cNvSpPr>
          <p:nvPr/>
        </p:nvSpPr>
        <p:spPr>
          <a:xfrm xmlns:a="http://schemas.openxmlformats.org/drawingml/2006/main">
            <a:off x="6391275" y="23241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205938"/>
                </a:solidFill>
                <a:latin typeface="Arial"/>
                <a:ea typeface="Arial"/>
                <a:cs typeface="Arial"/>
              </a:defRPr>
            </a:pPr>
            <a:r>
              <a:rPr sz="3975" b="1">
                <a:solidFill>
                  <a:srgbClr val="205938"/>
                </a:solidFill>
                <a:latin typeface="Arial"/>
                <a:ea typeface="Arial"/>
                <a:cs typeface="Arial"/>
              </a:rPr>
              <a:t>$2.99 minimum</a:t>
            </a:r>
          </a:p>
        </p:txBody>
      </p:sp>
      <p:sp>
        <p:nvSpPr>
          <p:cNvPr id="8" name="Or 1% of the service bill, if higher,&#10;plus actual ">
            <a:extLst xmlns:a="http://schemas.openxmlformats.org/drawingml/2006/main">
              <a:ext uri="{FF2B5EF4-FFF2-40B4-BE49-F238E27FC236}">
                <a16:creationId xmlns:a16="http://schemas.microsoft.com/office/drawing/2014/main" id="{EBE85B7A-44D4-4595-AE37-A0C4F7B7BDF6}"/>
              </a:ext>
            </a:extLst>
          </p:cNvPr>
          <p:cNvSpPr>
            <a:spLocks xmlns:a="http://schemas.openxmlformats.org/drawingml/2006/main" noGrp="1"/>
          </p:cNvSpPr>
          <p:nvPr/>
        </p:nvSpPr>
        <p:spPr>
          <a:xfrm xmlns:a="http://schemas.openxmlformats.org/drawingml/2006/main">
            <a:off x="6391275" y="32385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Or 1% of the service bill, if higher,</a:t>
            </a:r>
          </a:p>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plus actual card / ACH processing</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card-paid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$9.97</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$54.97</a:t>
                      </a:r>
                    </a:p>
                  </a:txBody>
                  <a:tcPr marL="91440" marR="91440" marT="45720" marB="45720" anchor="ctr">
                    <a:solidFill>
                      <a:srgbClr val="E8EDDF"/>
                    </a:solidFill>
                  </a:tcPr>
                </a:tc>
              </a:tr>
            </a:tbl>
          </a:graphicData>
        </a:graphic>
      </p:graphicFrame>
      <p:sp>
        <p:nvSpPr>
          <p:cNvPr id="10" name="Keep the first-client finder-fee waiver. A $45 acq">
            <a:extLst xmlns:a="http://schemas.openxmlformats.org/drawingml/2006/main">
              <a:ext uri="{FF2B5EF4-FFF2-40B4-BE49-F238E27FC236}">
                <a16:creationId xmlns:a16="http://schemas.microsoft.com/office/drawing/2014/main" id="{4029FC7E-E968-406B-BC6C-8E2BF99A93B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Keep the first-client finder-fee waiver. A $45 acquisition charge is already substantial on a $60 first visit; validate season-long value before increasing it. No customer surcharge modeled.</a:t>
            </a:r>
          </a:p>
        </p:txBody>
      </p:sp>
    </p:spTree>
    <p:extLst>
      <p:ext uri="{BB962C8B-B14F-4D97-AF65-F5344CB8AC3E}">
        <p14:creationId xmlns:p14="http://schemas.microsoft.com/office/powerpoint/2010/main" val="1674144278"/>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What Zocdoc charges its providers">
            <a:extLst xmlns:a="http://schemas.openxmlformats.org/drawingml/2006/main">
              <a:ext uri="{FF2B5EF4-FFF2-40B4-BE49-F238E27FC236}">
                <a16:creationId xmlns:a16="http://schemas.microsoft.com/office/drawing/2014/main" id="{8ACE2266-202F-4BA1-A102-5DFDCB281D8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Zocdoc charges its providers</a:t>
            </a:r>
          </a:p>
        </p:txBody>
      </p:sp>
      <p:sp>
        <p:nvSpPr>
          <p:cNvPr id="2" name="A useful acquisition benchmark, with a different c">
            <a:extLst xmlns:a="http://schemas.openxmlformats.org/drawingml/2006/main">
              <a:ext uri="{FF2B5EF4-FFF2-40B4-BE49-F238E27FC236}">
                <a16:creationId xmlns:a16="http://schemas.microsoft.com/office/drawing/2014/main" id="{E7EE7AC8-BD06-4BFB-A84D-5DE81C30B81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useful acquisition benchmark, with a different charging event and repeat-use pattern.</a:t>
            </a:r>
          </a:p>
        </p:txBody>
      </p:sp>
      <p:sp>
        <p:nvSpPr>
          <p:cNvPr id="3" name="YardMatch">
            <a:extLst xmlns:a="http://schemas.openxmlformats.org/drawingml/2006/main">
              <a:ext uri="{FF2B5EF4-FFF2-40B4-BE49-F238E27FC236}">
                <a16:creationId xmlns:a16="http://schemas.microsoft.com/office/drawing/2014/main" id="{E046C6BC-D181-48EE-BBFD-AC242F3BEDC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64A07962-DE45-4657-8ADC-3808CC3E358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sp>
        <p:nvSpPr>
          <p:cNvPr id="5" name="$30–$140">
            <a:extLst xmlns:a="http://schemas.openxmlformats.org/drawingml/2006/main">
              <a:ext uri="{FF2B5EF4-FFF2-40B4-BE49-F238E27FC236}">
                <a16:creationId xmlns:a16="http://schemas.microsoft.com/office/drawing/2014/main" id="{27419ADB-6BC7-4470-BE0B-9920F96F0D93}"/>
              </a:ext>
            </a:extLst>
          </p:cNvPr>
          <p:cNvSpPr>
            <a:spLocks xmlns:a="http://schemas.openxmlformats.org/drawingml/2006/main" noGrp="1"/>
          </p:cNvSpPr>
          <p:nvPr/>
        </p:nvSpPr>
        <p:spPr>
          <a:xfrm xmlns:a="http://schemas.openxmlformats.org/drawingml/2006/main">
            <a:off x="628650" y="2305050"/>
            <a:ext cx="4914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$30–$140</a:t>
            </a:r>
          </a:p>
        </p:txBody>
      </p:sp>
      <p:sp>
        <p:nvSpPr>
          <p:cNvPr id="6" name="Published range for a new-patient booking">
            <a:extLst xmlns:a="http://schemas.openxmlformats.org/drawingml/2006/main">
              <a:ext uri="{FF2B5EF4-FFF2-40B4-BE49-F238E27FC236}">
                <a16:creationId xmlns:a16="http://schemas.microsoft.com/office/drawing/2014/main" id="{4686C1A3-2DFE-454A-86DB-E8D9E814B893}"/>
              </a:ext>
            </a:extLst>
          </p:cNvPr>
          <p:cNvSpPr>
            <a:spLocks xmlns:a="http://schemas.openxmlformats.org/drawingml/2006/main" noGrp="1"/>
          </p:cNvSpPr>
          <p:nvPr/>
        </p:nvSpPr>
        <p:spPr>
          <a:xfrm xmlns:a="http://schemas.openxmlformats.org/drawingml/2006/main">
            <a:off x="647700" y="3171825"/>
            <a:ext cx="4752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Published range for a new-patient booking</a:t>
            </a:r>
          </a:p>
        </p:txBody>
      </p:sp>
      <p:sp>
        <p:nvSpPr>
          <p:cNvPr id="7" name="Exact quote varies">
            <a:extLst xmlns:a="http://schemas.openxmlformats.org/drawingml/2006/main">
              <a:ext uri="{FF2B5EF4-FFF2-40B4-BE49-F238E27FC236}">
                <a16:creationId xmlns:a16="http://schemas.microsoft.com/office/drawing/2014/main" id="{390EB253-80AE-4521-BB36-FA68D7402A63}"/>
              </a:ext>
            </a:extLst>
          </p:cNvPr>
          <p:cNvSpPr>
            <a:spLocks xmlns:a="http://schemas.openxmlformats.org/drawingml/2006/main" noGrp="1"/>
          </p:cNvSpPr>
          <p:nvPr/>
        </p:nvSpPr>
        <p:spPr>
          <a:xfrm xmlns:a="http://schemas.openxmlformats.org/drawingml/2006/main">
            <a:off x="6429375" y="2343150"/>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Exact quote varies</a:t>
            </a:r>
          </a:p>
        </p:txBody>
      </p:sp>
      <p:sp>
        <p:nvSpPr>
          <p:cNvPr id="8" name="Current help confirms specialty and location affec">
            <a:extLst xmlns:a="http://schemas.openxmlformats.org/drawingml/2006/main">
              <a:ext uri="{FF2B5EF4-FFF2-40B4-BE49-F238E27FC236}">
                <a16:creationId xmlns:a16="http://schemas.microsoft.com/office/drawing/2014/main" id="{92515267-A73E-432A-A75E-F9CACFE503A5}"/>
              </a:ext>
            </a:extLst>
          </p:cNvPr>
          <p:cNvSpPr>
            <a:spLocks xmlns:a="http://schemas.openxmlformats.org/drawingml/2006/main" noGrp="1"/>
          </p:cNvSpPr>
          <p:nvPr/>
        </p:nvSpPr>
        <p:spPr>
          <a:xfrm xmlns:a="http://schemas.openxmlformats.org/drawingml/2006/main">
            <a:off x="6448425" y="2943225"/>
            <a:ext cx="4962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Current help confirms specialty and location affect the fee. Providers see their actual price in the dashboard.</a:t>
            </a:r>
          </a:p>
        </p:txBody>
      </p:sp>
      <p:graphicFrame>
        <p:nvGraphicFramePr>
          <p:cNvPr id="19" name=""/>
          <p:cNvGraphicFramePr/>
          <p:nvPr/>
        </p:nvGraphicFramePr>
        <p:xfrm>
          <a:off xmlns:a="http://schemas.openxmlformats.org/drawingml/2006/main" x="609600" y="4410075"/>
          <a:ext xmlns:a="http://schemas.openxmlformats.org/drawingml/2006/main" cx="10972800" cy="1314450"/>
        </p:xfrm>
        <a:graphic xmlns:a="http://schemas.openxmlformats.org/drawingml/2006/main">
          <a:graphicData uri="http://schemas.openxmlformats.org/drawingml/2006/table">
            <a:tbl>
              <a:tblPr/>
              <a:tblGrid>
                <a:gridCol w="5381625"/>
                <a:gridCol w="5591175"/>
              </a:tblGrid>
              <a:tr h="438150">
                <a:tc>
                  <a:txBody>
                    <a:bodyPr lIns="114300" tIns="76200" rIns="114300" bIns="76200">
                      <a:noAutofit/>
                    </a:bodyPr>
                    <a:lstStyle/>
                    <a:p>
                      <a:pPr algn="l"/>
                      <a:r>
                        <a:rPr sz="1650" b="1">
                          <a:solidFill>
                            <a:srgbClr val="FFFFFF"/>
                          </a:solidFill>
                          <a:latin typeface="Arial"/>
                          <a:ea typeface="Arial"/>
                          <a:cs typeface="Arial"/>
                        </a:rPr>
                        <a:t>Zocdoc Marketplace rule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Implication for YardMatch</a:t>
                      </a:r>
                    </a:p>
                  </a:txBody>
                  <a:tcPr marL="91440" marR="91440" marT="45720" marB="45720" anchor="ctr">
                    <a:solidFill>
                      <a:srgbClr val="205938"/>
                    </a:solidFill>
                  </a:tcPr>
                </a:tc>
              </a:tr>
              <a:tr h="438150">
                <a:tc>
                  <a:txBody>
                    <a:bodyPr lIns="114300" tIns="76200" rIns="114300" bIns="76200">
                      <a:noAutofit/>
                    </a:bodyPr>
                    <a:lstStyle/>
                    <a:p>
                      <a:pPr algn="l"/>
                      <a:r>
                        <a:rPr sz="1650" b="0">
                          <a:solidFill>
                            <a:srgbClr val="14281D"/>
                          </a:solidFill>
                          <a:latin typeface="Arial"/>
                          <a:ea typeface="Arial"/>
                          <a:cs typeface="Arial"/>
                        </a:rPr>
                        <a:t>Charges at booking, even a no-show</a:t>
                      </a:r>
                    </a:p>
                  </a:txBody>
                  <a:tcPr marL="91440" marR="91440" marT="45720" marB="45720" anchor="ctr">
                    <a:solidFill>
                      <a:srgbClr val="FFFFFF"/>
                    </a:solidFill>
                  </a:tcPr>
                </a:tc>
                <a:tc>
                  <a:txBody>
                    <a:bodyPr lIns="114300" tIns="76200" rIns="114300" bIns="76200">
                      <a:noAutofit/>
                    </a:bodyPr>
                    <a:lstStyle/>
                    <a:p>
                      <a:pPr algn="l"/>
                      <a:r>
                        <a:rPr sz="1650" b="0">
                          <a:solidFill>
                            <a:srgbClr val="14281D"/>
                          </a:solidFill>
                          <a:latin typeface="Arial"/>
                          <a:ea typeface="Arial"/>
                          <a:cs typeface="Arial"/>
                        </a:rPr>
                        <a:t>Our $45 is earned after a paid completed job</a:t>
                      </a:r>
                    </a:p>
                  </a:txBody>
                  <a:tcPr marL="91440" marR="91440" marT="45720" marB="45720" anchor="ctr">
                    <a:solidFill>
                      <a:srgbClr val="FFFFFF"/>
                    </a:solidFill>
                  </a:tcPr>
                </a:tc>
              </a:tr>
              <a:tr h="438150">
                <a:tc>
                  <a:txBody>
                    <a:bodyPr lIns="114300" tIns="76200" rIns="114300" bIns="76200">
                      <a:noAutofit/>
                    </a:bodyPr>
                    <a:lstStyle/>
                    <a:p>
                      <a:pPr algn="l"/>
                      <a:r>
                        <a:rPr sz="1650" b="0">
                          <a:solidFill>
                            <a:srgbClr val="14281D"/>
                          </a:solidFill>
                          <a:latin typeface="Arial"/>
                          <a:ea typeface="Arial"/>
                          <a:cs typeface="Arial"/>
                        </a:rPr>
                        <a:t>Repeat visits to the same provider are free</a:t>
                      </a:r>
                    </a:p>
                  </a:txBody>
                  <a:tcPr marL="91440" marR="91440" marT="45720" marB="45720" anchor="ctr">
                    <a:solidFill>
                      <a:srgbClr val="F7F5EF"/>
                    </a:solidFill>
                  </a:tcPr>
                </a:tc>
                <a:tc>
                  <a:txBody>
                    <a:bodyPr lIns="114300" tIns="76200" rIns="114300" bIns="76200">
                      <a:noAutofit/>
                    </a:bodyPr>
                    <a:lstStyle/>
                    <a:p>
                      <a:pPr algn="l"/>
                      <a:r>
                        <a:rPr sz="1650" b="0">
                          <a:solidFill>
                            <a:srgbClr val="14281D"/>
                          </a:solidFill>
                          <a:latin typeface="Arial"/>
                          <a:ea typeface="Arial"/>
                          <a:cs typeface="Arial"/>
                        </a:rPr>
                        <a:t>Our retained service fee funds ongoing work</a:t>
                      </a:r>
                    </a:p>
                  </a:txBody>
                  <a:tcPr marL="91440" marR="91440" marT="45720" marB="45720" anchor="ctr">
                    <a:solidFill>
                      <a:srgbClr val="F7F5EF"/>
                    </a:solidFill>
                  </a:tcPr>
                </a:tc>
              </a:tr>
            </a:tbl>
          </a:graphicData>
        </a:graphic>
      </p:graphicFrame>
      <p:sp>
        <p:nvSpPr>
          <p:cNvPr id="10" name="The range appears on a page with older license lan">
            <a:extLst xmlns:a="http://schemas.openxmlformats.org/drawingml/2006/main">
              <a:ext uri="{FF2B5EF4-FFF2-40B4-BE49-F238E27FC236}">
                <a16:creationId xmlns:a16="http://schemas.microsoft.com/office/drawing/2014/main" id="{F5C4E507-3611-4AD1-AA60-8DE3A2A1570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range appears on a page with older license language; it is not a current universal quote. Joining is free; paid add-ons exist. Current help and published range are linked in sources.</a:t>
            </a:r>
          </a:p>
        </p:txBody>
      </p:sp>
    </p:spTree>
    <p:extLst>
      <p:ext uri="{BB962C8B-B14F-4D97-AF65-F5344CB8AC3E}">
        <p14:creationId xmlns:p14="http://schemas.microsoft.com/office/powerpoint/2010/main" val="2097637357"/>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D87E63A6-5D79-4621-AE12-F3833BD5E7C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5B739DF3-9EC9-4CBD-88CF-9DF037C7E87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740F3546-0272-4F3B-844B-46B012262EA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0893B6C0-3D12-4323-93DC-E47071CDCA9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Service + processing fees apply.</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85B50286-4895-4DC2-A6B2-826C02C48BD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2038074318"/>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A larger job pays a proportionate service fee">
            <a:extLst xmlns:a="http://schemas.openxmlformats.org/drawingml/2006/main">
              <a:ext uri="{FF2B5EF4-FFF2-40B4-BE49-F238E27FC236}">
                <a16:creationId xmlns:a16="http://schemas.microsoft.com/office/drawing/2014/main" id="{FEEA3E6A-3830-41EA-BF41-3CC1892C0F5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larger job pays a proportionate service fee</a:t>
            </a:r>
          </a:p>
        </p:txBody>
      </p:sp>
      <p:sp>
        <p:nvSpPr>
          <p:cNvPr id="2" name="Recurring provider charges include the platform fe">
            <a:extLst xmlns:a="http://schemas.openxmlformats.org/drawingml/2006/main">
              <a:ext uri="{FF2B5EF4-FFF2-40B4-BE49-F238E27FC236}">
                <a16:creationId xmlns:a16="http://schemas.microsoft.com/office/drawing/2014/main" id="{AA61BC47-1106-4E30-89CB-DADDFB90B61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Recurring provider charges include the platform fee and payment processing, with no finder fee on repeats.</a:t>
            </a:r>
          </a:p>
        </p:txBody>
      </p:sp>
      <p:sp>
        <p:nvSpPr>
          <p:cNvPr id="3" name="YardMatch">
            <a:extLst xmlns:a="http://schemas.openxmlformats.org/drawingml/2006/main">
              <a:ext uri="{FF2B5EF4-FFF2-40B4-BE49-F238E27FC236}">
                <a16:creationId xmlns:a16="http://schemas.microsoft.com/office/drawing/2014/main" id="{8963AD1A-1A17-4EE2-83D0-81A2422EBAD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6FD89E80-0670-4B5F-9C11-E7450C9F20B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3" name=""/>
          <p:cNvGraphicFramePr/>
          <p:nvPr/>
        </p:nvGraphicFramePr>
        <p:xfrm>
          <a:off xmlns:a="http://schemas.openxmlformats.org/drawingml/2006/main" x="609600" y="2390775"/>
          <a:ext xmlns:a="http://schemas.openxmlformats.org/drawingml/2006/main" cx="8191500" cy="3114675"/>
        </p:xfrm>
        <a:graphic xmlns:a="http://schemas.openxmlformats.org/drawingml/2006/main">
          <a:graphicData uri="http://schemas.openxmlformats.org/drawingml/2006/table">
            <a:tbl>
              <a:tblPr/>
              <a:tblGrid>
                <a:gridCol w="2190750"/>
                <a:gridCol w="1809750"/>
                <a:gridCol w="2095500"/>
                <a:gridCol w="2095500"/>
              </a:tblGrid>
              <a:tr h="519113">
                <a:tc>
                  <a:txBody>
                    <a:bodyPr lIns="114300" tIns="76200" rIns="114300" bIns="76200">
                      <a:noAutofit/>
                    </a:bodyPr>
                    <a:lstStyle/>
                    <a:p>
                      <a:pPr algn="l"/>
                      <a:r>
                        <a:rPr sz="1800" b="1">
                          <a:solidFill>
                            <a:srgbClr val="FFFFFF"/>
                          </a:solidFill>
                          <a:latin typeface="Arial"/>
                          <a:ea typeface="Arial"/>
                          <a:cs typeface="Arial"/>
                        </a:rPr>
                        <a:t>Service bill</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Platform fee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card</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ACH</a:t>
                      </a:r>
                    </a:p>
                  </a:txBody>
                  <a:tcPr marL="91440" marR="91440" marT="45720" marB="45720" anchor="ctr">
                    <a:solidFill>
                      <a:srgbClr val="205938"/>
                    </a:solidFill>
                  </a:tcPr>
                </a:tc>
              </a:tr>
              <a:tr h="519113">
                <a:tc>
                  <a:txBody>
                    <a:bodyPr lIns="114300" tIns="76200" rIns="114300" bIns="76200">
                      <a:noAutofit/>
                    </a:bodyPr>
                    <a:lstStyle/>
                    <a:p>
                      <a:pPr algn="l"/>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$3.47</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$6.19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$3.79</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$5.40</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$39.30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$15.00</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$97.80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$30.00</a:t>
                      </a:r>
                    </a:p>
                  </a:txBody>
                  <a:tcPr marL="91440" marR="91440" marT="45720" marB="45720" anchor="ctr">
                    <a:solidFill>
                      <a:srgbClr val="FFFFFF"/>
                    </a:solidFill>
                  </a:tcPr>
                </a:tc>
              </a:tr>
            </a:tbl>
          </a:graphicData>
        </a:graphic>
      </p:graphicFrame>
      <p:sp>
        <p:nvSpPr>
          <p:cNvPr id="6" name="$2.04">
            <a:extLst xmlns:a="http://schemas.openxmlformats.org/drawingml/2006/main">
              <a:ext uri="{FF2B5EF4-FFF2-40B4-BE49-F238E27FC236}">
                <a16:creationId xmlns:a16="http://schemas.microsoft.com/office/drawing/2014/main" id="{916AF27E-B82A-452D-A511-55AA964882AC}"/>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5938"/>
                </a:solidFill>
                <a:latin typeface="Arial"/>
                <a:ea typeface="Arial"/>
                <a:cs typeface="Arial"/>
              </a:defRPr>
            </a:pPr>
            <a:r>
              <a:rPr sz="3600" b="1">
                <a:solidFill>
                  <a:srgbClr val="205938"/>
                </a:solidFill>
                <a:latin typeface="Arial"/>
                <a:ea typeface="Arial"/>
                <a:cs typeface="Arial"/>
              </a:rPr>
              <a:t>$2.04</a:t>
            </a:r>
          </a:p>
        </p:txBody>
      </p:sp>
      <p:sp>
        <p:nvSpPr>
          <p:cNvPr id="7" name="Average repeat contribution in the 2031 base mix">
            <a:extLst xmlns:a="http://schemas.openxmlformats.org/drawingml/2006/main">
              <a:ext uri="{FF2B5EF4-FFF2-40B4-BE49-F238E27FC236}">
                <a16:creationId xmlns:a16="http://schemas.microsoft.com/office/drawing/2014/main" id="{59F9B91B-D0C2-403A-A045-0EC1EBFFFC29}"/>
              </a:ext>
            </a:extLst>
          </p:cNvPr>
          <p:cNvSpPr>
            <a:spLocks xmlns:a="http://schemas.openxmlformats.org/drawingml/2006/main" noGrp="1"/>
          </p:cNvSpPr>
          <p:nvPr/>
        </p:nvSpPr>
        <p:spPr>
          <a:xfrm xmlns:a="http://schemas.openxmlformats.org/drawingml/2006/main">
            <a:off x="9191625" y="3305175"/>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Recurring platform pricing changes above $299. A b">
            <a:extLst xmlns:a="http://schemas.openxmlformats.org/drawingml/2006/main">
              <a:ext uri="{FF2B5EF4-FFF2-40B4-BE49-F238E27FC236}">
                <a16:creationId xmlns:a16="http://schemas.microsoft.com/office/drawing/2014/main" id="{BDD8ECA8-09CB-4514-9204-ECA9040959D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Recurring platform pricing changes above $299. A bundle on one invoice counts once. Processing recovery is excluded from net platform revenue. Fees still require provider acceptance testing.</a:t>
            </a:r>
          </a:p>
        </p:txBody>
      </p:sp>
    </p:spTree>
    <p:extLst>
      <p:ext uri="{BB962C8B-B14F-4D97-AF65-F5344CB8AC3E}">
        <p14:creationId xmlns:p14="http://schemas.microsoft.com/office/powerpoint/2010/main" val="1615727303"/>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664536ED-A1C7-4B63-A009-72B38EBCFC9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87E83032-B1F9-4D8F-98D1-7EBFBB2E39D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0097EF65-44C1-4589-B8C9-85F3182FED2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4471BE24-E066-4429-95CD-CE90979A7A5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D04CD9BD-BE0D-4D91-8A6F-88E1934A00B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pay the service fee plus processing, with no new finder fee for the same provider.</a:t>
            </a:r>
          </a:p>
        </p:txBody>
      </p:sp>
    </p:spTree>
    <p:extLst>
      <p:ext uri="{BB962C8B-B14F-4D97-AF65-F5344CB8AC3E}">
        <p14:creationId xmlns:p14="http://schemas.microsoft.com/office/powerpoint/2010/main" val="524337164"/>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33908892-7BB1-49E5-9DE7-D7A68EB25F7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Mix shifts, larger properties and 3% annual price ">
            <a:extLst xmlns:a="http://schemas.openxmlformats.org/drawingml/2006/main">
              <a:ext uri="{FF2B5EF4-FFF2-40B4-BE49-F238E27FC236}">
                <a16:creationId xmlns:a16="http://schemas.microsoft.com/office/drawing/2014/main" id="{53E86DCF-3760-4C6E-87D6-DF2613FF204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Mix shifts, larger properties and 3% annual price escalation lift the weighted average over time.</a:t>
            </a:r>
          </a:p>
        </p:txBody>
      </p:sp>
      <p:sp>
        <p:nvSpPr>
          <p:cNvPr id="3" name="YardMatch">
            <a:extLst xmlns:a="http://schemas.openxmlformats.org/drawingml/2006/main">
              <a:ext uri="{FF2B5EF4-FFF2-40B4-BE49-F238E27FC236}">
                <a16:creationId xmlns:a16="http://schemas.microsoft.com/office/drawing/2014/main" id="{93C9ACFB-DFC2-43A7-9E4A-523E1509F21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71BB85A0-3B75-4F34-A7AC-A5CA950369A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Neighborhood">
            <a:extLst xmlns:a="http://schemas.openxmlformats.org/drawingml/2006/main">
              <a:ext uri="{FF2B5EF4-FFF2-40B4-BE49-F238E27FC236}">
                <a16:creationId xmlns:a16="http://schemas.microsoft.com/office/drawing/2014/main" id="{EC841BA7-2DDA-4FBA-BDB8-1AAA62E9680A}"/>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427FA4FD-6FD9-4E3F-9653-EE751BF3F6DA}"/>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0DAFB233-A602-4BA5-B81A-6D0912FD2710}"/>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26878731-5577-497E-BF68-75FF13D33084}"/>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$87.22</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$102.84</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$121.00</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$96.64</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$118.00</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$142.41</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CE8A10B5-61E3-4AEE-B0BD-AB09F363EB0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Mix and pricing assumptions are editable in the workbook.</a:t>
            </a:r>
          </a:p>
        </p:txBody>
      </p:sp>
    </p:spTree>
    <p:extLst>
      <p:ext uri="{BB962C8B-B14F-4D97-AF65-F5344CB8AC3E}">
        <p14:creationId xmlns:p14="http://schemas.microsoft.com/office/powerpoint/2010/main" val="2032637195"/>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F5A4154F-4ABA-4898-96AB-E7D1D6A7A4E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AF9D3B2C-C20F-4104-829C-44B18186D82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28690FC5-3FBB-4D8C-8752-4A329AD0870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34E7D2B7-0820-478D-9846-D03836040CE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sp>
        <p:nvSpPr>
          <p:cNvPr id="5" name="10,265">
            <a:extLst xmlns:a="http://schemas.openxmlformats.org/drawingml/2006/main">
              <a:ext uri="{FF2B5EF4-FFF2-40B4-BE49-F238E27FC236}">
                <a16:creationId xmlns:a16="http://schemas.microsoft.com/office/drawing/2014/main" id="{6C865970-89D2-4A05-ACB0-20FAB242A590}"/>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74BB7B38-08C1-4B09-B12C-197B36C1F1EC}"/>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25723A26-B1EA-404C-BDC5-2C394AB3EDC3}"/>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F5E746D1-BD93-4046-A747-34A3C0D2C81A}"/>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995506A4-BE8D-4524-B647-C746AF604880}"/>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51CF30C8-9763-4CFD-9405-DC58D4865BAB}"/>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0839D4EE-7856-4D91-84AA-66B02F4D86C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1760891420"/>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CD85E49F-4AB7-490F-B28B-846B72818D3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0F59FFB1-D64A-4C8F-9616-891914252AA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0324AA26-9D38-4407-8340-911F5B9A132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52353B4A-F894-4FCC-A2F7-EB61691ABDD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sp>
        <p:nvSpPr>
          <p:cNvPr id="5" name="1. Concentrated provider launch">
            <a:extLst xmlns:a="http://schemas.openxmlformats.org/drawingml/2006/main">
              <a:ext uri="{FF2B5EF4-FFF2-40B4-BE49-F238E27FC236}">
                <a16:creationId xmlns:a16="http://schemas.microsoft.com/office/drawing/2014/main" id="{86BD333D-6ADD-4334-86F1-30EC6D7C9CD1}"/>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BA8080CB-356F-4506-B26F-2B3722D87090}"/>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05E93598-62E7-4C3D-B352-0C2496C19051}"/>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E2F0E867-79AC-479D-AB20-B63693B71D37}"/>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809B5B5C-91C5-4D87-AE67-6A9FDB7D4C23}"/>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B5CF0F79-3BA8-45F7-89CC-F8FD4DF9F7DF}"/>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05B5B4F1-D28C-4FE4-B9DF-5EFC508E46CF}"/>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59B29FAD-5E0D-42DE-B5AF-7C3DC318F0FD}"/>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1016889690"/>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AF73B9B8-8B9C-426E-9340-19F9E29A84F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8557203B-A4A6-4B38-B72D-6B90F5E9DBF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0FA4F2AF-06B6-42F0-B6A1-A1DE6ED5A3F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4483E061-F01E-48BD-A28F-6AE026A203C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sp>
        <p:nvSpPr>
          <p:cNvPr id="5" name="Product foundation">
            <a:extLst xmlns:a="http://schemas.openxmlformats.org/drawingml/2006/main">
              <a:ext uri="{FF2B5EF4-FFF2-40B4-BE49-F238E27FC236}">
                <a16:creationId xmlns:a16="http://schemas.microsoft.com/office/drawing/2014/main" id="{F6F35332-8E6A-4519-9748-2B0495749ACF}"/>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77D7DF90-CE85-4F5F-9F0F-2D32A38C86D4}"/>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B7DD54D8-88E2-4A93-8B79-92590A51C09F}"/>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0C6EB3F0-2576-46D9-8297-A0F4878F9B67}"/>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D6A38D9B-468C-4E44-B459-E6FA5CDDE20A}"/>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CB2579AE-2ACF-43CF-8321-39F3E1F5E35D}"/>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B04D0224-FEAA-4D33-AA18-AFE4CE23F411}"/>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D5E81CBC-B3FD-4BD2-A024-20446F6382AB}"/>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871812302"/>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329BDAB9-6855-4ED0-ADCB-90861ED3760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092CE106-6FCB-4D8A-B891-3495DB4AE22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01901087-291F-4047-A7A8-C5AFE260D2F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6843D822-BB5F-4D6B-942D-E479F04EFCA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B90D616C-78E7-4AB9-AD7B-7C83C586A6F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It assumes no subscription, advertising, recruiting revenue or additional finder fees from those projects.</a:t>
            </a:r>
          </a:p>
        </p:txBody>
      </p:sp>
    </p:spTree>
    <p:extLst>
      <p:ext uri="{BB962C8B-B14F-4D97-AF65-F5344CB8AC3E}">
        <p14:creationId xmlns:p14="http://schemas.microsoft.com/office/powerpoint/2010/main" val="1595433888"/>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forecast makes the assumptions visible">
            <a:extLst xmlns:a="http://schemas.openxmlformats.org/drawingml/2006/main">
              <a:ext uri="{FF2B5EF4-FFF2-40B4-BE49-F238E27FC236}">
                <a16:creationId xmlns:a16="http://schemas.microsoft.com/office/drawing/2014/main" id="{8BDDF24B-CCFD-43C5-99A7-226CC190BD7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forecast makes the assumptions visible</a:t>
            </a:r>
          </a:p>
        </p:txBody>
      </p:sp>
      <p:sp>
        <p:nvSpPr>
          <p:cNvPr id="2" name="2027-2033 calendar years. No historical operating ">
            <a:extLst xmlns:a="http://schemas.openxmlformats.org/drawingml/2006/main">
              <a:ext uri="{FF2B5EF4-FFF2-40B4-BE49-F238E27FC236}">
                <a16:creationId xmlns:a16="http://schemas.microsoft.com/office/drawing/2014/main" id="{7B7DFBAF-9988-47B7-B853-1F1769B0186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No historical operating results are implied.</a:t>
            </a:r>
          </a:p>
        </p:txBody>
      </p:sp>
      <p:sp>
        <p:nvSpPr>
          <p:cNvPr id="3" name="YardMatch">
            <a:extLst xmlns:a="http://schemas.openxmlformats.org/drawingml/2006/main">
              <a:ext uri="{FF2B5EF4-FFF2-40B4-BE49-F238E27FC236}">
                <a16:creationId xmlns:a16="http://schemas.microsoft.com/office/drawing/2014/main" id="{E42B075A-F5BB-4893-A60B-5C261789947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18F8D2E9-AE73-4C5B-8EC5-9EF444EC93F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37E70331-5DA0-4E3B-BE93-7C1ABCC55FF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36 staff. Downside prices are 15% higher. All cases use the recommended $45 finder fee and recurring fee plus processing.</a:t>
            </a:r>
          </a:p>
        </p:txBody>
      </p:sp>
    </p:spTree>
    <p:extLst>
      <p:ext uri="{BB962C8B-B14F-4D97-AF65-F5344CB8AC3E}">
        <p14:creationId xmlns:p14="http://schemas.microsoft.com/office/powerpoint/2010/main" val="226445399"/>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9.0m in 2033">
            <a:extLst xmlns:a="http://schemas.openxmlformats.org/drawingml/2006/main">
              <a:ext uri="{FF2B5EF4-FFF2-40B4-BE49-F238E27FC236}">
                <a16:creationId xmlns:a16="http://schemas.microsoft.com/office/drawing/2014/main" id="{D36786DE-2D1F-4EBC-8B37-1DBC5C86478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$19.0m in 2033</a:t>
            </a:r>
          </a:p>
        </p:txBody>
      </p:sp>
      <p:sp>
        <p:nvSpPr>
          <p:cNvPr id="2" name="Net marketplace revenue, US$ millions. Finder fees">
            <a:extLst xmlns:a="http://schemas.openxmlformats.org/drawingml/2006/main">
              <a:ext uri="{FF2B5EF4-FFF2-40B4-BE49-F238E27FC236}">
                <a16:creationId xmlns:a16="http://schemas.microsoft.com/office/drawing/2014/main" id="{7A152F6B-48FD-4996-82DA-F4B1B9DD62D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5910DAD9-65FD-428C-8A94-C52DA16489F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A63D325D-F013-461B-8923-D4B3F9B6E14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30f78b6f4b8c4400"/>
          </a:graphicData>
        </a:graphic>
      </p:graphicFrame>
      <p:sp>
        <p:nvSpPr>
          <p:cNvPr id="6" name="Base 2033: 292,448 year-end paying households, 3.8">
            <a:extLst xmlns:a="http://schemas.openxmlformats.org/drawingml/2006/main">
              <a:ext uri="{FF2B5EF4-FFF2-40B4-BE49-F238E27FC236}">
                <a16:creationId xmlns:a16="http://schemas.microsoft.com/office/drawing/2014/main" id="{DD6753A4-B2E3-4821-9F16-08A17BE2CE8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3.83m paid jobs and $545.3m GMV. Revenue excludes GMV and processing passed through at cost.</a:t>
            </a:r>
          </a:p>
        </p:txBody>
      </p:sp>
    </p:spTree>
    <p:extLst>
      <p:ext uri="{BB962C8B-B14F-4D97-AF65-F5344CB8AC3E}">
        <p14:creationId xmlns:p14="http://schemas.microsoft.com/office/powerpoint/2010/main" val="624117054"/>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vised base turns profitable in 2032">
            <a:extLst xmlns:a="http://schemas.openxmlformats.org/drawingml/2006/main">
              <a:ext uri="{FF2B5EF4-FFF2-40B4-BE49-F238E27FC236}">
                <a16:creationId xmlns:a16="http://schemas.microsoft.com/office/drawing/2014/main" id="{51F9264B-59DD-40B6-BCF9-3C1B9DFA37E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revised base turns profitable in 2032</a:t>
            </a:r>
          </a:p>
        </p:txBody>
      </p:sp>
      <p:sp>
        <p:nvSpPr>
          <p:cNvPr id="2" name="US$ millions. Recommended pricing; Stripe retained">
            <a:extLst xmlns:a="http://schemas.openxmlformats.org/drawingml/2006/main">
              <a:ext uri="{FF2B5EF4-FFF2-40B4-BE49-F238E27FC236}">
                <a16:creationId xmlns:a16="http://schemas.microsoft.com/office/drawing/2014/main" id="{B794671D-B324-494F-878C-EDEAFD3D2E9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Recommended pricing; Stripe retained throughout. Growth and fee acceptance are assumptions.</a:t>
            </a:r>
          </a:p>
        </p:txBody>
      </p:sp>
      <p:sp>
        <p:nvSpPr>
          <p:cNvPr id="3" name="YardMatch">
            <a:extLst xmlns:a="http://schemas.openxmlformats.org/drawingml/2006/main">
              <a:ext uri="{FF2B5EF4-FFF2-40B4-BE49-F238E27FC236}">
                <a16:creationId xmlns:a16="http://schemas.microsoft.com/office/drawing/2014/main" id="{CC1F2B9D-4DFA-40E7-BBB4-4B475BA4D33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1CC52540-100B-4864-A255-DDB51555D68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$0.20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$2.25</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$5.42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$10.81</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$18.95</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$1.86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$4.36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$8.51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$14.56</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$1.48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$4.31</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($0.28)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$4.18</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$3.13</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($0.97)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$0.41</a:t>
                      </a:r>
                    </a:p>
                  </a:txBody>
                  <a:tcPr marL="91440" marR="91440" marT="45720" marB="45720" anchor="ctr">
                    <a:solidFill>
                      <a:srgbClr val="F7F5EF"/>
                    </a:solidFill>
                  </a:tcPr>
                </a:tc>
              </a:tr>
            </a:tbl>
          </a:graphicData>
        </a:graphic>
      </p:graphicFrame>
      <p:sp>
        <p:nvSpPr>
          <p:cNvPr id="6" name="2033 net income proxy: $3.13m. Free cash flow: $0.">
            <a:extLst xmlns:a="http://schemas.openxmlformats.org/drawingml/2006/main">
              <a:ext uri="{FF2B5EF4-FFF2-40B4-BE49-F238E27FC236}">
                <a16:creationId xmlns:a16="http://schemas.microsoft.com/office/drawing/2014/main" id="{761F8B70-0700-47F4-92F8-70C89B01746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proxy: $3.13m. Free cash flow: $0.41m. Annual cash remains negative through 2032 because growth also funds equipment and the risk reserve.</a:t>
            </a:r>
          </a:p>
        </p:txBody>
      </p:sp>
    </p:spTree>
    <p:extLst>
      <p:ext uri="{BB962C8B-B14F-4D97-AF65-F5344CB8AC3E}">
        <p14:creationId xmlns:p14="http://schemas.microsoft.com/office/powerpoint/2010/main" val="546837265"/>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1957D2BA-CCD5-457D-9308-0C11A58D925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latform fees. Servic">
            <a:extLst xmlns:a="http://schemas.openxmlformats.org/drawingml/2006/main">
              <a:ext uri="{FF2B5EF4-FFF2-40B4-BE49-F238E27FC236}">
                <a16:creationId xmlns:a16="http://schemas.microsoft.com/office/drawing/2014/main" id="{07EE0D6D-5211-4541-93C0-0087848CFCE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platform fees. Service prices,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AD6A5C56-D4D7-4BDD-8F9B-B246E457712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3A9C385C-C2BB-44B5-A533-43D8B79378A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$1.21m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$5.42m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$9.57m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($1.24)m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($0.22)m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$1.88m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$3.55m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$18.95m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$39.11m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($1.77)m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$3.13m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$10.91m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2032</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2031</a:t>
                      </a:r>
                    </a:p>
                  </a:txBody>
                  <a:tcPr marL="91440" marR="91440" marT="45720" marB="45720" anchor="ctr">
                    <a:solidFill>
                      <a:srgbClr val="FFFFFF"/>
                    </a:solidFill>
                  </a:tcPr>
                </a:tc>
              </a:tr>
            </a:tbl>
          </a:graphicData>
        </a:graphic>
      </p:graphicFrame>
      <p:sp>
        <p:nvSpPr>
          <p:cNvPr id="6" name="Positive EBITDA arrives in 2031 in the upside and ">
            <a:extLst xmlns:a="http://schemas.openxmlformats.org/drawingml/2006/main">
              <a:ext uri="{FF2B5EF4-FFF2-40B4-BE49-F238E27FC236}">
                <a16:creationId xmlns:a16="http://schemas.microsoft.com/office/drawing/2014/main" id="{144E3F98-5F8C-4C42-9B39-E6FE832D3B1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Positive EBITDA arrives in 2031 in the upside and 2032 in the base; the downside remains negative through 2033. Provider fee acceptance and paid retention are critical.</a:t>
            </a:r>
          </a:p>
        </p:txBody>
      </p:sp>
    </p:spTree>
    <p:extLst>
      <p:ext uri="{BB962C8B-B14F-4D97-AF65-F5344CB8AC3E}">
        <p14:creationId xmlns:p14="http://schemas.microsoft.com/office/powerpoint/2010/main" val="324869421"/>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186F6EC0-8E11-470B-AF59-109EB43515A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The two-year base budget tests commercial adoption">
            <a:extLst xmlns:a="http://schemas.openxmlformats.org/drawingml/2006/main">
              <a:ext uri="{FF2B5EF4-FFF2-40B4-BE49-F238E27FC236}">
                <a16:creationId xmlns:a16="http://schemas.microsoft.com/office/drawing/2014/main" id="{73578AA3-7375-491F-98DE-F91774CAA2C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F52660C9-F08F-44E1-B90D-91C16712F15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6FE5FA11-A9CE-4062-94C0-9B0927443A7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$69,306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($199,578)</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$1,012,853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$462,147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97BB6F93-1505-421E-BAF8-390874068553}"/>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Validate fee acceptance and retention before finan">
            <a:extLst xmlns:a="http://schemas.openxmlformats.org/drawingml/2006/main">
              <a:ext uri="{FF2B5EF4-FFF2-40B4-BE49-F238E27FC236}">
                <a16:creationId xmlns:a16="http://schemas.microsoft.com/office/drawing/2014/main" id="{A741BB94-CCAC-4683-8844-55C70668C1D4}"/>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Validate fee acceptance and retention before financing expansion.</a:t>
            </a:r>
          </a:p>
        </p:txBody>
      </p:sp>
      <p:sp>
        <p:nvSpPr>
          <p:cNvPr id="8" name="$4.80m">
            <a:extLst xmlns:a="http://schemas.openxmlformats.org/drawingml/2006/main">
              <a:ext uri="{FF2B5EF4-FFF2-40B4-BE49-F238E27FC236}">
                <a16:creationId xmlns:a16="http://schemas.microsoft.com/office/drawing/2014/main" id="{BA3588C1-0A8B-48B3-989F-85E33CCF373C}"/>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$4.80m</a:t>
            </a:r>
          </a:p>
        </p:txBody>
      </p:sp>
      <p:sp>
        <p:nvSpPr>
          <p:cNvPr id="9" name="Peak cumulative cash deficit before financing unde">
            <a:extLst xmlns:a="http://schemas.openxmlformats.org/drawingml/2006/main">
              <a:ext uri="{FF2B5EF4-FFF2-40B4-BE49-F238E27FC236}">
                <a16:creationId xmlns:a16="http://schemas.microsoft.com/office/drawing/2014/main" id="{E72B8A47-6898-4002-BE50-072129099D27}"/>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Peak cumulative cash deficit before financing under the revised base case.</a:t>
            </a:r>
          </a:p>
        </p:txBody>
      </p:sp>
      <p:sp>
        <p:nvSpPr>
          <p:cNvPr id="10" name="Adding the $2.74m 2033 fixed-cost buffer gives $7.">
            <a:extLst xmlns:a="http://schemas.openxmlformats.org/drawingml/2006/main">
              <a:ext uri="{FF2B5EF4-FFF2-40B4-BE49-F238E27FC236}">
                <a16:creationId xmlns:a16="http://schemas.microsoft.com/office/drawing/2014/main" id="{F6E39A36-B9A8-4C00-A700-5ACD9EF887A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Adding the $2.74m 2033 fixed-cost buffer gives $7.54m, before financing fees. The $1.5m round is an initial pilot illustration; follow-on capital would be needed.</a:t>
            </a:r>
          </a:p>
        </p:txBody>
      </p:sp>
    </p:spTree>
    <p:extLst>
      <p:ext uri="{BB962C8B-B14F-4D97-AF65-F5344CB8AC3E}">
        <p14:creationId xmlns:p14="http://schemas.microsoft.com/office/powerpoint/2010/main" val="192741745"/>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wning payments does not mean free payments">
            <a:extLst xmlns:a="http://schemas.openxmlformats.org/drawingml/2006/main">
              <a:ext uri="{FF2B5EF4-FFF2-40B4-BE49-F238E27FC236}">
                <a16:creationId xmlns:a16="http://schemas.microsoft.com/office/drawing/2014/main" id="{B778C78C-6F14-47EB-8258-6C1088AC1C0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Owning payments does not mean free payments</a:t>
            </a:r>
          </a:p>
        </p:txBody>
      </p:sp>
      <p:sp>
        <p:nvSpPr>
          <p:cNvPr id="2" name="An internal transaction engine can replace softwar">
            <a:extLst xmlns:a="http://schemas.openxmlformats.org/drawingml/2006/main">
              <a:ext uri="{FF2B5EF4-FFF2-40B4-BE49-F238E27FC236}">
                <a16:creationId xmlns:a16="http://schemas.microsoft.com/office/drawing/2014/main" id="{1CDA2A9F-2BDF-4BFC-B4A0-2BD0C314010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internal transaction engine can replace software layers. Banks and payment networks still carry costs.</a:t>
            </a:r>
          </a:p>
        </p:txBody>
      </p:sp>
      <p:sp>
        <p:nvSpPr>
          <p:cNvPr id="3" name="YardMatch">
            <a:extLst xmlns:a="http://schemas.openxmlformats.org/drawingml/2006/main">
              <a:ext uri="{FF2B5EF4-FFF2-40B4-BE49-F238E27FC236}">
                <a16:creationId xmlns:a16="http://schemas.microsoft.com/office/drawing/2014/main" id="{FC7BC7B7-A3D7-4A6F-94E6-ADE4D259C58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7932DD61-25F9-4A8D-AC15-E992E32BC2D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2" name=""/>
          <p:cNvGraphicFramePr/>
          <p:nvPr/>
        </p:nvGraphicFramePr>
        <p:xfrm>
          <a:off xmlns:a="http://schemas.openxmlformats.org/drawingml/2006/main" x="609600" y="2362200"/>
          <a:ext xmlns:a="http://schemas.openxmlformats.org/drawingml/2006/main" cx="10972800" cy="3009900"/>
        </p:xfrm>
        <a:graphic xmlns:a="http://schemas.openxmlformats.org/drawingml/2006/main">
          <a:graphicData uri="http://schemas.openxmlformats.org/drawingml/2006/table">
            <a:tbl>
              <a:tblPr/>
              <a:tblGrid>
                <a:gridCol w="4191000"/>
                <a:gridCol w="6781800"/>
              </a:tblGrid>
              <a:tr h="601980">
                <a:tc>
                  <a:txBody>
                    <a:bodyPr lIns="114300" tIns="76200" rIns="114300" bIns="76200">
                      <a:noAutofit/>
                    </a:bodyPr>
                    <a:lstStyle/>
                    <a:p>
                      <a:pPr algn="l"/>
                      <a:r>
                        <a:rPr sz="1800" b="1">
                          <a:solidFill>
                            <a:srgbClr val="FFFFFF"/>
                          </a:solidFill>
                          <a:latin typeface="Arial"/>
                          <a:ea typeface="Arial"/>
                          <a:cs typeface="Arial"/>
                        </a:rPr>
                        <a:t>Cost category</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What a build can change</a:t>
                      </a:r>
                    </a:p>
                  </a:txBody>
                  <a:tcPr marL="91440" marR="91440" marT="45720" marB="45720" anchor="ctr">
                    <a:solidFill>
                      <a:srgbClr val="205938"/>
                    </a:solidFill>
                  </a:tcPr>
                </a:tc>
              </a:tr>
              <a:tr h="601980">
                <a:tc>
                  <a:txBody>
                    <a:bodyPr lIns="114300" tIns="76200" rIns="114300" bIns="76200">
                      <a:noAutofit/>
                    </a:bodyPr>
                    <a:lstStyle/>
                    <a:p>
                      <a:pPr algn="l"/>
                      <a:r>
                        <a:rPr sz="1800" b="0">
                          <a:solidFill>
                            <a:srgbClr val="14281D"/>
                          </a:solidFill>
                          <a:latin typeface="Arial"/>
                          <a:ea typeface="Arial"/>
                          <a:cs typeface="Arial"/>
                        </a:rPr>
                        <a:t>Gateway, ledger and reconciliation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Own the workflow; maintain and support it</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Card networks and acquiring banks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Negotiate rates; interchange and banking costs remain</a:t>
                      </a:r>
                    </a:p>
                  </a:txBody>
                  <a:tcPr marL="91440" marR="91440" marT="45720" marB="45720" anchor="ctr">
                    <a:solidFill>
                      <a:srgbClr val="F7F5EF"/>
                    </a:solidFill>
                  </a:tcPr>
                </a:tc>
              </a:tr>
              <a:tr h="601980">
                <a:tc>
                  <a:txBody>
                    <a:bodyPr lIns="114300" tIns="76200" rIns="114300" bIns="76200">
                      <a:noAutofit/>
                    </a:bodyPr>
                    <a:lstStyle/>
                    <a:p>
                      <a:pPr algn="l"/>
                      <a:r>
                        <a:rPr sz="1800" b="0">
                          <a:solidFill>
                            <a:srgbClr val="14281D"/>
                          </a:solidFill>
                          <a:latin typeface="Arial"/>
                          <a:ea typeface="Arial"/>
                          <a:cs typeface="Arial"/>
                        </a:rPr>
                        <a:t>ACH, payouts and verification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Replace vendors; bank and rail costs remain</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Fraud, disputes and security</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Fund operations and retain risk controls</a:t>
                      </a:r>
                    </a:p>
                  </a:txBody>
                  <a:tcPr marL="91440" marR="91440" marT="45720" marB="45720" anchor="ctr">
                    <a:solidFill>
                      <a:srgbClr val="F7F5EF"/>
                    </a:solidFill>
                  </a:tcPr>
                </a:tc>
              </a:tr>
            </a:tbl>
          </a:graphicData>
        </a:graphic>
      </p:graphicFrame>
      <p:sp>
        <p:nvSpPr>
          <p:cNvPr id="6" name="Negotiate pricing before funding a replacement eng">
            <a:extLst xmlns:a="http://schemas.openxmlformats.org/drawingml/2006/main">
              <a:ext uri="{FF2B5EF4-FFF2-40B4-BE49-F238E27FC236}">
                <a16:creationId xmlns:a16="http://schemas.microsoft.com/office/drawing/2014/main" id="{34A40A62-5952-4A9D-93B4-B695BD61EB64}"/>
              </a:ext>
            </a:extLst>
          </p:cNvPr>
          <p:cNvSpPr>
            <a:spLocks xmlns:a="http://schemas.openxmlformats.org/drawingml/2006/main" noGrp="1"/>
          </p:cNvSpPr>
          <p:nvPr/>
        </p:nvSpPr>
        <p:spPr>
          <a:xfrm xmlns:a="http://schemas.openxmlformats.org/drawingml/2006/main">
            <a:off x="628650" y="55054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Negotiate pricing before funding a replacement engine</a:t>
            </a:r>
          </a:p>
        </p:txBody>
      </p:sp>
      <p:sp>
        <p:nvSpPr>
          <p:cNvPr id="7" name="Base forecast keeps Stripe. Build options use repl">
            <a:extLst xmlns:a="http://schemas.openxmlformats.org/drawingml/2006/main">
              <a:ext uri="{FF2B5EF4-FFF2-40B4-BE49-F238E27FC236}">
                <a16:creationId xmlns:a16="http://schemas.microsoft.com/office/drawing/2014/main" id="{5A7150DA-EF95-49D8-862D-DC62D828FCD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forecast keeps Stripe. Build options use replacement processing rates, development cost and incremental annual operations. No zero-cost payments assumption is used.</a:t>
            </a:r>
          </a:p>
        </p:txBody>
      </p:sp>
    </p:spTree>
    <p:extLst>
      <p:ext uri="{BB962C8B-B14F-4D97-AF65-F5344CB8AC3E}">
        <p14:creationId xmlns:p14="http://schemas.microsoft.com/office/powerpoint/2010/main" val="1538948230"/>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ear-two or year-three build: wait for the scale">
            <a:extLst xmlns:a="http://schemas.openxmlformats.org/drawingml/2006/main">
              <a:ext uri="{FF2B5EF4-FFF2-40B4-BE49-F238E27FC236}">
                <a16:creationId xmlns:a16="http://schemas.microsoft.com/office/drawing/2014/main" id="{778828C8-7E4A-4875-810D-C17D64B0F0F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Year-two or year-three build: wait for the scale</a:t>
            </a:r>
          </a:p>
        </p:txBody>
      </p:sp>
      <p:sp>
        <p:nvSpPr>
          <p:cNvPr id="2" name="Same base volumes and proposed fees. Savings are m">
            <a:extLst xmlns:a="http://schemas.openxmlformats.org/drawingml/2006/main">
              <a:ext uri="{FF2B5EF4-FFF2-40B4-BE49-F238E27FC236}">
                <a16:creationId xmlns:a16="http://schemas.microsoft.com/office/drawing/2014/main" id="{CFA923A0-A63B-4FB0-889B-1148D77C4A6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Same base volumes and proposed fees. Savings are measured against continuing with Stripe.</a:t>
            </a:r>
          </a:p>
        </p:txBody>
      </p:sp>
      <p:sp>
        <p:nvSpPr>
          <p:cNvPr id="3" name="YardMatch">
            <a:extLst xmlns:a="http://schemas.openxmlformats.org/drawingml/2006/main">
              <a:ext uri="{FF2B5EF4-FFF2-40B4-BE49-F238E27FC236}">
                <a16:creationId xmlns:a16="http://schemas.microsoft.com/office/drawing/2014/main" id="{42B9ED55-B965-4E65-A12A-8B8E759A01A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A9940877-F58F-4792-881C-ADEB638B32A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43150"/>
          <a:ext xmlns:a="http://schemas.openxmlformats.org/drawingml/2006/main" cx="10972800" cy="3152775"/>
        </p:xfrm>
        <a:graphic xmlns:a="http://schemas.openxmlformats.org/drawingml/2006/main">
          <a:graphicData uri="http://schemas.openxmlformats.org/drawingml/2006/table">
            <a:tbl>
              <a:tblPr/>
              <a:tblGrid>
                <a:gridCol w="5429250"/>
                <a:gridCol w="2771775"/>
                <a:gridCol w="2771775"/>
              </a:tblGrid>
              <a:tr h="525463">
                <a:tc>
                  <a:txBody>
                    <a:bodyPr lIns="114300" tIns="76200" rIns="114300" bIns="76200">
                      <a:noAutofit/>
                    </a:bodyPr>
                    <a:lstStyle/>
                    <a:p>
                      <a:pPr algn="l"/>
                      <a:r>
                        <a:rPr sz="1725" b="1">
                          <a:solidFill>
                            <a:srgbClr val="FFFFFF"/>
                          </a:solidFill>
                          <a:latin typeface="Arial"/>
                          <a:ea typeface="Arial"/>
                          <a:cs typeface="Arial"/>
                        </a:rPr>
                        <a:t>Build assumption / outcome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2028</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2029</a:t>
                      </a:r>
                    </a:p>
                  </a:txBody>
                  <a:tcPr marL="91440" marR="91440" marT="45720" marB="45720" anchor="ctr">
                    <a:solidFill>
                      <a:srgbClr val="205938"/>
                    </a:solidFill>
                  </a:tcPr>
                </a:tc>
              </a:tr>
              <a:tr h="525463">
                <a:tc>
                  <a:txBody>
                    <a:bodyPr lIns="114300" tIns="76200" rIns="114300" bIns="76200">
                      <a:noAutofit/>
                    </a:bodyPr>
                    <a:lstStyle/>
                    <a:p>
                      <a:pPr algn="l"/>
                      <a:r>
                        <a:rPr sz="1725" b="0">
                          <a:solidFill>
                            <a:srgbClr val="14281D"/>
                          </a:solidFill>
                          <a:latin typeface="Arial"/>
                          <a:ea typeface="Arial"/>
                          <a:cs typeface="Arial"/>
                        </a:rPr>
                        <a:t>Build + migration cost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Annual operations at launch</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r>
              <a:tr h="525463">
                <a:tc>
                  <a:txBody>
                    <a:bodyPr lIns="114300" tIns="76200" rIns="114300" bIns="76200">
                      <a:noAutofit/>
                    </a:bodyPr>
                    <a:lstStyle/>
                    <a:p>
                      <a:pPr algn="l"/>
                      <a:r>
                        <a:rPr sz="1725" b="0">
                          <a:solidFill>
                            <a:srgbClr val="14281D"/>
                          </a:solidFill>
                          <a:latin typeface="Arial"/>
                          <a:ea typeface="Arial"/>
                          <a:cs typeface="Arial"/>
                        </a:rPr>
                        <a:t>2033 provider processing savings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$3.12m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$3.12m</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2033 net platform benefit</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$496,092</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$506,221</a:t>
                      </a:r>
                    </a:p>
                  </a:txBody>
                  <a:tcPr marL="91440" marR="91440" marT="45720" marB="45720" anchor="ctr">
                    <a:solidFill>
                      <a:srgbClr val="F7F5EF"/>
                    </a:solidFill>
                  </a:tcPr>
                </a:tc>
              </a:tr>
              <a:tr h="525463">
                <a:tc>
                  <a:txBody>
                    <a:bodyPr lIns="114300" tIns="76200" rIns="114300" bIns="76200">
                      <a:noAutofit/>
                    </a:bodyPr>
                    <a:lstStyle/>
                    <a:p>
                      <a:pPr algn="l"/>
                      <a:r>
                        <a:rPr sz="1725" b="1">
                          <a:solidFill>
                            <a:srgbClr val="14281D"/>
                          </a:solidFill>
                          <a:latin typeface="Arial"/>
                          <a:ea typeface="Arial"/>
                          <a:cs typeface="Arial"/>
                        </a:rPr>
                        <a:t>Cumulative platform impact to 2033</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($983,236)</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($640,005)</a:t>
                      </a:r>
                    </a:p>
                  </a:txBody>
                  <a:tcPr marL="91440" marR="91440" marT="45720" marB="45720" anchor="ctr">
                    <a:solidFill>
                      <a:srgbClr val="E8EDDF"/>
                    </a:solidFill>
                  </a:tcPr>
                </a:tc>
              </a:tr>
            </a:tbl>
          </a:graphicData>
        </a:graphic>
      </p:graphicFrame>
      <p:sp>
        <p:nvSpPr>
          <p:cNvPr id="6" name="Annual retained savings first cover run costs in 2">
            <a:extLst xmlns:a="http://schemas.openxmlformats.org/drawingml/2006/main">
              <a:ext uri="{FF2B5EF4-FFF2-40B4-BE49-F238E27FC236}">
                <a16:creationId xmlns:a16="http://schemas.microsoft.com/office/drawing/2014/main" id="{9E402030-6AB0-4230-8368-3A555150CE1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Annual retained savings first cover run costs in 2032; neither option recovers the full investment by 2033. Gate a build on quoted costs and payback, not a calendar date.</a:t>
            </a:r>
          </a:p>
        </p:txBody>
      </p:sp>
    </p:spTree>
    <p:extLst>
      <p:ext uri="{BB962C8B-B14F-4D97-AF65-F5344CB8AC3E}">
        <p14:creationId xmlns:p14="http://schemas.microsoft.com/office/powerpoint/2010/main" val="137003185"/>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A66648E8-9C6C-4D7B-9F51-7BB676B419E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7C411FB8-6270-4B2F-BD54-ED30FB299EF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0A3AC491-1FE0-4259-9E23-F655D3B29E6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A2D1587B-1ED0-48F9-AB67-9A763DE3C4D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473EE37D-9328-402D-B1CE-4C1173247B4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1258111794"/>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1D21926E-3767-46AE-890B-4DF1B2640B9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89D30F8B-2CE1-4512-B74F-2C72186B7DB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E5AAEF98-0B0F-43F9-9852-0714FB29238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4FF8AD1F-01B9-4D0F-A2BD-C46B9AC1C0F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4E46A801-065C-4DDC-BCDE-27A95221DCE2}"/>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9E901907-E563-446A-BC94-75654864BBDD}"/>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2EA1EE56-F3DE-4B6C-BE02-292EFB0F7AED}"/>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72A3CD21-D6CD-4335-BFCA-5AC4B2556E86}"/>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0012E00B-0931-42EA-8732-9510DCDC799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995088370"/>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4BFDA4C6-7158-4093-A1D3-104689BE192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88EDEC62-E649-4532-A766-3952DC8BD62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D1E575FC-49D6-4E0D-B0D7-9CAE247F570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5">
            <a:extLst xmlns:a="http://schemas.openxmlformats.org/drawingml/2006/main">
              <a:ext uri="{FF2B5EF4-FFF2-40B4-BE49-F238E27FC236}">
                <a16:creationId xmlns:a16="http://schemas.microsoft.com/office/drawing/2014/main" id="{30A01E92-1431-459E-99AB-A8B3E842734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25</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paying households and measured second-season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bookings persist under the proposed total fees</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Cash CAC of $50 or less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F0DB6069-F274-4521-8729-A22BAC8984C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737456308"/>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A75B79AC-8537-43DB-B302-2F76A5C377B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BCBA3237-B6F5-4EFB-B01F-8F695921DA1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56D78F4A-4A6E-4A0E-912E-5E4F9ADDBDE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6">
            <a:extLst xmlns:a="http://schemas.openxmlformats.org/drawingml/2006/main">
              <a:ext uri="{FF2B5EF4-FFF2-40B4-BE49-F238E27FC236}">
                <a16:creationId xmlns:a16="http://schemas.microsoft.com/office/drawing/2014/main" id="{4E0BD359-787C-404D-9A84-A6B314E3A64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26</a:t>
            </a:r>
          </a:p>
        </p:txBody>
      </p:sp>
      <p:sp>
        <p:nvSpPr>
          <p:cNvPr id="5" name="Households and paid visits">
            <a:extLst xmlns:a="http://schemas.openxmlformats.org/drawingml/2006/main">
              <a:ext uri="{FF2B5EF4-FFF2-40B4-BE49-F238E27FC236}">
                <a16:creationId xmlns:a16="http://schemas.microsoft.com/office/drawing/2014/main" id="{B964A162-0BE1-4AA9-B5D1-1D8316D30705}"/>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93A5A0BD-41AA-444D-8383-62CE1B9037A7}"/>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Retained service economics">
            <a:extLst xmlns:a="http://schemas.openxmlformats.org/drawingml/2006/main">
              <a:ext uri="{FF2B5EF4-FFF2-40B4-BE49-F238E27FC236}">
                <a16:creationId xmlns:a16="http://schemas.microsoft.com/office/drawing/2014/main" id="{CA4FF198-095A-4D0A-9B4D-311B8EC764AF}"/>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Retained service economics</a:t>
            </a:r>
          </a:p>
        </p:txBody>
      </p:sp>
      <p:sp>
        <p:nvSpPr>
          <p:cNvPr id="8" name="The 2031 base mix retains $2.04 per repeat job aft">
            <a:extLst xmlns:a="http://schemas.openxmlformats.org/drawingml/2006/main">
              <a:ext uri="{FF2B5EF4-FFF2-40B4-BE49-F238E27FC236}">
                <a16:creationId xmlns:a16="http://schemas.microsoft.com/office/drawing/2014/main" id="{76AFDCBD-F5B3-4C46-8D93-802E3963CDA9}"/>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retains $2.04 per repeat job after variable costs. Processing is recovered at cost; acquisition and fixed overhead remain separate.</a:t>
            </a:r>
          </a:p>
        </p:txBody>
      </p:sp>
      <p:sp>
        <p:nvSpPr>
          <p:cNvPr id="9" name="Profit and cash">
            <a:extLst xmlns:a="http://schemas.openxmlformats.org/drawingml/2006/main">
              <a:ext uri="{FF2B5EF4-FFF2-40B4-BE49-F238E27FC236}">
                <a16:creationId xmlns:a16="http://schemas.microsoft.com/office/drawing/2014/main" id="{D1D57A36-E695-4090-9277-CBD3225B56C6}"/>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42B26EE0-5359-4BF5-B810-AD1E07AC15D0}"/>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7CF07B31-0B8F-4C56-B637-CCD5CF05BB5F}"/>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146 of five-year contri">
            <a:extLst xmlns:a="http://schemas.openxmlformats.org/drawingml/2006/main">
              <a:ext uri="{FF2B5EF4-FFF2-40B4-BE49-F238E27FC236}">
                <a16:creationId xmlns:a16="http://schemas.microsoft.com/office/drawing/2014/main" id="{295F7AC1-80D7-4C75-8379-616717C59393}"/>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$146 of five-year contribution versus $35 CAC, or 4.2x. This assumes retention and unchanged cohort economics.</a:t>
            </a:r>
          </a:p>
        </p:txBody>
      </p:sp>
    </p:spTree>
    <p:extLst>
      <p:ext uri="{BB962C8B-B14F-4D97-AF65-F5344CB8AC3E}">
        <p14:creationId xmlns:p14="http://schemas.microsoft.com/office/powerpoint/2010/main" val="1486361743"/>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Sources and basis">
            <a:extLst xmlns:a="http://schemas.openxmlformats.org/drawingml/2006/main">
              <a:ext uri="{FF2B5EF4-FFF2-40B4-BE49-F238E27FC236}">
                <a16:creationId xmlns:a16="http://schemas.microsoft.com/office/drawing/2014/main" id="{0914DF78-33F6-4675-A3BC-2C967187938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A4CC2339-6F87-4771-80FD-73BF8C8A082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FF2A2E43-542F-4CE6-BE83-F143640BE09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7">
            <a:extLst xmlns:a="http://schemas.openxmlformats.org/drawingml/2006/main">
              <a:ext uri="{FF2B5EF4-FFF2-40B4-BE49-F238E27FC236}">
                <a16:creationId xmlns:a16="http://schemas.microsoft.com/office/drawing/2014/main" id="{2D1D3C5A-52FA-4CA7-B233-30F48EE8B73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27</a:t>
            </a:r>
          </a:p>
        </p:txBody>
      </p:sp>
      <p:sp>
        <p:nvSpPr>
          <p:cNvPr id="5" name="Company materials">
            <a:extLst xmlns:a="http://schemas.openxmlformats.org/drawingml/2006/main">
              <a:ext uri="{FF2B5EF4-FFF2-40B4-BE49-F238E27FC236}">
                <a16:creationId xmlns:a16="http://schemas.microsoft.com/office/drawing/2014/main" id="{872D2BC3-B02F-4C21-9785-3A84E23A6F8C}"/>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F50CA56B-2754-4190-8588-3C48B30F16E9}"/>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229365D2-073A-4E64-B2F5-5B46291388EB}"/>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62C0CD03-B3FE-4439-8284-E8D76272F5F5}"/>
              </a:ext>
            </a:extLst>
          </p:cNvPr>
          <p:cNvSpPr>
            <a:spLocks xmlns:a="http://schemas.openxmlformats.org/drawingml/2006/main" noGrp="1"/>
          </p:cNvSpPr>
          <p:nvPr/>
        </p:nvSpPr>
        <p:spPr>
          <a:xfrm xmlns:a="http://schemas.openxmlformats.org/drawingml/2006/main">
            <a:off x="628650" y="4352925"/>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5938"/>
                </a:solidFill>
                <a:latin typeface="Arial"/>
                <a:ea typeface="Arial"/>
                <a:cs typeface="Arial"/>
              </a:defRPr>
            </a:pPr>
            <a:r>
              <a:rPr sz="1500" b="0">
                <a:solidFill>
                  <a:srgbClr val="205938"/>
                </a:solidFill>
                <a:latin typeface="Arial"/>
                <a:ea typeface="Arial"/>
                <a:cs typeface="Arial"/>
                <a:hlinkClick xmlns:r="http://schemas.openxmlformats.org/officeDocument/2006/relationships" r:id="R47c80e7418844673"/>
              </a:rPr>
              <a:t>Stripe Payments pricing</a:t>
            </a:r>
          </a:p>
        </p:txBody>
      </p:sp>
      <p:sp>
        <p:nvSpPr>
          <p:cNvPr id="9" name="Stripe Connect pricing">
            <a:extLst xmlns:a="http://schemas.openxmlformats.org/drawingml/2006/main">
              <a:ext uri="{FF2B5EF4-FFF2-40B4-BE49-F238E27FC236}">
                <a16:creationId xmlns:a16="http://schemas.microsoft.com/office/drawing/2014/main" id="{5E4051C4-CD54-4672-84F7-62E672B49984}"/>
              </a:ext>
            </a:extLst>
          </p:cNvPr>
          <p:cNvSpPr>
            <a:spLocks xmlns:a="http://schemas.openxmlformats.org/drawingml/2006/main" noGrp="1"/>
          </p:cNvSpPr>
          <p:nvPr/>
        </p:nvSpPr>
        <p:spPr>
          <a:xfrm xmlns:a="http://schemas.openxmlformats.org/drawingml/2006/main">
            <a:off x="628650" y="4629150"/>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5938"/>
                </a:solidFill>
                <a:latin typeface="Arial"/>
                <a:ea typeface="Arial"/>
                <a:cs typeface="Arial"/>
              </a:defRPr>
            </a:pPr>
            <a:r>
              <a:rPr sz="1500" b="0">
                <a:solidFill>
                  <a:srgbClr val="205938"/>
                </a:solidFill>
                <a:latin typeface="Arial"/>
                <a:ea typeface="Arial"/>
                <a:cs typeface="Arial"/>
                <a:hlinkClick xmlns:r="http://schemas.openxmlformats.org/officeDocument/2006/relationships" r:id="R395bb014f1514f17"/>
              </a:rPr>
              <a:t>Stripe Connect pricing</a:t>
            </a:r>
          </a:p>
        </p:txBody>
      </p:sp>
      <p:sp>
        <p:nvSpPr>
          <p:cNvPr id="10" name="Stripe Financial Connections">
            <a:extLst xmlns:a="http://schemas.openxmlformats.org/drawingml/2006/main">
              <a:ext uri="{FF2B5EF4-FFF2-40B4-BE49-F238E27FC236}">
                <a16:creationId xmlns:a16="http://schemas.microsoft.com/office/drawing/2014/main" id="{446B22E0-D1D1-4A75-B6AE-A364A5EF6BED}"/>
              </a:ext>
            </a:extLst>
          </p:cNvPr>
          <p:cNvSpPr>
            <a:spLocks xmlns:a="http://schemas.openxmlformats.org/drawingml/2006/main" noGrp="1"/>
          </p:cNvSpPr>
          <p:nvPr/>
        </p:nvSpPr>
        <p:spPr>
          <a:xfrm xmlns:a="http://schemas.openxmlformats.org/drawingml/2006/main">
            <a:off x="628650" y="4905375"/>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5938"/>
                </a:solidFill>
                <a:latin typeface="Arial"/>
                <a:ea typeface="Arial"/>
                <a:cs typeface="Arial"/>
              </a:defRPr>
            </a:pPr>
            <a:r>
              <a:rPr sz="1500" b="0">
                <a:solidFill>
                  <a:srgbClr val="205938"/>
                </a:solidFill>
                <a:latin typeface="Arial"/>
                <a:ea typeface="Arial"/>
                <a:cs typeface="Arial"/>
                <a:hlinkClick xmlns:r="http://schemas.openxmlformats.org/officeDocument/2006/relationships" r:id="Rb2aa465a43564c9d"/>
              </a:rPr>
              <a:t>Stripe Financial Connections</a:t>
            </a:r>
          </a:p>
        </p:txBody>
      </p:sp>
      <p:sp>
        <p:nvSpPr>
          <p:cNvPr id="11" name="Zocdoc: current pricing help">
            <a:extLst xmlns:a="http://schemas.openxmlformats.org/drawingml/2006/main">
              <a:ext uri="{FF2B5EF4-FFF2-40B4-BE49-F238E27FC236}">
                <a16:creationId xmlns:a16="http://schemas.microsoft.com/office/drawing/2014/main" id="{38CC0D7D-21D8-4BBF-8DDD-9B1CF963E524}"/>
              </a:ext>
            </a:extLst>
          </p:cNvPr>
          <p:cNvSpPr>
            <a:spLocks xmlns:a="http://schemas.openxmlformats.org/drawingml/2006/main" noGrp="1"/>
          </p:cNvSpPr>
          <p:nvPr/>
        </p:nvSpPr>
        <p:spPr>
          <a:xfrm xmlns:a="http://schemas.openxmlformats.org/drawingml/2006/main">
            <a:off x="628650" y="5181600"/>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5938"/>
                </a:solidFill>
                <a:latin typeface="Arial"/>
                <a:ea typeface="Arial"/>
                <a:cs typeface="Arial"/>
              </a:defRPr>
            </a:pPr>
            <a:r>
              <a:rPr sz="1500" b="0">
                <a:solidFill>
                  <a:srgbClr val="205938"/>
                </a:solidFill>
                <a:latin typeface="Arial"/>
                <a:ea typeface="Arial"/>
                <a:cs typeface="Arial"/>
                <a:hlinkClick xmlns:r="http://schemas.openxmlformats.org/officeDocument/2006/relationships" r:id="Rcadeb5f0578742a4"/>
              </a:rPr>
              <a:t>Zocdoc: current pricing help</a:t>
            </a:r>
          </a:p>
        </p:txBody>
      </p:sp>
      <p:sp>
        <p:nvSpPr>
          <p:cNvPr id="12" name="Zocdoc: published booking-fee range">
            <a:extLst xmlns:a="http://schemas.openxmlformats.org/drawingml/2006/main">
              <a:ext uri="{FF2B5EF4-FFF2-40B4-BE49-F238E27FC236}">
                <a16:creationId xmlns:a16="http://schemas.microsoft.com/office/drawing/2014/main" id="{F2AFB1E9-43A7-495F-9D9E-FAE9DB99FC4B}"/>
              </a:ext>
            </a:extLst>
          </p:cNvPr>
          <p:cNvSpPr>
            <a:spLocks xmlns:a="http://schemas.openxmlformats.org/drawingml/2006/main" noGrp="1"/>
          </p:cNvSpPr>
          <p:nvPr/>
        </p:nvSpPr>
        <p:spPr>
          <a:xfrm xmlns:a="http://schemas.openxmlformats.org/drawingml/2006/main">
            <a:off x="628650" y="5457825"/>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5938"/>
                </a:solidFill>
                <a:latin typeface="Arial"/>
                <a:ea typeface="Arial"/>
                <a:cs typeface="Arial"/>
              </a:defRPr>
            </a:pPr>
            <a:r>
              <a:rPr sz="1500" b="0">
                <a:solidFill>
                  <a:srgbClr val="205938"/>
                </a:solidFill>
                <a:latin typeface="Arial"/>
                <a:ea typeface="Arial"/>
                <a:cs typeface="Arial"/>
                <a:hlinkClick xmlns:r="http://schemas.openxmlformats.org/officeDocument/2006/relationships" r:id="R7e8eea9fad854fa5"/>
              </a:rPr>
              <a:t>Zocdoc: published booking-fee range</a:t>
            </a:r>
          </a:p>
        </p:txBody>
      </p:sp>
      <p:sp>
        <p:nvSpPr>
          <p:cNvPr id="13" name="Visa: interchange and merchant fees">
            <a:extLst xmlns:a="http://schemas.openxmlformats.org/drawingml/2006/main">
              <a:ext uri="{FF2B5EF4-FFF2-40B4-BE49-F238E27FC236}">
                <a16:creationId xmlns:a16="http://schemas.microsoft.com/office/drawing/2014/main" id="{C6399F90-E8BF-4862-88AE-8A75AD5FB24E}"/>
              </a:ext>
            </a:extLst>
          </p:cNvPr>
          <p:cNvSpPr>
            <a:spLocks xmlns:a="http://schemas.openxmlformats.org/drawingml/2006/main" noGrp="1"/>
          </p:cNvSpPr>
          <p:nvPr/>
        </p:nvSpPr>
        <p:spPr>
          <a:xfrm xmlns:a="http://schemas.openxmlformats.org/drawingml/2006/main">
            <a:off x="6400800" y="4352925"/>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5938"/>
                </a:solidFill>
                <a:latin typeface="Arial"/>
                <a:ea typeface="Arial"/>
                <a:cs typeface="Arial"/>
              </a:defRPr>
            </a:pPr>
            <a:r>
              <a:rPr sz="1500" b="0">
                <a:solidFill>
                  <a:srgbClr val="205938"/>
                </a:solidFill>
                <a:latin typeface="Arial"/>
                <a:ea typeface="Arial"/>
                <a:cs typeface="Arial"/>
                <a:hlinkClick xmlns:r="http://schemas.openxmlformats.org/officeDocument/2006/relationships" r:id="R8192adbbda754f73"/>
              </a:rPr>
              <a:t>Visa: interchange and merchant fees</a:t>
            </a:r>
          </a:p>
        </p:txBody>
      </p:sp>
      <p:sp>
        <p:nvSpPr>
          <p:cNvPr id="14" name="Federal Reserve: ACH fees">
            <a:extLst xmlns:a="http://schemas.openxmlformats.org/drawingml/2006/main">
              <a:ext uri="{FF2B5EF4-FFF2-40B4-BE49-F238E27FC236}">
                <a16:creationId xmlns:a16="http://schemas.microsoft.com/office/drawing/2014/main" id="{96A72416-3354-4074-9E56-54CE51DA0153}"/>
              </a:ext>
            </a:extLst>
          </p:cNvPr>
          <p:cNvSpPr>
            <a:spLocks xmlns:a="http://schemas.openxmlformats.org/drawingml/2006/main" noGrp="1"/>
          </p:cNvSpPr>
          <p:nvPr/>
        </p:nvSpPr>
        <p:spPr>
          <a:xfrm xmlns:a="http://schemas.openxmlformats.org/drawingml/2006/main">
            <a:off x="6400800" y="4629150"/>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5938"/>
                </a:solidFill>
                <a:latin typeface="Arial"/>
                <a:ea typeface="Arial"/>
                <a:cs typeface="Arial"/>
              </a:defRPr>
            </a:pPr>
            <a:r>
              <a:rPr sz="1500" b="0">
                <a:solidFill>
                  <a:srgbClr val="205938"/>
                </a:solidFill>
                <a:latin typeface="Arial"/>
                <a:ea typeface="Arial"/>
                <a:cs typeface="Arial"/>
                <a:hlinkClick xmlns:r="http://schemas.openxmlformats.org/officeDocument/2006/relationships" r:id="R056950aebfce4fab"/>
              </a:rPr>
              <a:t>Federal Reserve: ACH fees</a:t>
            </a:r>
          </a:p>
        </p:txBody>
      </p:sp>
      <p:sp>
        <p:nvSpPr>
          <p:cNvPr id="15" name="PCI Security Standards Council">
            <a:extLst xmlns:a="http://schemas.openxmlformats.org/drawingml/2006/main">
              <a:ext uri="{FF2B5EF4-FFF2-40B4-BE49-F238E27FC236}">
                <a16:creationId xmlns:a16="http://schemas.microsoft.com/office/drawing/2014/main" id="{66E5F89A-71A2-4D3B-93B9-B9E2A2972951}"/>
              </a:ext>
            </a:extLst>
          </p:cNvPr>
          <p:cNvSpPr>
            <a:spLocks xmlns:a="http://schemas.openxmlformats.org/drawingml/2006/main" noGrp="1"/>
          </p:cNvSpPr>
          <p:nvPr/>
        </p:nvSpPr>
        <p:spPr>
          <a:xfrm xmlns:a="http://schemas.openxmlformats.org/drawingml/2006/main">
            <a:off x="6400800" y="4905375"/>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5938"/>
                </a:solidFill>
                <a:latin typeface="Arial"/>
                <a:ea typeface="Arial"/>
                <a:cs typeface="Arial"/>
              </a:defRPr>
            </a:pPr>
            <a:r>
              <a:rPr sz="1500" b="0">
                <a:solidFill>
                  <a:srgbClr val="205938"/>
                </a:solidFill>
                <a:latin typeface="Arial"/>
                <a:ea typeface="Arial"/>
                <a:cs typeface="Arial"/>
                <a:hlinkClick xmlns:r="http://schemas.openxmlformats.org/officeDocument/2006/relationships" r:id="Ree5c37cb244e43f8"/>
              </a:rPr>
              <a:t>PCI Security Standards Council</a:t>
            </a:r>
          </a:p>
        </p:txBody>
      </p:sp>
      <p:sp>
        <p:nvSpPr>
          <p:cNvPr id="16" name="Census QuickFacts: Barnegat">
            <a:extLst xmlns:a="http://schemas.openxmlformats.org/drawingml/2006/main">
              <a:ext uri="{FF2B5EF4-FFF2-40B4-BE49-F238E27FC236}">
                <a16:creationId xmlns:a16="http://schemas.microsoft.com/office/drawing/2014/main" id="{53D2D48B-3314-4F3D-B7D5-09FD2C5B94A8}"/>
              </a:ext>
            </a:extLst>
          </p:cNvPr>
          <p:cNvSpPr>
            <a:spLocks xmlns:a="http://schemas.openxmlformats.org/drawingml/2006/main" noGrp="1"/>
          </p:cNvSpPr>
          <p:nvPr/>
        </p:nvSpPr>
        <p:spPr>
          <a:xfrm xmlns:a="http://schemas.openxmlformats.org/drawingml/2006/main">
            <a:off x="6400800" y="5181600"/>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5938"/>
                </a:solidFill>
                <a:latin typeface="Arial"/>
                <a:ea typeface="Arial"/>
                <a:cs typeface="Arial"/>
              </a:defRPr>
            </a:pPr>
            <a:r>
              <a:rPr sz="1500" b="0">
                <a:solidFill>
                  <a:srgbClr val="205938"/>
                </a:solidFill>
                <a:latin typeface="Arial"/>
                <a:ea typeface="Arial"/>
                <a:cs typeface="Arial"/>
                <a:hlinkClick xmlns:r="http://schemas.openxmlformats.org/officeDocument/2006/relationships" r:id="R1b16304fece648fc"/>
              </a:rPr>
              <a:t>Census QuickFacts: Barnegat</a:t>
            </a:r>
          </a:p>
        </p:txBody>
      </p:sp>
      <p:sp>
        <p:nvSpPr>
          <p:cNvPr id="17" name="External references are linked. Full citations are">
            <a:extLst xmlns:a="http://schemas.openxmlformats.org/drawingml/2006/main">
              <a:ext uri="{FF2B5EF4-FFF2-40B4-BE49-F238E27FC236}">
                <a16:creationId xmlns:a16="http://schemas.microsoft.com/office/drawing/2014/main" id="{1793D6E8-B0C0-4635-8C1C-38B98A4C15B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21024996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2026-09-20T23:17:25.6070000Z</dcterms:created>
  <dcterms:modified xsi:type="dcterms:W3CDTF">2026-09-20T23:17:25.6070000Z</dcterms:modified>
</coreProperties>
</file>