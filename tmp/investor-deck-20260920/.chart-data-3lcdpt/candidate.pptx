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65d9b211ac4629" /><Relationship Type="http://schemas.openxmlformats.org/officeDocument/2006/relationships/extended-properties" Target="/docProps/app.xml" Id="Rf39f50652dcf4917" /><Relationship Type="http://schemas.openxmlformats.org/officeDocument/2006/relationships/officeDocument" Target="/ppt/presentation.xml" Id="R8529fbc6d79c4fe7" /></Relationships>
</file>

<file path=ppt/presentation.xml><?xml version="1.0" encoding="utf-8"?>
<p:presentation xmlns:p="http://schemas.openxmlformats.org/presentationml/2006/main">
  <p:sldMasterIdLst>
    <p:sldMasterId xmlns:r="http://schemas.openxmlformats.org/officeDocument/2006/relationships" id="2147483648" r:id="Rf55af10c36fb45fc"/>
  </p:sldMasterIdLst>
  <p:notesMasterIdLst>
    <p:notesMasterId xmlns:r="http://schemas.openxmlformats.org/officeDocument/2006/relationships" r:id="R7e402977de0249f2"/>
  </p:notesMasterIdLst>
  <p:sldIdLst>
    <p:sldId xmlns:r="http://schemas.openxmlformats.org/officeDocument/2006/relationships" id="256" r:id="R74299d4d4d824d9e"/>
    <p:sldId xmlns:r="http://schemas.openxmlformats.org/officeDocument/2006/relationships" id="257" r:id="R36b7937dbd134653"/>
    <p:sldId xmlns:r="http://schemas.openxmlformats.org/officeDocument/2006/relationships" id="258" r:id="Rfe4fae7fbc594e4e"/>
    <p:sldId xmlns:r="http://schemas.openxmlformats.org/officeDocument/2006/relationships" id="259" r:id="R765ffb81079e41ac"/>
    <p:sldId xmlns:r="http://schemas.openxmlformats.org/officeDocument/2006/relationships" id="260" r:id="R3c8cc278039e4eee"/>
    <p:sldId xmlns:r="http://schemas.openxmlformats.org/officeDocument/2006/relationships" id="261" r:id="R813c4fe2e8d24b64"/>
    <p:sldId xmlns:r="http://schemas.openxmlformats.org/officeDocument/2006/relationships" id="262" r:id="R30d8e00e207143dc"/>
    <p:sldId xmlns:r="http://schemas.openxmlformats.org/officeDocument/2006/relationships" id="263" r:id="R86e9ad8a99ec4c66"/>
    <p:sldId xmlns:r="http://schemas.openxmlformats.org/officeDocument/2006/relationships" id="264" r:id="R14ad3cae244140e8"/>
    <p:sldId xmlns:r="http://schemas.openxmlformats.org/officeDocument/2006/relationships" id="265" r:id="R7fa1fd2d5a154c16"/>
    <p:sldId xmlns:r="http://schemas.openxmlformats.org/officeDocument/2006/relationships" id="266" r:id="R83d46a50a73b4274"/>
    <p:sldId xmlns:r="http://schemas.openxmlformats.org/officeDocument/2006/relationships" id="267" r:id="R31369b9ccf1545e8"/>
    <p:sldId xmlns:r="http://schemas.openxmlformats.org/officeDocument/2006/relationships" id="268" r:id="R0bcc2ef6f98e4998"/>
    <p:sldId xmlns:r="http://schemas.openxmlformats.org/officeDocument/2006/relationships" id="269" r:id="R3810e1d42ee143ac"/>
    <p:sldId xmlns:r="http://schemas.openxmlformats.org/officeDocument/2006/relationships" id="270" r:id="Rf8f0ba3cb3d64b4b"/>
    <p:sldId xmlns:r="http://schemas.openxmlformats.org/officeDocument/2006/relationships" id="271" r:id="Rb252e401f087462f"/>
    <p:sldId xmlns:r="http://schemas.openxmlformats.org/officeDocument/2006/relationships" id="272" r:id="R704153aafe324bfb"/>
    <p:sldId xmlns:r="http://schemas.openxmlformats.org/officeDocument/2006/relationships" id="273" r:id="Rced0ab428d074d7b"/>
    <p:sldId xmlns:r="http://schemas.openxmlformats.org/officeDocument/2006/relationships" id="274" r:id="Rf3a4b212ffc2432e"/>
    <p:sldId xmlns:r="http://schemas.openxmlformats.org/officeDocument/2006/relationships" id="275" r:id="R85cb6db4caa44966"/>
    <p:sldId xmlns:r="http://schemas.openxmlformats.org/officeDocument/2006/relationships" id="276" r:id="R5278b733e2164cad"/>
    <p:sldId xmlns:r="http://schemas.openxmlformats.org/officeDocument/2006/relationships" id="277" r:id="R35761f750b2645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123f6e9a3c4716" /><Relationship Type="http://schemas.openxmlformats.org/officeDocument/2006/relationships/slideMaster" Target="/ppt/slideMasters/slideMaster1.xml" Id="Rf55af10c36fb45fc" /><Relationship Type="http://schemas.openxmlformats.org/officeDocument/2006/relationships/notesMaster" Target="/ppt/notesMasters/notesMaster1.xml" Id="R7e402977de0249f2" /><Relationship Type="http://schemas.openxmlformats.org/officeDocument/2006/relationships/presProps" Target="/ppt/presProps.xml" Id="Rcd4bb919880f4a14" /><Relationship Type="http://schemas.openxmlformats.org/officeDocument/2006/relationships/tableStyles" Target="/ppt/tableStyles.xml" Id="R30e2d4f7f2ed40cc" /><Relationship Type="http://schemas.openxmlformats.org/officeDocument/2006/relationships/slide" Target="/ppt/slides/slide1.xml" Id="R74299d4d4d824d9e" /><Relationship Type="http://schemas.openxmlformats.org/officeDocument/2006/relationships/slide" Target="/ppt/slides/slide2.xml" Id="R36b7937dbd134653" /><Relationship Type="http://schemas.openxmlformats.org/officeDocument/2006/relationships/slide" Target="/ppt/slides/slide3.xml" Id="Rfe4fae7fbc594e4e" /><Relationship Type="http://schemas.openxmlformats.org/officeDocument/2006/relationships/slide" Target="/ppt/slides/slide4.xml" Id="R765ffb81079e41ac" /><Relationship Type="http://schemas.openxmlformats.org/officeDocument/2006/relationships/slide" Target="/ppt/slides/slide5.xml" Id="R3c8cc278039e4eee" /><Relationship Type="http://schemas.openxmlformats.org/officeDocument/2006/relationships/slide" Target="/ppt/slides/slide6.xml" Id="R813c4fe2e8d24b64" /><Relationship Type="http://schemas.openxmlformats.org/officeDocument/2006/relationships/slide" Target="/ppt/slides/slide7.xml" Id="R30d8e00e207143dc" /><Relationship Type="http://schemas.openxmlformats.org/officeDocument/2006/relationships/slide" Target="/ppt/slides/slide8.xml" Id="R86e9ad8a99ec4c66" /><Relationship Type="http://schemas.openxmlformats.org/officeDocument/2006/relationships/slide" Target="/ppt/slides/slide9.xml" Id="R14ad3cae244140e8" /><Relationship Type="http://schemas.openxmlformats.org/officeDocument/2006/relationships/slide" Target="/ppt/slides/slide10.xml" Id="R7fa1fd2d5a154c16" /><Relationship Type="http://schemas.openxmlformats.org/officeDocument/2006/relationships/slide" Target="/ppt/slides/slide11.xml" Id="R83d46a50a73b4274" /><Relationship Type="http://schemas.openxmlformats.org/officeDocument/2006/relationships/slide" Target="/ppt/slides/slide12.xml" Id="R31369b9ccf1545e8" /><Relationship Type="http://schemas.openxmlformats.org/officeDocument/2006/relationships/slide" Target="/ppt/slides/slide13.xml" Id="R0bcc2ef6f98e4998" /><Relationship Type="http://schemas.openxmlformats.org/officeDocument/2006/relationships/slide" Target="/ppt/slides/slide14.xml" Id="R3810e1d42ee143ac" /><Relationship Type="http://schemas.openxmlformats.org/officeDocument/2006/relationships/slide" Target="/ppt/slides/slide15.xml" Id="Rf8f0ba3cb3d64b4b" /><Relationship Type="http://schemas.openxmlformats.org/officeDocument/2006/relationships/slide" Target="/ppt/slides/slide16.xml" Id="Rb252e401f087462f" /><Relationship Type="http://schemas.openxmlformats.org/officeDocument/2006/relationships/slide" Target="/ppt/slides/slide17.xml" Id="R704153aafe324bfb" /><Relationship Type="http://schemas.openxmlformats.org/officeDocument/2006/relationships/slide" Target="/ppt/slides/slide18.xml" Id="Rced0ab428d074d7b" /><Relationship Type="http://schemas.openxmlformats.org/officeDocument/2006/relationships/slide" Target="/ppt/slides/slide19.xml" Id="Rf3a4b212ffc2432e" /><Relationship Type="http://schemas.openxmlformats.org/officeDocument/2006/relationships/slide" Target="/ppt/slides/slide20.xml" Id="R85cb6db4caa44966" /><Relationship Type="http://schemas.openxmlformats.org/officeDocument/2006/relationships/slide" Target="/ppt/slides/slide21.xml" Id="R5278b733e2164cad" /><Relationship Type="http://schemas.openxmlformats.org/officeDocument/2006/relationships/slide" Target="/ppt/slides/slide22.xml" Id="R35761f750b2645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e253c8fd314e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bb85dfe3804f51" /><Relationship Type="http://schemas.openxmlformats.org/officeDocument/2006/relationships/notesMaster" Target="/ppt/notesMasters/notesMaster1.xml" Id="R0000bef7731e47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c5e6b2d6ca4ee9" /><Relationship Type="http://schemas.openxmlformats.org/officeDocument/2006/relationships/notesMaster" Target="/ppt/notesMasters/notesMaster1.xml" Id="R0484479b7abb4f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635fabe1d64c7d" /><Relationship Type="http://schemas.openxmlformats.org/officeDocument/2006/relationships/notesMaster" Target="/ppt/notesMasters/notesMaster1.xml" Id="R6537b6ef005141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029d3c74c04d21" /><Relationship Type="http://schemas.openxmlformats.org/officeDocument/2006/relationships/notesMaster" Target="/ppt/notesMasters/notesMaster1.xml" Id="R8aa266cba3884d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e688a994344507" /><Relationship Type="http://schemas.openxmlformats.org/officeDocument/2006/relationships/notesMaster" Target="/ppt/notesMasters/notesMaster1.xml" Id="R255a4e36155c40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22e9e147824390" /><Relationship Type="http://schemas.openxmlformats.org/officeDocument/2006/relationships/notesMaster" Target="/ppt/notesMasters/notesMaster1.xml" Id="Rba3807267bc249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b0d5bb23774d60" /><Relationship Type="http://schemas.openxmlformats.org/officeDocument/2006/relationships/notesMaster" Target="/ppt/notesMasters/notesMaster1.xml" Id="Rb67f8453f76b4f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618c1d057a4db3" /><Relationship Type="http://schemas.openxmlformats.org/officeDocument/2006/relationships/notesMaster" Target="/ppt/notesMasters/notesMaster1.xml" Id="R04fa119181344a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d2f3a7dfdd4f68" /><Relationship Type="http://schemas.openxmlformats.org/officeDocument/2006/relationships/notesMaster" Target="/ppt/notesMasters/notesMaster1.xml" Id="R5c8dbbe4249643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b322e95b064424" /><Relationship Type="http://schemas.openxmlformats.org/officeDocument/2006/relationships/notesMaster" Target="/ppt/notesMasters/notesMaster1.xml" Id="R83a9a05c02f54b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ddafce2bfa4d2a" /><Relationship Type="http://schemas.openxmlformats.org/officeDocument/2006/relationships/notesMaster" Target="/ppt/notesMasters/notesMaster1.xml" Id="R95a14bc6494b49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66b7959d554f95" /><Relationship Type="http://schemas.openxmlformats.org/officeDocument/2006/relationships/notesMaster" Target="/ppt/notesMasters/notesMaster1.xml" Id="Raf23df494de249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2c21b7cca44c3c" /><Relationship Type="http://schemas.openxmlformats.org/officeDocument/2006/relationships/notesMaster" Target="/ppt/notesMasters/notesMaster1.xml" Id="Red4a2aa0ab8a4c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1fee80b89f4dd8" /><Relationship Type="http://schemas.openxmlformats.org/officeDocument/2006/relationships/notesMaster" Target="/ppt/notesMasters/notesMaster1.xml" Id="Re2aa300747b841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1d9c344e3a405e" /><Relationship Type="http://schemas.openxmlformats.org/officeDocument/2006/relationships/notesMaster" Target="/ppt/notesMasters/notesMaster1.xml" Id="R2c1dee43c9d748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fd3ae353494347" /><Relationship Type="http://schemas.openxmlformats.org/officeDocument/2006/relationships/notesMaster" Target="/ppt/notesMasters/notesMaster1.xml" Id="Rd657d41a4d9a4a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e59d29031b41a0" /><Relationship Type="http://schemas.openxmlformats.org/officeDocument/2006/relationships/notesMaster" Target="/ppt/notesMasters/notesMaster1.xml" Id="Rbbd8ae7f787e48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f58a9a68164837" /><Relationship Type="http://schemas.openxmlformats.org/officeDocument/2006/relationships/notesMaster" Target="/ppt/notesMasters/notesMaster1.xml" Id="Rb0426a4e83de4b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e72c3fd76c42ab" /><Relationship Type="http://schemas.openxmlformats.org/officeDocument/2006/relationships/notesMaster" Target="/ppt/notesMasters/notesMaster1.xml" Id="R0eab39b8d5764e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515c53ba794042" /><Relationship Type="http://schemas.openxmlformats.org/officeDocument/2006/relationships/notesMaster" Target="/ppt/notesMasters/notesMaster1.xml" Id="Rfdb90e5637de41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3a9da9269944b2" /><Relationship Type="http://schemas.openxmlformats.org/officeDocument/2006/relationships/notesMaster" Target="/ppt/notesMasters/notesMaster1.xml" Id="R45df10f44f5e46c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2fa06be90040aa" /><Relationship Type="http://schemas.openxmlformats.org/officeDocument/2006/relationships/notesMaster" Target="/ppt/notesMasters/notesMaster1.xml" Id="R5e790904881648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Unit economics uses 2031 Base volumes to allocate account and payout-count costs. Repeat payout base excludes the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projected FCF burn $1.053m and ending cash $421,907.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d64dabc79a4e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e3acf496e449e2" /><Relationship Type="http://schemas.openxmlformats.org/officeDocument/2006/relationships/slideLayout" Target="/ppt/slideLayouts/slideLayout1.xml" Id="R6a9c37ac553e4d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9c37ac553e4d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0441f5db5b47d4" /><Relationship Type="http://schemas.openxmlformats.org/officeDocument/2006/relationships/image" Target="/ppt/media/image.png" Id="R07323a023caa4249" /><Relationship Type="http://schemas.openxmlformats.org/officeDocument/2006/relationships/notesSlide" Target="/ppt/notesSlides/notesSlide1.xml" Id="Rcbd93e91b81c41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6f8f2243054c37" /><Relationship Type="http://schemas.openxmlformats.org/officeDocument/2006/relationships/notesSlide" Target="/ppt/notesSlides/notesSlide2.xml" Id="R687faa175b8545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ae3936ee934043" /><Relationship Type="http://schemas.openxmlformats.org/officeDocument/2006/relationships/notesSlide" Target="/ppt/notesSlides/notesSlide3.xml" Id="Rab174fee89cd43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b4240798004dcb" /><Relationship Type="http://schemas.openxmlformats.org/officeDocument/2006/relationships/image" Target="/ppt/media/image2.png" Id="Re0b77bba3c1b4be2" /><Relationship Type="http://schemas.openxmlformats.org/officeDocument/2006/relationships/notesSlide" Target="/ppt/notesSlides/notesSlide4.xml" Id="R98e16e47223348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e23ef6754143d2" /><Relationship Type="http://schemas.openxmlformats.org/officeDocument/2006/relationships/image" Target="/ppt/media/image3.png" Id="R56f497cdf2a444c0" /><Relationship Type="http://schemas.openxmlformats.org/officeDocument/2006/relationships/notesSlide" Target="/ppt/notesSlides/notesSlide5.xml" Id="R7a4aa721d9674e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78a515cfff4da7" /><Relationship Type="http://schemas.openxmlformats.org/officeDocument/2006/relationships/notesSlide" Target="/ppt/notesSlides/notesSlide6.xml" Id="Rcd4230b2c1144d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f96b38393649eb" /><Relationship Type="http://schemas.openxmlformats.org/officeDocument/2006/relationships/notesSlide" Target="/ppt/notesSlides/notesSlide7.xml" Id="R48819960ef764b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929d2767084e6c" /><Relationship Type="http://schemas.openxmlformats.org/officeDocument/2006/relationships/notesSlide" Target="/ppt/notesSlides/notesSlide8.xml" Id="Rec33f3bf32e146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86833952ae4d1f" /><Relationship Type="http://schemas.openxmlformats.org/officeDocument/2006/relationships/notesSlide" Target="/ppt/notesSlides/notesSlide9.xml" Id="Rc78a8df2b5a244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5945190c3a4576" /><Relationship Type="http://schemas.openxmlformats.org/officeDocument/2006/relationships/notesSlide" Target="/ppt/notesSlides/notesSlide10.xml" Id="R26f59012294e47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757fa8a1f2496a" /><Relationship Type="http://schemas.openxmlformats.org/officeDocument/2006/relationships/notesSlide" Target="/ppt/notesSlides/notesSlide11.xml" Id="R6a3cf46328774e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ca2eafcdd04742" /><Relationship Type="http://schemas.openxmlformats.org/officeDocument/2006/relationships/notesSlide" Target="/ppt/notesSlides/notesSlide12.xml" Id="Recf4774d88064f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c931b8d1a784ac0" /><Relationship Type="http://schemas.openxmlformats.org/officeDocument/2006/relationships/notesSlide" Target="/ppt/notesSlides/notesSlide13.xml" Id="R7a9a29bafe7b43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845a9498b54615" /><Relationship Type="http://schemas.openxmlformats.org/officeDocument/2006/relationships/chart" Target="/ppt/slides/charts/chart1.xml" Id="Rca72bab8589c419c" /><Relationship Type="http://schemas.openxmlformats.org/officeDocument/2006/relationships/notesSlide" Target="/ppt/notesSlides/notesSlide14.xml" Id="R146a88c997b44c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87d38d259054682" /><Relationship Type="http://schemas.openxmlformats.org/officeDocument/2006/relationships/notesSlide" Target="/ppt/notesSlides/notesSlide15.xml" Id="Rc73fa724281f42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f927dd1ef0f4f0b" /><Relationship Type="http://schemas.openxmlformats.org/officeDocument/2006/relationships/notesSlide" Target="/ppt/notesSlides/notesSlide16.xml" Id="Rd641f620482e47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ccb9db974d7496a" /><Relationship Type="http://schemas.openxmlformats.org/officeDocument/2006/relationships/notesSlide" Target="/ppt/notesSlides/notesSlide17.xml" Id="R57245f714ee04a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0c5a913348a4281" /><Relationship Type="http://schemas.openxmlformats.org/officeDocument/2006/relationships/notesSlide" Target="/ppt/notesSlides/notesSlide18.xml" Id="R2861909acb0b46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90f37b25fe448b4" /><Relationship Type="http://schemas.openxmlformats.org/officeDocument/2006/relationships/notesSlide" Target="/ppt/notesSlides/notesSlide19.xml" Id="R2d7f32babbbd41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a81303657734687" /><Relationship Type="http://schemas.openxmlformats.org/officeDocument/2006/relationships/notesSlide" Target="/ppt/notesSlides/notesSlide20.xml" Id="R77304e47154f451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a8f830c85f4042" /><Relationship Type="http://schemas.openxmlformats.org/officeDocument/2006/relationships/notesSlide" Target="/ppt/notesSlides/notesSlide21.xml" Id="Rb001f22ff2814f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3e83690b1b64762" /><Relationship Type="http://schemas.openxmlformats.org/officeDocument/2006/relationships/hyperlink" Target="https://stripe.com/pricing" TargetMode="External" Id="R10f7649939324b5d" /><Relationship Type="http://schemas.openxmlformats.org/officeDocument/2006/relationships/hyperlink" Target="https://stripe.com/connect/pricing" TargetMode="External" Id="Rd80eaf607f524de2" /><Relationship Type="http://schemas.openxmlformats.org/officeDocument/2006/relationships/hyperlink" Target="https://stripe.com/financial-connections" TargetMode="External" Id="R563e75215ab44721" /><Relationship Type="http://schemas.openxmlformats.org/officeDocument/2006/relationships/hyperlink" Target="https://www.zocdoc.com/provider-help/en/articles/10859404-understanding-zocdoc-pricing-and-billing" TargetMode="External" Id="R4f2d92f742ff4576" /><Relationship Type="http://schemas.openxmlformats.org/officeDocument/2006/relationships/hyperlink" Target="https://www.census.gov/quickfacts/fact/table/barnegattownshipoceancountynewjersey/SBO010223" TargetMode="External" Id="Rce2e76d4f3424734" /><Relationship Type="http://schemas.openxmlformats.org/officeDocument/2006/relationships/notesSlide" Target="/ppt/notesSlides/notesSlide22.xml" Id="Rbd334714cf6d41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0.012782</c:v>
                </c:pt>
                <c:pt idx="1">
                  <c:v>0.081806</c:v>
                </c:pt>
                <c:pt idx="2">
                  <c:v>0.339369</c:v>
                </c:pt>
                <c:pt idx="3">
                  <c:v>1.083283</c:v>
                </c:pt>
                <c:pt idx="4">
                  <c:v>2.783964</c:v>
                </c:pt>
                <c:pt idx="5">
                  <c:v>5.908459</c:v>
                </c:pt>
                <c:pt idx="6">
                  <c:v>10.862247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D7A150B8-782E-4FA1-8343-721DC8EC1C3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55860FB7-88C4-4C91-B4D4-D1DC28A8292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7323a023caa4249"/>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recurring&#10;local property care">
            <a:extLst xmlns:a="http://schemas.openxmlformats.org/drawingml/2006/main">
              <a:ext uri="{FF2B5EF4-FFF2-40B4-BE49-F238E27FC236}">
                <a16:creationId xmlns:a16="http://schemas.microsoft.com/office/drawing/2014/main" id="{B6B77B36-AE69-4604-A9E0-A9D74A12E4C3}"/>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recurring</a:t>
            </a:r>
          </a:p>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local property care</a:t>
            </a:r>
          </a:p>
        </p:txBody>
      </p:sp>
      <p:sp>
        <p:nvSpPr>
          <p:cNvPr id="5" name="A managed marketplace for homeowners and local ser">
            <a:extLst xmlns:a="http://schemas.openxmlformats.org/drawingml/2006/main">
              <a:ext uri="{FF2B5EF4-FFF2-40B4-BE49-F238E27FC236}">
                <a16:creationId xmlns:a16="http://schemas.microsoft.com/office/drawing/2014/main" id="{16ABFB89-2CB7-44F3-BDAF-CADEC5B029D7}"/>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2BA0D536-B60B-4210-9DD7-D19501D8BBC7}"/>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2358248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980F19B8-A628-4F22-8973-50D4D508E64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C9601323-1F5E-4334-97F5-64CA3AE8B6E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B1E2A852-3DE6-4DE7-A437-76C8FD783B8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7A81242A-862B-407D-AFAD-5FE37B44F41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AF12F570-7F20-4286-82DD-E15D82557290}"/>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8960418D-1950-4360-A3C9-4B27E5995938}"/>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9BBFDFB3-E8BA-42EA-B543-ECD98213F98C}"/>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296A8EAD-DE0B-4DC2-91E0-23EE64DDCCDD}"/>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3E231F4D-4938-486E-AB63-FBD87327761A}"/>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Local density can lower acquisition and operating ">
            <a:extLst xmlns:a="http://schemas.openxmlformats.org/drawingml/2006/main">
              <a:ext uri="{FF2B5EF4-FFF2-40B4-BE49-F238E27FC236}">
                <a16:creationId xmlns:a16="http://schemas.microsoft.com/office/drawing/2014/main" id="{4F245954-CF81-4C18-A778-78BB1A9F00E3}"/>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Local density can lower acquisition and operating costs. Each expansion must demonstrate those savings before it earns more capital.</a:t>
            </a:r>
          </a:p>
        </p:txBody>
      </p:sp>
      <p:sp>
        <p:nvSpPr>
          <p:cNvPr id="11" name="Investment hypothesis. The model does not assume s">
            <a:extLst xmlns:a="http://schemas.openxmlformats.org/drawingml/2006/main">
              <a:ext uri="{FF2B5EF4-FFF2-40B4-BE49-F238E27FC236}">
                <a16:creationId xmlns:a16="http://schemas.microsoft.com/office/drawing/2014/main" id="{573C8CFF-7EA2-40B7-95AA-9905A977BA0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43611391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60B759C4-CAE4-4C6B-9188-3E04B1EAD9C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755621E0-2F6A-46FA-8FA7-1E8A1E67FFF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95D61C42-0BAE-4441-B35F-24DD665B9A3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72E4ABAD-7D58-4D98-8D43-6755AA682F1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837F5556-D2A1-4165-80DA-23163A631E4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947867713"/>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7FD2C1DC-B779-427A-A345-4FFAF737466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51827CCC-099F-4B2B-AE36-509FF965372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80FCD38E-BAAF-4F89-A436-5A144727C45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59919916-4C69-46EC-A632-006E50259DD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0b77bba3c1b4be2"/>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E374B31D-0630-4774-9A74-F71EA8C26A8F}"/>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644B1329-751C-4997-98D2-AADFBB52854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43701757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0B97D236-CBCF-43C3-AE57-BEF085F9D78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77473F56-20BB-4D01-A01D-4EF583F4E30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EAB43060-CED0-4F60-9E79-1185B9A6A85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EE3F2252-4E0A-4B9F-ABD2-18DB6B9B93B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6f497cdf2a444c0"/>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6035FFAC-22CB-4A20-A7C8-CC5F4D0CAAAB}"/>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7D0B349F-B62B-444E-944D-33A79B137F3E}"/>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8497150C-3194-42AC-82FD-3E50F0957573}"/>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3EF06989-3ECE-410E-B25D-C587E55D91DB}"/>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6AA67C38-1CE5-49B3-845B-44B7371D5E5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03880233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311231A5-57B2-42C1-A408-42D725CF320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9D1A3A8C-4DD3-4D5C-B661-A88E07A9491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800467A1-A65A-4376-8FB7-52F65992C03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FF110227-B5F8-4091-B3D5-90A816A1818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F3F87F01-AE7E-4F92-848C-0A095FADD55B}"/>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A6DAFCB1-51CC-4F80-9BB1-D218CF66F522}"/>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6365ECEC-6368-43C5-BF8C-81A5D05C1D7B}"/>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00EF6B96-2581-4F92-842A-24F4ABCDEEE4}"/>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C2C17B30-9E43-4988-9BB8-EEE4AA4D3E7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58467798"/>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C0D569D3-6B62-4830-B7CD-A8C8F5779A0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4E974887-9AF3-483A-A538-4E1A7311F98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A20BE679-FEDE-4032-8546-BC89CA022DC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21BD65D3-4E96-494F-BDA6-DCD03E86060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235F8E57-F383-4E99-9F48-38A48568C00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80927581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At $60, repeat card payments leave about $0.20">
            <a:extLst xmlns:a="http://schemas.openxmlformats.org/drawingml/2006/main">
              <a:ext uri="{FF2B5EF4-FFF2-40B4-BE49-F238E27FC236}">
                <a16:creationId xmlns:a16="http://schemas.microsoft.com/office/drawing/2014/main" id="{4F4E3D28-5222-42F6-9FA9-FD8EC552E2C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At $60, repeat card payments leave about $0.20</a:t>
            </a:r>
          </a:p>
        </p:txBody>
      </p:sp>
      <p:sp>
        <p:nvSpPr>
          <p:cNvPr id="2" name="Illustrative contribution after payment costs and ">
            <a:extLst xmlns:a="http://schemas.openxmlformats.org/drawingml/2006/main">
              <a:ext uri="{FF2B5EF4-FFF2-40B4-BE49-F238E27FC236}">
                <a16:creationId xmlns:a16="http://schemas.microsoft.com/office/drawing/2014/main" id="{5E94471A-15E0-435A-8EDD-58FF056A888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contribution after payment costs and variable operating costs, before acquisition and fixed overhead.</a:t>
            </a:r>
          </a:p>
        </p:txBody>
      </p:sp>
      <p:sp>
        <p:nvSpPr>
          <p:cNvPr id="3" name="YardMatch">
            <a:extLst xmlns:a="http://schemas.openxmlformats.org/drawingml/2006/main">
              <a:ext uri="{FF2B5EF4-FFF2-40B4-BE49-F238E27FC236}">
                <a16:creationId xmlns:a16="http://schemas.microsoft.com/office/drawing/2014/main" id="{95280A1A-E65B-4B11-A015-0F876B0DEF5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91686920-E362-4213-B27D-4A8FC7E3FA0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409825"/>
          <a:ext xmlns:a="http://schemas.openxmlformats.org/drawingml/2006/main" cx="7810500" cy="2781300"/>
        </p:xfrm>
        <a:graphic xmlns:a="http://schemas.openxmlformats.org/drawingml/2006/main">
          <a:graphicData uri="http://schemas.openxmlformats.org/drawingml/2006/table">
            <a:tbl>
              <a:tblPr/>
              <a:tblGrid>
                <a:gridCol w="4953000"/>
                <a:gridCol w="1428750"/>
                <a:gridCol w="1428750"/>
              </a:tblGrid>
              <a:tr h="556260">
                <a:tc>
                  <a:txBody>
                    <a:bodyPr lIns="114300" tIns="76200" rIns="114300" bIns="76200">
                      <a:noAutofit/>
                    </a:bodyPr>
                    <a:lstStyle/>
                    <a:p>
                      <a:pPr algn="l"/>
                      <a:r>
                        <a:rPr sz="1725" b="1">
                          <a:solidFill>
                            <a:srgbClr val="FFFFFF"/>
                          </a:solidFill>
                          <a:latin typeface="Arial"/>
                          <a:ea typeface="Arial"/>
                          <a:cs typeface="Arial"/>
                        </a:rPr>
                        <a:t>Per paid repeat service</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Card</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Bank debit (ACH)</a:t>
                      </a:r>
                    </a:p>
                  </a:txBody>
                  <a:tcPr marL="91440" marR="91440" marT="45720" marB="45720" anchor="ctr">
                    <a:solidFill>
                      <a:srgbClr val="205938"/>
                    </a:solidFill>
                  </a:tcPr>
                </a:tc>
              </a:tr>
              <a:tr h="556260">
                <a:tc>
                  <a:txBody>
                    <a:bodyPr lIns="114300" tIns="76200" rIns="114300" bIns="76200">
                      <a:noAutofit/>
                    </a:bodyPr>
                    <a:lstStyle/>
                    <a:p>
                      <a:pPr algn="l"/>
                      <a:r>
                        <a:rPr sz="1725" b="0">
                          <a:solidFill>
                            <a:srgbClr val="14281D"/>
                          </a:solidFill>
                          <a:latin typeface="Arial"/>
                          <a:ea typeface="Arial"/>
                          <a:cs typeface="Arial"/>
                        </a:rPr>
                        <a:t>Provider service fee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r>
              <a:tr h="556260">
                <a:tc>
                  <a:txBody>
                    <a:bodyPr lIns="114300" tIns="76200" rIns="114300" bIns="76200">
                      <a:noAutofit/>
                    </a:bodyPr>
                    <a:lstStyle/>
                    <a:p>
                      <a:pPr algn="l"/>
                      <a:r>
                        <a:rPr sz="1725" b="0">
                          <a:solidFill>
                            <a:srgbClr val="14281D"/>
                          </a:solidFill>
                          <a:latin typeface="Arial"/>
                          <a:ea typeface="Arial"/>
                          <a:cs typeface="Arial"/>
                        </a:rPr>
                        <a:t>Payment processing</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($0.48)</a:t>
                      </a:r>
                    </a:p>
                  </a:txBody>
                  <a:tcPr marL="91440" marR="91440" marT="45720" marB="45720" anchor="ctr">
                    <a:solidFill>
                      <a:srgbClr val="F7F5EF"/>
                    </a:solidFill>
                  </a:tcPr>
                </a:tc>
              </a:tr>
              <a:tr h="556260">
                <a:tc>
                  <a:txBody>
                    <a:bodyPr lIns="114300" tIns="76200" rIns="114300" bIns="76200">
                      <a:noAutofit/>
                    </a:bodyPr>
                    <a:lstStyle/>
                    <a:p>
                      <a:pPr algn="l"/>
                      <a:r>
                        <a:rPr sz="1725" b="0">
                          <a:solidFill>
                            <a:srgbClr val="14281D"/>
                          </a:solidFill>
                          <a:latin typeface="Arial"/>
                          <a:ea typeface="Arial"/>
                          <a:cs typeface="Arial"/>
                        </a:rPr>
                        <a:t>Payouts, account costs and variable operations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r>
              <a:tr h="556260">
                <a:tc>
                  <a:txBody>
                    <a:bodyPr lIns="114300" tIns="76200" rIns="114300" bIns="76200">
                      <a:noAutofit/>
                    </a:bodyPr>
                    <a:lstStyle/>
                    <a:p>
                      <a:pPr algn="l"/>
                      <a:r>
                        <a:rPr sz="1725" b="1">
                          <a:solidFill>
                            <a:srgbClr val="14281D"/>
                          </a:solidFill>
                          <a:latin typeface="Arial"/>
                          <a:ea typeface="Arial"/>
                          <a:cs typeface="Arial"/>
                        </a:rPr>
                        <a:t>Contribution before fixed overhead</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$0.20</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$1.76</a:t>
                      </a:r>
                    </a:p>
                  </a:txBody>
                  <a:tcPr marL="91440" marR="91440" marT="45720" marB="45720" anchor="ctr">
                    <a:solidFill>
                      <a:srgbClr val="E8EDDF"/>
                    </a:solidFill>
                  </a:tcPr>
                </a:tc>
              </a:tr>
            </a:tbl>
          </a:graphicData>
        </a:graphic>
      </p:graphicFrame>
      <p:sp>
        <p:nvSpPr>
          <p:cNvPr id="6" name="About $66">
            <a:extLst xmlns:a="http://schemas.openxmlformats.org/drawingml/2006/main">
              <a:ext uri="{FF2B5EF4-FFF2-40B4-BE49-F238E27FC236}">
                <a16:creationId xmlns:a16="http://schemas.microsoft.com/office/drawing/2014/main" id="{A5F9DE15-CB04-43C7-A745-54884D579F9A}"/>
              </a:ext>
            </a:extLst>
          </p:cNvPr>
          <p:cNvSpPr>
            <a:spLocks xmlns:a="http://schemas.openxmlformats.org/drawingml/2006/main" noGrp="1"/>
          </p:cNvSpPr>
          <p:nvPr/>
        </p:nvSpPr>
        <p:spPr>
          <a:xfrm xmlns:a="http://schemas.openxmlformats.org/drawingml/2006/main">
            <a:off x="8810625" y="254317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5938"/>
                </a:solidFill>
                <a:latin typeface="Arial"/>
                <a:ea typeface="Arial"/>
                <a:cs typeface="Arial"/>
              </a:defRPr>
            </a:pPr>
            <a:r>
              <a:rPr sz="3000" b="1">
                <a:solidFill>
                  <a:srgbClr val="205938"/>
                </a:solidFill>
                <a:latin typeface="Arial"/>
                <a:ea typeface="Arial"/>
                <a:cs typeface="Arial"/>
              </a:rPr>
              <a:t>About $66</a:t>
            </a:r>
          </a:p>
        </p:txBody>
      </p:sp>
      <p:sp>
        <p:nvSpPr>
          <p:cNvPr id="7" name="Card-ticket ceiling for a positive repeat contribu">
            <a:extLst xmlns:a="http://schemas.openxmlformats.org/drawingml/2006/main">
              <a:ext uri="{FF2B5EF4-FFF2-40B4-BE49-F238E27FC236}">
                <a16:creationId xmlns:a16="http://schemas.microsoft.com/office/drawing/2014/main" id="{D6863418-66D3-4FDF-8CA5-C6F08EDCB015}"/>
              </a:ext>
            </a:extLst>
          </p:cNvPr>
          <p:cNvSpPr>
            <a:spLocks xmlns:a="http://schemas.openxmlformats.org/drawingml/2006/main" noGrp="1"/>
          </p:cNvSpPr>
          <p:nvPr/>
        </p:nvSpPr>
        <p:spPr>
          <a:xfrm xmlns:a="http://schemas.openxmlformats.org/drawingml/2006/main">
            <a:off x="8810625" y="332422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Card-ticket ceiling for a positive repeat contribution under these assumptions.</a:t>
            </a:r>
          </a:p>
        </p:txBody>
      </p:sp>
      <p:sp>
        <p:nvSpPr>
          <p:cNvPr id="8" name="Larger jobs need separate pricing economics">
            <a:extLst xmlns:a="http://schemas.openxmlformats.org/drawingml/2006/main">
              <a:ext uri="{FF2B5EF4-FFF2-40B4-BE49-F238E27FC236}">
                <a16:creationId xmlns:a16="http://schemas.microsoft.com/office/drawing/2014/main" id="{845DDF0C-9299-452F-A547-63B9A6CB36AD}"/>
              </a:ext>
            </a:extLst>
          </p:cNvPr>
          <p:cNvSpPr>
            <a:spLocks xmlns:a="http://schemas.openxmlformats.org/drawingml/2006/main" noGrp="1"/>
          </p:cNvSpPr>
          <p:nvPr/>
        </p:nvSpPr>
        <p:spPr>
          <a:xfrm xmlns:a="http://schemas.openxmlformats.org/drawingml/2006/main">
            <a:off x="628650" y="54102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24D3E"/>
                </a:solidFill>
                <a:latin typeface="Arial"/>
                <a:ea typeface="Arial"/>
                <a:cs typeface="Arial"/>
              </a:defRPr>
            </a:pPr>
            <a:r>
              <a:rPr sz="2100" b="1">
                <a:solidFill>
                  <a:srgbClr val="A24D3E"/>
                </a:solidFill>
                <a:latin typeface="Arial"/>
                <a:ea typeface="Arial"/>
                <a:cs typeface="Arial"/>
              </a:rPr>
              <a:t>Larger jobs need separate pricing economics</a:t>
            </a:r>
          </a:p>
        </p:txBody>
      </p:sp>
      <p:sp>
        <p:nvSpPr>
          <p:cNvPr id="9" name="A $100 card-paid repeat job loses about $1.14 befo">
            <a:extLst xmlns:a="http://schemas.openxmlformats.org/drawingml/2006/main">
              <a:ext uri="{FF2B5EF4-FFF2-40B4-BE49-F238E27FC236}">
                <a16:creationId xmlns:a16="http://schemas.microsoft.com/office/drawing/2014/main" id="{CB5E7748-9A5B-46FD-B3B6-27673D0D79F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$100 card-paid repeat job loses about $1.14 before fixed costs. ACH excludes a $1.50 initial bank-link allowance. Rates and operating costs are assumptions or published standard prices.</a:t>
            </a:r>
          </a:p>
        </p:txBody>
      </p:sp>
    </p:spTree>
    <p:extLst>
      <p:ext uri="{BB962C8B-B14F-4D97-AF65-F5344CB8AC3E}">
        <p14:creationId xmlns:p14="http://schemas.microsoft.com/office/powerpoint/2010/main" val="76603200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83291868-70DC-4D44-8BED-C4A6818436F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2C3BFDC3-48BA-4601-A3D4-83C7AD74C0D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7F0EED17-4A35-4389-B4BB-39A2D0F72D4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26A3FB22-5380-4E5F-996C-133603A3486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sp>
        <p:nvSpPr>
          <p:cNvPr id="5" name="10,265">
            <a:extLst xmlns:a="http://schemas.openxmlformats.org/drawingml/2006/main">
              <a:ext uri="{FF2B5EF4-FFF2-40B4-BE49-F238E27FC236}">
                <a16:creationId xmlns:a16="http://schemas.microsoft.com/office/drawing/2014/main" id="{E2DA6204-1DDB-414C-BD1A-2C9AAA9F32CA}"/>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86221F71-19D2-4C09-9ED3-AF87ECBA8B4A}"/>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71C693EC-C9F0-489D-B328-F1990AEEBC56}"/>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A59F9692-777B-438E-8674-EB16FB76F8AE}"/>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973E302F-4009-46DE-9E3A-5C2CFEDB7DAC}"/>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183164B6-48AC-4F19-8C05-ACA083332715}"/>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285A8682-BF19-4F7E-B455-E8D93CC404B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379974183"/>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4BFBB364-A2A9-4631-84E2-EB2D6E61AB4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AC26A5DD-9CB8-42C8-B78C-39B96CAD694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3660F758-3405-48D9-85A2-C0A5BD5A456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FE016CE9-3B50-4A87-8D06-1426D112C34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1. Concentrated provider launch">
            <a:extLst xmlns:a="http://schemas.openxmlformats.org/drawingml/2006/main">
              <a:ext uri="{FF2B5EF4-FFF2-40B4-BE49-F238E27FC236}">
                <a16:creationId xmlns:a16="http://schemas.microsoft.com/office/drawing/2014/main" id="{4EF3F797-7A32-424B-9C63-7DEB9A6EB12B}"/>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AA75C912-66B1-4594-92A2-5D6001120B93}"/>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C6ABA051-4F62-4886-B89D-8B2B7E963CDC}"/>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5A0DFEDB-2C30-4973-A800-D3FCEB50BEEB}"/>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5B4A106C-E804-41A4-A344-82EADE1F348D}"/>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545E4116-113D-44E8-A07F-F77D3394D031}"/>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A442CB46-D200-40A3-9DBD-DC4F74258DEF}"/>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86AC2DF9-19FB-4BC6-88BA-264F6F87074D}"/>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6558463"/>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2B5C626F-AF3E-4136-A359-42D0A416B85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D979CF61-5B02-4892-BC30-B23B47AB490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4EA70355-35A9-429E-9109-C5A1BEF56E4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1BDF7756-ED41-456C-8670-3825F0DB3D0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Product foundation">
            <a:extLst xmlns:a="http://schemas.openxmlformats.org/drawingml/2006/main">
              <a:ext uri="{FF2B5EF4-FFF2-40B4-BE49-F238E27FC236}">
                <a16:creationId xmlns:a16="http://schemas.microsoft.com/office/drawing/2014/main" id="{429DFC61-9C63-4754-82A0-B4587B49CA91}"/>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3D892D0B-A394-43D0-8501-31F9931AF7B6}"/>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34E135A0-D05C-4FAE-87D7-99C8B639C868}"/>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D5AD94AD-63B2-429D-B461-B98EA9930D73}"/>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164D5A89-6BD5-4E0B-9889-9F7A6F74615D}"/>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C70C93D3-6604-4E8B-B9BD-EFE05D01C552}"/>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5BA9592B-6517-4130-9195-B703D9DA2259}"/>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1E22B5F2-7E0E-4C5B-B777-6C4B9F1FBF75}"/>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2014101843"/>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65027CC7-5DD1-4913-B9A2-2CAEF2A4836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B2A402ED-C28A-4C98-B262-E63253B17F6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C2A0128E-2AC7-40A0-8303-1343F1D6BDB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078C7E28-E513-4297-B0C9-9992451F267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assigns no revenue to subscriptions, pro">
            <a:extLst xmlns:a="http://schemas.openxmlformats.org/drawingml/2006/main">
              <a:ext uri="{FF2B5EF4-FFF2-40B4-BE49-F238E27FC236}">
                <a16:creationId xmlns:a16="http://schemas.microsoft.com/office/drawing/2014/main" id="{34245076-E54C-4CE2-A83B-9DD30F43115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assigns no revenue to subscriptions, provider recruiting fees, advertising or specialist cross-sell. These remain optional future tests.</a:t>
            </a:r>
          </a:p>
        </p:txBody>
      </p:sp>
    </p:spTree>
    <p:extLst>
      <p:ext uri="{BB962C8B-B14F-4D97-AF65-F5344CB8AC3E}">
        <p14:creationId xmlns:p14="http://schemas.microsoft.com/office/powerpoint/2010/main" val="477509832"/>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DF138D23-9D26-4EE0-B52E-FA36DF78974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B98D7317-24CA-49CC-9366-0B5C585A7E9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C175044E-8F74-4AC0-B10C-2789F542E92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1E78069F-6E86-477E-B854-040A3B5B408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Scheduled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Base: $60 service ticket, 95% completion/collectio">
            <a:extLst xmlns:a="http://schemas.openxmlformats.org/drawingml/2006/main">
              <a:ext uri="{FF2B5EF4-FFF2-40B4-BE49-F238E27FC236}">
                <a16:creationId xmlns:a16="http://schemas.microsoft.com/office/drawing/2014/main" id="{3F280638-A71C-4801-81AE-FC5A40E36E3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$60 service ticket, 95% completion/collection, eight payout-active months, 3 to 36 paid employees. All cases retain $45 plus $2.99 pricing.</a:t>
            </a:r>
          </a:p>
        </p:txBody>
      </p:sp>
    </p:spTree>
    <p:extLst>
      <p:ext uri="{BB962C8B-B14F-4D97-AF65-F5344CB8AC3E}">
        <p14:creationId xmlns:p14="http://schemas.microsoft.com/office/powerpoint/2010/main" val="359322849"/>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7.9m in 2033">
            <a:extLst xmlns:a="http://schemas.openxmlformats.org/drawingml/2006/main">
              <a:ext uri="{FF2B5EF4-FFF2-40B4-BE49-F238E27FC236}">
                <a16:creationId xmlns:a16="http://schemas.microsoft.com/office/drawing/2014/main" id="{458657FD-0AAE-4CF6-9EF5-E2AEC110FB9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$17.9m in 2033</a:t>
            </a:r>
          </a:p>
        </p:txBody>
      </p:sp>
      <p:sp>
        <p:nvSpPr>
          <p:cNvPr id="2" name="Net marketplace revenue, US$ millions. Finder fees">
            <a:extLst xmlns:a="http://schemas.openxmlformats.org/drawingml/2006/main">
              <a:ext uri="{FF2B5EF4-FFF2-40B4-BE49-F238E27FC236}">
                <a16:creationId xmlns:a16="http://schemas.microsoft.com/office/drawing/2014/main" id="{07D3E5A7-0E02-4E33-8F1F-1CD91081CA3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7534A482-0D1B-4EF5-B496-1E7A6BEC692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AA1BF2B8-6F5C-4B80-B493-F6102AE5290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ca72bab8589c419c"/>
          </a:graphicData>
        </a:graphic>
      </p:graphicFrame>
      <p:sp>
        <p:nvSpPr>
          <p:cNvPr id="6" name="Base 2033: 292,448 year-end paying households, 3.6">
            <a:extLst xmlns:a="http://schemas.openxmlformats.org/drawingml/2006/main">
              <a:ext uri="{FF2B5EF4-FFF2-40B4-BE49-F238E27FC236}">
                <a16:creationId xmlns:a16="http://schemas.microsoft.com/office/drawing/2014/main" id="{E6FF66F4-B980-45A9-862F-189585EDEF6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3.63m paid visits and $218.0m GMV. The $218.0m is service volume, not YardMatch revenue.</a:t>
            </a:r>
          </a:p>
        </p:txBody>
      </p:sp>
    </p:spTree>
    <p:extLst>
      <p:ext uri="{BB962C8B-B14F-4D97-AF65-F5344CB8AC3E}">
        <p14:creationId xmlns:p14="http://schemas.microsoft.com/office/powerpoint/2010/main" val="928223868"/>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operating profitability arrives in 2033">
            <a:extLst xmlns:a="http://schemas.openxmlformats.org/drawingml/2006/main">
              <a:ext uri="{FF2B5EF4-FFF2-40B4-BE49-F238E27FC236}">
                <a16:creationId xmlns:a16="http://schemas.microsoft.com/office/drawing/2014/main" id="{6FD6083B-F42F-46FA-BD13-995ECE2BF1E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operating profitability arrives in 2033</a:t>
            </a:r>
          </a:p>
        </p:txBody>
      </p:sp>
      <p:sp>
        <p:nvSpPr>
          <p:cNvPr id="2" name="US$ millions. The company funds several loss-makin">
            <a:extLst xmlns:a="http://schemas.openxmlformats.org/drawingml/2006/main">
              <a:ext uri="{FF2B5EF4-FFF2-40B4-BE49-F238E27FC236}">
                <a16:creationId xmlns:a16="http://schemas.microsoft.com/office/drawing/2014/main" id="{FA566146-A50B-4BF1-92A7-5774C55974B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company funds several loss-making years before reaching this scale.</a:t>
            </a:r>
          </a:p>
        </p:txBody>
      </p:sp>
      <p:sp>
        <p:nvSpPr>
          <p:cNvPr id="3" name="YardMatch">
            <a:extLst xmlns:a="http://schemas.openxmlformats.org/drawingml/2006/main">
              <a:ext uri="{FF2B5EF4-FFF2-40B4-BE49-F238E27FC236}">
                <a16:creationId xmlns:a16="http://schemas.microsoft.com/office/drawing/2014/main" id="{AB3F6553-2E78-43D9-9ABB-63CEC488777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9FC4B791-C40E-44BD-858E-07261369413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$2.18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$17.89</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$6.41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$11.02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($1.29)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($1.50)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($1.73)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r>
            </a:tbl>
          </a:graphicData>
        </a:graphic>
      </p:graphicFrame>
      <p:sp>
        <p:nvSpPr>
          <p:cNvPr id="6" name="2033 net income is $0.48m, while free cash flow is">
            <a:extLst xmlns:a="http://schemas.openxmlformats.org/drawingml/2006/main">
              <a:ext uri="{FF2B5EF4-FFF2-40B4-BE49-F238E27FC236}">
                <a16:creationId xmlns:a16="http://schemas.microsoft.com/office/drawing/2014/main" id="{954402E0-73BF-4A3A-A665-3C3615009CD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is $0.48m, while free cash flow is ($0.56m) because growth requires more risk cash and equipment. Profit and cash generation differ.</a:t>
            </a:r>
          </a:p>
        </p:txBody>
      </p:sp>
    </p:spTree>
    <p:extLst>
      <p:ext uri="{BB962C8B-B14F-4D97-AF65-F5344CB8AC3E}">
        <p14:creationId xmlns:p14="http://schemas.microsoft.com/office/powerpoint/2010/main" val="1994466216"/>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8ABA91DD-5CEB-4EAA-A6F7-3CE58B2E181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rovider pricing. Ret">
            <a:extLst xmlns:a="http://schemas.openxmlformats.org/drawingml/2006/main">
              <a:ext uri="{FF2B5EF4-FFF2-40B4-BE49-F238E27FC236}">
                <a16:creationId xmlns:a16="http://schemas.microsoft.com/office/drawing/2014/main" id="{B8B8B918-9940-4D53-AC48-14DCAFEB354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provider pricing.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FEE24B8C-3328-4523-A631-EE661D2ADD6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8818B18F-AA14-4E46-B0D1-BEBC3029BF6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$5.20m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$9.21m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($1.61)m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($1.30)m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$0.37m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$17.89m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$37.09m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$6.46m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None through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In the downside case, larger service tickets and l">
            <a:extLst xmlns:a="http://schemas.openxmlformats.org/drawingml/2006/main">
              <a:ext uri="{FF2B5EF4-FFF2-40B4-BE49-F238E27FC236}">
                <a16:creationId xmlns:a16="http://schemas.microsoft.com/office/drawing/2014/main" id="{8C2EED75-8D3F-4AEB-8F29-9C1EC2DD33E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 the downside case, larger service tickets and low ACH use make repeat contribution negative through 2032. More such transactions deepen the loss.</a:t>
            </a:r>
          </a:p>
        </p:txBody>
      </p:sp>
    </p:spTree>
    <p:extLst>
      <p:ext uri="{BB962C8B-B14F-4D97-AF65-F5344CB8AC3E}">
        <p14:creationId xmlns:p14="http://schemas.microsoft.com/office/powerpoint/2010/main" val="2103299073"/>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n illustrative $1.5m first round funds validation">
            <a:extLst xmlns:a="http://schemas.openxmlformats.org/drawingml/2006/main">
              <a:ext uri="{FF2B5EF4-FFF2-40B4-BE49-F238E27FC236}">
                <a16:creationId xmlns:a16="http://schemas.microsoft.com/office/drawing/2014/main" id="{ED1FD79F-978E-41E8-A95D-D29BC5E9E5F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An illustrative $1.5m first round funds validation</a:t>
            </a:r>
          </a:p>
        </p:txBody>
      </p:sp>
      <p:sp>
        <p:nvSpPr>
          <p:cNvPr id="2" name="The two-year base budget tests commercial adoption">
            <a:extLst xmlns:a="http://schemas.openxmlformats.org/drawingml/2006/main">
              <a:ext uri="{FF2B5EF4-FFF2-40B4-BE49-F238E27FC236}">
                <a16:creationId xmlns:a16="http://schemas.microsoft.com/office/drawing/2014/main" id="{BE3D946C-E28B-487E-8E05-D8A2E811189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80CC4A1C-C9FB-47D7-838F-471E692690C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10A56F5A-1BE2-4454-93DD-10307186C57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acquisition and provider onboarding</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restricted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$56,416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($146,448)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$1,053,093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$421,907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AA3986F8-D80C-4D2A-A2A6-61EF83676D23}"/>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The base case needs further funding from 2029.">
            <a:extLst xmlns:a="http://schemas.openxmlformats.org/drawingml/2006/main">
              <a:ext uri="{FF2B5EF4-FFF2-40B4-BE49-F238E27FC236}">
                <a16:creationId xmlns:a16="http://schemas.microsoft.com/office/drawing/2014/main" id="{1BE1F787-5DC5-4421-8AD0-D783FE749318}"/>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The base case needs further funding from 2029.</a:t>
            </a:r>
          </a:p>
        </p:txBody>
      </p:sp>
      <p:sp>
        <p:nvSpPr>
          <p:cNvPr id="8" name="$7.30m">
            <a:extLst xmlns:a="http://schemas.openxmlformats.org/drawingml/2006/main">
              <a:ext uri="{FF2B5EF4-FFF2-40B4-BE49-F238E27FC236}">
                <a16:creationId xmlns:a16="http://schemas.microsoft.com/office/drawing/2014/main" id="{3C5B1B98-C9E2-4D85-85AC-9D954809E60A}"/>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$7.30m</a:t>
            </a:r>
          </a:p>
        </p:txBody>
      </p:sp>
      <p:sp>
        <p:nvSpPr>
          <p:cNvPr id="9" name="Cumulative base cash deficit through 2033, before ">
            <a:extLst xmlns:a="http://schemas.openxmlformats.org/drawingml/2006/main">
              <a:ext uri="{FF2B5EF4-FFF2-40B4-BE49-F238E27FC236}">
                <a16:creationId xmlns:a16="http://schemas.microsoft.com/office/drawing/2014/main" id="{59307687-C9CC-4EAE-9A7B-E023709216EC}"/>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Cumulative base cash deficit through 2033, before a liquidity buffer.</a:t>
            </a:r>
          </a:p>
        </p:txBody>
      </p:sp>
      <p:sp>
        <p:nvSpPr>
          <p:cNvPr id="10" name="A six-month 2033 fixed-cost buffer adds $2.74m, fo">
            <a:extLst xmlns:a="http://schemas.openxmlformats.org/drawingml/2006/main">
              <a:ext uri="{FF2B5EF4-FFF2-40B4-BE49-F238E27FC236}">
                <a16:creationId xmlns:a16="http://schemas.microsoft.com/office/drawing/2014/main" id="{B647FC78-3887-4F5D-BC9E-DCB5E6F5779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six-month 2033 fixed-cost buffer adds $2.74m, for $10.04m in the model. Financing amounts and valuation are illustrative, not agreed terms.</a:t>
            </a:r>
          </a:p>
        </p:txBody>
      </p:sp>
    </p:spTree>
    <p:extLst>
      <p:ext uri="{BB962C8B-B14F-4D97-AF65-F5344CB8AC3E}">
        <p14:creationId xmlns:p14="http://schemas.microsoft.com/office/powerpoint/2010/main" val="1054183189"/>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F09984C1-7509-4222-B365-8CCCC1F8F59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1473687B-F753-4404-99EA-AAE9AC49F4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3739EF30-BDBE-4785-B18F-473000CB21D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1C80E2A2-72CF-4AEF-94CE-B278594BA82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7CF549C3-D27E-43F2-A73D-2D32231EBF5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923182824"/>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72E11511-22C6-41BD-85DB-E06629A7B20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673098C3-C087-4E19-8E2D-F6E654BB1DC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7ED3EFC4-7295-423E-B28A-779795A588B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791C695D-8889-45AD-ACF5-C5CB7DD6299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r"/>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r"/>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958DDB88-2A67-48DE-B8B8-E726D7429184}"/>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B35F28C8-405B-45F6-9E0D-84DB58C414E7}"/>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550469BF-8869-4090-9044-B64B5B6BF0A1}"/>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FE1467BB-C8E9-44D4-ADD7-B4475BA60C17}"/>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03DDBB33-87B6-4F87-AED2-88A960472E7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425015737"/>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48A93F9C-30ED-4F9C-9DCD-22968C674C6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3017AFA0-B3A2-4322-AD3E-6AD1683923B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0F7A6D34-8F82-40FC-880E-D539F70E9B8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2C1890B1-8069-495C-889C-8E48DCA1A87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first-year paying households and a measured second season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Repeat jobs continue with the $2.99 provider deduction</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Blended cash CAC at or below $50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Payment mix supports at least $0.50 per paid repeat visit</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Resolved service issues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EC193608-302D-404E-B091-AA37EBB83DA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754566933"/>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D4976A9C-8FD5-4143-AFF6-AA49A120EB8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FC413BD3-F15B-4CBC-97C9-CA25F68066A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2854057D-56AD-4066-872D-858C37D6E5B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78023DF0-7C0B-41FD-964F-FF903766010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sp>
        <p:nvSpPr>
          <p:cNvPr id="5" name="Households and paid visits">
            <a:extLst xmlns:a="http://schemas.openxmlformats.org/drawingml/2006/main">
              <a:ext uri="{FF2B5EF4-FFF2-40B4-BE49-F238E27FC236}">
                <a16:creationId xmlns:a16="http://schemas.microsoft.com/office/drawing/2014/main" id="{752445CF-C916-454A-9072-46AEBCFD8A29}"/>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F9FED0CE-8256-48F5-9B27-7FC47DD9193C}"/>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service base. Visits then reflect platform capture and completion.</a:t>
            </a:r>
          </a:p>
        </p:txBody>
      </p:sp>
      <p:sp>
        <p:nvSpPr>
          <p:cNvPr id="7" name="Revenue and cost">
            <a:extLst xmlns:a="http://schemas.openxmlformats.org/drawingml/2006/main">
              <a:ext uri="{FF2B5EF4-FFF2-40B4-BE49-F238E27FC236}">
                <a16:creationId xmlns:a16="http://schemas.microsoft.com/office/drawing/2014/main" id="{57C40800-B4DD-490B-A1AF-F5CF62F92E18}"/>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Revenue and cost</a:t>
            </a:r>
          </a:p>
        </p:txBody>
      </p:sp>
      <p:sp>
        <p:nvSpPr>
          <p:cNvPr id="8" name="$45 per new pairing after waivers, plus $2.99 per ">
            <a:extLst xmlns:a="http://schemas.openxmlformats.org/drawingml/2006/main">
              <a:ext uri="{FF2B5EF4-FFF2-40B4-BE49-F238E27FC236}">
                <a16:creationId xmlns:a16="http://schemas.microsoft.com/office/drawing/2014/main" id="{973C5688-D271-426B-B86C-8836A7941095}"/>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$45 per new pairing after waivers, plus $2.99 per paid visit. Processing uses the whole service ticket. Crew costs stay with the provider.</a:t>
            </a:r>
          </a:p>
        </p:txBody>
      </p:sp>
      <p:sp>
        <p:nvSpPr>
          <p:cNvPr id="9" name="Profit and cash">
            <a:extLst xmlns:a="http://schemas.openxmlformats.org/drawingml/2006/main">
              <a:ext uri="{FF2B5EF4-FFF2-40B4-BE49-F238E27FC236}">
                <a16:creationId xmlns:a16="http://schemas.microsoft.com/office/drawing/2014/main" id="{206672E4-8AFC-4861-96AC-A7AE1EC74F6E}"/>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F1C4D7D9-A722-49AA-9EA4-E4415EC2084F}"/>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CA40BA37-9BFC-434A-A1C6-1872CF3C57DE}"/>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about $89 of five-year c">
            <a:extLst xmlns:a="http://schemas.openxmlformats.org/drawingml/2006/main">
              <a:ext uri="{FF2B5EF4-FFF2-40B4-BE49-F238E27FC236}">
                <a16:creationId xmlns:a16="http://schemas.microsoft.com/office/drawing/2014/main" id="{872B3AB5-7585-4825-8DA9-967807BF8B9C}"/>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about $89 of five-year contribution per acquired household versus $35 CAC, or 2.6x. This is an assumption test.</a:t>
            </a:r>
          </a:p>
        </p:txBody>
      </p:sp>
    </p:spTree>
    <p:extLst>
      <p:ext uri="{BB962C8B-B14F-4D97-AF65-F5344CB8AC3E}">
        <p14:creationId xmlns:p14="http://schemas.microsoft.com/office/powerpoint/2010/main" val="1981871251"/>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ources and basis">
            <a:extLst xmlns:a="http://schemas.openxmlformats.org/drawingml/2006/main">
              <a:ext uri="{FF2B5EF4-FFF2-40B4-BE49-F238E27FC236}">
                <a16:creationId xmlns:a16="http://schemas.microsoft.com/office/drawing/2014/main" id="{2B241022-A449-4965-87B8-377A9DDD1AC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D4EBACC8-00AB-4867-8F0F-E01C44DAD20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B50277C2-A3FE-471C-8E5F-DE586EBD096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0C55900B-85F2-4355-A90A-B90B9A4EE99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sp>
        <p:nvSpPr>
          <p:cNvPr id="5" name="Company materials">
            <a:extLst xmlns:a="http://schemas.openxmlformats.org/drawingml/2006/main">
              <a:ext uri="{FF2B5EF4-FFF2-40B4-BE49-F238E27FC236}">
                <a16:creationId xmlns:a16="http://schemas.microsoft.com/office/drawing/2014/main" id="{6FCB2CBB-88B2-4EBD-8DA8-ACC05C3A1691}"/>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48BBF9E7-35E3-4CB2-8010-849B3C8C9880}"/>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AC4178F3-490E-4A3C-8803-3C771556C2C3}"/>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DF5FDEC0-90E2-4074-B14B-FAE7C5D33478}"/>
              </a:ext>
            </a:extLst>
          </p:cNvPr>
          <p:cNvSpPr>
            <a:spLocks xmlns:a="http://schemas.openxmlformats.org/drawingml/2006/main" noGrp="1"/>
          </p:cNvSpPr>
          <p:nvPr/>
        </p:nvSpPr>
        <p:spPr>
          <a:xfrm xmlns:a="http://schemas.openxmlformats.org/drawingml/2006/main">
            <a:off x="628650" y="43529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10f7649939324b5d"/>
              </a:rPr>
              <a:t>Stripe Payments pricing</a:t>
            </a:r>
          </a:p>
        </p:txBody>
      </p:sp>
      <p:sp>
        <p:nvSpPr>
          <p:cNvPr id="9" name="Stripe Connect pricing">
            <a:extLst xmlns:a="http://schemas.openxmlformats.org/drawingml/2006/main">
              <a:ext uri="{FF2B5EF4-FFF2-40B4-BE49-F238E27FC236}">
                <a16:creationId xmlns:a16="http://schemas.microsoft.com/office/drawing/2014/main" id="{EEA0414B-08DC-4F87-AE77-453A2274E422}"/>
              </a:ext>
            </a:extLst>
          </p:cNvPr>
          <p:cNvSpPr>
            <a:spLocks xmlns:a="http://schemas.openxmlformats.org/drawingml/2006/main" noGrp="1"/>
          </p:cNvSpPr>
          <p:nvPr/>
        </p:nvSpPr>
        <p:spPr>
          <a:xfrm xmlns:a="http://schemas.openxmlformats.org/drawingml/2006/main">
            <a:off x="628650" y="46291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d80eaf607f524de2"/>
              </a:rPr>
              <a:t>Stripe Connect pricing</a:t>
            </a:r>
          </a:p>
        </p:txBody>
      </p:sp>
      <p:sp>
        <p:nvSpPr>
          <p:cNvPr id="10" name="Stripe Financial Connections pricing">
            <a:extLst xmlns:a="http://schemas.openxmlformats.org/drawingml/2006/main">
              <a:ext uri="{FF2B5EF4-FFF2-40B4-BE49-F238E27FC236}">
                <a16:creationId xmlns:a16="http://schemas.microsoft.com/office/drawing/2014/main" id="{F9CD49C8-FAD5-4BEB-BAD8-412A1BFF231C}"/>
              </a:ext>
            </a:extLst>
          </p:cNvPr>
          <p:cNvSpPr>
            <a:spLocks xmlns:a="http://schemas.openxmlformats.org/drawingml/2006/main" noGrp="1"/>
          </p:cNvSpPr>
          <p:nvPr/>
        </p:nvSpPr>
        <p:spPr>
          <a:xfrm xmlns:a="http://schemas.openxmlformats.org/drawingml/2006/main">
            <a:off x="628650" y="490537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563e75215ab44721"/>
              </a:rPr>
              <a:t>Stripe Financial Connections pricing</a:t>
            </a:r>
          </a:p>
        </p:txBody>
      </p:sp>
      <p:sp>
        <p:nvSpPr>
          <p:cNvPr id="11" name="Zocdoc: Understanding pricing and billing">
            <a:extLst xmlns:a="http://schemas.openxmlformats.org/drawingml/2006/main">
              <a:ext uri="{FF2B5EF4-FFF2-40B4-BE49-F238E27FC236}">
                <a16:creationId xmlns:a16="http://schemas.microsoft.com/office/drawing/2014/main" id="{C4DA4D9E-389D-419D-A100-E1828E0B128B}"/>
              </a:ext>
            </a:extLst>
          </p:cNvPr>
          <p:cNvSpPr>
            <a:spLocks xmlns:a="http://schemas.openxmlformats.org/drawingml/2006/main" noGrp="1"/>
          </p:cNvSpPr>
          <p:nvPr/>
        </p:nvSpPr>
        <p:spPr>
          <a:xfrm xmlns:a="http://schemas.openxmlformats.org/drawingml/2006/main">
            <a:off x="628650" y="518160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4f2d92f742ff4576"/>
              </a:rPr>
              <a:t>Zocdoc: Understanding pricing and billing</a:t>
            </a:r>
          </a:p>
        </p:txBody>
      </p:sp>
      <p:sp>
        <p:nvSpPr>
          <p:cNvPr id="12" name="US Census QuickFacts: Barnegat, 2020-2024">
            <a:extLst xmlns:a="http://schemas.openxmlformats.org/drawingml/2006/main">
              <a:ext uri="{FF2B5EF4-FFF2-40B4-BE49-F238E27FC236}">
                <a16:creationId xmlns:a16="http://schemas.microsoft.com/office/drawing/2014/main" id="{78151A2B-E44C-45E9-884C-19EC6CBBEBC0}"/>
              </a:ext>
            </a:extLst>
          </p:cNvPr>
          <p:cNvSpPr>
            <a:spLocks xmlns:a="http://schemas.openxmlformats.org/drawingml/2006/main" noGrp="1"/>
          </p:cNvSpPr>
          <p:nvPr/>
        </p:nvSpPr>
        <p:spPr>
          <a:xfrm xmlns:a="http://schemas.openxmlformats.org/drawingml/2006/main">
            <a:off x="628650" y="54578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ce2e76d4f3424734"/>
              </a:rPr>
              <a:t>US Census QuickFacts: Barnegat, 2020-2024</a:t>
            </a:r>
          </a:p>
        </p:txBody>
      </p:sp>
      <p:sp>
        <p:nvSpPr>
          <p:cNvPr id="13" name="External references are linked. Full citations are">
            <a:extLst xmlns:a="http://schemas.openxmlformats.org/drawingml/2006/main">
              <a:ext uri="{FF2B5EF4-FFF2-40B4-BE49-F238E27FC236}">
                <a16:creationId xmlns:a16="http://schemas.microsoft.com/office/drawing/2014/main" id="{6D0683FB-2D7F-4484-AFE0-74A5BB066E7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458608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2026-09-20T18:05:22.3940000Z</dcterms:created>
  <dcterms:modified xsi:type="dcterms:W3CDTF">2026-09-20T18:05:22.3940000Z</dcterms:modified>
</coreProperties>
</file>