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547c4cb08e497c" /><Relationship Type="http://schemas.openxmlformats.org/officeDocument/2006/relationships/extended-properties" Target="/docProps/app.xml" Id="R68da9384145b41a8" /><Relationship Type="http://schemas.openxmlformats.org/officeDocument/2006/relationships/officeDocument" Target="/ppt/presentation.xml" Id="R5ab20758478e4828" /></Relationships>
</file>

<file path=ppt/presentation.xml><?xml version="1.0" encoding="utf-8"?>
<p:presentation xmlns:p="http://schemas.openxmlformats.org/presentationml/2006/main">
  <p:sldMasterIdLst>
    <p:sldMasterId xmlns:r="http://schemas.openxmlformats.org/officeDocument/2006/relationships" id="2147483648" r:id="R5fe308d023434532"/>
  </p:sldMasterIdLst>
  <p:notesMasterIdLst>
    <p:notesMasterId xmlns:r="http://schemas.openxmlformats.org/officeDocument/2006/relationships" r:id="R2b66e3ca6b774944"/>
  </p:notesMasterIdLst>
  <p:sldIdLst>
    <p:sldId xmlns:r="http://schemas.openxmlformats.org/officeDocument/2006/relationships" id="256" r:id="Rd2c42556602746b3"/>
    <p:sldId xmlns:r="http://schemas.openxmlformats.org/officeDocument/2006/relationships" id="257" r:id="Rbf674752b79b40e6"/>
    <p:sldId xmlns:r="http://schemas.openxmlformats.org/officeDocument/2006/relationships" id="258" r:id="R3d985becfbc246ee"/>
    <p:sldId xmlns:r="http://schemas.openxmlformats.org/officeDocument/2006/relationships" id="259" r:id="Rea7fc0e45e4b4694"/>
    <p:sldId xmlns:r="http://schemas.openxmlformats.org/officeDocument/2006/relationships" id="260" r:id="R97a21751f7c04bca"/>
    <p:sldId xmlns:r="http://schemas.openxmlformats.org/officeDocument/2006/relationships" id="261" r:id="R45ced965beb24a97"/>
    <p:sldId xmlns:r="http://schemas.openxmlformats.org/officeDocument/2006/relationships" id="262" r:id="Rd071a955258e4f82"/>
    <p:sldId xmlns:r="http://schemas.openxmlformats.org/officeDocument/2006/relationships" id="263" r:id="Rc83679514d91492c"/>
    <p:sldId xmlns:r="http://schemas.openxmlformats.org/officeDocument/2006/relationships" id="264" r:id="R471f1a1450a44960"/>
    <p:sldId xmlns:r="http://schemas.openxmlformats.org/officeDocument/2006/relationships" id="265" r:id="Rfb84f10ea3f04b95"/>
    <p:sldId xmlns:r="http://schemas.openxmlformats.org/officeDocument/2006/relationships" id="266" r:id="Re97e9383b9a74eff"/>
    <p:sldId xmlns:r="http://schemas.openxmlformats.org/officeDocument/2006/relationships" id="267" r:id="R7539dd663833448e"/>
    <p:sldId xmlns:r="http://schemas.openxmlformats.org/officeDocument/2006/relationships" id="268" r:id="Ra85d1222620f4ce8"/>
    <p:sldId xmlns:r="http://schemas.openxmlformats.org/officeDocument/2006/relationships" id="269" r:id="R083871ef02174d0e"/>
    <p:sldId xmlns:r="http://schemas.openxmlformats.org/officeDocument/2006/relationships" id="270" r:id="R2e43e47851d442c6"/>
    <p:sldId xmlns:r="http://schemas.openxmlformats.org/officeDocument/2006/relationships" id="271" r:id="R1dd820ca89274b78"/>
    <p:sldId xmlns:r="http://schemas.openxmlformats.org/officeDocument/2006/relationships" id="272" r:id="R9ee5544ed7cf48c3"/>
    <p:sldId xmlns:r="http://schemas.openxmlformats.org/officeDocument/2006/relationships" id="273" r:id="R47fd9fcf3dce41e0"/>
    <p:sldId xmlns:r="http://schemas.openxmlformats.org/officeDocument/2006/relationships" id="274" r:id="R7a03718cb16145d0"/>
    <p:sldId xmlns:r="http://schemas.openxmlformats.org/officeDocument/2006/relationships" id="275" r:id="R29eba0f785094aef"/>
    <p:sldId xmlns:r="http://schemas.openxmlformats.org/officeDocument/2006/relationships" id="276" r:id="Re3d15de3a2f54216"/>
    <p:sldId xmlns:r="http://schemas.openxmlformats.org/officeDocument/2006/relationships" id="277" r:id="Rc0b744e3c1c048f3"/>
    <p:sldId xmlns:r="http://schemas.openxmlformats.org/officeDocument/2006/relationships" id="278" r:id="R6bc3459a57ac4298"/>
    <p:sldId xmlns:r="http://schemas.openxmlformats.org/officeDocument/2006/relationships" id="279" r:id="R6cc74470046c467e"/>
    <p:sldId xmlns:r="http://schemas.openxmlformats.org/officeDocument/2006/relationships" id="280" r:id="R2a574b52e1e54b02"/>
    <p:sldId xmlns:r="http://schemas.openxmlformats.org/officeDocument/2006/relationships" id="281" r:id="R47ecde17f9b24267"/>
    <p:sldId xmlns:r="http://schemas.openxmlformats.org/officeDocument/2006/relationships" id="282" r:id="R5aa382f6f1474bd0"/>
    <p:sldId xmlns:r="http://schemas.openxmlformats.org/officeDocument/2006/relationships" id="283" r:id="R268f46d61ffa436a"/>
    <p:sldId xmlns:r="http://schemas.openxmlformats.org/officeDocument/2006/relationships" id="284" r:id="R784d796007f842c2"/>
    <p:sldId xmlns:r="http://schemas.openxmlformats.org/officeDocument/2006/relationships" id="285" r:id="Rd61febd99693445e"/>
    <p:sldId xmlns:r="http://schemas.openxmlformats.org/officeDocument/2006/relationships" id="286" r:id="R7b4e8d954ad042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3f84ff66fb4890" /><Relationship Type="http://schemas.openxmlformats.org/officeDocument/2006/relationships/slideMaster" Target="/ppt/slideMasters/slideMaster1.xml" Id="R5fe308d023434532" /><Relationship Type="http://schemas.openxmlformats.org/officeDocument/2006/relationships/notesMaster" Target="/ppt/notesMasters/notesMaster1.xml" Id="R2b66e3ca6b774944" /><Relationship Type="http://schemas.openxmlformats.org/officeDocument/2006/relationships/presProps" Target="/ppt/presProps.xml" Id="R27d8085f93dc4b9d" /><Relationship Type="http://schemas.openxmlformats.org/officeDocument/2006/relationships/tableStyles" Target="/ppt/tableStyles.xml" Id="R88101c53f100422f" /><Relationship Type="http://schemas.openxmlformats.org/officeDocument/2006/relationships/slide" Target="/ppt/slides/slide1.xml" Id="Rd2c42556602746b3" /><Relationship Type="http://schemas.openxmlformats.org/officeDocument/2006/relationships/slide" Target="/ppt/slides/slide2.xml" Id="Rbf674752b79b40e6" /><Relationship Type="http://schemas.openxmlformats.org/officeDocument/2006/relationships/slide" Target="/ppt/slides/slide3.xml" Id="R3d985becfbc246ee" /><Relationship Type="http://schemas.openxmlformats.org/officeDocument/2006/relationships/slide" Target="/ppt/slides/slide4.xml" Id="Rea7fc0e45e4b4694" /><Relationship Type="http://schemas.openxmlformats.org/officeDocument/2006/relationships/slide" Target="/ppt/slides/slide5.xml" Id="R97a21751f7c04bca" /><Relationship Type="http://schemas.openxmlformats.org/officeDocument/2006/relationships/slide" Target="/ppt/slides/slide6.xml" Id="R45ced965beb24a97" /><Relationship Type="http://schemas.openxmlformats.org/officeDocument/2006/relationships/slide" Target="/ppt/slides/slide7.xml" Id="Rd071a955258e4f82" /><Relationship Type="http://schemas.openxmlformats.org/officeDocument/2006/relationships/slide" Target="/ppt/slides/slide8.xml" Id="Rc83679514d91492c" /><Relationship Type="http://schemas.openxmlformats.org/officeDocument/2006/relationships/slide" Target="/ppt/slides/slide9.xml" Id="R471f1a1450a44960" /><Relationship Type="http://schemas.openxmlformats.org/officeDocument/2006/relationships/slide" Target="/ppt/slides/slide10.xml" Id="Rfb84f10ea3f04b95" /><Relationship Type="http://schemas.openxmlformats.org/officeDocument/2006/relationships/slide" Target="/ppt/slides/slide11.xml" Id="Re97e9383b9a74eff" /><Relationship Type="http://schemas.openxmlformats.org/officeDocument/2006/relationships/slide" Target="/ppt/slides/slide12.xml" Id="R7539dd663833448e" /><Relationship Type="http://schemas.openxmlformats.org/officeDocument/2006/relationships/slide" Target="/ppt/slides/slide13.xml" Id="Ra85d1222620f4ce8" /><Relationship Type="http://schemas.openxmlformats.org/officeDocument/2006/relationships/slide" Target="/ppt/slides/slide14.xml" Id="R083871ef02174d0e" /><Relationship Type="http://schemas.openxmlformats.org/officeDocument/2006/relationships/slide" Target="/ppt/slides/slide15.xml" Id="R2e43e47851d442c6" /><Relationship Type="http://schemas.openxmlformats.org/officeDocument/2006/relationships/slide" Target="/ppt/slides/slide16.xml" Id="R1dd820ca89274b78" /><Relationship Type="http://schemas.openxmlformats.org/officeDocument/2006/relationships/slide" Target="/ppt/slides/slide17.xml" Id="R9ee5544ed7cf48c3" /><Relationship Type="http://schemas.openxmlformats.org/officeDocument/2006/relationships/slide" Target="/ppt/slides/slide18.xml" Id="R47fd9fcf3dce41e0" /><Relationship Type="http://schemas.openxmlformats.org/officeDocument/2006/relationships/slide" Target="/ppt/slides/slide19.xml" Id="R7a03718cb16145d0" /><Relationship Type="http://schemas.openxmlformats.org/officeDocument/2006/relationships/slide" Target="/ppt/slides/slide20.xml" Id="R29eba0f785094aef" /><Relationship Type="http://schemas.openxmlformats.org/officeDocument/2006/relationships/slide" Target="/ppt/slides/slide21.xml" Id="Re3d15de3a2f54216" /><Relationship Type="http://schemas.openxmlformats.org/officeDocument/2006/relationships/slide" Target="/ppt/slides/slide22.xml" Id="Rc0b744e3c1c048f3" /><Relationship Type="http://schemas.openxmlformats.org/officeDocument/2006/relationships/slide" Target="/ppt/slides/slide23.xml" Id="R6bc3459a57ac4298" /><Relationship Type="http://schemas.openxmlformats.org/officeDocument/2006/relationships/slide" Target="/ppt/slides/slide24.xml" Id="R6cc74470046c467e" /><Relationship Type="http://schemas.openxmlformats.org/officeDocument/2006/relationships/slide" Target="/ppt/slides/slide25.xml" Id="R2a574b52e1e54b02" /><Relationship Type="http://schemas.openxmlformats.org/officeDocument/2006/relationships/slide" Target="/ppt/slides/slide26.xml" Id="R47ecde17f9b24267" /><Relationship Type="http://schemas.openxmlformats.org/officeDocument/2006/relationships/slide" Target="/ppt/slides/slide27.xml" Id="R5aa382f6f1474bd0" /><Relationship Type="http://schemas.openxmlformats.org/officeDocument/2006/relationships/slide" Target="/ppt/slides/slide28.xml" Id="R268f46d61ffa436a" /><Relationship Type="http://schemas.openxmlformats.org/officeDocument/2006/relationships/slide" Target="/ppt/slides/slide29.xml" Id="R784d796007f842c2" /><Relationship Type="http://schemas.openxmlformats.org/officeDocument/2006/relationships/slide" Target="/ppt/slides/slide30.xml" Id="Rd61febd99693445e" /><Relationship Type="http://schemas.openxmlformats.org/officeDocument/2006/relationships/slide" Target="/ppt/slides/slide31.xml" Id="R7b4e8d954ad042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64ce47d3249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4b556fe5f14b64" /><Relationship Type="http://schemas.openxmlformats.org/officeDocument/2006/relationships/notesMaster" Target="/ppt/notesMasters/notesMaster1.xml" Id="R2c2cee41cf4e4f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bfdaa6c18e4786" /><Relationship Type="http://schemas.openxmlformats.org/officeDocument/2006/relationships/notesMaster" Target="/ppt/notesMasters/notesMaster1.xml" Id="Rcc425d99217c44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fe5f6ad3084db9" /><Relationship Type="http://schemas.openxmlformats.org/officeDocument/2006/relationships/notesMaster" Target="/ppt/notesMasters/notesMaster1.xml" Id="R8537397bb63a46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4cf193e6384a75" /><Relationship Type="http://schemas.openxmlformats.org/officeDocument/2006/relationships/notesMaster" Target="/ppt/notesMasters/notesMaster1.xml" Id="Ra19f60b562d140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5fd78d57744929" /><Relationship Type="http://schemas.openxmlformats.org/officeDocument/2006/relationships/notesMaster" Target="/ppt/notesMasters/notesMaster1.xml" Id="R4791480299db40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893fa1bc504df9" /><Relationship Type="http://schemas.openxmlformats.org/officeDocument/2006/relationships/notesMaster" Target="/ppt/notesMasters/notesMaster1.xml" Id="R1f0de56731b942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ca7a0fead846b5" /><Relationship Type="http://schemas.openxmlformats.org/officeDocument/2006/relationships/notesMaster" Target="/ppt/notesMasters/notesMaster1.xml" Id="R163863d7ea0c4c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67c4e79b2d4b2f" /><Relationship Type="http://schemas.openxmlformats.org/officeDocument/2006/relationships/notesMaster" Target="/ppt/notesMasters/notesMaster1.xml" Id="R281c234519044a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5cc905e055417e" /><Relationship Type="http://schemas.openxmlformats.org/officeDocument/2006/relationships/notesMaster" Target="/ppt/notesMasters/notesMaster1.xml" Id="Rd0a5086cd64740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c72e0072fb448d" /><Relationship Type="http://schemas.openxmlformats.org/officeDocument/2006/relationships/notesMaster" Target="/ppt/notesMasters/notesMaster1.xml" Id="Rc8f8f7ea9c8643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2336845a5c4bb4" /><Relationship Type="http://schemas.openxmlformats.org/officeDocument/2006/relationships/notesMaster" Target="/ppt/notesMasters/notesMaster1.xml" Id="Rd4c1bdd8c38645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e6363822ff4090" /><Relationship Type="http://schemas.openxmlformats.org/officeDocument/2006/relationships/notesMaster" Target="/ppt/notesMasters/notesMaster1.xml" Id="Re3abb63feab144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9c882463764ef6" /><Relationship Type="http://schemas.openxmlformats.org/officeDocument/2006/relationships/notesMaster" Target="/ppt/notesMasters/notesMaster1.xml" Id="Rd48eff29ed0c4a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52195ff85e4c67" /><Relationship Type="http://schemas.openxmlformats.org/officeDocument/2006/relationships/notesMaster" Target="/ppt/notesMasters/notesMaster1.xml" Id="Rf5b2616b588648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cc8d2159e4494e" /><Relationship Type="http://schemas.openxmlformats.org/officeDocument/2006/relationships/notesMaster" Target="/ppt/notesMasters/notesMaster1.xml" Id="R4a93bbb4367c4a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5e606f261b48ca" /><Relationship Type="http://schemas.openxmlformats.org/officeDocument/2006/relationships/notesMaster" Target="/ppt/notesMasters/notesMaster1.xml" Id="R7c194dccee814b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314e38463c4e85" /><Relationship Type="http://schemas.openxmlformats.org/officeDocument/2006/relationships/notesMaster" Target="/ppt/notesMasters/notesMaster1.xml" Id="R5afd9130648349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654acd92f647fd" /><Relationship Type="http://schemas.openxmlformats.org/officeDocument/2006/relationships/notesMaster" Target="/ppt/notesMasters/notesMaster1.xml" Id="R54754afe8dfb44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d06f75cc134889" /><Relationship Type="http://schemas.openxmlformats.org/officeDocument/2006/relationships/notesMaster" Target="/ppt/notesMasters/notesMaster1.xml" Id="Reae1b03bac9b4e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f3220b177d4d47" /><Relationship Type="http://schemas.openxmlformats.org/officeDocument/2006/relationships/notesMaster" Target="/ppt/notesMasters/notesMaster1.xml" Id="R212929f6feee4d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39b3680cc34b72" /><Relationship Type="http://schemas.openxmlformats.org/officeDocument/2006/relationships/notesMaster" Target="/ppt/notesMasters/notesMaster1.xml" Id="R228725934f2143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903a216ab0469b" /><Relationship Type="http://schemas.openxmlformats.org/officeDocument/2006/relationships/notesMaster" Target="/ppt/notesMasters/notesMaster1.xml" Id="Rd477459cabe343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6411b84fcf4068" /><Relationship Type="http://schemas.openxmlformats.org/officeDocument/2006/relationships/notesMaster" Target="/ppt/notesMasters/notesMaster1.xml" Id="R78fc966bc35d46a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3a5ef29d684e55" /><Relationship Type="http://schemas.openxmlformats.org/officeDocument/2006/relationships/notesMaster" Target="/ppt/notesMasters/notesMaster1.xml" Id="R8306234eef4845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a2a87b3f6d4ef9" /><Relationship Type="http://schemas.openxmlformats.org/officeDocument/2006/relationships/notesMaster" Target="/ppt/notesMasters/notesMaster1.xml" Id="R9c770640cd4547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73a8ca9f824464" /><Relationship Type="http://schemas.openxmlformats.org/officeDocument/2006/relationships/notesMaster" Target="/ppt/notesMasters/notesMaster1.xml" Id="R73f33b4ddd0741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c42afb2b4a4005" /><Relationship Type="http://schemas.openxmlformats.org/officeDocument/2006/relationships/notesMaster" Target="/ppt/notesMasters/notesMaster1.xml" Id="R396afe0dd6954a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c2703e88a8846ba" /><Relationship Type="http://schemas.openxmlformats.org/officeDocument/2006/relationships/notesMaster" Target="/ppt/notesMasters/notesMaster1.xml" Id="R903b5a002e3940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83f5e5f975441b" /><Relationship Type="http://schemas.openxmlformats.org/officeDocument/2006/relationships/notesMaster" Target="/ppt/notesMasters/notesMaster1.xml" Id="Raa69fd3a29b3404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3ab532c18dc4b6e" /><Relationship Type="http://schemas.openxmlformats.org/officeDocument/2006/relationships/notesMaster" Target="/ppt/notesMasters/notesMaster1.xml" Id="Ra3de984b5f5146a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fd23f2559c540dd" /><Relationship Type="http://schemas.openxmlformats.org/officeDocument/2006/relationships/notesMaster" Target="/ppt/notesMasters/notesMaster1.xml" Id="Rd5e7247994614f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This is proposed investor-model pricing, not a live product change. $45 after the first completed paid service in each new relationship; first-client welcome waiver remains. Recurring platform fee is MAX($2.99,1% of service bill), plus actual card/ACH processing. YardMatch absorbs Connect account/payout, bank verification, support and loss allowances.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Neighborhood multipliers 1.00 / 1.15 / 1.30, with 2027 shares 70% / 25% / 5% and 2033 shares 55% / 35% / 10%. Property multipliers 1.00 / 1.35 / 1.80, shares 70% / 25% / 5% in 2027 and 60% / 30% / 10% in 2033. Independent distributions compound. Maintenance mix ends 45% basic / 40% bundled / 15% expanded. Project frequency reaches 1.00 cleanup and 0.08 larger project. Same ACH, completion and capture rates across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5,415.075 partial-year weighted providers.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bd1da52bcb42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a0bed6683e4799" /><Relationship Type="http://schemas.openxmlformats.org/officeDocument/2006/relationships/slideLayout" Target="/ppt/slideLayouts/slideLayout1.xml" Id="R8ded2e75b950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ed2e75b950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546fa255b74b63" /><Relationship Type="http://schemas.openxmlformats.org/officeDocument/2006/relationships/image" Target="/ppt/media/image.png" Id="R1685bfaa31db4d79" /><Relationship Type="http://schemas.openxmlformats.org/officeDocument/2006/relationships/notesSlide" Target="/ppt/notesSlides/notesSlide1.xml" Id="Rf804b017c1a840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030fd380cb40bc" /><Relationship Type="http://schemas.openxmlformats.org/officeDocument/2006/relationships/notesSlide" Target="/ppt/notesSlides/notesSlide2.xml" Id="Re6836734df724f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4324a46e5a4c67" /><Relationship Type="http://schemas.openxmlformats.org/officeDocument/2006/relationships/notesSlide" Target="/ppt/notesSlides/notesSlide3.xml" Id="Rb50821abfbc64e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e1fc4b8cd64cff" /><Relationship Type="http://schemas.openxmlformats.org/officeDocument/2006/relationships/image" Target="/ppt/media/image2.png" Id="Radad21970c6d4afe" /><Relationship Type="http://schemas.openxmlformats.org/officeDocument/2006/relationships/notesSlide" Target="/ppt/notesSlides/notesSlide4.xml" Id="R03a5259afaa449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d55953a9ac459e" /><Relationship Type="http://schemas.openxmlformats.org/officeDocument/2006/relationships/image" Target="/ppt/media/image3.png" Id="Rea713834d10546ff" /><Relationship Type="http://schemas.openxmlformats.org/officeDocument/2006/relationships/notesSlide" Target="/ppt/notesSlides/notesSlide5.xml" Id="R2ee896bab38d47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994483af1c45d8" /><Relationship Type="http://schemas.openxmlformats.org/officeDocument/2006/relationships/notesSlide" Target="/ppt/notesSlides/notesSlide6.xml" Id="R5ca7e281b9e143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eb146ee8434ef5" /><Relationship Type="http://schemas.openxmlformats.org/officeDocument/2006/relationships/notesSlide" Target="/ppt/notesSlides/notesSlide7.xml" Id="Rd3ae2a60ed8341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e2a7277c684584" /><Relationship Type="http://schemas.openxmlformats.org/officeDocument/2006/relationships/notesSlide" Target="/ppt/notesSlides/notesSlide8.xml" Id="Rd620d799e8614b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3d78a964bc45f5" /><Relationship Type="http://schemas.openxmlformats.org/officeDocument/2006/relationships/notesSlide" Target="/ppt/notesSlides/notesSlide9.xml" Id="Rfc11ca2dcf9440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d162241bd24b38" /><Relationship Type="http://schemas.openxmlformats.org/officeDocument/2006/relationships/notesSlide" Target="/ppt/notesSlides/notesSlide10.xml" Id="R77d80b301dd642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a305556611498e" /><Relationship Type="http://schemas.openxmlformats.org/officeDocument/2006/relationships/notesSlide" Target="/ppt/notesSlides/notesSlide11.xml" Id="R9d1299fae8264d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58da1878e241df" /><Relationship Type="http://schemas.openxmlformats.org/officeDocument/2006/relationships/notesSlide" Target="/ppt/notesSlides/notesSlide12.xml" Id="Rfec23d7005c44c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d55433d2ab4983" /><Relationship Type="http://schemas.openxmlformats.org/officeDocument/2006/relationships/notesSlide" Target="/ppt/notesSlides/notesSlide13.xml" Id="R8c2d562e2f2a43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0a92005151462f" /><Relationship Type="http://schemas.openxmlformats.org/officeDocument/2006/relationships/notesSlide" Target="/ppt/notesSlides/notesSlide14.xml" Id="Rd4a79e9d789547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0de40eee014a5d" /><Relationship Type="http://schemas.openxmlformats.org/officeDocument/2006/relationships/notesSlide" Target="/ppt/notesSlides/notesSlide15.xml" Id="R0ea44af2b8ac47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ddd3af14845f0" /><Relationship Type="http://schemas.openxmlformats.org/officeDocument/2006/relationships/notesSlide" Target="/ppt/notesSlides/notesSlide16.xml" Id="R50d7e75e01a642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05525527df4ab0" /><Relationship Type="http://schemas.openxmlformats.org/officeDocument/2006/relationships/notesSlide" Target="/ppt/notesSlides/notesSlide17.xml" Id="R71c5e33d20924c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c6629371514ca0" /><Relationship Type="http://schemas.openxmlformats.org/officeDocument/2006/relationships/notesSlide" Target="/ppt/notesSlides/notesSlide18.xml" Id="R674c55a02ecf4f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082c5f5475466c" /><Relationship Type="http://schemas.openxmlformats.org/officeDocument/2006/relationships/notesSlide" Target="/ppt/notesSlides/notesSlide19.xml" Id="R83ccd9a611734e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b678a92066342a7" /><Relationship Type="http://schemas.openxmlformats.org/officeDocument/2006/relationships/notesSlide" Target="/ppt/notesSlides/notesSlide20.xml" Id="Rad35e72c9151422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66d42d70974724" /><Relationship Type="http://schemas.openxmlformats.org/officeDocument/2006/relationships/chart" Target="/ppt/slides/charts/chart1.xml" Id="Rf3abd9c18afd43e4" /><Relationship Type="http://schemas.openxmlformats.org/officeDocument/2006/relationships/notesSlide" Target="/ppt/notesSlides/notesSlide21.xml" Id="R282f8a20426e4ad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785d2801234e30" /><Relationship Type="http://schemas.openxmlformats.org/officeDocument/2006/relationships/notesSlide" Target="/ppt/notesSlides/notesSlide22.xml" Id="R336837279f3345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32e748b78b84347" /><Relationship Type="http://schemas.openxmlformats.org/officeDocument/2006/relationships/notesSlide" Target="/ppt/notesSlides/notesSlide23.xml" Id="R3f75f5f2f5bb4aa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95dde7f70244f6f" /><Relationship Type="http://schemas.openxmlformats.org/officeDocument/2006/relationships/notesSlide" Target="/ppt/notesSlides/notesSlide24.xml" Id="R52b7fa886eaf46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9a589a159aa4563" /><Relationship Type="http://schemas.openxmlformats.org/officeDocument/2006/relationships/notesSlide" Target="/ppt/notesSlides/notesSlide25.xml" Id="Ra79b5261718f44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cb69ba133b14c7f" /><Relationship Type="http://schemas.openxmlformats.org/officeDocument/2006/relationships/notesSlide" Target="/ppt/notesSlides/notesSlide26.xml" Id="R4be1ab581215414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65d018ec3194727" /><Relationship Type="http://schemas.openxmlformats.org/officeDocument/2006/relationships/notesSlide" Target="/ppt/notesSlides/notesSlide27.xml" Id="R087abb3cd4af42c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f7e2b47e17c46f0" /><Relationship Type="http://schemas.openxmlformats.org/officeDocument/2006/relationships/notesSlide" Target="/ppt/notesSlides/notesSlide28.xml" Id="R4bf8f9364dad45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f3a627293bc45ed" /><Relationship Type="http://schemas.openxmlformats.org/officeDocument/2006/relationships/notesSlide" Target="/ppt/notesSlides/notesSlide29.xml" Id="R6aecc4f992e441f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cb01d8e82ee4a1a" /><Relationship Type="http://schemas.openxmlformats.org/officeDocument/2006/relationships/notesSlide" Target="/ppt/notesSlides/notesSlide30.xml" Id="R43435b5b076741e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911c9ae2d2642da" /><Relationship Type="http://schemas.openxmlformats.org/officeDocument/2006/relationships/hyperlink" Target="https://stripe.com/pricing" TargetMode="External" Id="Rca023b3909844c74" /><Relationship Type="http://schemas.openxmlformats.org/officeDocument/2006/relationships/hyperlink" Target="https://stripe.com/connect/pricing" TargetMode="External" Id="Rbccf673bdd954cab" /><Relationship Type="http://schemas.openxmlformats.org/officeDocument/2006/relationships/hyperlink" Target="https://stripe.com/financial-connections" TargetMode="External" Id="Rbf8a0497bab24352" /><Relationship Type="http://schemas.openxmlformats.org/officeDocument/2006/relationships/hyperlink" Target="https://www.zocdoc.com/provider-help/en/articles/10859404-understanding-zocdoc-pricing-and-billing" TargetMode="External" Id="R3a12128cc7c94221" /><Relationship Type="http://schemas.openxmlformats.org/officeDocument/2006/relationships/hyperlink" Target="https://www.zocdoc.com/about/understanding-your-bill/" TargetMode="External" Id="R7df627ec6c344515" /><Relationship Type="http://schemas.openxmlformats.org/officeDocument/2006/relationships/hyperlink" Target="https://usa.visa.com/support/small-business/regulations-fees.html" TargetMode="External" Id="Racfa023be81149d7" /><Relationship Type="http://schemas.openxmlformats.org/officeDocument/2006/relationships/hyperlink" Target="https://www.frbservices.org/resources/fees/ach-2026" TargetMode="External" Id="R7a31af8fc1b84815" /><Relationship Type="http://schemas.openxmlformats.org/officeDocument/2006/relationships/hyperlink" Target="https://www.pcisecuritystandards.org/standards/pci-dss/" TargetMode="External" Id="R996214f42b5e4a54" /><Relationship Type="http://schemas.openxmlformats.org/officeDocument/2006/relationships/hyperlink" Target="https://www.census.gov/quickfacts/fact/table/barnegattownshipoceancountynewjersey/SBO010223" TargetMode="External" Id="Rc9628bb1121f48e0" /><Relationship Type="http://schemas.openxmlformats.org/officeDocument/2006/relationships/hyperlink" Target="https://www.getjobber.com/pricing/" TargetMode="External" Id="Rf9198710d7ea4989" /><Relationship Type="http://schemas.openxmlformats.org/officeDocument/2006/relationships/hyperlink" Target="https://www.zocdoc.com/provider-help/en/articles/8709753-how-much-does-sponsored-results-cost" TargetMode="External" Id="Rc2ed7ca139fa4f73" /><Relationship Type="http://schemas.openxmlformats.org/officeDocument/2006/relationships/hyperlink" Target="https://stripe.com/billing/pricing" TargetMode="External" Id="Ra3f9d05f6f554290" /><Relationship Type="http://schemas.openxmlformats.org/officeDocument/2006/relationships/notesSlide" Target="/ppt/notesSlides/notesSlide31.xml" Id="R45be0c10916041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0.013315</c:v>
                </c:pt>
                <c:pt idx="1">
                  <c:v>0.085891</c:v>
                </c:pt>
                <c:pt idx="2">
                  <c:v>0.359094</c:v>
                </c:pt>
                <c:pt idx="3">
                  <c:v>1.156601</c:v>
                </c:pt>
                <c:pt idx="4">
                  <c:v>3.001035</c:v>
                </c:pt>
                <c:pt idx="5">
                  <c:v>6.422378</c:v>
                </c:pt>
                <c:pt idx="6">
                  <c:v>11.92146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404841FB-0627-4EDF-A7EA-3FB80CF9A8B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8AA8860C-D098-4A78-812A-A45ECFA7B68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685bfaa31db4d79"/>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CE6E805C-8111-48C9-8FEF-DD2463D27F73}"/>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F76EB451-2A8E-42DF-8C8A-2890F26CF42A}"/>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08F4F0C8-3FE7-4913-A979-2146B0E81925}"/>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214412088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6D9D0C11-C24C-408F-9057-6FC3A1AA449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F0DE7275-DDC4-4EEB-82CA-EF0278AF296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BF7F0EE6-E68C-4B2C-B82D-334662EB213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E592B2C2-F8E0-4A8A-A49C-DD2495A04AD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C8C5DC14-2490-4EB4-9DE1-A91CC497F6B6}"/>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AAA21963-EAD1-4C8C-B598-F3F6848F41F9}"/>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8916D697-3D9A-49A3-A420-62ECB56F1BBC}"/>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AFB70E19-1503-45B6-A608-5A4A455DC7AC}"/>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1BE92E9E-3FCB-45DD-8A0A-70C8624AE93E}"/>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A $45 finder fee and size-aware service fee can fu">
            <a:extLst xmlns:a="http://schemas.openxmlformats.org/drawingml/2006/main">
              <a:ext uri="{FF2B5EF4-FFF2-40B4-BE49-F238E27FC236}">
                <a16:creationId xmlns:a16="http://schemas.microsoft.com/office/drawing/2014/main" id="{3F480C7E-A40C-442D-A01D-705F3CBC774E}"/>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 $45 finder fee and size-aware service fee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936F9EC9-EE28-492E-97FC-7F0EDF52197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87590271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894E7BE2-2451-44D2-8C75-C495EA5924A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C42FE595-27F0-4905-8EC8-90D2FDABF37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2D8DFE57-33A4-4B7E-9BE0-7D7E8636A64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1A16895D-1B9C-43FF-8467-3DDA48A10C7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662ED31D-65F1-4942-A902-8E75FD5CA15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827590132"/>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7261EC26-74A4-456F-8FF3-4CC15CCCE72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D6C4484C-CF0D-401F-847D-16DD0166052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6BAD0909-B006-422C-8212-E540C7BA873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EECB8365-617E-4D48-8834-CF5EC065333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dad21970c6d4afe"/>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D124E55F-1F63-4510-9F89-2DE57DDE41F5}"/>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612B7CAB-4638-4CB7-896C-94DFA0A59A3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91257072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E21C7D74-6C7B-40D6-9B39-1C87F2BC5C0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9C6B5833-8D6A-4EB9-A2EB-B32F72B6870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9E60FBD4-E1C2-4492-8478-652F0C15C96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45F114DF-87EA-4F26-8F67-3E75CEF564A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713834d10546ff"/>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F1C07DA2-E99E-470A-B18D-09D5B08E1EFD}"/>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76198767-98CC-4294-BF58-D6E86E2EC30B}"/>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30A65A94-128E-4D47-98A0-723E05A43E5C}"/>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2250A5AC-FCD3-40D6-92DF-DE880F53417B}"/>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8BDB8CF9-E6ED-4C05-9875-02347D7689E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23868969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Keep the finder fee. Repair the recurring fee.">
            <a:extLst xmlns:a="http://schemas.openxmlformats.org/drawingml/2006/main">
              <a:ext uri="{FF2B5EF4-FFF2-40B4-BE49-F238E27FC236}">
                <a16:creationId xmlns:a16="http://schemas.microsoft.com/office/drawing/2014/main" id="{E67A88DD-F514-4331-8AF2-45C36553FC2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Keep the finder fee. Repair the recurring fee.</a:t>
            </a:r>
          </a:p>
        </p:txBody>
      </p:sp>
      <p:sp>
        <p:nvSpPr>
          <p:cNvPr id="2" name="Recommendation for the launch pilot. All charges a">
            <a:extLst xmlns:a="http://schemas.openxmlformats.org/drawingml/2006/main">
              <a:ext uri="{FF2B5EF4-FFF2-40B4-BE49-F238E27FC236}">
                <a16:creationId xmlns:a16="http://schemas.microsoft.com/office/drawing/2014/main" id="{F003130D-BB89-404C-9DD1-56CF3CE1D4A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for the launch pilot. All charges are paid by the provider.</a:t>
            </a:r>
          </a:p>
        </p:txBody>
      </p:sp>
      <p:sp>
        <p:nvSpPr>
          <p:cNvPr id="3" name="YardMatch">
            <a:extLst xmlns:a="http://schemas.openxmlformats.org/drawingml/2006/main">
              <a:ext uri="{FF2B5EF4-FFF2-40B4-BE49-F238E27FC236}">
                <a16:creationId xmlns:a16="http://schemas.microsoft.com/office/drawing/2014/main" id="{90196493-CD45-4003-83A4-A4E987B6BA6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94C292C9-CA4B-4DD9-8531-25D4B794631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390B37CF-76FA-4A6B-9F51-720FD106E1BC}"/>
              </a:ext>
            </a:extLst>
          </p:cNvPr>
          <p:cNvSpPr>
            <a:spLocks xmlns:a="http://schemas.openxmlformats.org/drawingml/2006/main" noGrp="1"/>
          </p:cNvSpPr>
          <p:nvPr/>
        </p:nvSpPr>
        <p:spPr>
          <a:xfrm xmlns:a="http://schemas.openxmlformats.org/drawingml/2006/main">
            <a:off x="647700" y="23241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05938"/>
                </a:solidFill>
                <a:latin typeface="Arial"/>
                <a:ea typeface="Arial"/>
                <a:cs typeface="Arial"/>
              </a:defRPr>
            </a:pPr>
            <a:r>
              <a:rPr sz="5250" b="1">
                <a:solidFill>
                  <a:srgbClr val="205938"/>
                </a:solidFill>
                <a:latin typeface="Arial"/>
                <a:ea typeface="Arial"/>
                <a:cs typeface="Arial"/>
              </a:rPr>
              <a:t>$45</a:t>
            </a:r>
          </a:p>
        </p:txBody>
      </p:sp>
      <p:sp>
        <p:nvSpPr>
          <p:cNvPr id="6" name="Once per new customer/provider pair,&#10;after the fir">
            <a:extLst xmlns:a="http://schemas.openxmlformats.org/drawingml/2006/main">
              <a:ext uri="{FF2B5EF4-FFF2-40B4-BE49-F238E27FC236}">
                <a16:creationId xmlns:a16="http://schemas.microsoft.com/office/drawing/2014/main" id="{A014B847-8C00-41A1-B192-F2BFA68125C2}"/>
              </a:ext>
            </a:extLst>
          </p:cNvPr>
          <p:cNvSpPr>
            <a:spLocks xmlns:a="http://schemas.openxmlformats.org/drawingml/2006/main" noGrp="1"/>
          </p:cNvSpPr>
          <p:nvPr/>
        </p:nvSpPr>
        <p:spPr>
          <a:xfrm xmlns:a="http://schemas.openxmlformats.org/drawingml/2006/main">
            <a:off x="647700" y="3238500"/>
            <a:ext cx="482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Once per new customer/provider pair,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after the first paid completed job</a:t>
            </a:r>
          </a:p>
        </p:txBody>
      </p:sp>
      <p:sp>
        <p:nvSpPr>
          <p:cNvPr id="7" name="$2.99 minimum">
            <a:extLst xmlns:a="http://schemas.openxmlformats.org/drawingml/2006/main">
              <a:ext uri="{FF2B5EF4-FFF2-40B4-BE49-F238E27FC236}">
                <a16:creationId xmlns:a16="http://schemas.microsoft.com/office/drawing/2014/main" id="{CE721B55-B5B4-4361-BC51-437E3E536192}"/>
              </a:ext>
            </a:extLst>
          </p:cNvPr>
          <p:cNvSpPr>
            <a:spLocks xmlns:a="http://schemas.openxmlformats.org/drawingml/2006/main" noGrp="1"/>
          </p:cNvSpPr>
          <p:nvPr/>
        </p:nvSpPr>
        <p:spPr>
          <a:xfrm xmlns:a="http://schemas.openxmlformats.org/drawingml/2006/main">
            <a:off x="6391275" y="23241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5938"/>
                </a:solidFill>
                <a:latin typeface="Arial"/>
                <a:ea typeface="Arial"/>
                <a:cs typeface="Arial"/>
              </a:defRPr>
            </a:pPr>
            <a:r>
              <a:rPr sz="3975" b="1">
                <a:solidFill>
                  <a:srgbClr val="205938"/>
                </a:solidFill>
                <a:latin typeface="Arial"/>
                <a:ea typeface="Arial"/>
                <a:cs typeface="Arial"/>
              </a:rPr>
              <a:t>$2.99 minimum</a:t>
            </a:r>
          </a:p>
        </p:txBody>
      </p:sp>
      <p:sp>
        <p:nvSpPr>
          <p:cNvPr id="8" name="Or 1% of the service bill, if higher,&#10;plus actual ">
            <a:extLst xmlns:a="http://schemas.openxmlformats.org/drawingml/2006/main">
              <a:ext uri="{FF2B5EF4-FFF2-40B4-BE49-F238E27FC236}">
                <a16:creationId xmlns:a16="http://schemas.microsoft.com/office/drawing/2014/main" id="{6E786F9D-2AD5-4066-908B-0EDFB39DD702}"/>
              </a:ext>
            </a:extLst>
          </p:cNvPr>
          <p:cNvSpPr>
            <a:spLocks xmlns:a="http://schemas.openxmlformats.org/drawingml/2006/main" noGrp="1"/>
          </p:cNvSpPr>
          <p:nvPr/>
        </p:nvSpPr>
        <p:spPr>
          <a:xfrm xmlns:a="http://schemas.openxmlformats.org/drawingml/2006/main">
            <a:off x="6391275" y="32385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Or 1% of the service bill, if higher,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plus actual card / ACH processing</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card-paid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$9.97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$54.97</a:t>
                      </a:r>
                    </a:p>
                  </a:txBody>
                  <a:tcPr marL="91440" marR="91440" marT="45720" marB="45720" anchor="ctr">
                    <a:solidFill>
                      <a:srgbClr val="E8EDDF"/>
                    </a:solidFill>
                  </a:tcPr>
                </a:tc>
              </a:tr>
            </a:tbl>
          </a:graphicData>
        </a:graphic>
      </p:graphicFrame>
      <p:sp>
        <p:nvSpPr>
          <p:cNvPr id="10" name="Keep the first-client finder-fee waiver. A $45 acq">
            <a:extLst xmlns:a="http://schemas.openxmlformats.org/drawingml/2006/main">
              <a:ext uri="{FF2B5EF4-FFF2-40B4-BE49-F238E27FC236}">
                <a16:creationId xmlns:a16="http://schemas.microsoft.com/office/drawing/2014/main" id="{208E6429-B6E3-4F75-B6B3-80417BF5C76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Keep the first-client finder-fee waiver. A $45 acquisition charge is already substantial on a $60 first visit; validate season-long value before increasing it. No customer surcharge modeled.</a:t>
            </a:r>
          </a:p>
        </p:txBody>
      </p:sp>
    </p:spTree>
    <p:extLst>
      <p:ext uri="{BB962C8B-B14F-4D97-AF65-F5344CB8AC3E}">
        <p14:creationId xmlns:p14="http://schemas.microsoft.com/office/powerpoint/2010/main" val="26186595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242E709D-4627-4881-A679-06CBD710EB1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1B1ECAE8-1ADE-49BC-BFF8-513134B2F50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A9C9F1D6-B0F3-424E-A630-1A2F134CD8B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6D880E95-A771-4E39-9013-63E93D8922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2841B8D9-26DE-4435-AA81-EA89BE538650}"/>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D6080190-5C3C-4814-BF12-A86B580FB810}"/>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EDF36EB8-C2E7-454D-A9F1-436DDF4D75D7}"/>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A77DF735-0350-4A00-B62B-6EAAB9D5789B}"/>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$45 is earned after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37CE1D5A-7596-4A95-BC96-AC55510231B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185425595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9846C557-3322-41B1-924E-9B96D0FE51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CCC1C0C5-9CFF-4A28-A270-A9B3F729B50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D2B36C53-62A8-456A-8600-A89F9578415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79B15FEE-54DF-4D0E-BF6F-BB0B491F0C8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7EF6F8B2-8795-49A9-99F6-0901F863781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36932550"/>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5E0E229E-CCBA-45B4-8816-A1E393AB49D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2C898456-CE5B-4026-BD80-EAC5392935E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753D1709-29AD-4941-95DC-DF41B865670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911529A8-9065-4434-BCE1-D96C8CBE92B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4">
            <a:extLst xmlns:a="http://schemas.openxmlformats.org/drawingml/2006/main">
              <a:ext uri="{FF2B5EF4-FFF2-40B4-BE49-F238E27FC236}">
                <a16:creationId xmlns:a16="http://schemas.microsoft.com/office/drawing/2014/main" id="{A96D979C-15B7-4FB9-BAA1-D28D4D1771E1}"/>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$2.04</a:t>
            </a:r>
          </a:p>
        </p:txBody>
      </p:sp>
      <p:sp>
        <p:nvSpPr>
          <p:cNvPr id="7" name="Average repeat contribution in the 2031 base mix">
            <a:extLst xmlns:a="http://schemas.openxmlformats.org/drawingml/2006/main">
              <a:ext uri="{FF2B5EF4-FFF2-40B4-BE49-F238E27FC236}">
                <a16:creationId xmlns:a16="http://schemas.microsoft.com/office/drawing/2014/main" id="{769C88DC-9AF6-44AA-9F8C-96D3A1FCB6A1}"/>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F691D2BB-F56F-4089-88E9-6648F1CBF22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1273361230"/>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F4601136-F575-448B-9796-098BD65451D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0405A309-D449-4978-A822-A0C5A58D392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A70119F3-C7A0-4813-85CF-117481CFD33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5A36A484-F19D-4CB2-8157-CF0FFF50465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D80A4DB0-50AE-4390-BD06-86BFFD35697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1345423923"/>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3E3F10E0-72CF-414C-864B-F8CC52900CF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Mix shifts, larger properties and 3% annual price ">
            <a:extLst xmlns:a="http://schemas.openxmlformats.org/drawingml/2006/main">
              <a:ext uri="{FF2B5EF4-FFF2-40B4-BE49-F238E27FC236}">
                <a16:creationId xmlns:a16="http://schemas.microsoft.com/office/drawing/2014/main" id="{1B315214-0322-42DA-B014-80F832E39E2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Mix shifts, larger properties and 3% annual price escalation lift the weighted average over time.</a:t>
            </a:r>
          </a:p>
        </p:txBody>
      </p:sp>
      <p:sp>
        <p:nvSpPr>
          <p:cNvPr id="3" name="YardMatch">
            <a:extLst xmlns:a="http://schemas.openxmlformats.org/drawingml/2006/main">
              <a:ext uri="{FF2B5EF4-FFF2-40B4-BE49-F238E27FC236}">
                <a16:creationId xmlns:a16="http://schemas.microsoft.com/office/drawing/2014/main" id="{4C586BBC-5B46-4220-93D7-37F75E3006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BEE0FCD2-D2C3-408D-B16E-D841BA28619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9A6FA556-6F8D-4159-9CD0-C83BE3822DFD}"/>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64BBF73B-C82C-4B8D-9CB1-F402A5FFEFEE}"/>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AA1A9500-79FD-4E70-BB29-F8A6F927F2B0}"/>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E75D0132-6197-4CA6-8F20-E2A654B3DEF2}"/>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$87.22</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$102.84</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$121.00</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$96.64</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$118.00</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$142.41</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0D675393-E2F5-4C04-AFC2-587F74CA8B1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Mix and pricing assumptions are editable in the workbook.</a:t>
            </a:r>
          </a:p>
        </p:txBody>
      </p:sp>
    </p:spTree>
    <p:extLst>
      <p:ext uri="{BB962C8B-B14F-4D97-AF65-F5344CB8AC3E}">
        <p14:creationId xmlns:p14="http://schemas.microsoft.com/office/powerpoint/2010/main" val="1921658577"/>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BEB0474D-20B5-448A-BC4C-40A96FA9179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59A67776-F33D-4E6B-BFF6-6050A0AA6BD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EB05F6CD-184E-4898-9344-1687C020165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EE5EA087-F553-469D-A4DB-EE87D9883DF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sp>
        <p:nvSpPr>
          <p:cNvPr id="5" name="10,265">
            <a:extLst xmlns:a="http://schemas.openxmlformats.org/drawingml/2006/main">
              <a:ext uri="{FF2B5EF4-FFF2-40B4-BE49-F238E27FC236}">
                <a16:creationId xmlns:a16="http://schemas.microsoft.com/office/drawing/2014/main" id="{6FB5EDDE-9475-48B5-B348-1C1F2B0DEAEB}"/>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87CC82B5-B27F-4BC5-A780-172E026477F7}"/>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02F7A93A-2AD0-4575-A032-DEC302F04453}"/>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6B1C7069-FE16-4D13-BF7D-90D40593D39F}"/>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1A2DF26C-920A-404D-8B9C-1ECBBD924A3B}"/>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CF2E1053-3F9A-4680-B398-4433817611B5}"/>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8645A57D-61C4-4703-B5E0-27B5149DF91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39417149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9311AD31-10EE-4923-8544-D47AEDDB07D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FF23247B-2074-4901-8391-BC1EEEAF948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E610169D-AB25-41CD-A115-63A29450EFD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C00F62FA-6B87-4630-953C-9C1A6F9CA36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sp>
        <p:nvSpPr>
          <p:cNvPr id="5" name="1. Concentrated provider launch">
            <a:extLst xmlns:a="http://schemas.openxmlformats.org/drawingml/2006/main">
              <a:ext uri="{FF2B5EF4-FFF2-40B4-BE49-F238E27FC236}">
                <a16:creationId xmlns:a16="http://schemas.microsoft.com/office/drawing/2014/main" id="{FDEFE03F-C5FC-4E2F-8E27-77EDA208D394}"/>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4ABC3B35-C4D9-4C18-9C88-8296308E939D}"/>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C2AF28A8-4C8C-4338-944E-B36015110795}"/>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4909F7E9-2D41-41B9-BF7B-2078B03BA99A}"/>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1623A253-7798-4830-B379-8549D1EC7E38}"/>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67A41726-5B8C-48E2-B1A8-7DF9EA29763E}"/>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77AFBBEA-C836-49CE-A446-1160FC7E138E}"/>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D481326B-F81D-4634-BB2D-4D83C542D2C6}"/>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411390202"/>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243F38D0-309D-4006-9E7C-925ABC61F42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D5A05C2B-73EE-468E-9EE5-0B3265E4078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363FA6EF-E1CF-4BD8-B2B7-EFB8B3EBCB6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A653A519-4B98-4C0A-BF66-74008BBD796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sp>
        <p:nvSpPr>
          <p:cNvPr id="5" name="Product foundation">
            <a:extLst xmlns:a="http://schemas.openxmlformats.org/drawingml/2006/main">
              <a:ext uri="{FF2B5EF4-FFF2-40B4-BE49-F238E27FC236}">
                <a16:creationId xmlns:a16="http://schemas.microsoft.com/office/drawing/2014/main" id="{9D0B62B2-6BDA-4566-A2EF-78C84D91E63A}"/>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BB716BFA-0628-41A5-9D5A-1F68217BCAEE}"/>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CDB57170-4E17-4872-8D61-B195A1C6C80F}"/>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EC92A574-569F-4F57-A8D0-7D08611F49D6}"/>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8EF45561-B145-4518-A039-2FF21F966C7F}"/>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97BBFA75-30F8-4ADD-BC51-BB17DB1027A6}"/>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9B597D55-9110-420A-A65E-C862FC8BC8BB}"/>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10ED71C8-184E-45B4-B33D-5CB764BE82ED}"/>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539631783"/>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A8E21829-DC87-49A4-A026-AA629A97271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68DFAA8A-F78F-434E-91CF-822C23212D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6EE95D16-334B-427A-8C4F-536E48086F5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85B849C3-5111-4B9D-9525-1CE3536BD10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97E70862-C4FA-4BDF-A96A-D932875E9C2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822046439"/>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91DE7BA6-3B30-4727-9FA4-AFFCB11D915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A4962C1F-4280-4280-A772-F6378755E67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615C33FF-EB33-4D94-AF78-428F07C83DF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20CC9071-5124-49C2-8C3E-C1798E3A493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217ABA88-2A7B-4218-9BDB-ADE93FCF59E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82495975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A0649870-29FD-499A-859C-9170117E301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Recommendation: the landscaping company pays for a">
            <a:extLst xmlns:a="http://schemas.openxmlformats.org/drawingml/2006/main">
              <a:ext uri="{FF2B5EF4-FFF2-40B4-BE49-F238E27FC236}">
                <a16:creationId xmlns:a16="http://schemas.microsoft.com/office/drawing/2014/main" id="{7719817C-C36F-4CCF-AE73-BC8D7F8A726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the landscaping company pays for advanced team operations. Individual crew members pay $0.</a:t>
            </a:r>
          </a:p>
        </p:txBody>
      </p:sp>
      <p:sp>
        <p:nvSpPr>
          <p:cNvPr id="3" name="YardMatch">
            <a:extLst xmlns:a="http://schemas.openxmlformats.org/drawingml/2006/main">
              <a:ext uri="{FF2B5EF4-FFF2-40B4-BE49-F238E27FC236}">
                <a16:creationId xmlns:a16="http://schemas.microsoft.com/office/drawing/2014/main" id="{80CAC692-0F5D-4BFE-8F77-61E4E02C8FB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72E19246-3383-4D6A-84BE-44660839B51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Value for the business owner">
            <a:extLst xmlns:a="http://schemas.openxmlformats.org/drawingml/2006/main">
              <a:ext uri="{FF2B5EF4-FFF2-40B4-BE49-F238E27FC236}">
                <a16:creationId xmlns:a16="http://schemas.microsoft.com/office/drawing/2014/main" id="{F600ACC6-5106-4B42-B84B-A549B88C335A}"/>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0236569F-96BE-423D-BA7F-E361A8842FB7}"/>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CD34285F-B49F-42C1-B52E-6D980CFC6E00}"/>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F198A0C1-4086-46C0-84EA-D0140FA37A05}"/>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6C636052-AC62-4F2E-BDBC-3B1CC3878924}"/>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57D40B6E-F2B0-4189-B0E5-1E400DF34468}"/>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39DDC921-7ABE-438B-959E-CF47C9C672D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522691549"/>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D77B7CF0-C361-4005-B5B4-97B9585131B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B03B6197-5906-4E2D-A6E1-FF4C2333C7B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54BF0250-79DF-4F60-BD78-98333DB99F1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DDB051EA-C76C-4EE1-8E23-F41E2D5D179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45 finder fee and recurr">
            <a:extLst xmlns:a="http://schemas.openxmlformats.org/drawingml/2006/main">
              <a:ext uri="{FF2B5EF4-FFF2-40B4-BE49-F238E27FC236}">
                <a16:creationId xmlns:a16="http://schemas.microsoft.com/office/drawing/2014/main" id="{7F795B23-CDAC-4398-9FAF-763338AEBE1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$45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341581555"/>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add value after they reach scale">
            <a:extLst xmlns:a="http://schemas.openxmlformats.org/drawingml/2006/main">
              <a:ext uri="{FF2B5EF4-FFF2-40B4-BE49-F238E27FC236}">
                <a16:creationId xmlns:a16="http://schemas.microsoft.com/office/drawing/2014/main" id="{2C1D794C-18AC-4DE9-9CEE-8A5D3CE2F4B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add value after they reach scale</a:t>
            </a:r>
          </a:p>
        </p:txBody>
      </p:sp>
      <p:sp>
        <p:nvSpPr>
          <p:cNvPr id="2" name="Illustrative 2033 results using the same base hous">
            <a:extLst xmlns:a="http://schemas.openxmlformats.org/drawingml/2006/main">
              <a:ext uri="{FF2B5EF4-FFF2-40B4-BE49-F238E27FC236}">
                <a16:creationId xmlns:a16="http://schemas.microsoft.com/office/drawing/2014/main" id="{6FAE481F-4D9E-4721-9B3E-354382FA132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5C198835-3AB4-4BBA-AB8A-5E204C5FACE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05DC2A7D-AC13-455B-8847-2D18DF28DCA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$1.27m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$1.46m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$18.95m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$20.22m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$20.41m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$4.31m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$5.09m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$5.19m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$3.13m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$3.72m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$3.79m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2032</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FECE04DC-7B51-45E2-A5F3-5CD75259774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Together they add $875,453 of 2033 EBITDA after incremental costs. Early spending still increases cash needs. Adoption is unvalidated.</a:t>
            </a:r>
          </a:p>
        </p:txBody>
      </p:sp>
    </p:spTree>
    <p:extLst>
      <p:ext uri="{BB962C8B-B14F-4D97-AF65-F5344CB8AC3E}">
        <p14:creationId xmlns:p14="http://schemas.microsoft.com/office/powerpoint/2010/main" val="2118035413"/>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AAC9673E-0C2C-47C9-9216-2B16B35C0A0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5B6DE5DC-0BB3-4B45-99E3-2541C341A85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6BF9AB09-C41B-4F1F-9D8A-5BAEA8B0253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1CDAA749-A2E8-4820-86B7-78D229325A8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247D83BF-E854-4E11-BCAE-A181DD8D1A3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36 staff. Downside prices are 15% higher. All cases use the recommended $45 finder fee and recurring fee plus processing.</a:t>
            </a:r>
          </a:p>
        </p:txBody>
      </p:sp>
    </p:spTree>
    <p:extLst>
      <p:ext uri="{BB962C8B-B14F-4D97-AF65-F5344CB8AC3E}">
        <p14:creationId xmlns:p14="http://schemas.microsoft.com/office/powerpoint/2010/main" val="1224732657"/>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9.0m in 2033">
            <a:extLst xmlns:a="http://schemas.openxmlformats.org/drawingml/2006/main">
              <a:ext uri="{FF2B5EF4-FFF2-40B4-BE49-F238E27FC236}">
                <a16:creationId xmlns:a16="http://schemas.microsoft.com/office/drawing/2014/main" id="{0EAB1294-EEEA-4011-A0F4-02E3354F5CF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$19.0m in 2033</a:t>
            </a:r>
          </a:p>
        </p:txBody>
      </p:sp>
      <p:sp>
        <p:nvSpPr>
          <p:cNvPr id="2" name="Net marketplace revenue, US$ millions. Finder fees">
            <a:extLst xmlns:a="http://schemas.openxmlformats.org/drawingml/2006/main">
              <a:ext uri="{FF2B5EF4-FFF2-40B4-BE49-F238E27FC236}">
                <a16:creationId xmlns:a16="http://schemas.microsoft.com/office/drawing/2014/main" id="{A8D2C9A3-DDFC-4E3C-BBA0-7D5112B49CA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DD0FC76B-2924-4993-9207-C5C4CA60350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1B1D9AD4-FC9B-4102-800D-3B328CBC4AC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f3abd9c18afd43e4"/>
          </a:graphicData>
        </a:graphic>
      </p:graphicFrame>
      <p:sp>
        <p:nvSpPr>
          <p:cNvPr id="6" name="Base 2033: 292,448 year-end paying households, 3.8">
            <a:extLst xmlns:a="http://schemas.openxmlformats.org/drawingml/2006/main">
              <a:ext uri="{FF2B5EF4-FFF2-40B4-BE49-F238E27FC236}">
                <a16:creationId xmlns:a16="http://schemas.microsoft.com/office/drawing/2014/main" id="{A1449BF9-1A74-4035-819D-1A61BA55B7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3.83m paid jobs and $545.3m GMV. Revenue excludes GMV and processing passed through at cost.</a:t>
            </a:r>
          </a:p>
        </p:txBody>
      </p:sp>
    </p:spTree>
    <p:extLst>
      <p:ext uri="{BB962C8B-B14F-4D97-AF65-F5344CB8AC3E}">
        <p14:creationId xmlns:p14="http://schemas.microsoft.com/office/powerpoint/2010/main" val="271117133"/>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base turns profitable in 2032">
            <a:extLst xmlns:a="http://schemas.openxmlformats.org/drawingml/2006/main">
              <a:ext uri="{FF2B5EF4-FFF2-40B4-BE49-F238E27FC236}">
                <a16:creationId xmlns:a16="http://schemas.microsoft.com/office/drawing/2014/main" id="{5270CB99-4C9F-474C-9FE3-1EF82B4E41F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base turns profitable in 2032</a:t>
            </a:r>
          </a:p>
        </p:txBody>
      </p:sp>
      <p:sp>
        <p:nvSpPr>
          <p:cNvPr id="2" name="US$ millions. Recommended pricing; Stripe retained">
            <a:extLst xmlns:a="http://schemas.openxmlformats.org/drawingml/2006/main">
              <a:ext uri="{FF2B5EF4-FFF2-40B4-BE49-F238E27FC236}">
                <a16:creationId xmlns:a16="http://schemas.microsoft.com/office/drawing/2014/main" id="{A6B2B51F-7225-482B-86F3-BE6C38BF0CC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3A128A72-27E2-415C-8728-71718CB6E8D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3DE1CCD4-4EAF-4DBF-8ED0-DE1539D6D0D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$2.25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$5.42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$10.81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$18.95</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$8.51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$14.56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$1.48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$4.31</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$4.18</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$3.13</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$0.41</a:t>
                      </a:r>
                    </a:p>
                  </a:txBody>
                  <a:tcPr marL="91440" marR="91440" marT="45720" marB="45720" anchor="ctr">
                    <a:solidFill>
                      <a:srgbClr val="F7F5EF"/>
                    </a:solidFill>
                  </a:tcPr>
                </a:tc>
              </a:tr>
            </a:tbl>
          </a:graphicData>
        </a:graphic>
      </p:graphicFrame>
      <p:sp>
        <p:nvSpPr>
          <p:cNvPr id="6" name="2033 net income proxy: $3.13m. Free cash flow: $0.">
            <a:extLst xmlns:a="http://schemas.openxmlformats.org/drawingml/2006/main">
              <a:ext uri="{FF2B5EF4-FFF2-40B4-BE49-F238E27FC236}">
                <a16:creationId xmlns:a16="http://schemas.microsoft.com/office/drawing/2014/main" id="{16B86C35-114A-4B86-9AB0-B25D0E27F5D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$3.13m. Free cash flow: $0.41m. Annual cash remains negative through 2032 because growth also funds equipment and the risk reserve.</a:t>
            </a:r>
          </a:p>
        </p:txBody>
      </p:sp>
    </p:spTree>
    <p:extLst>
      <p:ext uri="{BB962C8B-B14F-4D97-AF65-F5344CB8AC3E}">
        <p14:creationId xmlns:p14="http://schemas.microsoft.com/office/powerpoint/2010/main" val="466870661"/>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810C7539-8E4D-41AB-A9F0-F02E0DD063E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82B67305-5694-4421-B433-063A902F42E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5CE866BB-03A8-4BEC-A1F9-BF3367DA63D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81D63C78-EFE7-42BC-BEE0-B1252A07B2D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$5.42m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$9.57m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($1.24)m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$1.88m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$3.55m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$18.95m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$39.11m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($1.77)m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$3.13m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$10.91m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2032</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Positive EBITDA arrives in 2031 in the upside and ">
            <a:extLst xmlns:a="http://schemas.openxmlformats.org/drawingml/2006/main">
              <a:ext uri="{FF2B5EF4-FFF2-40B4-BE49-F238E27FC236}">
                <a16:creationId xmlns:a16="http://schemas.microsoft.com/office/drawing/2014/main" id="{5146834C-58DE-45F5-BB62-B172AE9E437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Positive EBITDA arrives in 2031 in the upside and 2032 in the base; the downside remains negative through 2033. Provider fee acceptance and paid retention are critical.</a:t>
            </a:r>
          </a:p>
        </p:txBody>
      </p:sp>
    </p:spTree>
    <p:extLst>
      <p:ext uri="{BB962C8B-B14F-4D97-AF65-F5344CB8AC3E}">
        <p14:creationId xmlns:p14="http://schemas.microsoft.com/office/powerpoint/2010/main" val="947252838"/>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D3BA6786-60FA-4A17-84C2-478853B3205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D8397029-91F9-4AE2-9A3F-1179F440466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645BC52A-ECA0-4959-AF2B-C3FEE7E0232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648FD7A9-A75F-4FB5-87E9-19E32E76FE5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$69,306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($199,578)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$1,012,853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$462,147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74C0ED35-2CE0-4248-A4A3-D15EBEB2FC9C}"/>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B0870624-FB8D-49B4-A11E-23EAC4B5A388}"/>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4.80m">
            <a:extLst xmlns:a="http://schemas.openxmlformats.org/drawingml/2006/main">
              <a:ext uri="{FF2B5EF4-FFF2-40B4-BE49-F238E27FC236}">
                <a16:creationId xmlns:a16="http://schemas.microsoft.com/office/drawing/2014/main" id="{7AFD176A-575D-40B9-AB9F-F91FF980C3C6}"/>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$4.80m</a:t>
            </a:r>
          </a:p>
        </p:txBody>
      </p:sp>
      <p:sp>
        <p:nvSpPr>
          <p:cNvPr id="9" name="Peak cumulative cash deficit before financing unde">
            <a:extLst xmlns:a="http://schemas.openxmlformats.org/drawingml/2006/main">
              <a:ext uri="{FF2B5EF4-FFF2-40B4-BE49-F238E27FC236}">
                <a16:creationId xmlns:a16="http://schemas.microsoft.com/office/drawing/2014/main" id="{D79F1B1B-EE1D-4160-A0A9-B764C93C7A73}"/>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2.74m 2033 fixed-cost buffer gives $7.">
            <a:extLst xmlns:a="http://schemas.openxmlformats.org/drawingml/2006/main">
              <a:ext uri="{FF2B5EF4-FFF2-40B4-BE49-F238E27FC236}">
                <a16:creationId xmlns:a16="http://schemas.microsoft.com/office/drawing/2014/main" id="{37912296-FDB8-44A2-A4FC-8DC793CE156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$2.74m 2033 fixed-cost buffer gives $7.54m, before financing fees. The $1.5m round is an initial pilot illustration; follow-on capital would be needed.</a:t>
            </a:r>
          </a:p>
        </p:txBody>
      </p:sp>
    </p:spTree>
    <p:extLst>
      <p:ext uri="{BB962C8B-B14F-4D97-AF65-F5344CB8AC3E}">
        <p14:creationId xmlns:p14="http://schemas.microsoft.com/office/powerpoint/2010/main" val="1541252336"/>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6FE67F76-9085-4BE5-97E0-FB0FB22690A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C4C85B3C-1615-4583-A1E1-9EBE5A5EB6D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94F44CE8-3E4F-46AD-A40A-A0C23686BD5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0B564978-987B-469D-864A-66ED9968B40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994ED2AC-E395-454D-9538-51406AC6245B}"/>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FCA36ABD-AFF9-4ADC-AB49-069D16194B0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872437527"/>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5D9B2A60-9E63-4D11-A8C3-3AF081AED96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D317C9D7-7638-4273-838B-9EEFF21542E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11945A8E-1844-4FD7-9FDA-0EA567E65C7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ED77BFB8-9C80-4468-AEE0-B26F5145E27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$3.12m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$496,092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$506,221</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($983,236)</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($640,005)</a:t>
                      </a:r>
                    </a:p>
                  </a:txBody>
                  <a:tcPr marL="91440" marR="91440" marT="45720" marB="45720" anchor="ctr">
                    <a:solidFill>
                      <a:srgbClr val="E8EDDF"/>
                    </a:solidFill>
                  </a:tcPr>
                </a:tc>
              </a:tr>
            </a:tbl>
          </a:graphicData>
        </a:graphic>
      </p:graphicFrame>
      <p:sp>
        <p:nvSpPr>
          <p:cNvPr id="6" name="Annual retained savings first cover run costs in 2">
            <a:extLst xmlns:a="http://schemas.openxmlformats.org/drawingml/2006/main">
              <a:ext uri="{FF2B5EF4-FFF2-40B4-BE49-F238E27FC236}">
                <a16:creationId xmlns:a16="http://schemas.microsoft.com/office/drawing/2014/main" id="{A30FFD42-6738-430E-975D-D532566D156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Annual retained savings first cover run costs in 2032; neither option recovers the full investment by 2033. Gate a build on quoted costs and payback, not a calendar date.</a:t>
            </a:r>
          </a:p>
        </p:txBody>
      </p:sp>
    </p:spTree>
    <p:extLst>
      <p:ext uri="{BB962C8B-B14F-4D97-AF65-F5344CB8AC3E}">
        <p14:creationId xmlns:p14="http://schemas.microsoft.com/office/powerpoint/2010/main" val="169570172"/>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EFE03E6D-F2F5-437A-BBE4-25E68229FA5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911C8D76-36BE-4D57-A708-A6523EE8A53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C4DF3401-D852-4DDA-A4F3-4D10A88C7BD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27196F45-7E81-4A9B-82A5-415123687C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70516F9-64BF-41E9-8A86-2F756F284FD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2099278384"/>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0A8B0D7F-319C-4F15-A009-47639931A92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AD6EB31D-6A75-459F-B9D8-E67705E5D35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24BFA4C3-D16B-4E76-BF1E-FC1656D0A0D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E61D447A-587F-4E74-918D-AB1BDE268C1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298805F1-7810-4C3D-8F1A-5A844CB369F7}"/>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24D0FF6B-7633-4481-9EE3-27A2D401D6B7}"/>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315D1C81-72C1-4CEE-80D6-257B16B73CBC}"/>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269AA2DA-3037-4AB1-93E8-1DFB41735210}"/>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911A32CA-0B1D-40DC-8293-017428C656B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249699193"/>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B2A600C9-3EF7-413B-A6C9-9970D34D9A8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544D0F5B-4E5E-4771-995C-7BE5097A43E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785C2147-705B-4342-9A6B-17D3861016F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C7ACA73F-84FC-46E3-A6BC-FB40C19A168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31A533E4-E5D5-4D2D-BB4D-C05AF36B7EE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759600830"/>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5A7CDA41-83BD-497A-8398-F449B3C82CF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EB93D9F4-7E7A-44EE-81F3-5D4F57243D0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DC6D16B4-CFE8-48F7-B1AB-5D32EABA282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DEE9E186-0422-4F59-881F-963282A1456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sp>
        <p:nvSpPr>
          <p:cNvPr id="5" name="Households and paid visits">
            <a:extLst xmlns:a="http://schemas.openxmlformats.org/drawingml/2006/main">
              <a:ext uri="{FF2B5EF4-FFF2-40B4-BE49-F238E27FC236}">
                <a16:creationId xmlns:a16="http://schemas.microsoft.com/office/drawing/2014/main" id="{B83FB3FE-2210-4D5F-9F18-5B1ACCAC6C9A}"/>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8B770A31-28B1-4FCA-AFE6-0D720B379E23}"/>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71683825-20D1-420D-8409-2D51B3FF5896}"/>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4 per repeat job aft">
            <a:extLst xmlns:a="http://schemas.openxmlformats.org/drawingml/2006/main">
              <a:ext uri="{FF2B5EF4-FFF2-40B4-BE49-F238E27FC236}">
                <a16:creationId xmlns:a16="http://schemas.microsoft.com/office/drawing/2014/main" id="{A0491F4B-0C9B-4C2D-942F-07CBD787ED2A}"/>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$2.04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233281A7-04ED-4664-A831-33F5D65640EF}"/>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6471D86B-66EA-484C-A700-6B19302D7D5E}"/>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7DDE1BE7-44F4-4796-99BC-81E067A95F2D}"/>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6 of five-year contri">
            <a:extLst xmlns:a="http://schemas.openxmlformats.org/drawingml/2006/main">
              <a:ext uri="{FF2B5EF4-FFF2-40B4-BE49-F238E27FC236}">
                <a16:creationId xmlns:a16="http://schemas.microsoft.com/office/drawing/2014/main" id="{AF4E432E-3339-42D4-BD78-B7A24C3386D7}"/>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$146 of five-year contribution versus $35 CAC, or 4.2x. This assumes retention and unchanged cohort economics.</a:t>
            </a:r>
          </a:p>
        </p:txBody>
      </p:sp>
    </p:spTree>
    <p:extLst>
      <p:ext uri="{BB962C8B-B14F-4D97-AF65-F5344CB8AC3E}">
        <p14:creationId xmlns:p14="http://schemas.microsoft.com/office/powerpoint/2010/main" val="1069675322"/>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A70CAA71-3ED6-4D1D-9C7A-5005C6F04AE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B74A6FE0-DD3E-4869-83D1-44331C98F41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26282FCE-111F-4A3C-8018-8742D380038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1C879B31-3A08-405B-9664-1705537FEFA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sp>
        <p:nvSpPr>
          <p:cNvPr id="5" name="Company materials">
            <a:extLst xmlns:a="http://schemas.openxmlformats.org/drawingml/2006/main">
              <a:ext uri="{FF2B5EF4-FFF2-40B4-BE49-F238E27FC236}">
                <a16:creationId xmlns:a16="http://schemas.microsoft.com/office/drawing/2014/main" id="{CF2A367E-24CC-4EE9-97EE-A68995D87C89}"/>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9D235CE5-7CBF-4675-BF6C-3D7C693A08B0}"/>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48A32799-E3F2-403E-9A42-6C8FDB6AF61F}"/>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CE224589-F78D-4A0D-8F72-A6E225571776}"/>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a023b3909844c74"/>
              </a:rPr>
              <a:t>Stripe Payments pricing</a:t>
            </a:r>
          </a:p>
        </p:txBody>
      </p:sp>
      <p:sp>
        <p:nvSpPr>
          <p:cNvPr id="9" name="Stripe Connect pricing">
            <a:extLst xmlns:a="http://schemas.openxmlformats.org/drawingml/2006/main">
              <a:ext uri="{FF2B5EF4-FFF2-40B4-BE49-F238E27FC236}">
                <a16:creationId xmlns:a16="http://schemas.microsoft.com/office/drawing/2014/main" id="{9E1DC7CC-14B3-42A5-BF5A-7647CB923907}"/>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bccf673bdd954cab"/>
              </a:rPr>
              <a:t>Stripe Connect pricing</a:t>
            </a:r>
          </a:p>
        </p:txBody>
      </p:sp>
      <p:sp>
        <p:nvSpPr>
          <p:cNvPr id="10" name="Stripe Financial Connections">
            <a:extLst xmlns:a="http://schemas.openxmlformats.org/drawingml/2006/main">
              <a:ext uri="{FF2B5EF4-FFF2-40B4-BE49-F238E27FC236}">
                <a16:creationId xmlns:a16="http://schemas.microsoft.com/office/drawing/2014/main" id="{F62BC144-B4EB-49CC-847E-A83144B0DDED}"/>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bf8a0497bab24352"/>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25432CC3-A71F-4923-A442-231A9D3FFC1F}"/>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a12128cc7c94221"/>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C19A3EAE-2005-4EC2-8EED-62598C3C0B7F}"/>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7df627ec6c344515"/>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AC98CD26-1555-463E-9042-3A73D44068AF}"/>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cfa023be81149d7"/>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AD98AD05-6F95-4E18-89C8-8704FA51961A}"/>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7a31af8fc1b84815"/>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C89F47EB-2DCE-4277-935E-4ACDC2D340EF}"/>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96214f42b5e4a54"/>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3D94212A-FBF6-41EF-BDB9-5AFFA8BD5593}"/>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9628bb1121f48e0"/>
              </a:rPr>
              <a:t>Census QuickFacts: Barnegat</a:t>
            </a:r>
          </a:p>
        </p:txBody>
      </p:sp>
      <p:sp>
        <p:nvSpPr>
          <p:cNvPr id="17" name="Jobber: software pricing">
            <a:extLst xmlns:a="http://schemas.openxmlformats.org/drawingml/2006/main">
              <a:ext uri="{FF2B5EF4-FFF2-40B4-BE49-F238E27FC236}">
                <a16:creationId xmlns:a16="http://schemas.microsoft.com/office/drawing/2014/main" id="{C258AC64-73DA-4EB1-8105-E93183D21457}"/>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f9198710d7ea4989"/>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A4821D74-080F-4475-8D53-20BFB2B395FF}"/>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2ed7ca139fa4f73"/>
              </a:rPr>
              <a:t>Zocdoc: Sponsored Results cost</a:t>
            </a:r>
          </a:p>
        </p:txBody>
      </p:sp>
      <p:sp>
        <p:nvSpPr>
          <p:cNvPr id="19" name="Stripe Billing pricing">
            <a:extLst xmlns:a="http://schemas.openxmlformats.org/drawingml/2006/main">
              <a:ext uri="{FF2B5EF4-FFF2-40B4-BE49-F238E27FC236}">
                <a16:creationId xmlns:a16="http://schemas.microsoft.com/office/drawing/2014/main" id="{C5046F35-9A92-41D9-9E90-CA3B51DA9102}"/>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3f9d05f6f554290"/>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CC8EF5D5-7090-4FAD-A9BD-6831259A141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438223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2026-09-20T23:27:59.2180000Z</dcterms:created>
  <dcterms:modified xsi:type="dcterms:W3CDTF">2026-09-20T23:27:59.2180000Z</dcterms:modified>
</coreProperties>
</file>