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1.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26b32e778414a6e" /><Relationship Type="http://schemas.openxmlformats.org/officeDocument/2006/relationships/extended-properties" Target="/docProps/app.xml" Id="R59df363b3ec74d70" /><Relationship Type="http://schemas.openxmlformats.org/officeDocument/2006/relationships/officeDocument" Target="/ppt/presentation.xml" Id="R01870863f827492a" /></Relationships>
</file>

<file path=ppt/presentation.xml><?xml version="1.0" encoding="utf-8"?>
<p:presentation xmlns:p="http://schemas.openxmlformats.org/presentationml/2006/main">
  <p:sldMasterIdLst>
    <p:sldMasterId xmlns:r="http://schemas.openxmlformats.org/officeDocument/2006/relationships" id="2147483648" r:id="R41e0499814774282"/>
  </p:sldMasterIdLst>
  <p:notesMasterIdLst>
    <p:notesMasterId xmlns:r="http://schemas.openxmlformats.org/officeDocument/2006/relationships" r:id="R4ff56e2f3d984623"/>
  </p:notesMasterIdLst>
  <p:sldIdLst>
    <p:sldId xmlns:r="http://schemas.openxmlformats.org/officeDocument/2006/relationships" id="256" r:id="R3abd785291d84eb9"/>
    <p:sldId xmlns:r="http://schemas.openxmlformats.org/officeDocument/2006/relationships" id="257" r:id="R4424a71c5d3442a8"/>
    <p:sldId xmlns:r="http://schemas.openxmlformats.org/officeDocument/2006/relationships" id="258" r:id="R5e2e997ab6514ee5"/>
    <p:sldId xmlns:r="http://schemas.openxmlformats.org/officeDocument/2006/relationships" id="259" r:id="R7846a90c91b74258"/>
    <p:sldId xmlns:r="http://schemas.openxmlformats.org/officeDocument/2006/relationships" id="260" r:id="R2d68c2be0b894c85"/>
    <p:sldId xmlns:r="http://schemas.openxmlformats.org/officeDocument/2006/relationships" id="261" r:id="R651fa9553e4b4545"/>
    <p:sldId xmlns:r="http://schemas.openxmlformats.org/officeDocument/2006/relationships" id="262" r:id="Rec0bce33824a47bf"/>
    <p:sldId xmlns:r="http://schemas.openxmlformats.org/officeDocument/2006/relationships" id="263" r:id="R84533292b8824950"/>
    <p:sldId xmlns:r="http://schemas.openxmlformats.org/officeDocument/2006/relationships" id="264" r:id="R48ab29780edf4b74"/>
    <p:sldId xmlns:r="http://schemas.openxmlformats.org/officeDocument/2006/relationships" id="265" r:id="R16b90b0d06f84ca4"/>
    <p:sldId xmlns:r="http://schemas.openxmlformats.org/officeDocument/2006/relationships" id="266" r:id="Rd5cde69bbe184a2d"/>
    <p:sldId xmlns:r="http://schemas.openxmlformats.org/officeDocument/2006/relationships" id="267" r:id="R3beff1eb7d744620"/>
    <p:sldId xmlns:r="http://schemas.openxmlformats.org/officeDocument/2006/relationships" id="268" r:id="Reb870879944843be"/>
    <p:sldId xmlns:r="http://schemas.openxmlformats.org/officeDocument/2006/relationships" id="269" r:id="R62cd75c2283c4870"/>
    <p:sldId xmlns:r="http://schemas.openxmlformats.org/officeDocument/2006/relationships" id="270" r:id="R3b489e571e634125"/>
    <p:sldId xmlns:r="http://schemas.openxmlformats.org/officeDocument/2006/relationships" id="271" r:id="R79da43613f5844d8"/>
    <p:sldId xmlns:r="http://schemas.openxmlformats.org/officeDocument/2006/relationships" id="272" r:id="R4292a5e9e45c4368"/>
    <p:sldId xmlns:r="http://schemas.openxmlformats.org/officeDocument/2006/relationships" id="273" r:id="Rd49f99096cfe4f59"/>
    <p:sldId xmlns:r="http://schemas.openxmlformats.org/officeDocument/2006/relationships" id="274" r:id="Rad9965e1e2ed474d"/>
    <p:sldId xmlns:r="http://schemas.openxmlformats.org/officeDocument/2006/relationships" id="275" r:id="Ra80e8c2647054518"/>
    <p:sldId xmlns:r="http://schemas.openxmlformats.org/officeDocument/2006/relationships" id="276" r:id="R5769faaa5e81443c"/>
    <p:sldId xmlns:r="http://schemas.openxmlformats.org/officeDocument/2006/relationships" id="277" r:id="Rf94ece94edeb44ae"/>
    <p:sldId xmlns:r="http://schemas.openxmlformats.org/officeDocument/2006/relationships" id="278" r:id="R367f099b7f094e01"/>
    <p:sldId xmlns:r="http://schemas.openxmlformats.org/officeDocument/2006/relationships" id="279" r:id="R4ee787a98f7b4d5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2977249c92841ba" /><Relationship Type="http://schemas.openxmlformats.org/officeDocument/2006/relationships/slideMaster" Target="/ppt/slideMasters/slideMaster1.xml" Id="R41e0499814774282" /><Relationship Type="http://schemas.openxmlformats.org/officeDocument/2006/relationships/notesMaster" Target="/ppt/notesMasters/notesMaster1.xml" Id="R4ff56e2f3d984623" /><Relationship Type="http://schemas.openxmlformats.org/officeDocument/2006/relationships/presProps" Target="/ppt/presProps.xml" Id="Rba378a16c9fd459e" /><Relationship Type="http://schemas.openxmlformats.org/officeDocument/2006/relationships/tableStyles" Target="/ppt/tableStyles.xml" Id="Raa2d6fc96e62447a" /><Relationship Type="http://schemas.openxmlformats.org/officeDocument/2006/relationships/slide" Target="/ppt/slides/slide1.xml" Id="R3abd785291d84eb9" /><Relationship Type="http://schemas.openxmlformats.org/officeDocument/2006/relationships/slide" Target="/ppt/slides/slide2.xml" Id="R4424a71c5d3442a8" /><Relationship Type="http://schemas.openxmlformats.org/officeDocument/2006/relationships/slide" Target="/ppt/slides/slide3.xml" Id="R5e2e997ab6514ee5" /><Relationship Type="http://schemas.openxmlformats.org/officeDocument/2006/relationships/slide" Target="/ppt/slides/slide4.xml" Id="R7846a90c91b74258" /><Relationship Type="http://schemas.openxmlformats.org/officeDocument/2006/relationships/slide" Target="/ppt/slides/slide5.xml" Id="R2d68c2be0b894c85" /><Relationship Type="http://schemas.openxmlformats.org/officeDocument/2006/relationships/slide" Target="/ppt/slides/slide6.xml" Id="R651fa9553e4b4545" /><Relationship Type="http://schemas.openxmlformats.org/officeDocument/2006/relationships/slide" Target="/ppt/slides/slide7.xml" Id="Rec0bce33824a47bf" /><Relationship Type="http://schemas.openxmlformats.org/officeDocument/2006/relationships/slide" Target="/ppt/slides/slide8.xml" Id="R84533292b8824950" /><Relationship Type="http://schemas.openxmlformats.org/officeDocument/2006/relationships/slide" Target="/ppt/slides/slide9.xml" Id="R48ab29780edf4b74" /><Relationship Type="http://schemas.openxmlformats.org/officeDocument/2006/relationships/slide" Target="/ppt/slides/slide10.xml" Id="R16b90b0d06f84ca4" /><Relationship Type="http://schemas.openxmlformats.org/officeDocument/2006/relationships/slide" Target="/ppt/slides/slide11.xml" Id="Rd5cde69bbe184a2d" /><Relationship Type="http://schemas.openxmlformats.org/officeDocument/2006/relationships/slide" Target="/ppt/slides/slide12.xml" Id="R3beff1eb7d744620" /><Relationship Type="http://schemas.openxmlformats.org/officeDocument/2006/relationships/slide" Target="/ppt/slides/slide13.xml" Id="Reb870879944843be" /><Relationship Type="http://schemas.openxmlformats.org/officeDocument/2006/relationships/slide" Target="/ppt/slides/slide14.xml" Id="R62cd75c2283c4870" /><Relationship Type="http://schemas.openxmlformats.org/officeDocument/2006/relationships/slide" Target="/ppt/slides/slide15.xml" Id="R3b489e571e634125" /><Relationship Type="http://schemas.openxmlformats.org/officeDocument/2006/relationships/slide" Target="/ppt/slides/slide16.xml" Id="R79da43613f5844d8" /><Relationship Type="http://schemas.openxmlformats.org/officeDocument/2006/relationships/slide" Target="/ppt/slides/slide17.xml" Id="R4292a5e9e45c4368" /><Relationship Type="http://schemas.openxmlformats.org/officeDocument/2006/relationships/slide" Target="/ppt/slides/slide18.xml" Id="Rd49f99096cfe4f59" /><Relationship Type="http://schemas.openxmlformats.org/officeDocument/2006/relationships/slide" Target="/ppt/slides/slide19.xml" Id="Rad9965e1e2ed474d" /><Relationship Type="http://schemas.openxmlformats.org/officeDocument/2006/relationships/slide" Target="/ppt/slides/slide20.xml" Id="Ra80e8c2647054518" /><Relationship Type="http://schemas.openxmlformats.org/officeDocument/2006/relationships/slide" Target="/ppt/slides/slide21.xml" Id="R5769faaa5e81443c" /><Relationship Type="http://schemas.openxmlformats.org/officeDocument/2006/relationships/slide" Target="/ppt/slides/slide22.xml" Id="Rf94ece94edeb44ae" /><Relationship Type="http://schemas.openxmlformats.org/officeDocument/2006/relationships/slide" Target="/ppt/slides/slide23.xml" Id="R367f099b7f094e01" /><Relationship Type="http://schemas.openxmlformats.org/officeDocument/2006/relationships/slide" Target="/ppt/slides/slide24.xml" Id="R4ee787a98f7b4d5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94b2644ee3c4b9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055772122e8420a" /><Relationship Type="http://schemas.openxmlformats.org/officeDocument/2006/relationships/notesMaster" Target="/ppt/notesMasters/notesMaster1.xml" Id="Rd80100f6720a4fb8" /></Relationships>
</file>

<file path=ppt/notesSlides/_rels/notesSlide2.xml.rels>&#65279;<?xml version="1.0" encoding="utf-8"?><Relationships xmlns="http://schemas.openxmlformats.org/package/2006/relationships"><Relationship Type="http://schemas.openxmlformats.org/officeDocument/2006/relationships/slide" Target="/ppt/slides/slide2.xml" Id="Rf8e982010f324f1d" /><Relationship Type="http://schemas.openxmlformats.org/officeDocument/2006/relationships/notesMaster" Target="/ppt/notesMasters/notesMaster1.xml" Id="R6ae5237e0fbd4eb1" /></Relationships>
</file>

<file path=ppt/notesSlides/_rels/notesSlide3.xml.rels>&#65279;<?xml version="1.0" encoding="utf-8"?><Relationships xmlns="http://schemas.openxmlformats.org/package/2006/relationships"><Relationship Type="http://schemas.openxmlformats.org/officeDocument/2006/relationships/slide" Target="/ppt/slides/slide3.xml" Id="R1ab69058620843f5" /><Relationship Type="http://schemas.openxmlformats.org/officeDocument/2006/relationships/notesMaster" Target="/ppt/notesMasters/notesMaster1.xml" Id="Re69dad6788fb4e84" /></Relationships>
</file>

<file path=ppt/notesSlides/_rels/notesSlide4.xml.rels>&#65279;<?xml version="1.0" encoding="utf-8"?><Relationships xmlns="http://schemas.openxmlformats.org/package/2006/relationships"><Relationship Type="http://schemas.openxmlformats.org/officeDocument/2006/relationships/slide" Target="/ppt/slides/slide4.xml" Id="R4732d85a97ab47f6" /><Relationship Type="http://schemas.openxmlformats.org/officeDocument/2006/relationships/notesMaster" Target="/ppt/notesMasters/notesMaster1.xml" Id="Rf5ada6cf695f4ee7" /></Relationships>
</file>

<file path=ppt/notesSlides/_rels/notesSlide5.xml.rels>&#65279;<?xml version="1.0" encoding="utf-8"?><Relationships xmlns="http://schemas.openxmlformats.org/package/2006/relationships"><Relationship Type="http://schemas.openxmlformats.org/officeDocument/2006/relationships/slide" Target="/ppt/slides/slide5.xml" Id="R4fdee3b0c1024091" /><Relationship Type="http://schemas.openxmlformats.org/officeDocument/2006/relationships/notesMaster" Target="/ppt/notesMasters/notesMaster1.xml" Id="R3858a54fc63145c2" /></Relationships>
</file>

<file path=ppt/notesSlides/_rels/notesSlide6.xml.rels>&#65279;<?xml version="1.0" encoding="utf-8"?><Relationships xmlns="http://schemas.openxmlformats.org/package/2006/relationships"><Relationship Type="http://schemas.openxmlformats.org/officeDocument/2006/relationships/slide" Target="/ppt/slides/slide6.xml" Id="Rb2ffadc0417342db" /><Relationship Type="http://schemas.openxmlformats.org/officeDocument/2006/relationships/notesMaster" Target="/ppt/notesMasters/notesMaster1.xml" Id="Rb50dcaa9ee60446d" /></Relationships>
</file>

<file path=ppt/notesSlides/_rels/notesSlide7.xml.rels>&#65279;<?xml version="1.0" encoding="utf-8"?><Relationships xmlns="http://schemas.openxmlformats.org/package/2006/relationships"><Relationship Type="http://schemas.openxmlformats.org/officeDocument/2006/relationships/slide" Target="/ppt/slides/slide7.xml" Id="R30a39423861e445f" /><Relationship Type="http://schemas.openxmlformats.org/officeDocument/2006/relationships/notesMaster" Target="/ppt/notesMasters/notesMaster1.xml" Id="R87cb47c1bc9246b0" /></Relationships>
</file>

<file path=ppt/notesSlides/_rels/notesSlide8.xml.rels>&#65279;<?xml version="1.0" encoding="utf-8"?><Relationships xmlns="http://schemas.openxmlformats.org/package/2006/relationships"><Relationship Type="http://schemas.openxmlformats.org/officeDocument/2006/relationships/slide" Target="/ppt/slides/slide8.xml" Id="R23174d1a4709497a" /><Relationship Type="http://schemas.openxmlformats.org/officeDocument/2006/relationships/notesMaster" Target="/ppt/notesMasters/notesMaster1.xml" Id="R53dbe02347724eb6" /></Relationships>
</file>

<file path=ppt/notesSlides/_rels/notesSlide9.xml.rels>&#65279;<?xml version="1.0" encoding="utf-8"?><Relationships xmlns="http://schemas.openxmlformats.org/package/2006/relationships"><Relationship Type="http://schemas.openxmlformats.org/officeDocument/2006/relationships/slide" Target="/ppt/slides/slide9.xml" Id="R9f98e80403784b02" /><Relationship Type="http://schemas.openxmlformats.org/officeDocument/2006/relationships/notesMaster" Target="/ppt/notesMasters/notesMaster1.xml" Id="Rfcebec3867724c7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6014c15653c4642" /><Relationship Type="http://schemas.openxmlformats.org/officeDocument/2006/relationships/notesMaster" Target="/ppt/notesMasters/notesMaster1.xml" Id="R622f1b7c77d747f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41dc75218404b4e" /><Relationship Type="http://schemas.openxmlformats.org/officeDocument/2006/relationships/notesMaster" Target="/ppt/notesMasters/notesMaster1.xml" Id="Rf41c7e1af95f478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c7d7c23b7e24df3" /><Relationship Type="http://schemas.openxmlformats.org/officeDocument/2006/relationships/notesMaster" Target="/ppt/notesMasters/notesMaster1.xml" Id="R77adfc6b3c0841c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163d6ecbf184878" /><Relationship Type="http://schemas.openxmlformats.org/officeDocument/2006/relationships/notesMaster" Target="/ppt/notesMasters/notesMaster1.xml" Id="R730b82ade8c3483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60084f12bd14224" /><Relationship Type="http://schemas.openxmlformats.org/officeDocument/2006/relationships/notesMaster" Target="/ppt/notesMasters/notesMaster1.xml" Id="R90d8731bfd9c49f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9d9b984f1fa4041" /><Relationship Type="http://schemas.openxmlformats.org/officeDocument/2006/relationships/notesMaster" Target="/ppt/notesMasters/notesMaster1.xml" Id="R6da6ae8c2b884fc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3cf2d5c857b404a" /><Relationship Type="http://schemas.openxmlformats.org/officeDocument/2006/relationships/notesMaster" Target="/ppt/notesMasters/notesMaster1.xml" Id="R433bf67fcd72488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a451f4f5a7c4623" /><Relationship Type="http://schemas.openxmlformats.org/officeDocument/2006/relationships/notesMaster" Target="/ppt/notesMasters/notesMaster1.xml" Id="R967ef6245a9745d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3ac4651d0404991" /><Relationship Type="http://schemas.openxmlformats.org/officeDocument/2006/relationships/notesMaster" Target="/ppt/notesMasters/notesMaster1.xml" Id="R9154d9b8d7fd498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fdc45e8b2334277" /><Relationship Type="http://schemas.openxmlformats.org/officeDocument/2006/relationships/notesMaster" Target="/ppt/notesMasters/notesMaster1.xml" Id="Rf4e0e96297e44a7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860c4725d3f467d" /><Relationship Type="http://schemas.openxmlformats.org/officeDocument/2006/relationships/notesMaster" Target="/ppt/notesMasters/notesMaster1.xml" Id="R2643461e4f7b4e7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3a6d11b7af84573" /><Relationship Type="http://schemas.openxmlformats.org/officeDocument/2006/relationships/notesMaster" Target="/ppt/notesMasters/notesMaster1.xml" Id="Rbc6e8fc2e1694dd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9165423da924404" /><Relationship Type="http://schemas.openxmlformats.org/officeDocument/2006/relationships/notesMaster" Target="/ppt/notesMasters/notesMaster1.xml" Id="R2f4a6fc553f1413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1927e9f383b4211" /><Relationship Type="http://schemas.openxmlformats.org/officeDocument/2006/relationships/notesMaster" Target="/ppt/notesMasters/notesMaster1.xml" Id="R9ee91a9250a5482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a2a91b134d145eb" /><Relationship Type="http://schemas.openxmlformats.org/officeDocument/2006/relationships/notesMaster" Target="/ppt/notesMasters/notesMaster1.xml" Id="Rc2c384cc85f64d4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Investor discussion draft. September 20, 2026. Source: YardMatch-Barnegat-Partner-Pitch.pdf, September 2026, pages 1-9. Product illustrations and sample data are conceptual, not commercial traction. Source: YardMatch-Investor-Model.xlsx, assumptions and formula-driven Operating model, prepared September 20, 2026. All 2027-2033 figures are illustrative forecasts, not actuals or promises. US dollars. No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 YardMatch-Investor-Model.xlsx, assumptions and formula-driven Operating model, prepared September 20, 2026. All 2027-2033 figures are illustrative forecasts, not actuals or promises. US dollars. No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Customer and provider problems are product hypotheses, not survey findings.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Map is conceptual. No measured route savings or density effect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Patrick instructions September 20, 2026: provider pays $2.99 per completed service. Source: YardMatch-Investor-Model.xlsx, assumptions and formula-driven Operating model, prepared September 20, 2026. All 2027-2033 figures are illustrative forecasts, not actuals or promises. US dollars. No commercial actuals supplied. $45 once per new relationship. One welcome finder-fee waiver per new provider.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checked September 20, 2026: https://www.zocdoc.com/provider-help/en/articles/10859404-understanding-zocdoc-pricing-and-billing . Discovery versus reputation bookings, one-time new patient/provider connection fee. Not every new-doctor booking is chargeable. YardMatch behavior is a planning hypothesis. Source: YardMatch-Barnegat-Partner-Pitch.pdf, September 2026, pages 1-9. Product illustrations and sample data are conceptual, not commercial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September 20, 2026: https://stripe.com/pricing ; https://stripe.com/connect/pricing ; https://support.stripe.com/questions/monetizing-payments-with-stripe-connect ; https://stripe.com/financial-connections . US domestic card and platform-controlled Connect assumptions. Exact commercial account terms require confirmation. Source: YardMatch-Investor-Model.xlsx, assumptions and formula-driven Operating model, prepared September 20, 2026. All 2027-2033 figures are illustrative forecasts, not actuals or promises. US dollars. No commercial actuals supplied. Uses 2031 Base volume to allocate account and payout-count costs. Includes payout volume fees, support, infrastructure and loss allowance. ACH cap applied per transaction. No first-job finder fee included.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New Service mix schedule. Starting prices: $60, $85, $120, $300, $1,000. Base maintenance visits 20: 60% basic, 30% bundled, 10% expanded. Separate cleanup projects 0.60 and large projects 0.03 per full-season household. New households get half-year exposure. One combined visit is one fee.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Neighborhood multipliers 1.00 / 1.15 / 1.30, with 2027 shares 70% / 25% / 5% and 2033 shares 55% / 35% / 10%. Property multipliers 1.00 / 1.35 / 1.80, shares 70% / 25% / 5% in 2027 and 60% / 30% / 10% in 2033. Independent distributions compound. Maintenance mix ends 45% basic / 40% bundled / 15% expanded. Project frequency reaches 1.00 cleanup and 0.08 larger project. Same ACH, completion and capture rates across categories.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 Census Bureau QuickFacts, Barnegat township, Ocean County, New Jersey, 2020-2024 estimates. https://www.census.gov/quickfacts/fact/table/barnegattownshipoceancountynewjersey/SBO010223 . 10,265 households and 88.0% owner occupancy. Households with lawn-care demand are a subset, not measured here. Source: YardMatch-Investor-Model.xlsx, assumptions and formula-driven Operating model, prepared September 20, 2026. All 2027-2033 figures are illustrative forecasts, not actuals or promises. US dollars. No commercial actuals supplied. Approximate owner households = 10,265 * 88% = 9,033.2. 500 / 9,033.2 = 5.5%. This is an upper-envelope denominator, not a lawn-care TAM.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 YardMatch-Investor-Model.xlsx, assumptions and formula-driven Operating model, prepared September 20, 2026. All 2027-2033 figures are illustrative forecasts, not actuals or promises. US dollars. No commercial actuals supplied. These are proposed experiments and decision gates, not completed milestones.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Sources: repository README.md, ROADMAP.md and docs/agent-status/engineer.md, reviewed September 20, 2026. Local engineering checkpoint evidence is not independent production verification. No founder biography or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These effects are hypotheses, not measured network effects or proven competitive advantages.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New households enter halfway through the season. Annual household retention applies before the next service season. Cases share one formula-driven build.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Revenue is finder fees after welcome waivers plus completed paid jobs * $2.99. Charts are editable snapshots of the Base model, not a live workbook 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EBITDA excludes depreciation, interest and taxes. EBIT includes equipment depreciation. Net income proxy uses an illustrative 25% tax on positive EBIT with no NOL benefit. Free cash flow includes equipment capex and a 1% annual-GMV restricted risk cash assumption.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No probability weights are assigned. Upside is a target case, not a forecast with validated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Financing illustration: $1.5m gross less $25k transaction expenses. Model opens with zero cash. 2027-2028 budget recalculates from the revised job mix. A finite pilot must repair unit economics before growth funding. Annual model does not establish exact monthly runway.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Patrick instruction: 70% to Patrick, 30% to other initial owners, then dilute per round. Assumes new share issuance, no secondary sales or convertible instruments.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Equity proceeds arithmetic only. No exit multiple or transaction probability assumed. Initial price implies $6m pre-money and $7.5m post-money. These valuations are not supported by comparable transactions or an agreed term sheet. Equity value assumes distributable proceeds with no senior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Proposed validation gates, not achieved results. Figures chosen as operating test thresholds rather than claimed industry benchmarks.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Cohort calculation is undiscounted, five-year contribution using 2031 base economics. No customer lifetime value has been observed.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Sources checked September 20, 2026: https://stripe.com/pricing ; https://stripe.com/connect/pricing ; https://support.stripe.com/questions/monetizing-payments-with-stripe-connect ; https://stripe.com/financial-connections . US domestic card and platform-controlled Connect assumptions. Exact commercial account terms require confirmation. Source checked September 20, 2026: https://www.zocdoc.com/provider-help/en/articles/10859404-understanding-zocdoc-pricing-and-billing . Discovery versus reputation bookings, one-time new patient/provider connection fee. Not every new-doctor booking is chargeable. YardMatch behavior is a planning hypothesis. Source: US Census Bureau QuickFacts, Barnegat township, Ocean County, New Jersey, 2020-2024 estimates. https://www.census.gov/quickfacts/fact/table/barnegattownshipoceancountynewjersey/SBO010223 . 10,265 households and 88.0% owner occupancy. Households with lawn-care demand are a subset, not measured here. Source: YardMatch-Investor-Model.xlsx, assumptions and formula-driven Operating model, prepared September 20, 2026. All 2027-2033 figures are illustrative forecasts, not actuals or promises. US dollars. No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57b93f6d50446f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46f824d91bc467f" /><Relationship Type="http://schemas.openxmlformats.org/officeDocument/2006/relationships/slideLayout" Target="/ppt/slideLayouts/slideLayout1.xml" Id="R040c23ee17ec40d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40c23ee17ec40d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b55168679014b47" /><Relationship Type="http://schemas.openxmlformats.org/officeDocument/2006/relationships/image" Target="/ppt/media/image.png" Id="R7fb6eec7decf4be7" /><Relationship Type="http://schemas.openxmlformats.org/officeDocument/2006/relationships/notesSlide" Target="/ppt/notesSlides/notesSlide1.xml" Id="Rde1c5528ace54c0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a1361b8aed443d1" /><Relationship Type="http://schemas.openxmlformats.org/officeDocument/2006/relationships/notesSlide" Target="/ppt/notesSlides/notesSlide2.xml" Id="Rf3e730faed214f4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8318fefcc52462c" /><Relationship Type="http://schemas.openxmlformats.org/officeDocument/2006/relationships/notesSlide" Target="/ppt/notesSlides/notesSlide3.xml" Id="Rdf64b2abeee349d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21bdaf47a494385" /><Relationship Type="http://schemas.openxmlformats.org/officeDocument/2006/relationships/image" Target="/ppt/media/image2.png" Id="Red97749ab5f9457a" /><Relationship Type="http://schemas.openxmlformats.org/officeDocument/2006/relationships/notesSlide" Target="/ppt/notesSlides/notesSlide4.xml" Id="R17c2d0a1934e47c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a8fb55c55314ee4" /><Relationship Type="http://schemas.openxmlformats.org/officeDocument/2006/relationships/image" Target="/ppt/media/image3.png" Id="Rf09a060d1d514863" /><Relationship Type="http://schemas.openxmlformats.org/officeDocument/2006/relationships/notesSlide" Target="/ppt/notesSlides/notesSlide5.xml" Id="R77edb43d93ff410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80adbeeec9944ac" /><Relationship Type="http://schemas.openxmlformats.org/officeDocument/2006/relationships/notesSlide" Target="/ppt/notesSlides/notesSlide6.xml" Id="R4dfeaec319ff42d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0d0e9d33fd742b4" /><Relationship Type="http://schemas.openxmlformats.org/officeDocument/2006/relationships/notesSlide" Target="/ppt/notesSlides/notesSlide7.xml" Id="R32852202ecd6476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0e87464da1948e6" /><Relationship Type="http://schemas.openxmlformats.org/officeDocument/2006/relationships/notesSlide" Target="/ppt/notesSlides/notesSlide8.xml" Id="R1e5c1c307e574d0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52601c2092144bd" /><Relationship Type="http://schemas.openxmlformats.org/officeDocument/2006/relationships/notesSlide" Target="/ppt/notesSlides/notesSlide9.xml" Id="R7370db8aa63f4ad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5a7e7c8eac2495e" /><Relationship Type="http://schemas.openxmlformats.org/officeDocument/2006/relationships/notesSlide" Target="/ppt/notesSlides/notesSlide10.xml" Id="R410b2b6cefd945e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9b26538ab64404b" /><Relationship Type="http://schemas.openxmlformats.org/officeDocument/2006/relationships/notesSlide" Target="/ppt/notesSlides/notesSlide11.xml" Id="Rc63688c8953a489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4846c7aa7d04b42" /><Relationship Type="http://schemas.openxmlformats.org/officeDocument/2006/relationships/notesSlide" Target="/ppt/notesSlides/notesSlide12.xml" Id="Rd0b4ecfeeb21442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084286b481d40fe" /><Relationship Type="http://schemas.openxmlformats.org/officeDocument/2006/relationships/notesSlide" Target="/ppt/notesSlides/notesSlide13.xml" Id="R54bf5f0dd1d0472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6d27c892842467b" /><Relationship Type="http://schemas.openxmlformats.org/officeDocument/2006/relationships/notesSlide" Target="/ppt/notesSlides/notesSlide14.xml" Id="R818844e78adc4ab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12f44939ea94b2a" /><Relationship Type="http://schemas.openxmlformats.org/officeDocument/2006/relationships/notesSlide" Target="/ppt/notesSlides/notesSlide15.xml" Id="R2c5b3e9affac495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175ef83d016482f" /><Relationship Type="http://schemas.openxmlformats.org/officeDocument/2006/relationships/chart" Target="/ppt/slides/charts/chart1.xml" Id="R4bf6faa301e44051" /><Relationship Type="http://schemas.openxmlformats.org/officeDocument/2006/relationships/notesSlide" Target="/ppt/notesSlides/notesSlide16.xml" Id="R236c1151642642a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7dead1682204324" /><Relationship Type="http://schemas.openxmlformats.org/officeDocument/2006/relationships/notesSlide" Target="/ppt/notesSlides/notesSlide17.xml" Id="R6ec63c2fefcf411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88ab192afbe4d5c" /><Relationship Type="http://schemas.openxmlformats.org/officeDocument/2006/relationships/notesSlide" Target="/ppt/notesSlides/notesSlide18.xml" Id="Rd0d1397564bf4dc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55d1e34d6d54976" /><Relationship Type="http://schemas.openxmlformats.org/officeDocument/2006/relationships/notesSlide" Target="/ppt/notesSlides/notesSlide19.xml" Id="R70a64cfceeab40b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8d9ad6724461437b" /><Relationship Type="http://schemas.openxmlformats.org/officeDocument/2006/relationships/notesSlide" Target="/ppt/notesSlides/notesSlide20.xml" Id="R802c43e0f74a49a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d876f51f608a42dd" /><Relationship Type="http://schemas.openxmlformats.org/officeDocument/2006/relationships/notesSlide" Target="/ppt/notesSlides/notesSlide21.xml" Id="Rb5ca629fbd7848a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b84b40ebf9c94a37" /><Relationship Type="http://schemas.openxmlformats.org/officeDocument/2006/relationships/notesSlide" Target="/ppt/notesSlides/notesSlide22.xml" Id="R35704b0f323444a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897455c491094d6b" /><Relationship Type="http://schemas.openxmlformats.org/officeDocument/2006/relationships/notesSlide" Target="/ppt/notesSlides/notesSlide23.xml" Id="Ra5ec304266f0460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44f541e4c0714918" /><Relationship Type="http://schemas.openxmlformats.org/officeDocument/2006/relationships/hyperlink" Target="https://stripe.com/pricing" TargetMode="External" Id="Ra1d93748b8674c3b" /><Relationship Type="http://schemas.openxmlformats.org/officeDocument/2006/relationships/hyperlink" Target="https://stripe.com/connect/pricing" TargetMode="External" Id="R2bf20f16569e44a2" /><Relationship Type="http://schemas.openxmlformats.org/officeDocument/2006/relationships/hyperlink" Target="https://stripe.com/financial-connections" TargetMode="External" Id="Re86e3525824f4a53" /><Relationship Type="http://schemas.openxmlformats.org/officeDocument/2006/relationships/hyperlink" Target="https://www.zocdoc.com/provider-help/en/articles/10859404-understanding-zocdoc-pricing-and-billing" TargetMode="External" Id="Rc9844d8af52c4047" /><Relationship Type="http://schemas.openxmlformats.org/officeDocument/2006/relationships/hyperlink" Target="https://www.census.gov/quickfacts/fact/table/barnegattownshipoceancountynewjersey/SBO010223" TargetMode="External" Id="Rb67baae67fd04cb5" /><Relationship Type="http://schemas.openxmlformats.org/officeDocument/2006/relationships/notesSlide" Target="/ppt/notesSlides/notesSlide24.xml" Id="R1a2bf3fe3416489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Finder fees after waivers</c:v>
          </c:tx>
          <c:spPr>
            <a:solidFill xmlns:a="http://schemas.openxmlformats.org/drawingml/2006/main">
              <a:srgbClr val="8EAA79"/>
            </a:solidFill>
          </c:spPr>
          <c:cat>
            <c:numRef>
              <c:f>'Chart Data'!$A$2:$A$8</c:f>
              <c:numCache>
                <c:formatCode>General</c:formatCode>
                <c:ptCount val="7"/>
                <c:pt idx="0">
                  <c:v>2027</c:v>
                </c:pt>
                <c:pt idx="1">
                  <c:v>2028</c:v>
                </c:pt>
                <c:pt idx="2">
                  <c:v>2029</c:v>
                </c:pt>
                <c:pt idx="3">
                  <c:v>2030</c:v>
                </c:pt>
                <c:pt idx="4">
                  <c:v>2031</c:v>
                </c:pt>
                <c:pt idx="5">
                  <c:v>2032</c:v>
                </c:pt>
                <c:pt idx="6">
                  <c:v>2033</c:v>
                </c:pt>
              </c:numCache>
            </c:numRef>
          </c:cat>
          <c:val>
            <c:numRef>
              <c:f>'Chart Data'!$B$2:$B$8</c:f>
              <c:numCache>
                <c:formatCode>$0.0</c:formatCode>
                <c:ptCount val="7"/>
                <c:pt idx="0">
                  <c:v>0.0216</c:v>
                </c:pt>
                <c:pt idx="1">
                  <c:v>0.110025</c:v>
                </c:pt>
                <c:pt idx="2">
                  <c:v>0.395199</c:v>
                </c:pt>
                <c:pt idx="3">
                  <c:v>1.097737</c:v>
                </c:pt>
                <c:pt idx="4">
                  <c:v>2.41504</c:v>
                </c:pt>
                <c:pt idx="5">
                  <c:v>4.392119</c:v>
                </c:pt>
                <c:pt idx="6">
                  <c:v>7.029277</c:v>
                </c:pt>
              </c:numCache>
            </c:numRef>
          </c:val>
        </c:ser>
        <c:ser>
          <c:idx val="1"/>
          <c:order val="1"/>
          <c:tx>
            <c:v>Service fees</c:v>
          </c:tx>
          <c:spPr>
            <a:solidFill xmlns:a="http://schemas.openxmlformats.org/drawingml/2006/main">
              <a:srgbClr val="205938"/>
            </a:solidFill>
          </c:spPr>
          <c:cat>
            <c:numRef>
              <c:f>'Chart Data'!$C$2:$C$8</c:f>
              <c:numCache>
                <c:formatCode>General</c:formatCode>
                <c:ptCount val="7"/>
                <c:pt idx="0">
                  <c:v>2027</c:v>
                </c:pt>
                <c:pt idx="1">
                  <c:v>2028</c:v>
                </c:pt>
                <c:pt idx="2">
                  <c:v>2029</c:v>
                </c:pt>
                <c:pt idx="3">
                  <c:v>2030</c:v>
                </c:pt>
                <c:pt idx="4">
                  <c:v>2031</c:v>
                </c:pt>
                <c:pt idx="5">
                  <c:v>2032</c:v>
                </c:pt>
                <c:pt idx="6">
                  <c:v>2033</c:v>
                </c:pt>
              </c:numCache>
            </c:numRef>
          </c:cat>
          <c:val>
            <c:numRef>
              <c:f>'Chart Data'!$D$2:$D$8</c:f>
              <c:numCache>
                <c:formatCode>$0.0</c:formatCode>
                <c:ptCount val="7"/>
                <c:pt idx="0">
                  <c:v>0.013185</c:v>
                </c:pt>
                <c:pt idx="1">
                  <c:v>0.084711</c:v>
                </c:pt>
                <c:pt idx="2">
                  <c:v>0.352604</c:v>
                </c:pt>
                <c:pt idx="3">
                  <c:v>1.129864</c:v>
                </c:pt>
                <c:pt idx="4">
                  <c:v>2.91481</c:v>
                </c:pt>
                <c:pt idx="5">
                  <c:v>6.205359</c:v>
                </c:pt>
                <c:pt idx="6">
                  <c:v>11.448809</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85"/>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8EDDF"/>
            </a:solidFill>
          </a:ln>
        </c:spPr>
        <c:txPr>
          <a:bodyPr xmlns:a="http://schemas.openxmlformats.org/drawingml/2006/main" anchorCtr="1"/>
          <a:lstStyle xmlns:a="http://schemas.openxmlformats.org/drawingml/2006/main"/>
          <a:p xmlns:a="http://schemas.openxmlformats.org/drawingml/2006/main">
            <a:pPr>
              <a:defRPr sz="1350">
                <a:solidFill>
                  <a:srgbClr val="14281D"/>
                </a:solidFill>
                <a:latin typeface="Arial"/>
                <a:ea typeface="Arial"/>
                <a:cs typeface="Arial"/>
              </a:defRPr>
            </a:pPr>
          </a:p>
        </c:txPr>
        <c:crossAx val="48672768"/>
      </c:catAx>
      <c:valAx>
        <c:axId val="48672768"/>
        <c:scaling>
          <c:orientation val="minMax"/>
          <c:max val="20"/>
          <c:min val="0"/>
        </c:scaling>
        <c:delete val="0"/>
        <c:axPos val="l"/>
        <c:majorGridlines>
          <c:spPr>
            <a:ln xmlns:a="http://schemas.openxmlformats.org/drawingml/2006/main" w="9525">
              <a:solidFill>
                <a:srgbClr val="D9DFD5"/>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756A"/>
                </a:solidFill>
                <a:latin typeface="Arial"/>
                <a:ea typeface="Arial"/>
                <a:cs typeface="Arial"/>
              </a:defRPr>
            </a:pPr>
          </a:p>
        </c:txPr>
        <c:crossAx val="48650112"/>
        <c:crossBetween val="between"/>
        <c:majorUnit val="5"/>
      </c:valAx>
      <c:spPr>
        <a:solidFill xmlns:a="http://schemas.openxmlformats.org/drawingml/2006/main">
          <a:srgbClr val="F7F5E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14281D"/>
              </a:solidFill>
              <a:latin typeface="Arial"/>
              <a:ea typeface="Arial"/>
              <a:cs typeface="Arial"/>
            </a:defRPr>
          </a:pPr>
        </a:p>
      </c:txPr>
    </c:legend>
    <c:plotVisOnly val="1"/>
  </c:chart>
  <c:spPr>
    <a:solidFill xmlns:a="http://schemas.openxmlformats.org/drawingml/2006/main">
      <a:srgbClr val="F7F5E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YardMatch">
            <a:extLst xmlns:a="http://schemas.openxmlformats.org/drawingml/2006/main">
              <a:ext uri="{FF2B5EF4-FFF2-40B4-BE49-F238E27FC236}">
                <a16:creationId xmlns:a16="http://schemas.microsoft.com/office/drawing/2014/main" id="{234041FB-5E44-4AA8-9E0F-4578F1BE2AED}"/>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2" name="01">
            <a:extLst xmlns:a="http://schemas.openxmlformats.org/drawingml/2006/main">
              <a:ext uri="{FF2B5EF4-FFF2-40B4-BE49-F238E27FC236}">
                <a16:creationId xmlns:a16="http://schemas.microsoft.com/office/drawing/2014/main" id="{B488D183-412B-4206-80B1-59063A21F887}"/>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7fb6eec7decf4be7"/>
          <a:stretch xmlns:a="http://schemas.openxmlformats.org/drawingml/2006/main"/>
        </p:blipFill>
        <p:spPr>
          <a:xfrm xmlns:a="http://schemas.openxmlformats.org/drawingml/2006/main">
            <a:off x="552450" y="461963"/>
            <a:ext cx="4714875" cy="1571625"/>
          </a:xfrm>
          <a:prstGeom xmlns:a="http://schemas.openxmlformats.org/drawingml/2006/main" prst="rect">
            <a:avLst/>
          </a:prstGeom>
        </p:spPr>
      </p:pic>
      <p:sp>
        <p:nvSpPr>
          <p:cNvPr id="4" name="Investing in YardMatch">
            <a:extLst xmlns:a="http://schemas.openxmlformats.org/drawingml/2006/main">
              <a:ext uri="{FF2B5EF4-FFF2-40B4-BE49-F238E27FC236}">
                <a16:creationId xmlns:a16="http://schemas.microsoft.com/office/drawing/2014/main" id="{83E96469-52CF-4021-BA8C-22D0AD19727C}"/>
              </a:ext>
            </a:extLst>
          </p:cNvPr>
          <p:cNvSpPr>
            <a:spLocks xmlns:a="http://schemas.openxmlformats.org/drawingml/2006/main" noGrp="1"/>
          </p:cNvSpPr>
          <p:nvPr/>
        </p:nvSpPr>
        <p:spPr>
          <a:xfrm xmlns:a="http://schemas.openxmlformats.org/drawingml/2006/main">
            <a:off x="609600" y="2466975"/>
            <a:ext cx="10572750"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0">
                <a:solidFill>
                  <a:srgbClr val="205938"/>
                </a:solidFill>
                <a:latin typeface="Georgia"/>
                <a:ea typeface="Georgia"/>
                <a:cs typeface="Georgia"/>
              </a:defRPr>
            </a:pPr>
            <a:r>
              <a:rPr sz="5100" b="0">
                <a:solidFill>
                  <a:srgbClr val="205938"/>
                </a:solidFill>
                <a:latin typeface="Georgia"/>
                <a:ea typeface="Georgia"/>
                <a:cs typeface="Georgia"/>
              </a:rPr>
              <a:t>Investing in YardMatch</a:t>
            </a:r>
          </a:p>
        </p:txBody>
      </p:sp>
      <p:sp>
        <p:nvSpPr>
          <p:cNvPr id="5" name="A managed marketplace for homeowners and local ser">
            <a:extLst xmlns:a="http://schemas.openxmlformats.org/drawingml/2006/main">
              <a:ext uri="{FF2B5EF4-FFF2-40B4-BE49-F238E27FC236}">
                <a16:creationId xmlns:a16="http://schemas.microsoft.com/office/drawing/2014/main" id="{8A286262-9D9A-4D86-8B09-DE1D66C8DEB5}"/>
              </a:ext>
            </a:extLst>
          </p:cNvPr>
          <p:cNvSpPr>
            <a:spLocks xmlns:a="http://schemas.openxmlformats.org/drawingml/2006/main" noGrp="1"/>
          </p:cNvSpPr>
          <p:nvPr/>
        </p:nvSpPr>
        <p:spPr>
          <a:xfrm xmlns:a="http://schemas.openxmlformats.org/drawingml/2006/main">
            <a:off x="647700" y="4552950"/>
            <a:ext cx="9715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4281D"/>
                </a:solidFill>
                <a:latin typeface="Arial"/>
                <a:ea typeface="Arial"/>
                <a:cs typeface="Arial"/>
              </a:defRPr>
            </a:pPr>
            <a:r>
              <a:rPr sz="2100" b="0">
                <a:solidFill>
                  <a:srgbClr val="14281D"/>
                </a:solidFill>
                <a:latin typeface="Arial"/>
                <a:ea typeface="Arial"/>
                <a:cs typeface="Arial"/>
              </a:rPr>
              <a:t>A managed marketplace for homeowners and local service businesses</a:t>
            </a:r>
          </a:p>
        </p:txBody>
      </p:sp>
      <p:sp>
        <p:nvSpPr>
          <p:cNvPr id="6" name="Investor discussion draft&#10;September 2026">
            <a:extLst xmlns:a="http://schemas.openxmlformats.org/drawingml/2006/main">
              <a:ext uri="{FF2B5EF4-FFF2-40B4-BE49-F238E27FC236}">
                <a16:creationId xmlns:a16="http://schemas.microsoft.com/office/drawing/2014/main" id="{8D41A556-DA64-4021-9516-5E930AC35B70}"/>
              </a:ext>
            </a:extLst>
          </p:cNvPr>
          <p:cNvSpPr>
            <a:spLocks xmlns:a="http://schemas.openxmlformats.org/drawingml/2006/main" noGrp="1"/>
          </p:cNvSpPr>
          <p:nvPr/>
        </p:nvSpPr>
        <p:spPr>
          <a:xfrm xmlns:a="http://schemas.openxmlformats.org/drawingml/2006/main">
            <a:off x="647700" y="5505450"/>
            <a:ext cx="7429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66756A"/>
                </a:solidFill>
                <a:latin typeface="Arial"/>
                <a:ea typeface="Arial"/>
                <a:cs typeface="Arial"/>
              </a:defRPr>
            </a:pPr>
            <a:r>
              <a:rPr sz="1500" b="0">
                <a:solidFill>
                  <a:srgbClr val="66756A"/>
                </a:solidFill>
                <a:latin typeface="Arial"/>
                <a:ea typeface="Arial"/>
                <a:cs typeface="Arial"/>
              </a:rPr>
              <a:t>Investor discussion draft</a:t>
            </a:r>
          </a:p>
          <a:p xmlns:a="http://schemas.openxmlformats.org/drawingml/2006/main">
            <a:pPr algn="l">
              <a:defRPr sz="1500" b="0">
                <a:solidFill>
                  <a:srgbClr val="66756A"/>
                </a:solidFill>
                <a:latin typeface="Arial"/>
                <a:ea typeface="Arial"/>
                <a:cs typeface="Arial"/>
              </a:defRPr>
            </a:pPr>
            <a:r>
              <a:rPr sz="1500" b="0">
                <a:solidFill>
                  <a:srgbClr val="66756A"/>
                </a:solidFill>
                <a:latin typeface="Arial"/>
                <a:ea typeface="Arial"/>
                <a:cs typeface="Arial"/>
              </a:rPr>
              <a:t>September 2026</a:t>
            </a:r>
          </a:p>
        </p:txBody>
      </p:sp>
    </p:spTree>
    <p:extLst>
      <p:ext uri="{BB962C8B-B14F-4D97-AF65-F5344CB8AC3E}">
        <p14:creationId xmlns:p14="http://schemas.microsoft.com/office/powerpoint/2010/main" val="1104926586"/>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The investment thesis">
            <a:extLst xmlns:a="http://schemas.openxmlformats.org/drawingml/2006/main">
              <a:ext uri="{FF2B5EF4-FFF2-40B4-BE49-F238E27FC236}">
                <a16:creationId xmlns:a16="http://schemas.microsoft.com/office/drawing/2014/main" id="{BB4170CD-FE07-4D12-AB82-950C36ABF519}"/>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investment thesis</a:t>
            </a:r>
          </a:p>
        </p:txBody>
      </p:sp>
      <p:sp>
        <p:nvSpPr>
          <p:cNvPr id="2" name="Own a share of the company that helps local servic">
            <a:extLst xmlns:a="http://schemas.openxmlformats.org/drawingml/2006/main">
              <a:ext uri="{FF2B5EF4-FFF2-40B4-BE49-F238E27FC236}">
                <a16:creationId xmlns:a16="http://schemas.microsoft.com/office/drawing/2014/main" id="{870EDAEC-C828-4268-96A2-46513F908D73}"/>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Own a share of the company that helps local service relationships form and continue.</a:t>
            </a:r>
          </a:p>
        </p:txBody>
      </p:sp>
      <p:sp>
        <p:nvSpPr>
          <p:cNvPr id="3" name="YardMatch">
            <a:extLst xmlns:a="http://schemas.openxmlformats.org/drawingml/2006/main">
              <a:ext uri="{FF2B5EF4-FFF2-40B4-BE49-F238E27FC236}">
                <a16:creationId xmlns:a16="http://schemas.microsoft.com/office/drawing/2014/main" id="{13ED7D4B-ED7D-4599-B617-F8458726EDD4}"/>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2">
            <a:extLst xmlns:a="http://schemas.openxmlformats.org/drawingml/2006/main">
              <a:ext uri="{FF2B5EF4-FFF2-40B4-BE49-F238E27FC236}">
                <a16:creationId xmlns:a16="http://schemas.microsoft.com/office/drawing/2014/main" id="{984CC35F-95A2-4BD2-A584-5FEA493A3CD7}"/>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02</a:t>
            </a:r>
          </a:p>
        </p:txBody>
      </p:sp>
      <p:sp>
        <p:nvSpPr>
          <p:cNvPr id="5" name="A useful first transaction">
            <a:extLst xmlns:a="http://schemas.openxmlformats.org/drawingml/2006/main">
              <a:ext uri="{FF2B5EF4-FFF2-40B4-BE49-F238E27FC236}">
                <a16:creationId xmlns:a16="http://schemas.microsoft.com/office/drawing/2014/main" id="{6F299C86-96F9-45D6-9A01-56794F07AA51}"/>
              </a:ext>
            </a:extLst>
          </p:cNvPr>
          <p:cNvSpPr>
            <a:spLocks xmlns:a="http://schemas.openxmlformats.org/drawingml/2006/main" noGrp="1"/>
          </p:cNvSpPr>
          <p:nvPr/>
        </p:nvSpPr>
        <p:spPr>
          <a:xfrm xmlns:a="http://schemas.openxmlformats.org/drawingml/2006/main">
            <a:off x="628650" y="2495550"/>
            <a:ext cx="4972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 useful first transaction</a:t>
            </a:r>
          </a:p>
        </p:txBody>
      </p:sp>
      <p:sp>
        <p:nvSpPr>
          <p:cNvPr id="6" name="A qualified recommendation helps a homeowner book ">
            <a:extLst xmlns:a="http://schemas.openxmlformats.org/drawingml/2006/main">
              <a:ext uri="{FF2B5EF4-FFF2-40B4-BE49-F238E27FC236}">
                <a16:creationId xmlns:a16="http://schemas.microsoft.com/office/drawing/2014/main" id="{65A6432B-FF70-4229-9F14-5189517E94C9}"/>
              </a:ext>
            </a:extLst>
          </p:cNvPr>
          <p:cNvSpPr>
            <a:spLocks xmlns:a="http://schemas.openxmlformats.org/drawingml/2006/main" noGrp="1"/>
          </p:cNvSpPr>
          <p:nvPr/>
        </p:nvSpPr>
        <p:spPr>
          <a:xfrm xmlns:a="http://schemas.openxmlformats.org/drawingml/2006/main">
            <a:off x="628650" y="3019425"/>
            <a:ext cx="49720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A qualified recommendation helps a homeowner book and gives a provider a new customer.</a:t>
            </a:r>
          </a:p>
        </p:txBody>
      </p:sp>
      <p:sp>
        <p:nvSpPr>
          <p:cNvPr id="7" name="An ongoing reason to return">
            <a:extLst xmlns:a="http://schemas.openxmlformats.org/drawingml/2006/main">
              <a:ext uri="{FF2B5EF4-FFF2-40B4-BE49-F238E27FC236}">
                <a16:creationId xmlns:a16="http://schemas.microsoft.com/office/drawing/2014/main" id="{EF69F73F-E848-4CBE-8C95-47E09861EE5A}"/>
              </a:ext>
            </a:extLst>
          </p:cNvPr>
          <p:cNvSpPr>
            <a:spLocks xmlns:a="http://schemas.openxmlformats.org/drawingml/2006/main" noGrp="1"/>
          </p:cNvSpPr>
          <p:nvPr/>
        </p:nvSpPr>
        <p:spPr>
          <a:xfrm xmlns:a="http://schemas.openxmlformats.org/drawingml/2006/main">
            <a:off x="6381750" y="249555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An ongoing reason to return</a:t>
            </a:r>
          </a:p>
        </p:txBody>
      </p:sp>
      <p:sp>
        <p:nvSpPr>
          <p:cNvPr id="8" name="Schedules, service history, arrival updates and is">
            <a:extLst xmlns:a="http://schemas.openxmlformats.org/drawingml/2006/main">
              <a:ext uri="{FF2B5EF4-FFF2-40B4-BE49-F238E27FC236}">
                <a16:creationId xmlns:a16="http://schemas.microsoft.com/office/drawing/2014/main" id="{B6B6668A-8C56-4821-977D-93A995F06401}"/>
              </a:ext>
            </a:extLst>
          </p:cNvPr>
          <p:cNvSpPr>
            <a:spLocks xmlns:a="http://schemas.openxmlformats.org/drawingml/2006/main" noGrp="1"/>
          </p:cNvSpPr>
          <p:nvPr/>
        </p:nvSpPr>
        <p:spPr>
          <a:xfrm xmlns:a="http://schemas.openxmlformats.org/drawingml/2006/main">
            <a:off x="6381750" y="3019425"/>
            <a:ext cx="4953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Schedules, service history, arrival updates and issue resolution keep later visits connected.</a:t>
            </a:r>
          </a:p>
        </p:txBody>
      </p:sp>
      <p:sp>
        <p:nvSpPr>
          <p:cNvPr id="9" name="The opportunity depends on profitable repeat use">
            <a:extLst xmlns:a="http://schemas.openxmlformats.org/drawingml/2006/main">
              <a:ext uri="{FF2B5EF4-FFF2-40B4-BE49-F238E27FC236}">
                <a16:creationId xmlns:a16="http://schemas.microsoft.com/office/drawing/2014/main" id="{412AFBAF-87E9-42C4-A1DA-43D80907F50C}"/>
              </a:ext>
            </a:extLst>
          </p:cNvPr>
          <p:cNvSpPr>
            <a:spLocks xmlns:a="http://schemas.openxmlformats.org/drawingml/2006/main" noGrp="1"/>
          </p:cNvSpPr>
          <p:nvPr/>
        </p:nvSpPr>
        <p:spPr>
          <a:xfrm xmlns:a="http://schemas.openxmlformats.org/drawingml/2006/main">
            <a:off x="628650" y="4581525"/>
            <a:ext cx="10715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205938"/>
                </a:solidFill>
                <a:latin typeface="Arial"/>
                <a:ea typeface="Arial"/>
                <a:cs typeface="Arial"/>
              </a:defRPr>
            </a:pPr>
            <a:r>
              <a:rPr sz="2475" b="1">
                <a:solidFill>
                  <a:srgbClr val="205938"/>
                </a:solidFill>
                <a:latin typeface="Arial"/>
                <a:ea typeface="Arial"/>
                <a:cs typeface="Arial"/>
              </a:rPr>
              <a:t>The opportunity depends on profitable repeat use</a:t>
            </a:r>
          </a:p>
        </p:txBody>
      </p:sp>
      <p:sp>
        <p:nvSpPr>
          <p:cNvPr id="10" name="The broader service mix exposes a pricing gap at $">
            <a:extLst xmlns:a="http://schemas.openxmlformats.org/drawingml/2006/main">
              <a:ext uri="{FF2B5EF4-FFF2-40B4-BE49-F238E27FC236}">
                <a16:creationId xmlns:a16="http://schemas.microsoft.com/office/drawing/2014/main" id="{4FB336CE-78A9-47CB-8FEA-8F2905EAEECC}"/>
              </a:ext>
            </a:extLst>
          </p:cNvPr>
          <p:cNvSpPr>
            <a:spLocks xmlns:a="http://schemas.openxmlformats.org/drawingml/2006/main" noGrp="1"/>
          </p:cNvSpPr>
          <p:nvPr/>
        </p:nvSpPr>
        <p:spPr>
          <a:xfrm xmlns:a="http://schemas.openxmlformats.org/drawingml/2006/main">
            <a:off x="628650" y="5181600"/>
            <a:ext cx="10477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4281D"/>
                </a:solidFill>
                <a:latin typeface="Arial"/>
                <a:ea typeface="Arial"/>
                <a:cs typeface="Arial"/>
              </a:defRPr>
            </a:pPr>
            <a:r>
              <a:rPr sz="1950" b="0">
                <a:solidFill>
                  <a:srgbClr val="14281D"/>
                </a:solidFill>
                <a:latin typeface="Arial"/>
                <a:ea typeface="Arial"/>
                <a:cs typeface="Arial"/>
              </a:rPr>
              <a:t>The broader service mix exposes a pricing gap at $2.99. A local pilot must validate contribution before the company funds expansion.</a:t>
            </a:r>
          </a:p>
        </p:txBody>
      </p:sp>
      <p:sp>
        <p:nvSpPr>
          <p:cNvPr id="11" name="Investment hypothesis. The model does not assume s">
            <a:extLst xmlns:a="http://schemas.openxmlformats.org/drawingml/2006/main">
              <a:ext uri="{FF2B5EF4-FFF2-40B4-BE49-F238E27FC236}">
                <a16:creationId xmlns:a16="http://schemas.microsoft.com/office/drawing/2014/main" id="{C69A79B6-8C2F-4259-A7E1-B5CFD6C87721}"/>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Investment hypothesis. The model does not assume subscriptions, advertising or repeated finder fees from the same relationship.</a:t>
            </a:r>
          </a:p>
        </p:txBody>
      </p:sp>
    </p:spTree>
    <p:extLst>
      <p:ext uri="{BB962C8B-B14F-4D97-AF65-F5344CB8AC3E}">
        <p14:creationId xmlns:p14="http://schemas.microsoft.com/office/powerpoint/2010/main" val="1287446652"/>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Booking is only the start of the work">
            <a:extLst xmlns:a="http://schemas.openxmlformats.org/drawingml/2006/main">
              <a:ext uri="{FF2B5EF4-FFF2-40B4-BE49-F238E27FC236}">
                <a16:creationId xmlns:a16="http://schemas.microsoft.com/office/drawing/2014/main" id="{5FE74702-D052-4903-9FC0-D2C389037908}"/>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Booking is only the start of the work</a:t>
            </a:r>
          </a:p>
        </p:txBody>
      </p:sp>
      <p:sp>
        <p:nvSpPr>
          <p:cNvPr id="2" name="YardMatch connects the customer request to the pro">
            <a:extLst xmlns:a="http://schemas.openxmlformats.org/drawingml/2006/main">
              <a:ext uri="{FF2B5EF4-FFF2-40B4-BE49-F238E27FC236}">
                <a16:creationId xmlns:a16="http://schemas.microsoft.com/office/drawing/2014/main" id="{19DC927D-6546-4C28-B8D8-26D08318EB56}"/>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YardMatch connects the customer request to the provider’s schedule and the crew’s actual visit.</a:t>
            </a:r>
          </a:p>
        </p:txBody>
      </p:sp>
      <p:sp>
        <p:nvSpPr>
          <p:cNvPr id="3" name="YardMatch">
            <a:extLst xmlns:a="http://schemas.openxmlformats.org/drawingml/2006/main">
              <a:ext uri="{FF2B5EF4-FFF2-40B4-BE49-F238E27FC236}">
                <a16:creationId xmlns:a16="http://schemas.microsoft.com/office/drawing/2014/main" id="{3A59E9B7-432C-4DBB-BEF2-84F36CD91672}"/>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3">
            <a:extLst xmlns:a="http://schemas.openxmlformats.org/drawingml/2006/main">
              <a:ext uri="{FF2B5EF4-FFF2-40B4-BE49-F238E27FC236}">
                <a16:creationId xmlns:a16="http://schemas.microsoft.com/office/drawing/2014/main" id="{C9010D4E-0756-40A4-A69D-3F5CF7C6966D}"/>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03</a:t>
            </a:r>
          </a:p>
        </p:txBody>
      </p:sp>
      <p:graphicFrame>
        <p:nvGraphicFramePr>
          <p:cNvPr id="11" name=""/>
          <p:cNvGraphicFramePr/>
          <p:nvPr/>
        </p:nvGraphicFramePr>
        <p:xfrm>
          <a:off xmlns:a="http://schemas.openxmlformats.org/drawingml/2006/main" x="609600" y="2352675"/>
          <a:ext xmlns:a="http://schemas.openxmlformats.org/drawingml/2006/main" cx="10972800" cy="3209925"/>
        </p:xfrm>
        <a:graphic xmlns:a="http://schemas.openxmlformats.org/drawingml/2006/main">
          <a:graphicData uri="http://schemas.openxmlformats.org/drawingml/2006/table">
            <a:tbl>
              <a:tblPr/>
              <a:tblGrid>
                <a:gridCol w="3333750"/>
                <a:gridCol w="3429000"/>
                <a:gridCol w="4210050"/>
              </a:tblGrid>
              <a:tr h="802481">
                <a:tc>
                  <a:txBody>
                    <a:bodyPr lIns="114300" tIns="76200" rIns="114300" bIns="76200">
                      <a:noAutofit/>
                    </a:bodyPr>
                    <a:lstStyle/>
                    <a:p>
                      <a:pPr algn="l"/>
                      <a:r>
                        <a:rPr sz="1875" b="1">
                          <a:solidFill>
                            <a:srgbClr val="FFFFFF"/>
                          </a:solidFill>
                          <a:latin typeface="Arial"/>
                          <a:ea typeface="Arial"/>
                          <a:cs typeface="Arial"/>
                        </a:rPr>
                        <a:t>Customer need</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Provider need</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YardMatch response</a:t>
                      </a:r>
                    </a:p>
                  </a:txBody>
                  <a:tcPr marL="91440" marR="91440" marT="45720" marB="45720" anchor="ctr">
                    <a:solidFill>
                      <a:srgbClr val="205938"/>
                    </a:solidFill>
                  </a:tcPr>
                </a:tc>
              </a:tr>
              <a:tr h="802481">
                <a:tc>
                  <a:txBody>
                    <a:bodyPr lIns="114300" tIns="76200" rIns="114300" bIns="76200">
                      <a:noAutofit/>
                    </a:bodyPr>
                    <a:lstStyle/>
                    <a:p>
                      <a:pPr algn="l"/>
                      <a:r>
                        <a:rPr sz="1875" b="0">
                          <a:solidFill>
                            <a:srgbClr val="14281D"/>
                          </a:solidFill>
                          <a:latin typeface="Arial"/>
                          <a:ea typeface="Arial"/>
                          <a:cs typeface="Arial"/>
                        </a:rPr>
                        <a:t>A suitable, available business</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New work that fits the route</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One recommendation and a few qualified backups</a:t>
                      </a:r>
                    </a:p>
                  </a:txBody>
                  <a:tcPr marL="91440" marR="91440" marT="45720" marB="45720" anchor="ctr">
                    <a:solidFill>
                      <a:srgbClr val="FFFFFF"/>
                    </a:solidFill>
                  </a:tcPr>
                </a:tc>
              </a:tr>
              <a:tr h="802481">
                <a:tc>
                  <a:txBody>
                    <a:bodyPr lIns="114300" tIns="76200" rIns="114300" bIns="76200">
                      <a:noAutofit/>
                    </a:bodyPr>
                    <a:lstStyle/>
                    <a:p>
                      <a:pPr algn="l"/>
                      <a:r>
                        <a:rPr sz="1875" b="0">
                          <a:solidFill>
                            <a:srgbClr val="14281D"/>
                          </a:solidFill>
                          <a:latin typeface="Arial"/>
                          <a:ea typeface="Arial"/>
                          <a:cs typeface="Arial"/>
                        </a:rPr>
                        <a:t>Confidence about arrival</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A schedule crews can execute</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Shared job details and arrival updates</a:t>
                      </a:r>
                    </a:p>
                  </a:txBody>
                  <a:tcPr marL="91440" marR="91440" marT="45720" marB="45720" anchor="ctr">
                    <a:solidFill>
                      <a:srgbClr val="F7F5EF"/>
                    </a:solidFill>
                  </a:tcPr>
                </a:tc>
              </a:tr>
              <a:tr h="802481">
                <a:tc>
                  <a:txBody>
                    <a:bodyPr lIns="114300" tIns="76200" rIns="114300" bIns="76200">
                      <a:noAutofit/>
                    </a:bodyPr>
                    <a:lstStyle/>
                    <a:p>
                      <a:pPr algn="l"/>
                      <a:r>
                        <a:rPr sz="1875" b="0">
                          <a:solidFill>
                            <a:srgbClr val="14281D"/>
                          </a:solidFill>
                          <a:latin typeface="Arial"/>
                          <a:ea typeface="Arial"/>
                          <a:cs typeface="Arial"/>
                        </a:rPr>
                        <a:t>A dependable next visit</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Repeat business without another finder fee</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Rebooking, service records and follow-up</a:t>
                      </a:r>
                    </a:p>
                  </a:txBody>
                  <a:tcPr marL="91440" marR="91440" marT="45720" marB="45720" anchor="ctr">
                    <a:solidFill>
                      <a:srgbClr val="FFFFFF"/>
                    </a:solidFill>
                  </a:tcPr>
                </a:tc>
              </a:tr>
            </a:tbl>
          </a:graphicData>
        </a:graphic>
      </p:graphicFrame>
      <p:sp>
        <p:nvSpPr>
          <p:cNvPr id="6" name="Local referrals can supply trust. Direct texting a">
            <a:extLst xmlns:a="http://schemas.openxmlformats.org/drawingml/2006/main">
              <a:ext uri="{FF2B5EF4-FFF2-40B4-BE49-F238E27FC236}">
                <a16:creationId xmlns:a16="http://schemas.microsoft.com/office/drawing/2014/main" id="{C6CF6E0B-DFBC-4518-A30A-A5E195A6CE21}"/>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Local referrals can supply trust. Direct texting and field-service tools can coordinate work. YardMatch aims to connect discovery with the ongoing job.</a:t>
            </a:r>
          </a:p>
        </p:txBody>
      </p:sp>
    </p:spTree>
    <p:extLst>
      <p:ext uri="{BB962C8B-B14F-4D97-AF65-F5344CB8AC3E}">
        <p14:creationId xmlns:p14="http://schemas.microsoft.com/office/powerpoint/2010/main" val="888612210"/>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One service experience across three roles">
            <a:extLst xmlns:a="http://schemas.openxmlformats.org/drawingml/2006/main">
              <a:ext uri="{FF2B5EF4-FFF2-40B4-BE49-F238E27FC236}">
                <a16:creationId xmlns:a16="http://schemas.microsoft.com/office/drawing/2014/main" id="{4AE0FE0E-3029-4916-BC1F-42232F6C748A}"/>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One service experience across three roles</a:t>
            </a:r>
          </a:p>
        </p:txBody>
      </p:sp>
      <p:sp>
        <p:nvSpPr>
          <p:cNvPr id="2" name="Customer, provider and crew share the job while ea">
            <a:extLst xmlns:a="http://schemas.openxmlformats.org/drawingml/2006/main">
              <a:ext uri="{FF2B5EF4-FFF2-40B4-BE49-F238E27FC236}">
                <a16:creationId xmlns:a16="http://schemas.microsoft.com/office/drawing/2014/main" id="{85E19539-FBD9-4309-9576-4EBDD53E2333}"/>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Customer, provider and crew share the job while each sees the information needed for their role.</a:t>
            </a:r>
          </a:p>
        </p:txBody>
      </p:sp>
      <p:sp>
        <p:nvSpPr>
          <p:cNvPr id="3" name="YardMatch">
            <a:extLst xmlns:a="http://schemas.openxmlformats.org/drawingml/2006/main">
              <a:ext uri="{FF2B5EF4-FFF2-40B4-BE49-F238E27FC236}">
                <a16:creationId xmlns:a16="http://schemas.microsoft.com/office/drawing/2014/main" id="{30ED3427-8E2B-453A-BD0B-BFA3C6603F9F}"/>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4">
            <a:extLst xmlns:a="http://schemas.openxmlformats.org/drawingml/2006/main">
              <a:ext uri="{FF2B5EF4-FFF2-40B4-BE49-F238E27FC236}">
                <a16:creationId xmlns:a16="http://schemas.microsoft.com/office/drawing/2014/main" id="{143796C1-A714-4BF9-8A23-0D36FB2312E3}"/>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04</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ed97749ab5f9457a"/>
          <a:stretch xmlns:a="http://schemas.openxmlformats.org/drawingml/2006/main"/>
        </p:blipFill>
        <p:spPr>
          <a:xfrm xmlns:a="http://schemas.openxmlformats.org/drawingml/2006/main">
            <a:off x="5110163" y="2276475"/>
            <a:ext cx="5286375" cy="3524250"/>
          </a:xfrm>
          <a:prstGeom xmlns:a="http://schemas.openxmlformats.org/drawingml/2006/main" prst="rect">
            <a:avLst/>
          </a:prstGeom>
        </p:spPr>
      </p:pic>
      <p:sp>
        <p:nvSpPr>
          <p:cNvPr id="6" name="Customer&#10;Book and follow the visit&#10;&#10;Provider&#10;Sched">
            <a:extLst xmlns:a="http://schemas.openxmlformats.org/drawingml/2006/main">
              <a:ext uri="{FF2B5EF4-FFF2-40B4-BE49-F238E27FC236}">
                <a16:creationId xmlns:a16="http://schemas.microsoft.com/office/drawing/2014/main" id="{682E6520-6C56-4CD8-80D5-D003BA6943D9}"/>
              </a:ext>
            </a:extLst>
          </p:cNvPr>
          <p:cNvSpPr>
            <a:spLocks xmlns:a="http://schemas.openxmlformats.org/drawingml/2006/main" noGrp="1"/>
          </p:cNvSpPr>
          <p:nvPr/>
        </p:nvSpPr>
        <p:spPr>
          <a:xfrm xmlns:a="http://schemas.openxmlformats.org/drawingml/2006/main">
            <a:off x="628650" y="2428875"/>
            <a:ext cx="3190875"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Customer</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Book and follow the visit</a:t>
            </a:r>
          </a:p>
          <a:p xmlns:a="http://schemas.openxmlformats.org/drawingml/2006/main">
            <a:r>
              <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Provider</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Schedule and assign work</a:t>
            </a:r>
          </a:p>
          <a:p xmlns:a="http://schemas.openxmlformats.org/drawingml/2006/main">
            <a:r>
              <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Crew</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Know the place and task</a:t>
            </a:r>
          </a:p>
        </p:txBody>
      </p:sp>
      <p:sp>
        <p:nvSpPr>
          <p:cNvPr id="7" name="Illustrative screens and sample data from the part">
            <a:extLst xmlns:a="http://schemas.openxmlformats.org/drawingml/2006/main">
              <a:ext uri="{FF2B5EF4-FFF2-40B4-BE49-F238E27FC236}">
                <a16:creationId xmlns:a16="http://schemas.microsoft.com/office/drawing/2014/main" id="{ADED55E7-7B60-4565-8C5B-D97E506F29DD}"/>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Illustrative screens and sample data from the partner pitch. They do not show live customers or app-store availability.</a:t>
            </a:r>
          </a:p>
        </p:txBody>
      </p:sp>
    </p:spTree>
    <p:extLst>
      <p:ext uri="{BB962C8B-B14F-4D97-AF65-F5344CB8AC3E}">
        <p14:creationId xmlns:p14="http://schemas.microsoft.com/office/powerpoint/2010/main" val="1858301228"/>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Local density benefits both sides">
            <a:extLst xmlns:a="http://schemas.openxmlformats.org/drawingml/2006/main">
              <a:ext uri="{FF2B5EF4-FFF2-40B4-BE49-F238E27FC236}">
                <a16:creationId xmlns:a16="http://schemas.microsoft.com/office/drawing/2014/main" id="{3F3A057D-7453-4ADE-8234-5E1969EA3AFE}"/>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Local density benefits both sides</a:t>
            </a:r>
          </a:p>
        </p:txBody>
      </p:sp>
      <p:sp>
        <p:nvSpPr>
          <p:cNvPr id="2" name="Nearby bookings can fit existing routes and make a">
            <a:extLst xmlns:a="http://schemas.openxmlformats.org/drawingml/2006/main">
              <a:ext uri="{FF2B5EF4-FFF2-40B4-BE49-F238E27FC236}">
                <a16:creationId xmlns:a16="http://schemas.microsoft.com/office/drawing/2014/main" id="{18642E89-13D3-4973-8ADE-133F53018AFD}"/>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Nearby bookings can fit existing routes and make a provider’s customer base more valuable.</a:t>
            </a:r>
          </a:p>
        </p:txBody>
      </p:sp>
      <p:sp>
        <p:nvSpPr>
          <p:cNvPr id="3" name="YardMatch">
            <a:extLst xmlns:a="http://schemas.openxmlformats.org/drawingml/2006/main">
              <a:ext uri="{FF2B5EF4-FFF2-40B4-BE49-F238E27FC236}">
                <a16:creationId xmlns:a16="http://schemas.microsoft.com/office/drawing/2014/main" id="{C2B3504C-2A32-4E14-AFA6-D9C613414068}"/>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5">
            <a:extLst xmlns:a="http://schemas.openxmlformats.org/drawingml/2006/main">
              <a:ext uri="{FF2B5EF4-FFF2-40B4-BE49-F238E27FC236}">
                <a16:creationId xmlns:a16="http://schemas.microsoft.com/office/drawing/2014/main" id="{5098F5DF-8854-4CBC-B808-09EF62FAB9BF}"/>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05</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09a060d1d514863"/>
          <a:stretch xmlns:a="http://schemas.openxmlformats.org/drawingml/2006/main"/>
        </p:blipFill>
        <p:spPr>
          <a:xfrm xmlns:a="http://schemas.openxmlformats.org/drawingml/2006/main">
            <a:off x="1458823" y="2381250"/>
            <a:ext cx="5635804" cy="3171825"/>
          </a:xfrm>
          <a:prstGeom xmlns:a="http://schemas.openxmlformats.org/drawingml/2006/main" prst="rect">
            <a:avLst/>
          </a:prstGeom>
        </p:spPr>
      </p:pic>
      <p:sp>
        <p:nvSpPr>
          <p:cNvPr id="6" name="Provider control">
            <a:extLst xmlns:a="http://schemas.openxmlformats.org/drawingml/2006/main">
              <a:ext uri="{FF2B5EF4-FFF2-40B4-BE49-F238E27FC236}">
                <a16:creationId xmlns:a16="http://schemas.microsoft.com/office/drawing/2014/main" id="{77576354-0A73-48E4-8514-3E35489076F6}"/>
              </a:ext>
            </a:extLst>
          </p:cNvPr>
          <p:cNvSpPr>
            <a:spLocks xmlns:a="http://schemas.openxmlformats.org/drawingml/2006/main" noGrp="1"/>
          </p:cNvSpPr>
          <p:nvPr/>
        </p:nvSpPr>
        <p:spPr>
          <a:xfrm xmlns:a="http://schemas.openxmlformats.org/drawingml/2006/main">
            <a:off x="8401050" y="239077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05938"/>
                </a:solidFill>
                <a:latin typeface="Arial"/>
                <a:ea typeface="Arial"/>
                <a:cs typeface="Arial"/>
              </a:defRPr>
            </a:pPr>
            <a:r>
              <a:rPr sz="2175" b="1">
                <a:solidFill>
                  <a:srgbClr val="205938"/>
                </a:solidFill>
                <a:latin typeface="Arial"/>
                <a:ea typeface="Arial"/>
                <a:cs typeface="Arial"/>
              </a:rPr>
              <a:t>Provider control</a:t>
            </a:r>
          </a:p>
        </p:txBody>
      </p:sp>
      <p:sp>
        <p:nvSpPr>
          <p:cNvPr id="7" name="The business chooses its service area, capacity an">
            <a:extLst xmlns:a="http://schemas.openxmlformats.org/drawingml/2006/main">
              <a:ext uri="{FF2B5EF4-FFF2-40B4-BE49-F238E27FC236}">
                <a16:creationId xmlns:a16="http://schemas.microsoft.com/office/drawing/2014/main" id="{4AB9907B-1CEE-447D-8A1A-8FC200A82D7D}"/>
              </a:ext>
            </a:extLst>
          </p:cNvPr>
          <p:cNvSpPr>
            <a:spLocks xmlns:a="http://schemas.openxmlformats.org/drawingml/2006/main" noGrp="1"/>
          </p:cNvSpPr>
          <p:nvPr/>
        </p:nvSpPr>
        <p:spPr>
          <a:xfrm xmlns:a="http://schemas.openxmlformats.org/drawingml/2006/main">
            <a:off x="8401050" y="2905125"/>
            <a:ext cx="3095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The business chooses its service area, capacity and crew assignments.</a:t>
            </a:r>
          </a:p>
        </p:txBody>
      </p:sp>
      <p:sp>
        <p:nvSpPr>
          <p:cNvPr id="8" name="Customer trust">
            <a:extLst xmlns:a="http://schemas.openxmlformats.org/drawingml/2006/main">
              <a:ext uri="{FF2B5EF4-FFF2-40B4-BE49-F238E27FC236}">
                <a16:creationId xmlns:a16="http://schemas.microsoft.com/office/drawing/2014/main" id="{CBD44FCF-EE99-45DD-827B-B9B6C01B4AD4}"/>
              </a:ext>
            </a:extLst>
          </p:cNvPr>
          <p:cNvSpPr>
            <a:spLocks xmlns:a="http://schemas.openxmlformats.org/drawingml/2006/main" noGrp="1"/>
          </p:cNvSpPr>
          <p:nvPr/>
        </p:nvSpPr>
        <p:spPr>
          <a:xfrm xmlns:a="http://schemas.openxmlformats.org/drawingml/2006/main">
            <a:off x="8401050" y="418147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05938"/>
                </a:solidFill>
                <a:latin typeface="Arial"/>
                <a:ea typeface="Arial"/>
                <a:cs typeface="Arial"/>
              </a:defRPr>
            </a:pPr>
            <a:r>
              <a:rPr sz="2175" b="1">
                <a:solidFill>
                  <a:srgbClr val="205938"/>
                </a:solidFill>
                <a:latin typeface="Arial"/>
                <a:ea typeface="Arial"/>
                <a:cs typeface="Arial"/>
              </a:rPr>
              <a:t>Customer trust</a:t>
            </a:r>
          </a:p>
        </p:txBody>
      </p:sp>
      <p:sp>
        <p:nvSpPr>
          <p:cNvPr id="9" name="Recommendations favor service fit and reliability.">
            <a:extLst xmlns:a="http://schemas.openxmlformats.org/drawingml/2006/main">
              <a:ext uri="{FF2B5EF4-FFF2-40B4-BE49-F238E27FC236}">
                <a16:creationId xmlns:a16="http://schemas.microsoft.com/office/drawing/2014/main" id="{9E743E2B-1F65-4BE8-AE76-6F126585A855}"/>
              </a:ext>
            </a:extLst>
          </p:cNvPr>
          <p:cNvSpPr>
            <a:spLocks xmlns:a="http://schemas.openxmlformats.org/drawingml/2006/main" noGrp="1"/>
          </p:cNvSpPr>
          <p:nvPr/>
        </p:nvSpPr>
        <p:spPr>
          <a:xfrm xmlns:a="http://schemas.openxmlformats.org/drawingml/2006/main">
            <a:off x="8401050" y="4695825"/>
            <a:ext cx="30956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Recommendations favor service fit and reliability. Paid placement does not set the order.</a:t>
            </a:r>
          </a:p>
        </p:txBody>
      </p:sp>
      <p:sp>
        <p:nvSpPr>
          <p:cNvPr id="10" name="Route savings and retention effects remain to be m">
            <a:extLst xmlns:a="http://schemas.openxmlformats.org/drawingml/2006/main">
              <a:ext uri="{FF2B5EF4-FFF2-40B4-BE49-F238E27FC236}">
                <a16:creationId xmlns:a16="http://schemas.microsoft.com/office/drawing/2014/main" id="{AD1A38A4-36D3-4D61-9020-1314F6ECFC35}"/>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Route savings and retention effects remain to be measured. Providers handle equipment, insurance, supervision and crew pay.</a:t>
            </a:r>
          </a:p>
        </p:txBody>
      </p:sp>
    </p:spTree>
    <p:extLst>
      <p:ext uri="{BB962C8B-B14F-4D97-AF65-F5344CB8AC3E}">
        <p14:creationId xmlns:p14="http://schemas.microsoft.com/office/powerpoint/2010/main" val="1051877320"/>
      </p:ext>
    </p:extLst>
  </p:cSld>
</p:sld>
</file>

<file path=ppt/slides/slide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A finder fee plus $2.99 for every paid service">
            <a:extLst xmlns:a="http://schemas.openxmlformats.org/drawingml/2006/main">
              <a:ext uri="{FF2B5EF4-FFF2-40B4-BE49-F238E27FC236}">
                <a16:creationId xmlns:a16="http://schemas.microsoft.com/office/drawing/2014/main" id="{51F2C6C1-778B-496F-A61E-A649479FE1EB}"/>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A finder fee plus $2.99 for every paid service</a:t>
            </a:r>
          </a:p>
        </p:txBody>
      </p:sp>
      <p:sp>
        <p:nvSpPr>
          <p:cNvPr id="2" name="Providers pay both fees. YardMatch covers modeled ">
            <a:extLst xmlns:a="http://schemas.openxmlformats.org/drawingml/2006/main">
              <a:ext uri="{FF2B5EF4-FFF2-40B4-BE49-F238E27FC236}">
                <a16:creationId xmlns:a16="http://schemas.microsoft.com/office/drawing/2014/main" id="{91338483-DCA9-4D68-A5FD-1821F01E42F1}"/>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Providers pay both fees. YardMatch covers modeled processing costs.</a:t>
            </a:r>
          </a:p>
        </p:txBody>
      </p:sp>
      <p:sp>
        <p:nvSpPr>
          <p:cNvPr id="3" name="YardMatch">
            <a:extLst xmlns:a="http://schemas.openxmlformats.org/drawingml/2006/main">
              <a:ext uri="{FF2B5EF4-FFF2-40B4-BE49-F238E27FC236}">
                <a16:creationId xmlns:a16="http://schemas.microsoft.com/office/drawing/2014/main" id="{979E0096-5AB2-4049-9B8A-17E930E28CFE}"/>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6">
            <a:extLst xmlns:a="http://schemas.openxmlformats.org/drawingml/2006/main">
              <a:ext uri="{FF2B5EF4-FFF2-40B4-BE49-F238E27FC236}">
                <a16:creationId xmlns:a16="http://schemas.microsoft.com/office/drawing/2014/main" id="{0375A93E-6C3E-4486-995A-EA73D116FCB7}"/>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06</a:t>
            </a:r>
          </a:p>
        </p:txBody>
      </p:sp>
      <p:sp>
        <p:nvSpPr>
          <p:cNvPr id="5" name="$45">
            <a:extLst xmlns:a="http://schemas.openxmlformats.org/drawingml/2006/main">
              <a:ext uri="{FF2B5EF4-FFF2-40B4-BE49-F238E27FC236}">
                <a16:creationId xmlns:a16="http://schemas.microsoft.com/office/drawing/2014/main" id="{A96CC26C-A121-4AFB-A2C6-4DDB3DA55550}"/>
              </a:ext>
            </a:extLst>
          </p:cNvPr>
          <p:cNvSpPr>
            <a:spLocks xmlns:a="http://schemas.openxmlformats.org/drawingml/2006/main" noGrp="1"/>
          </p:cNvSpPr>
          <p:nvPr/>
        </p:nvSpPr>
        <p:spPr>
          <a:xfrm xmlns:a="http://schemas.openxmlformats.org/drawingml/2006/main">
            <a:off x="647700" y="2324100"/>
            <a:ext cx="4381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850" b="1">
                <a:solidFill>
                  <a:srgbClr val="205938"/>
                </a:solidFill>
                <a:latin typeface="Arial"/>
                <a:ea typeface="Arial"/>
                <a:cs typeface="Arial"/>
              </a:defRPr>
            </a:pPr>
            <a:r>
              <a:rPr sz="5850" b="1">
                <a:solidFill>
                  <a:srgbClr val="205938"/>
                </a:solidFill>
                <a:latin typeface="Arial"/>
                <a:ea typeface="Arial"/>
                <a:cs typeface="Arial"/>
              </a:rPr>
              <a:t>$45</a:t>
            </a:r>
          </a:p>
        </p:txBody>
      </p:sp>
      <p:sp>
        <p:nvSpPr>
          <p:cNvPr id="6" name="Once per new customer/provider pairing,&#10;after the ">
            <a:extLst xmlns:a="http://schemas.openxmlformats.org/drawingml/2006/main">
              <a:ext uri="{FF2B5EF4-FFF2-40B4-BE49-F238E27FC236}">
                <a16:creationId xmlns:a16="http://schemas.microsoft.com/office/drawing/2014/main" id="{E11FC998-4E30-468B-8473-33FE020E9DF5}"/>
              </a:ext>
            </a:extLst>
          </p:cNvPr>
          <p:cNvSpPr>
            <a:spLocks xmlns:a="http://schemas.openxmlformats.org/drawingml/2006/main" noGrp="1"/>
          </p:cNvSpPr>
          <p:nvPr/>
        </p:nvSpPr>
        <p:spPr>
          <a:xfrm xmlns:a="http://schemas.openxmlformats.org/drawingml/2006/main">
            <a:off x="647700" y="3295650"/>
            <a:ext cx="48291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Once per new customer/provider pairing,</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after the first paid completed job</a:t>
            </a:r>
          </a:p>
        </p:txBody>
      </p:sp>
      <p:sp>
        <p:nvSpPr>
          <p:cNvPr id="7" name="$2.99">
            <a:extLst xmlns:a="http://schemas.openxmlformats.org/drawingml/2006/main">
              <a:ext uri="{FF2B5EF4-FFF2-40B4-BE49-F238E27FC236}">
                <a16:creationId xmlns:a16="http://schemas.microsoft.com/office/drawing/2014/main" id="{19087723-FE84-4AB1-8E79-377DCB3FABF4}"/>
              </a:ext>
            </a:extLst>
          </p:cNvPr>
          <p:cNvSpPr>
            <a:spLocks xmlns:a="http://schemas.openxmlformats.org/drawingml/2006/main" noGrp="1"/>
          </p:cNvSpPr>
          <p:nvPr/>
        </p:nvSpPr>
        <p:spPr>
          <a:xfrm xmlns:a="http://schemas.openxmlformats.org/drawingml/2006/main">
            <a:off x="6391275" y="2324100"/>
            <a:ext cx="44291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850" b="1">
                <a:solidFill>
                  <a:srgbClr val="205938"/>
                </a:solidFill>
                <a:latin typeface="Arial"/>
                <a:ea typeface="Arial"/>
                <a:cs typeface="Arial"/>
              </a:defRPr>
            </a:pPr>
            <a:r>
              <a:rPr sz="5850" b="1">
                <a:solidFill>
                  <a:srgbClr val="205938"/>
                </a:solidFill>
                <a:latin typeface="Arial"/>
                <a:ea typeface="Arial"/>
                <a:cs typeface="Arial"/>
              </a:rPr>
              <a:t>$2.99</a:t>
            </a:r>
          </a:p>
        </p:txBody>
      </p:sp>
      <p:sp>
        <p:nvSpPr>
          <p:cNvPr id="8" name="On every paid completed service,&#10;including repeat ">
            <a:extLst xmlns:a="http://schemas.openxmlformats.org/drawingml/2006/main">
              <a:ext uri="{FF2B5EF4-FFF2-40B4-BE49-F238E27FC236}">
                <a16:creationId xmlns:a16="http://schemas.microsoft.com/office/drawing/2014/main" id="{74CCA344-DF03-4062-9E47-CB2D83962561}"/>
              </a:ext>
            </a:extLst>
          </p:cNvPr>
          <p:cNvSpPr>
            <a:spLocks xmlns:a="http://schemas.openxmlformats.org/drawingml/2006/main" noGrp="1"/>
          </p:cNvSpPr>
          <p:nvPr/>
        </p:nvSpPr>
        <p:spPr>
          <a:xfrm xmlns:a="http://schemas.openxmlformats.org/drawingml/2006/main">
            <a:off x="6391275" y="3295650"/>
            <a:ext cx="48291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On every paid completed service,</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including repeat visits</a:t>
            </a:r>
          </a:p>
        </p:txBody>
      </p:sp>
      <p:graphicFrame>
        <p:nvGraphicFramePr>
          <p:cNvPr id="19" name=""/>
          <p:cNvGraphicFramePr/>
          <p:nvPr/>
        </p:nvGraphicFramePr>
        <p:xfrm>
          <a:off xmlns:a="http://schemas.openxmlformats.org/drawingml/2006/main" x="609600" y="4533900"/>
          <a:ext xmlns:a="http://schemas.openxmlformats.org/drawingml/2006/main" cx="10972800" cy="1057275"/>
        </p:xfrm>
        <a:graphic xmlns:a="http://schemas.openxmlformats.org/drawingml/2006/main">
          <a:graphicData uri="http://schemas.openxmlformats.org/drawingml/2006/table">
            <a:tbl>
              <a:tblPr/>
              <a:tblGrid>
                <a:gridCol w="6191250"/>
                <a:gridCol w="2390775"/>
                <a:gridCol w="2390775"/>
              </a:tblGrid>
              <a:tr h="528638">
                <a:tc>
                  <a:txBody>
                    <a:bodyPr lIns="114300" tIns="76200" rIns="114300" bIns="76200">
                      <a:noAutofit/>
                    </a:bodyPr>
                    <a:lstStyle/>
                    <a:p>
                      <a:pPr algn="l"/>
                      <a:r>
                        <a:rPr sz="1725" b="1">
                          <a:solidFill>
                            <a:srgbClr val="FFFFFF"/>
                          </a:solidFill>
                          <a:latin typeface="Arial"/>
                          <a:ea typeface="Arial"/>
                          <a:cs typeface="Arial"/>
                        </a:rPr>
                        <a:t>A $60 service</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First paid visit</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Later paid visit</a:t>
                      </a:r>
                    </a:p>
                  </a:txBody>
                  <a:tcPr marL="91440" marR="91440" marT="45720" marB="45720" anchor="ctr">
                    <a:solidFill>
                      <a:srgbClr val="205938"/>
                    </a:solidFill>
                  </a:tcPr>
                </a:tc>
              </a:tr>
              <a:tr h="528638">
                <a:tc>
                  <a:txBody>
                    <a:bodyPr lIns="114300" tIns="76200" rIns="114300" bIns="76200">
                      <a:noAutofit/>
                    </a:bodyPr>
                    <a:lstStyle/>
                    <a:p>
                      <a:pPr algn="l"/>
                      <a:r>
                        <a:rPr sz="1725" b="1">
                          <a:solidFill>
                            <a:srgbClr val="14281D"/>
                          </a:solidFill>
                          <a:latin typeface="Arial"/>
                          <a:ea typeface="Arial"/>
                          <a:cs typeface="Arial"/>
                        </a:rPr>
                        <a:t>Provider proceeds before business costs</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$12.01</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$57.01</a:t>
                      </a:r>
                    </a:p>
                  </a:txBody>
                  <a:tcPr marL="91440" marR="91440" marT="45720" marB="45720" anchor="ctr">
                    <a:solidFill>
                      <a:srgbClr val="E8EDDF"/>
                    </a:solidFill>
                  </a:tcPr>
                </a:tc>
              </a:tr>
            </a:tbl>
          </a:graphicData>
        </a:graphic>
      </p:graphicFrame>
      <p:sp>
        <p:nvSpPr>
          <p:cNvPr id="10" name="Welcome offer waives the first $45 finder fee for ">
            <a:extLst xmlns:a="http://schemas.openxmlformats.org/drawingml/2006/main">
              <a:ext uri="{FF2B5EF4-FFF2-40B4-BE49-F238E27FC236}">
                <a16:creationId xmlns:a16="http://schemas.microsoft.com/office/drawing/2014/main" id="{95CA6D73-6DB6-469F-BA11-CB264080DEA1}"/>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Welcome offer waives the first $45 finder fee for a new provider. It does not waive the $2.99 service fee. No customer surcharge modeled.</a:t>
            </a:r>
          </a:p>
        </p:txBody>
      </p:sp>
    </p:spTree>
    <p:extLst>
      <p:ext uri="{BB962C8B-B14F-4D97-AF65-F5344CB8AC3E}">
        <p14:creationId xmlns:p14="http://schemas.microsoft.com/office/powerpoint/2010/main" val="1822509944"/>
      </p:ext>
    </p:extLst>
  </p:cSld>
</p:sld>
</file>

<file path=ppt/slides/slide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Zocdoc monetizes a different relationship pattern">
            <a:extLst xmlns:a="http://schemas.openxmlformats.org/drawingml/2006/main">
              <a:ext uri="{FF2B5EF4-FFF2-40B4-BE49-F238E27FC236}">
                <a16:creationId xmlns:a16="http://schemas.microsoft.com/office/drawing/2014/main" id="{417F6EEA-0F73-46CA-AE7F-B792BDEEC0F1}"/>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Zocdoc monetizes a different relationship pattern</a:t>
            </a:r>
          </a:p>
        </p:txBody>
      </p:sp>
      <p:sp>
        <p:nvSpPr>
          <p:cNvPr id="2" name="A new service category does not automatically crea">
            <a:extLst xmlns:a="http://schemas.openxmlformats.org/drawingml/2006/main">
              <a:ext uri="{FF2B5EF4-FFF2-40B4-BE49-F238E27FC236}">
                <a16:creationId xmlns:a16="http://schemas.microsoft.com/office/drawing/2014/main" id="{42F3DA6D-68A5-455F-94F1-A87CBA9EC7F5}"/>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 new service category does not automatically create a new YardMatch finder fee.</a:t>
            </a:r>
          </a:p>
        </p:txBody>
      </p:sp>
      <p:sp>
        <p:nvSpPr>
          <p:cNvPr id="3" name="YardMatch">
            <a:extLst xmlns:a="http://schemas.openxmlformats.org/drawingml/2006/main">
              <a:ext uri="{FF2B5EF4-FFF2-40B4-BE49-F238E27FC236}">
                <a16:creationId xmlns:a16="http://schemas.microsoft.com/office/drawing/2014/main" id="{2387814A-587A-4408-8474-4A31A35D0763}"/>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7">
            <a:extLst xmlns:a="http://schemas.openxmlformats.org/drawingml/2006/main">
              <a:ext uri="{FF2B5EF4-FFF2-40B4-BE49-F238E27FC236}">
                <a16:creationId xmlns:a16="http://schemas.microsoft.com/office/drawing/2014/main" id="{A6F6BD1C-99B2-4C0B-8431-AF6BB34F577A}"/>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07</a:t>
            </a:r>
          </a:p>
        </p:txBody>
      </p:sp>
      <p:graphicFrame>
        <p:nvGraphicFramePr>
          <p:cNvPr id="11" name=""/>
          <p:cNvGraphicFramePr/>
          <p:nvPr/>
        </p:nvGraphicFramePr>
        <p:xfrm>
          <a:off xmlns:a="http://schemas.openxmlformats.org/drawingml/2006/main" x="609600" y="2343150"/>
          <a:ext xmlns:a="http://schemas.openxmlformats.org/drawingml/2006/main" cx="10972800" cy="3190875"/>
        </p:xfrm>
        <a:graphic xmlns:a="http://schemas.openxmlformats.org/drawingml/2006/main">
          <a:graphicData uri="http://schemas.openxmlformats.org/drawingml/2006/table">
            <a:tbl>
              <a:tblPr/>
              <a:tblGrid>
                <a:gridCol w="2238375"/>
                <a:gridCol w="4114800"/>
                <a:gridCol w="4619625"/>
              </a:tblGrid>
              <a:tr h="638175">
                <a:tc>
                  <a:txBody>
                    <a:bodyPr lIns="114300" tIns="76200" rIns="114300" bIns="76200">
                      <a:noAutofit/>
                    </a:bodyPr>
                    <a:lstStyle/>
                    <a:p>
                      <a:r>
                        <a:rPr sz="1725" b="1">
                          <a:solidFill>
                            <a:srgbClr val="FFFFFF"/>
                          </a:solidFill>
                          <a:latin typeface="Arial"/>
                          <a:ea typeface="Arial"/>
                          <a:cs typeface="Arial"/>
                        </a:rPr>
                        <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Zocdoc</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YardMatch</a:t>
                      </a:r>
                    </a:p>
                  </a:txBody>
                  <a:tcPr marL="91440" marR="91440" marT="45720" marB="45720" anchor="ctr">
                    <a:solidFill>
                      <a:srgbClr val="205938"/>
                    </a:solidFill>
                  </a:tcPr>
                </a:tc>
              </a:tr>
              <a:tr h="638175">
                <a:tc>
                  <a:txBody>
                    <a:bodyPr lIns="114300" tIns="76200" rIns="114300" bIns="76200">
                      <a:noAutofit/>
                    </a:bodyPr>
                    <a:lstStyle/>
                    <a:p>
                      <a:pPr algn="l"/>
                      <a:r>
                        <a:rPr sz="1725" b="0">
                          <a:solidFill>
                            <a:srgbClr val="14281D"/>
                          </a:solidFill>
                          <a:latin typeface="Arial"/>
                          <a:ea typeface="Arial"/>
                          <a:cs typeface="Arial"/>
                        </a:rPr>
                        <a:t>Fee event</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New patient/provider discovery booking</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First paid job in a new customer/provider pair</a:t>
                      </a:r>
                    </a:p>
                  </a:txBody>
                  <a:tcPr marL="91440" marR="91440" marT="45720" marB="45720" anchor="ctr">
                    <a:solidFill>
                      <a:srgbClr val="FFFFFF"/>
                    </a:solidFill>
                  </a:tcPr>
                </a:tc>
              </a:tr>
              <a:tr h="638175">
                <a:tc>
                  <a:txBody>
                    <a:bodyPr lIns="114300" tIns="76200" rIns="114300" bIns="76200">
                      <a:noAutofit/>
                    </a:bodyPr>
                    <a:lstStyle/>
                    <a:p>
                      <a:pPr algn="l"/>
                      <a:r>
                        <a:rPr sz="1725" b="0">
                          <a:solidFill>
                            <a:srgbClr val="14281D"/>
                          </a:solidFill>
                          <a:latin typeface="Arial"/>
                          <a:ea typeface="Arial"/>
                          <a:cs typeface="Arial"/>
                        </a:rPr>
                        <a:t>Return to the same provider</a:t>
                      </a:r>
                    </a:p>
                  </a:txBody>
                  <a:tcPr marL="91440" marR="91440" marT="45720" marB="45720" anchor="ctr">
                    <a:solidFill>
                      <a:srgbClr val="F7F5EF"/>
                    </a:solidFill>
                  </a:tcPr>
                </a:tc>
                <a:tc>
                  <a:txBody>
                    <a:bodyPr lIns="114300" tIns="76200" rIns="114300" bIns="76200">
                      <a:noAutofit/>
                    </a:bodyPr>
                    <a:lstStyle/>
                    <a:p>
                      <a:pPr algn="l"/>
                      <a:r>
                        <a:rPr sz="1725" b="0">
                          <a:solidFill>
                            <a:srgbClr val="14281D"/>
                          </a:solidFill>
                          <a:latin typeface="Arial"/>
                          <a:ea typeface="Arial"/>
                          <a:cs typeface="Arial"/>
                        </a:rPr>
                        <a:t>No new discovery fee</a:t>
                      </a:r>
                    </a:p>
                  </a:txBody>
                  <a:tcPr marL="91440" marR="91440" marT="45720" marB="45720" anchor="ctr">
                    <a:solidFill>
                      <a:srgbClr val="F7F5EF"/>
                    </a:solidFill>
                  </a:tcPr>
                </a:tc>
                <a:tc>
                  <a:txBody>
                    <a:bodyPr lIns="114300" tIns="76200" rIns="114300" bIns="76200">
                      <a:noAutofit/>
                    </a:bodyPr>
                    <a:lstStyle/>
                    <a:p>
                      <a:pPr algn="l"/>
                      <a:r>
                        <a:rPr sz="1725" b="0">
                          <a:solidFill>
                            <a:srgbClr val="14281D"/>
                          </a:solidFill>
                          <a:latin typeface="Arial"/>
                          <a:ea typeface="Arial"/>
                          <a:cs typeface="Arial"/>
                        </a:rPr>
                        <a:t>No new finder fee. $2.99 service fee applies.</a:t>
                      </a:r>
                    </a:p>
                  </a:txBody>
                  <a:tcPr marL="91440" marR="91440" marT="45720" marB="45720" anchor="ctr">
                    <a:solidFill>
                      <a:srgbClr val="F7F5EF"/>
                    </a:solidFill>
                  </a:tcPr>
                </a:tc>
              </a:tr>
              <a:tr h="638175">
                <a:tc>
                  <a:txBody>
                    <a:bodyPr lIns="114300" tIns="76200" rIns="114300" bIns="76200">
                      <a:noAutofit/>
                    </a:bodyPr>
                    <a:lstStyle/>
                    <a:p>
                      <a:pPr algn="l"/>
                      <a:r>
                        <a:rPr sz="1725" b="0">
                          <a:solidFill>
                            <a:srgbClr val="14281D"/>
                          </a:solidFill>
                          <a:latin typeface="Arial"/>
                          <a:ea typeface="Arial"/>
                          <a:cs typeface="Arial"/>
                        </a:rPr>
                        <a:t>New category</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May introduce a different doctor</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May use the same landscaping company</a:t>
                      </a:r>
                    </a:p>
                  </a:txBody>
                  <a:tcPr marL="91440" marR="91440" marT="45720" marB="45720" anchor="ctr">
                    <a:solidFill>
                      <a:srgbClr val="FFFFFF"/>
                    </a:solidFill>
                  </a:tcPr>
                </a:tc>
              </a:tr>
              <a:tr h="638175">
                <a:tc>
                  <a:txBody>
                    <a:bodyPr lIns="114300" tIns="76200" rIns="114300" bIns="76200">
                      <a:noAutofit/>
                    </a:bodyPr>
                    <a:lstStyle/>
                    <a:p>
                      <a:pPr algn="l"/>
                      <a:r>
                        <a:rPr sz="1725" b="0">
                          <a:solidFill>
                            <a:srgbClr val="14281D"/>
                          </a:solidFill>
                          <a:latin typeface="Arial"/>
                          <a:ea typeface="Arial"/>
                          <a:cs typeface="Arial"/>
                        </a:rPr>
                        <a:t>Core revenue opportunity</a:t>
                      </a:r>
                    </a:p>
                  </a:txBody>
                  <a:tcPr marL="91440" marR="91440" marT="45720" marB="45720" anchor="ctr">
                    <a:solidFill>
                      <a:srgbClr val="F7F5EF"/>
                    </a:solidFill>
                  </a:tcPr>
                </a:tc>
                <a:tc>
                  <a:txBody>
                    <a:bodyPr lIns="114300" tIns="76200" rIns="114300" bIns="76200">
                      <a:noAutofit/>
                    </a:bodyPr>
                    <a:lstStyle/>
                    <a:p>
                      <a:pPr algn="l"/>
                      <a:r>
                        <a:rPr sz="1725" b="0">
                          <a:solidFill>
                            <a:srgbClr val="14281D"/>
                          </a:solidFill>
                          <a:latin typeface="Arial"/>
                          <a:ea typeface="Arial"/>
                          <a:cs typeface="Arial"/>
                        </a:rPr>
                        <a:t>More qualifying new provider connections</a:t>
                      </a:r>
                    </a:p>
                  </a:txBody>
                  <a:tcPr marL="91440" marR="91440" marT="45720" marB="45720" anchor="ctr">
                    <a:solidFill>
                      <a:srgbClr val="F7F5EF"/>
                    </a:solidFill>
                  </a:tcPr>
                </a:tc>
                <a:tc>
                  <a:txBody>
                    <a:bodyPr lIns="114300" tIns="76200" rIns="114300" bIns="76200">
                      <a:noAutofit/>
                    </a:bodyPr>
                    <a:lstStyle/>
                    <a:p>
                      <a:pPr algn="l"/>
                      <a:r>
                        <a:rPr sz="1725" b="0">
                          <a:solidFill>
                            <a:srgbClr val="14281D"/>
                          </a:solidFill>
                          <a:latin typeface="Arial"/>
                          <a:ea typeface="Arial"/>
                          <a:cs typeface="Arial"/>
                        </a:rPr>
                        <a:t>More profitable paid visits over time</a:t>
                      </a:r>
                    </a:p>
                  </a:txBody>
                  <a:tcPr marL="91440" marR="91440" marT="45720" marB="45720" anchor="ctr">
                    <a:solidFill>
                      <a:srgbClr val="F7F5EF"/>
                    </a:solidFill>
                  </a:tcPr>
                </a:tc>
              </a:tr>
            </a:tbl>
          </a:graphicData>
        </a:graphic>
      </p:graphicFrame>
      <p:sp>
        <p:nvSpPr>
          <p:cNvPr id="6" name="Zocdoc also exempts reputation and certain partner">
            <a:extLst xmlns:a="http://schemas.openxmlformats.org/drawingml/2006/main">
              <a:ext uri="{FF2B5EF4-FFF2-40B4-BE49-F238E27FC236}">
                <a16:creationId xmlns:a16="http://schemas.microsoft.com/office/drawing/2014/main" id="{71ACB284-9ECD-4B76-BA38-2475582FAB18}"/>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Zocdoc also exempts reputation and certain partner bookings. Fewer providers per YardMatch household is a hypothesis. Cross-category finder-fee revenue is zero in this forecast.</a:t>
            </a:r>
          </a:p>
        </p:txBody>
      </p:sp>
    </p:spTree>
    <p:extLst>
      <p:ext uri="{BB962C8B-B14F-4D97-AF65-F5344CB8AC3E}">
        <p14:creationId xmlns:p14="http://schemas.microsoft.com/office/powerpoint/2010/main" val="1776236406"/>
      </p:ext>
    </p:extLst>
  </p:cSld>
</p:sld>
</file>

<file path=ppt/slides/slide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0" name="Larger jobs increase costs under a flat fee">
            <a:extLst xmlns:a="http://schemas.openxmlformats.org/drawingml/2006/main">
              <a:ext uri="{FF2B5EF4-FFF2-40B4-BE49-F238E27FC236}">
                <a16:creationId xmlns:a16="http://schemas.microsoft.com/office/drawing/2014/main" id="{A01584E1-3EAE-45AB-A70B-1B04220BBBAB}"/>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Larger jobs increase costs under a flat fee</a:t>
            </a:r>
          </a:p>
        </p:txBody>
      </p:sp>
      <p:sp>
        <p:nvSpPr>
          <p:cNvPr id="2" name="Repeat contribution after processing and variable ">
            <a:extLst xmlns:a="http://schemas.openxmlformats.org/drawingml/2006/main">
              <a:ext uri="{FF2B5EF4-FFF2-40B4-BE49-F238E27FC236}">
                <a16:creationId xmlns:a16="http://schemas.microsoft.com/office/drawing/2014/main" id="{DFD99988-485E-4E85-9ECC-B8CD0B844527}"/>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Repeat contribution after processing and variable costs, before acquisition and fixed overhead.</a:t>
            </a:r>
          </a:p>
        </p:txBody>
      </p:sp>
      <p:sp>
        <p:nvSpPr>
          <p:cNvPr id="3" name="YardMatch">
            <a:extLst xmlns:a="http://schemas.openxmlformats.org/drawingml/2006/main">
              <a:ext uri="{FF2B5EF4-FFF2-40B4-BE49-F238E27FC236}">
                <a16:creationId xmlns:a16="http://schemas.microsoft.com/office/drawing/2014/main" id="{378B668E-9A2E-409C-934E-7675E22A9236}"/>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8">
            <a:extLst xmlns:a="http://schemas.openxmlformats.org/drawingml/2006/main">
              <a:ext uri="{FF2B5EF4-FFF2-40B4-BE49-F238E27FC236}">
                <a16:creationId xmlns:a16="http://schemas.microsoft.com/office/drawing/2014/main" id="{794077A5-0141-497C-A6A0-DBEEA4411A9D}"/>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08</a:t>
            </a:r>
          </a:p>
        </p:txBody>
      </p:sp>
      <p:graphicFrame>
        <p:nvGraphicFramePr>
          <p:cNvPr id="14" name=""/>
          <p:cNvGraphicFramePr/>
          <p:nvPr/>
        </p:nvGraphicFramePr>
        <p:xfrm>
          <a:off xmlns:a="http://schemas.openxmlformats.org/drawingml/2006/main" x="609600" y="2381250"/>
          <a:ext xmlns:a="http://schemas.openxmlformats.org/drawingml/2006/main" cx="8191500" cy="2876550"/>
        </p:xfrm>
        <a:graphic xmlns:a="http://schemas.openxmlformats.org/drawingml/2006/main">
          <a:graphicData uri="http://schemas.openxmlformats.org/drawingml/2006/table">
            <a:tbl>
              <a:tblPr/>
              <a:tblGrid>
                <a:gridCol w="2952750"/>
                <a:gridCol w="2619375"/>
                <a:gridCol w="2619375"/>
              </a:tblGrid>
              <a:tr h="575310">
                <a:tc>
                  <a:txBody>
                    <a:bodyPr lIns="114300" tIns="76200" rIns="114300" bIns="76200">
                      <a:noAutofit/>
                    </a:bodyPr>
                    <a:lstStyle/>
                    <a:p>
                      <a:pPr algn="l"/>
                      <a:r>
                        <a:rPr sz="1950" b="1">
                          <a:solidFill>
                            <a:srgbClr val="FFFFFF"/>
                          </a:solidFill>
                          <a:latin typeface="Arial"/>
                          <a:ea typeface="Arial"/>
                          <a:cs typeface="Arial"/>
                        </a:rPr>
                        <a:t>Completed service price</a:t>
                      </a:r>
                    </a:p>
                  </a:txBody>
                  <a:tcPr marL="91440" marR="91440" marT="45720" marB="45720" anchor="ctr">
                    <a:solidFill>
                      <a:srgbClr val="205938"/>
                    </a:solidFill>
                  </a:tcPr>
                </a:tc>
                <a:tc>
                  <a:txBody>
                    <a:bodyPr lIns="114300" tIns="76200" rIns="114300" bIns="76200">
                      <a:noAutofit/>
                    </a:bodyPr>
                    <a:lstStyle/>
                    <a:p>
                      <a:pPr algn="l"/>
                      <a:r>
                        <a:rPr sz="1950" b="1">
                          <a:solidFill>
                            <a:srgbClr val="FFFFFF"/>
                          </a:solidFill>
                          <a:latin typeface="Arial"/>
                          <a:ea typeface="Arial"/>
                          <a:cs typeface="Arial"/>
                        </a:rPr>
                        <a:t>Card contribution</a:t>
                      </a:r>
                    </a:p>
                  </a:txBody>
                  <a:tcPr marL="91440" marR="91440" marT="45720" marB="45720" anchor="ctr">
                    <a:solidFill>
                      <a:srgbClr val="205938"/>
                    </a:solidFill>
                  </a:tcPr>
                </a:tc>
                <a:tc>
                  <a:txBody>
                    <a:bodyPr lIns="114300" tIns="76200" rIns="114300" bIns="76200">
                      <a:noAutofit/>
                    </a:bodyPr>
                    <a:lstStyle/>
                    <a:p>
                      <a:pPr algn="l"/>
                      <a:r>
                        <a:rPr sz="1950" b="1">
                          <a:solidFill>
                            <a:srgbClr val="FFFFFF"/>
                          </a:solidFill>
                          <a:latin typeface="Arial"/>
                          <a:ea typeface="Arial"/>
                          <a:cs typeface="Arial"/>
                        </a:rPr>
                        <a:t>ACH contribution</a:t>
                      </a:r>
                    </a:p>
                  </a:txBody>
                  <a:tcPr marL="91440" marR="91440" marT="45720" marB="45720" anchor="ctr">
                    <a:solidFill>
                      <a:srgbClr val="205938"/>
                    </a:solidFill>
                  </a:tcPr>
                </a:tc>
              </a:tr>
              <a:tr h="575310">
                <a:tc>
                  <a:txBody>
                    <a:bodyPr lIns="114300" tIns="76200" rIns="114300" bIns="76200">
                      <a:noAutofit/>
                    </a:bodyPr>
                    <a:lstStyle/>
                    <a:p>
                      <a:pPr algn="l"/>
                      <a:r>
                        <a:rPr sz="1950" b="0">
                          <a:solidFill>
                            <a:srgbClr val="14281D"/>
                          </a:solidFill>
                          <a:latin typeface="Arial"/>
                          <a:ea typeface="Arial"/>
                          <a:cs typeface="Arial"/>
                        </a:rPr>
                        <a:t>$60</a:t>
                      </a:r>
                    </a:p>
                  </a:txBody>
                  <a:tcPr marL="91440" marR="91440" marT="45720" marB="45720" anchor="ctr">
                    <a:solidFill>
                      <a:srgbClr val="FFFFFF"/>
                    </a:solidFill>
                  </a:tcPr>
                </a:tc>
                <a:tc>
                  <a:txBody>
                    <a:bodyPr lIns="114300" tIns="76200" rIns="114300" bIns="76200">
                      <a:noAutofit/>
                    </a:bodyPr>
                    <a:lstStyle/>
                    <a:p>
                      <a:pPr algn="r"/>
                      <a:r>
                        <a:rPr sz="1950" b="0">
                          <a:solidFill>
                            <a:srgbClr val="14281D"/>
                          </a:solidFill>
                          <a:latin typeface="Arial"/>
                          <a:ea typeface="Arial"/>
                          <a:cs typeface="Arial"/>
                        </a:rPr>
                        <a:t>$0.20</a:t>
                      </a:r>
                    </a:p>
                  </a:txBody>
                  <a:tcPr marL="91440" marR="91440" marT="45720" marB="45720" anchor="ctr">
                    <a:solidFill>
                      <a:srgbClr val="FFFFFF"/>
                    </a:solidFill>
                  </a:tcPr>
                </a:tc>
                <a:tc>
                  <a:txBody>
                    <a:bodyPr lIns="114300" tIns="76200" rIns="114300" bIns="76200">
                      <a:noAutofit/>
                    </a:bodyPr>
                    <a:lstStyle/>
                    <a:p>
                      <a:pPr algn="r"/>
                      <a:r>
                        <a:rPr sz="1950" b="0">
                          <a:solidFill>
                            <a:srgbClr val="14281D"/>
                          </a:solidFill>
                          <a:latin typeface="Arial"/>
                          <a:ea typeface="Arial"/>
                          <a:cs typeface="Arial"/>
                        </a:rPr>
                        <a:t>$1.76</a:t>
                      </a:r>
                    </a:p>
                  </a:txBody>
                  <a:tcPr marL="91440" marR="91440" marT="45720" marB="45720" anchor="ctr">
                    <a:solidFill>
                      <a:srgbClr val="FFFFFF"/>
                    </a:solidFill>
                  </a:tcPr>
                </a:tc>
              </a:tr>
              <a:tr h="575310">
                <a:tc>
                  <a:txBody>
                    <a:bodyPr lIns="114300" tIns="76200" rIns="114300" bIns="76200">
                      <a:noAutofit/>
                    </a:bodyPr>
                    <a:lstStyle/>
                    <a:p>
                      <a:pPr algn="l"/>
                      <a:r>
                        <a:rPr sz="1950" b="0">
                          <a:solidFill>
                            <a:srgbClr val="14281D"/>
                          </a:solidFill>
                          <a:latin typeface="Arial"/>
                          <a:ea typeface="Arial"/>
                          <a:cs typeface="Arial"/>
                        </a:rPr>
                        <a:t>$100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($1.14)</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$1.26</a:t>
                      </a:r>
                    </a:p>
                  </a:txBody>
                  <a:tcPr marL="91440" marR="91440" marT="45720" marB="45720" anchor="ctr">
                    <a:solidFill>
                      <a:srgbClr val="F7F5EF"/>
                    </a:solidFill>
                  </a:tcPr>
                </a:tc>
              </a:tr>
              <a:tr h="575310">
                <a:tc>
                  <a:txBody>
                    <a:bodyPr lIns="114300" tIns="76200" rIns="114300" bIns="76200">
                      <a:noAutofit/>
                    </a:bodyPr>
                    <a:lstStyle/>
                    <a:p>
                      <a:pPr algn="l"/>
                      <a:r>
                        <a:rPr sz="1950" b="0">
                          <a:solidFill>
                            <a:srgbClr val="14281D"/>
                          </a:solidFill>
                          <a:latin typeface="Arial"/>
                          <a:ea typeface="Arial"/>
                          <a:cs typeface="Arial"/>
                        </a:rPr>
                        <a:t>$250</a:t>
                      </a:r>
                    </a:p>
                  </a:txBody>
                  <a:tcPr marL="91440" marR="91440" marT="45720" marB="45720" anchor="ctr">
                    <a:solidFill>
                      <a:srgbClr val="FFFFFF"/>
                    </a:solidFill>
                  </a:tcPr>
                </a:tc>
                <a:tc>
                  <a:txBody>
                    <a:bodyPr lIns="114300" tIns="76200" rIns="114300" bIns="76200">
                      <a:noAutofit/>
                    </a:bodyPr>
                    <a:lstStyle/>
                    <a:p>
                      <a:pPr algn="r"/>
                      <a:r>
                        <a:rPr sz="1950" b="0">
                          <a:solidFill>
                            <a:srgbClr val="14281D"/>
                          </a:solidFill>
                          <a:latin typeface="Arial"/>
                          <a:ea typeface="Arial"/>
                          <a:cs typeface="Arial"/>
                        </a:rPr>
                        <a:t>($6.16)</a:t>
                      </a:r>
                    </a:p>
                  </a:txBody>
                  <a:tcPr marL="91440" marR="91440" marT="45720" marB="45720" anchor="ctr">
                    <a:solidFill>
                      <a:srgbClr val="FFFFFF"/>
                    </a:solidFill>
                  </a:tcPr>
                </a:tc>
                <a:tc>
                  <a:txBody>
                    <a:bodyPr lIns="114300" tIns="76200" rIns="114300" bIns="76200">
                      <a:noAutofit/>
                    </a:bodyPr>
                    <a:lstStyle/>
                    <a:p>
                      <a:pPr algn="r"/>
                      <a:r>
                        <a:rPr sz="1950" b="0">
                          <a:solidFill>
                            <a:srgbClr val="14281D"/>
                          </a:solidFill>
                          <a:latin typeface="Arial"/>
                          <a:ea typeface="Arial"/>
                          <a:cs typeface="Arial"/>
                        </a:rPr>
                        <a:t>($0.61)</a:t>
                      </a:r>
                    </a:p>
                  </a:txBody>
                  <a:tcPr marL="91440" marR="91440" marT="45720" marB="45720" anchor="ctr">
                    <a:solidFill>
                      <a:srgbClr val="FFFFFF"/>
                    </a:solidFill>
                  </a:tcPr>
                </a:tc>
              </a:tr>
              <a:tr h="575310">
                <a:tc>
                  <a:txBody>
                    <a:bodyPr lIns="114300" tIns="76200" rIns="114300" bIns="76200">
                      <a:noAutofit/>
                    </a:bodyPr>
                    <a:lstStyle/>
                    <a:p>
                      <a:pPr algn="l"/>
                      <a:r>
                        <a:rPr sz="1950" b="0">
                          <a:solidFill>
                            <a:srgbClr val="14281D"/>
                          </a:solidFill>
                          <a:latin typeface="Arial"/>
                          <a:ea typeface="Arial"/>
                          <a:cs typeface="Arial"/>
                        </a:rPr>
                        <a:t>$1,000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($31.29)</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($6.99)</a:t>
                      </a:r>
                    </a:p>
                  </a:txBody>
                  <a:tcPr marL="91440" marR="91440" marT="45720" marB="45720" anchor="ctr">
                    <a:solidFill>
                      <a:srgbClr val="F7F5EF"/>
                    </a:solidFill>
                  </a:tcPr>
                </a:tc>
              </a:tr>
            </a:tbl>
          </a:graphicData>
        </a:graphic>
      </p:graphicFrame>
      <p:sp>
        <p:nvSpPr>
          <p:cNvPr id="6" name="($0.52)">
            <a:extLst xmlns:a="http://schemas.openxmlformats.org/drawingml/2006/main">
              <a:ext uri="{FF2B5EF4-FFF2-40B4-BE49-F238E27FC236}">
                <a16:creationId xmlns:a16="http://schemas.microsoft.com/office/drawing/2014/main" id="{819EFB7A-E034-496B-A5A6-2913BFB1693E}"/>
              </a:ext>
            </a:extLst>
          </p:cNvPr>
          <p:cNvSpPr>
            <a:spLocks xmlns:a="http://schemas.openxmlformats.org/drawingml/2006/main" noGrp="1"/>
          </p:cNvSpPr>
          <p:nvPr/>
        </p:nvSpPr>
        <p:spPr>
          <a:xfrm xmlns:a="http://schemas.openxmlformats.org/drawingml/2006/main">
            <a:off x="9172575" y="2562225"/>
            <a:ext cx="23526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A24D3E"/>
                </a:solidFill>
                <a:latin typeface="Arial"/>
                <a:ea typeface="Arial"/>
                <a:cs typeface="Arial"/>
              </a:defRPr>
            </a:pPr>
            <a:r>
              <a:rPr sz="3600" b="1">
                <a:solidFill>
                  <a:srgbClr val="A24D3E"/>
                </a:solidFill>
                <a:latin typeface="Arial"/>
                <a:ea typeface="Arial"/>
                <a:cs typeface="Arial"/>
              </a:rPr>
              <a:t>($0.52)</a:t>
            </a:r>
          </a:p>
        </p:txBody>
      </p:sp>
      <p:sp>
        <p:nvSpPr>
          <p:cNvPr id="7" name="Average repeat contribution in the 2031 base mix">
            <a:extLst xmlns:a="http://schemas.openxmlformats.org/drawingml/2006/main">
              <a:ext uri="{FF2B5EF4-FFF2-40B4-BE49-F238E27FC236}">
                <a16:creationId xmlns:a16="http://schemas.microsoft.com/office/drawing/2014/main" id="{1056E7C1-5634-4D6F-B668-1070F94AD0EE}"/>
              </a:ext>
            </a:extLst>
          </p:cNvPr>
          <p:cNvSpPr>
            <a:spLocks xmlns:a="http://schemas.openxmlformats.org/drawingml/2006/main" noGrp="1"/>
          </p:cNvSpPr>
          <p:nvPr/>
        </p:nvSpPr>
        <p:spPr>
          <a:xfrm xmlns:a="http://schemas.openxmlformats.org/drawingml/2006/main">
            <a:off x="9191625" y="3295650"/>
            <a:ext cx="2333625"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Average repeat contribution in the 2031 base mix</a:t>
            </a:r>
          </a:p>
        </p:txBody>
      </p:sp>
      <p:sp>
        <p:nvSpPr>
          <p:cNvPr id="8" name="A larger bill does not increase the $2.99 fee">
            <a:extLst xmlns:a="http://schemas.openxmlformats.org/drawingml/2006/main">
              <a:ext uri="{FF2B5EF4-FFF2-40B4-BE49-F238E27FC236}">
                <a16:creationId xmlns:a16="http://schemas.microsoft.com/office/drawing/2014/main" id="{17908960-B88C-4537-87D7-AADD3FDDE881}"/>
              </a:ext>
            </a:extLst>
          </p:cNvPr>
          <p:cNvSpPr>
            <a:spLocks xmlns:a="http://schemas.openxmlformats.org/drawingml/2006/main" noGrp="1"/>
          </p:cNvSpPr>
          <p:nvPr/>
        </p:nvSpPr>
        <p:spPr>
          <a:xfrm xmlns:a="http://schemas.openxmlformats.org/drawingml/2006/main">
            <a:off x="628650" y="5419725"/>
            <a:ext cx="108489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A24D3E"/>
                </a:solidFill>
                <a:latin typeface="Arial"/>
                <a:ea typeface="Arial"/>
                <a:cs typeface="Arial"/>
              </a:defRPr>
            </a:pPr>
            <a:r>
              <a:rPr sz="2175" b="1">
                <a:solidFill>
                  <a:srgbClr val="A24D3E"/>
                </a:solidFill>
                <a:latin typeface="Arial"/>
                <a:ea typeface="Arial"/>
                <a:cs typeface="Arial"/>
              </a:rPr>
              <a:t>A larger bill does not increase the $2.99 fee</a:t>
            </a:r>
          </a:p>
        </p:txBody>
      </p:sp>
      <p:sp>
        <p:nvSpPr>
          <p:cNvPr id="9" name="ACH reduces payment costs, but does not make every">
            <a:extLst xmlns:a="http://schemas.openxmlformats.org/drawingml/2006/main">
              <a:ext uri="{FF2B5EF4-FFF2-40B4-BE49-F238E27FC236}">
                <a16:creationId xmlns:a16="http://schemas.microsoft.com/office/drawing/2014/main" id="{84F1093A-C56F-4E5C-8215-45FC6546D870}"/>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ACH reduces payment costs, but does not make every large job profitable. Processing uses the full bill. Payout fees use provider proceeds. Initial bank-link setup is excluded.</a:t>
            </a:r>
          </a:p>
        </p:txBody>
      </p:sp>
    </p:spTree>
    <p:extLst>
      <p:ext uri="{BB962C8B-B14F-4D97-AF65-F5344CB8AC3E}">
        <p14:creationId xmlns:p14="http://schemas.microsoft.com/office/powerpoint/2010/main" val="1983187429"/>
      </p:ext>
    </p:extLst>
  </p:cSld>
</p:sld>
</file>

<file path=ppt/slides/slide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60 is the starting price for basic mowing">
            <a:extLst xmlns:a="http://schemas.openxmlformats.org/drawingml/2006/main">
              <a:ext uri="{FF2B5EF4-FFF2-40B4-BE49-F238E27FC236}">
                <a16:creationId xmlns:a16="http://schemas.microsoft.com/office/drawing/2014/main" id="{2815F972-51C4-46F1-9F4E-4AF6646FB94E}"/>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$60 is the starting price for basic mowing</a:t>
            </a:r>
          </a:p>
        </p:txBody>
      </p:sp>
      <p:sp>
        <p:nvSpPr>
          <p:cNvPr id="2" name="Illustrative 2027 inputs before neighborhood and p">
            <a:extLst xmlns:a="http://schemas.openxmlformats.org/drawingml/2006/main">
              <a:ext uri="{FF2B5EF4-FFF2-40B4-BE49-F238E27FC236}">
                <a16:creationId xmlns:a16="http://schemas.microsoft.com/office/drawing/2014/main" id="{A92B5A50-6A0B-47DA-B828-955573AD3583}"/>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Illustrative 2027 inputs before neighborhood and property adjustments. These are assumptions, not provider quotes.</a:t>
            </a:r>
          </a:p>
        </p:txBody>
      </p:sp>
      <p:sp>
        <p:nvSpPr>
          <p:cNvPr id="3" name="YardMatch">
            <a:extLst xmlns:a="http://schemas.openxmlformats.org/drawingml/2006/main">
              <a:ext uri="{FF2B5EF4-FFF2-40B4-BE49-F238E27FC236}">
                <a16:creationId xmlns:a16="http://schemas.microsoft.com/office/drawing/2014/main" id="{4EFC12DA-D97D-496C-9630-D0675630A313}"/>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9">
            <a:extLst xmlns:a="http://schemas.openxmlformats.org/drawingml/2006/main">
              <a:ext uri="{FF2B5EF4-FFF2-40B4-BE49-F238E27FC236}">
                <a16:creationId xmlns:a16="http://schemas.microsoft.com/office/drawing/2014/main" id="{608F6B33-FD6F-43CA-872D-ABF6149C6365}"/>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09</a:t>
            </a:r>
          </a:p>
        </p:txBody>
      </p:sp>
      <p:graphicFrame>
        <p:nvGraphicFramePr>
          <p:cNvPr id="11" name=""/>
          <p:cNvGraphicFramePr/>
          <p:nvPr/>
        </p:nvGraphicFramePr>
        <p:xfrm>
          <a:off xmlns:a="http://schemas.openxmlformats.org/drawingml/2006/main" x="609600" y="2352675"/>
          <a:ext xmlns:a="http://schemas.openxmlformats.org/drawingml/2006/main" cx="10972800" cy="3381375"/>
        </p:xfrm>
        <a:graphic xmlns:a="http://schemas.openxmlformats.org/drawingml/2006/main">
          <a:graphicData uri="http://schemas.openxmlformats.org/drawingml/2006/table">
            <a:tbl>
              <a:tblPr/>
              <a:tblGrid>
                <a:gridCol w="5429250"/>
                <a:gridCol w="1905000"/>
                <a:gridCol w="3638550"/>
              </a:tblGrid>
              <a:tr h="563563">
                <a:tc>
                  <a:txBody>
                    <a:bodyPr lIns="114300" tIns="76200" rIns="114300" bIns="76200">
                      <a:noAutofit/>
                    </a:bodyPr>
                    <a:lstStyle/>
                    <a:p>
                      <a:pPr algn="l"/>
                      <a:r>
                        <a:rPr sz="1800" b="1">
                          <a:solidFill>
                            <a:srgbClr val="FFFFFF"/>
                          </a:solidFill>
                          <a:latin typeface="Arial"/>
                          <a:ea typeface="Arial"/>
                          <a:cs typeface="Arial"/>
                        </a:rPr>
                        <a:t>Service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Starting price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Scheduled jobs / household</a:t>
                      </a:r>
                    </a:p>
                  </a:txBody>
                  <a:tcPr marL="91440" marR="91440" marT="45720" marB="45720" anchor="ctr">
                    <a:solidFill>
                      <a:srgbClr val="205938"/>
                    </a:solidFill>
                  </a:tcPr>
                </a:tc>
              </a:tr>
              <a:tr h="563563">
                <a:tc>
                  <a:txBody>
                    <a:bodyPr lIns="114300" tIns="76200" rIns="114300" bIns="76200">
                      <a:noAutofit/>
                    </a:bodyPr>
                    <a:lstStyle/>
                    <a:p>
                      <a:pPr algn="l"/>
                      <a:r>
                        <a:rPr sz="1800" b="0">
                          <a:solidFill>
                            <a:srgbClr val="14281D"/>
                          </a:solidFill>
                          <a:latin typeface="Arial"/>
                          <a:ea typeface="Arial"/>
                          <a:cs typeface="Arial"/>
                        </a:rPr>
                        <a:t>Basic mowing</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$60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12.00</a:t>
                      </a:r>
                    </a:p>
                  </a:txBody>
                  <a:tcPr marL="91440" marR="91440" marT="45720" marB="45720" anchor="ctr">
                    <a:solidFill>
                      <a:srgbClr val="FFFFFF"/>
                    </a:solidFill>
                  </a:tcPr>
                </a:tc>
              </a:tr>
              <a:tr h="563563">
                <a:tc>
                  <a:txBody>
                    <a:bodyPr lIns="114300" tIns="76200" rIns="114300" bIns="76200">
                      <a:noAutofit/>
                    </a:bodyPr>
                    <a:lstStyle/>
                    <a:p>
                      <a:pPr algn="l"/>
                      <a:r>
                        <a:rPr sz="1800" b="0">
                          <a:solidFill>
                            <a:srgbClr val="14281D"/>
                          </a:solidFill>
                          <a:latin typeface="Arial"/>
                          <a:ea typeface="Arial"/>
                          <a:cs typeface="Arial"/>
                        </a:rPr>
                        <a:t>Mowing + edging / trimming</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$85</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6.00</a:t>
                      </a:r>
                    </a:p>
                  </a:txBody>
                  <a:tcPr marL="91440" marR="91440" marT="45720" marB="45720" anchor="ctr">
                    <a:solidFill>
                      <a:srgbClr val="F7F5EF"/>
                    </a:solidFill>
                  </a:tcPr>
                </a:tc>
              </a:tr>
              <a:tr h="563563">
                <a:tc>
                  <a:txBody>
                    <a:bodyPr lIns="114300" tIns="76200" rIns="114300" bIns="76200">
                      <a:noAutofit/>
                    </a:bodyPr>
                    <a:lstStyle/>
                    <a:p>
                      <a:pPr algn="l"/>
                      <a:r>
                        <a:rPr sz="1800" b="0">
                          <a:solidFill>
                            <a:srgbClr val="14281D"/>
                          </a:solidFill>
                          <a:latin typeface="Arial"/>
                          <a:ea typeface="Arial"/>
                          <a:cs typeface="Arial"/>
                        </a:rPr>
                        <a:t>Expanded maintenance bundle</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$120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2.00</a:t>
                      </a:r>
                    </a:p>
                  </a:txBody>
                  <a:tcPr marL="91440" marR="91440" marT="45720" marB="45720" anchor="ctr">
                    <a:solidFill>
                      <a:srgbClr val="FFFFFF"/>
                    </a:solidFill>
                  </a:tcPr>
                </a:tc>
              </a:tr>
              <a:tr h="563563">
                <a:tc>
                  <a:txBody>
                    <a:bodyPr lIns="114300" tIns="76200" rIns="114300" bIns="76200">
                      <a:noAutofit/>
                    </a:bodyPr>
                    <a:lstStyle/>
                    <a:p>
                      <a:pPr algn="l"/>
                      <a:r>
                        <a:rPr sz="1800" b="0">
                          <a:solidFill>
                            <a:srgbClr val="14281D"/>
                          </a:solidFill>
                          <a:latin typeface="Arial"/>
                          <a:ea typeface="Arial"/>
                          <a:cs typeface="Arial"/>
                        </a:rPr>
                        <a:t>Mulch / seasonal cleanup</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$300</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0.60</a:t>
                      </a:r>
                    </a:p>
                  </a:txBody>
                  <a:tcPr marL="91440" marR="91440" marT="45720" marB="45720" anchor="ctr">
                    <a:solidFill>
                      <a:srgbClr val="F7F5EF"/>
                    </a:solidFill>
                  </a:tcPr>
                </a:tc>
              </a:tr>
              <a:tr h="563563">
                <a:tc>
                  <a:txBody>
                    <a:bodyPr lIns="114300" tIns="76200" rIns="114300" bIns="76200">
                      <a:noAutofit/>
                    </a:bodyPr>
                    <a:lstStyle/>
                    <a:p>
                      <a:pPr algn="l"/>
                      <a:r>
                        <a:rPr sz="1800" b="0">
                          <a:solidFill>
                            <a:srgbClr val="14281D"/>
                          </a:solidFill>
                          <a:latin typeface="Arial"/>
                          <a:ea typeface="Arial"/>
                          <a:cs typeface="Arial"/>
                        </a:rPr>
                        <a:t>Tree / larger property project</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$1,000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0.03</a:t>
                      </a:r>
                    </a:p>
                  </a:txBody>
                  <a:tcPr marL="91440" marR="91440" marT="45720" marB="45720" anchor="ctr">
                    <a:solidFill>
                      <a:srgbClr val="FFFFFF"/>
                    </a:solidFill>
                  </a:tcPr>
                </a:tc>
              </a:tr>
            </a:tbl>
          </a:graphicData>
        </a:graphic>
      </p:graphicFrame>
      <p:sp>
        <p:nvSpPr>
          <p:cNvPr id="6" name="2027 base: 20 maintenance visits plus 0.63 project">
            <a:extLst xmlns:a="http://schemas.openxmlformats.org/drawingml/2006/main">
              <a:ext uri="{FF2B5EF4-FFF2-40B4-BE49-F238E27FC236}">
                <a16:creationId xmlns:a16="http://schemas.microsoft.com/office/drawing/2014/main" id="{4D120D30-1D55-4E06-A4D9-B0897BBF2CD2}"/>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2027 base: 20 maintenance visits plus 0.63 project jobs per full-season household before capture and completion. Bundles count once. Project visits add $2.99, with no extra finder fee for the same provider.</a:t>
            </a:r>
          </a:p>
        </p:txBody>
      </p:sp>
    </p:spTree>
    <p:extLst>
      <p:ext uri="{BB962C8B-B14F-4D97-AF65-F5344CB8AC3E}">
        <p14:creationId xmlns:p14="http://schemas.microsoft.com/office/powerpoint/2010/main" val="1109144507"/>
      </p:ext>
    </p:extLst>
  </p:cSld>
</p:sld>
</file>

<file path=ppt/slides/slide1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Property and neighborhood affect the ticket">
            <a:extLst xmlns:a="http://schemas.openxmlformats.org/drawingml/2006/main">
              <a:ext uri="{FF2B5EF4-FFF2-40B4-BE49-F238E27FC236}">
                <a16:creationId xmlns:a16="http://schemas.microsoft.com/office/drawing/2014/main" id="{10507958-61C1-409B-B59D-4BF5042DC29E}"/>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Property and neighborhood affect the ticket</a:t>
            </a:r>
          </a:p>
        </p:txBody>
      </p:sp>
      <p:sp>
        <p:nvSpPr>
          <p:cNvPr id="2" name="Mix shifts, larger properties and 3% annual price ">
            <a:extLst xmlns:a="http://schemas.openxmlformats.org/drawingml/2006/main">
              <a:ext uri="{FF2B5EF4-FFF2-40B4-BE49-F238E27FC236}">
                <a16:creationId xmlns:a16="http://schemas.microsoft.com/office/drawing/2014/main" id="{5CB8AF1D-CFFB-45A8-A2C4-4A38DC60FF4F}"/>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Mix shifts, larger properties and 3% annual price escalation lift the weighted average over time.</a:t>
            </a:r>
          </a:p>
        </p:txBody>
      </p:sp>
      <p:sp>
        <p:nvSpPr>
          <p:cNvPr id="3" name="YardMatch">
            <a:extLst xmlns:a="http://schemas.openxmlformats.org/drawingml/2006/main">
              <a:ext uri="{FF2B5EF4-FFF2-40B4-BE49-F238E27FC236}">
                <a16:creationId xmlns:a16="http://schemas.microsoft.com/office/drawing/2014/main" id="{A194788B-31A3-4920-AAF1-4A3D65A24D57}"/>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0">
            <a:extLst xmlns:a="http://schemas.openxmlformats.org/drawingml/2006/main">
              <a:ext uri="{FF2B5EF4-FFF2-40B4-BE49-F238E27FC236}">
                <a16:creationId xmlns:a16="http://schemas.microsoft.com/office/drawing/2014/main" id="{07F8D132-1661-4B62-9280-AE6EB5C09E3E}"/>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10</a:t>
            </a:r>
          </a:p>
        </p:txBody>
      </p:sp>
      <p:sp>
        <p:nvSpPr>
          <p:cNvPr id="5" name="Neighborhood">
            <a:extLst xmlns:a="http://schemas.openxmlformats.org/drawingml/2006/main">
              <a:ext uri="{FF2B5EF4-FFF2-40B4-BE49-F238E27FC236}">
                <a16:creationId xmlns:a16="http://schemas.microsoft.com/office/drawing/2014/main" id="{BB8253DD-C0FF-46C3-AAFB-F1AAEFAD0F7D}"/>
              </a:ext>
            </a:extLst>
          </p:cNvPr>
          <p:cNvSpPr>
            <a:spLocks xmlns:a="http://schemas.openxmlformats.org/drawingml/2006/main" noGrp="1"/>
          </p:cNvSpPr>
          <p:nvPr/>
        </p:nvSpPr>
        <p:spPr>
          <a:xfrm xmlns:a="http://schemas.openxmlformats.org/drawingml/2006/main">
            <a:off x="628650" y="2343150"/>
            <a:ext cx="4572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5938"/>
                </a:solidFill>
                <a:latin typeface="Arial"/>
                <a:ea typeface="Arial"/>
                <a:cs typeface="Arial"/>
              </a:defRPr>
            </a:pPr>
            <a:r>
              <a:rPr sz="2025" b="1">
                <a:solidFill>
                  <a:srgbClr val="205938"/>
                </a:solidFill>
                <a:latin typeface="Arial"/>
                <a:ea typeface="Arial"/>
                <a:cs typeface="Arial"/>
              </a:rPr>
              <a:t>Neighborhood</a:t>
            </a:r>
          </a:p>
        </p:txBody>
      </p:sp>
      <p:sp>
        <p:nvSpPr>
          <p:cNvPr id="6" name="Standard, +15%, or +30% pricing">
            <a:extLst xmlns:a="http://schemas.openxmlformats.org/drawingml/2006/main">
              <a:ext uri="{FF2B5EF4-FFF2-40B4-BE49-F238E27FC236}">
                <a16:creationId xmlns:a16="http://schemas.microsoft.com/office/drawing/2014/main" id="{FAACC015-28B3-40C7-A05A-BAF124677214}"/>
              </a:ext>
            </a:extLst>
          </p:cNvPr>
          <p:cNvSpPr>
            <a:spLocks xmlns:a="http://schemas.openxmlformats.org/drawingml/2006/main" noGrp="1"/>
          </p:cNvSpPr>
          <p:nvPr/>
        </p:nvSpPr>
        <p:spPr>
          <a:xfrm xmlns:a="http://schemas.openxmlformats.org/drawingml/2006/main">
            <a:off x="628650" y="2809875"/>
            <a:ext cx="51720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Standard, +15%, or +30% pricing</a:t>
            </a:r>
          </a:p>
        </p:txBody>
      </p:sp>
      <p:sp>
        <p:nvSpPr>
          <p:cNvPr id="7" name="Property size">
            <a:extLst xmlns:a="http://schemas.openxmlformats.org/drawingml/2006/main">
              <a:ext uri="{FF2B5EF4-FFF2-40B4-BE49-F238E27FC236}">
                <a16:creationId xmlns:a16="http://schemas.microsoft.com/office/drawing/2014/main" id="{7FDADAB5-BFC8-46A2-933F-673727F877AA}"/>
              </a:ext>
            </a:extLst>
          </p:cNvPr>
          <p:cNvSpPr>
            <a:spLocks xmlns:a="http://schemas.openxmlformats.org/drawingml/2006/main" noGrp="1"/>
          </p:cNvSpPr>
          <p:nvPr/>
        </p:nvSpPr>
        <p:spPr>
          <a:xfrm xmlns:a="http://schemas.openxmlformats.org/drawingml/2006/main">
            <a:off x="6381750" y="2343150"/>
            <a:ext cx="4572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5938"/>
                </a:solidFill>
                <a:latin typeface="Arial"/>
                <a:ea typeface="Arial"/>
                <a:cs typeface="Arial"/>
              </a:defRPr>
            </a:pPr>
            <a:r>
              <a:rPr sz="2025" b="1">
                <a:solidFill>
                  <a:srgbClr val="205938"/>
                </a:solidFill>
                <a:latin typeface="Arial"/>
                <a:ea typeface="Arial"/>
                <a:cs typeface="Arial"/>
              </a:rPr>
              <a:t>Property size</a:t>
            </a:r>
          </a:p>
        </p:txBody>
      </p:sp>
      <p:sp>
        <p:nvSpPr>
          <p:cNvPr id="8" name="Typical, +35%, or +80% pricing">
            <a:extLst xmlns:a="http://schemas.openxmlformats.org/drawingml/2006/main">
              <a:ext uri="{FF2B5EF4-FFF2-40B4-BE49-F238E27FC236}">
                <a16:creationId xmlns:a16="http://schemas.microsoft.com/office/drawing/2014/main" id="{9D0D40D6-2324-4F9F-B218-24297F647C01}"/>
              </a:ext>
            </a:extLst>
          </p:cNvPr>
          <p:cNvSpPr>
            <a:spLocks xmlns:a="http://schemas.openxmlformats.org/drawingml/2006/main" noGrp="1"/>
          </p:cNvSpPr>
          <p:nvPr/>
        </p:nvSpPr>
        <p:spPr>
          <a:xfrm xmlns:a="http://schemas.openxmlformats.org/drawingml/2006/main">
            <a:off x="6381750" y="2809875"/>
            <a:ext cx="51720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Typical, +35%, or +80% pricing</a:t>
            </a:r>
          </a:p>
        </p:txBody>
      </p:sp>
      <p:graphicFrame>
        <p:nvGraphicFramePr>
          <p:cNvPr id="19" name=""/>
          <p:cNvGraphicFramePr/>
          <p:nvPr/>
        </p:nvGraphicFramePr>
        <p:xfrm>
          <a:off xmlns:a="http://schemas.openxmlformats.org/drawingml/2006/main" x="609600" y="3524250"/>
          <a:ext xmlns:a="http://schemas.openxmlformats.org/drawingml/2006/main" cx="10972800" cy="2162175"/>
        </p:xfrm>
        <a:graphic xmlns:a="http://schemas.openxmlformats.org/drawingml/2006/main">
          <a:graphicData uri="http://schemas.openxmlformats.org/drawingml/2006/table">
            <a:tbl>
              <a:tblPr/>
              <a:tblGrid>
                <a:gridCol w="4857750"/>
                <a:gridCol w="2038350"/>
                <a:gridCol w="2038350"/>
                <a:gridCol w="2038350"/>
              </a:tblGrid>
              <a:tr h="540544">
                <a:tc>
                  <a:txBody>
                    <a:bodyPr lIns="114300" tIns="76200" rIns="114300" bIns="76200">
                      <a:noAutofit/>
                    </a:bodyPr>
                    <a:lstStyle/>
                    <a:p>
                      <a:pPr algn="l"/>
                      <a:r>
                        <a:rPr sz="1875" b="1">
                          <a:solidFill>
                            <a:srgbClr val="FFFFFF"/>
                          </a:solidFill>
                          <a:latin typeface="Arial"/>
                          <a:ea typeface="Arial"/>
                          <a:cs typeface="Arial"/>
                        </a:rPr>
                        <a:t>Base case</a:t>
                      </a:r>
                    </a:p>
                  </a:txBody>
                  <a:tcPr marL="91440" marR="91440" marT="45720" marB="45720" anchor="ctr">
                    <a:solidFill>
                      <a:srgbClr val="205938"/>
                    </a:solidFill>
                  </a:tcPr>
                </a:tc>
                <a:tc>
                  <a:txBody>
                    <a:bodyPr lIns="114300" tIns="76200" rIns="114300" bIns="76200">
                      <a:noAutofit/>
                    </a:bodyPr>
                    <a:lstStyle/>
                    <a:p>
                      <a:pPr algn="r"/>
                      <a:r>
                        <a:rPr sz="1875" b="1">
                          <a:solidFill>
                            <a:srgbClr val="FFFFFF"/>
                          </a:solidFill>
                          <a:latin typeface="Arial"/>
                          <a:ea typeface="Arial"/>
                          <a:cs typeface="Arial"/>
                        </a:rPr>
                        <a:t>2027</a:t>
                      </a:r>
                    </a:p>
                  </a:txBody>
                  <a:tcPr marL="91440" marR="91440" marT="45720" marB="45720" anchor="ctr">
                    <a:solidFill>
                      <a:srgbClr val="205938"/>
                    </a:solidFill>
                  </a:tcPr>
                </a:tc>
                <a:tc>
                  <a:txBody>
                    <a:bodyPr lIns="114300" tIns="76200" rIns="114300" bIns="76200">
                      <a:noAutofit/>
                    </a:bodyPr>
                    <a:lstStyle/>
                    <a:p>
                      <a:pPr algn="r"/>
                      <a:r>
                        <a:rPr sz="1875" b="1">
                          <a:solidFill>
                            <a:srgbClr val="FFFFFF"/>
                          </a:solidFill>
                          <a:latin typeface="Arial"/>
                          <a:ea typeface="Arial"/>
                          <a:cs typeface="Arial"/>
                        </a:rPr>
                        <a:t>2030</a:t>
                      </a:r>
                    </a:p>
                  </a:txBody>
                  <a:tcPr marL="91440" marR="91440" marT="45720" marB="45720" anchor="ctr">
                    <a:solidFill>
                      <a:srgbClr val="205938"/>
                    </a:solidFill>
                  </a:tcPr>
                </a:tc>
                <a:tc>
                  <a:txBody>
                    <a:bodyPr lIns="114300" tIns="76200" rIns="114300" bIns="76200">
                      <a:noAutofit/>
                    </a:bodyPr>
                    <a:lstStyle/>
                    <a:p>
                      <a:pPr algn="r"/>
                      <a:r>
                        <a:rPr sz="1875" b="1">
                          <a:solidFill>
                            <a:srgbClr val="FFFFFF"/>
                          </a:solidFill>
                          <a:latin typeface="Arial"/>
                          <a:ea typeface="Arial"/>
                          <a:cs typeface="Arial"/>
                        </a:rPr>
                        <a:t>2033</a:t>
                      </a:r>
                    </a:p>
                  </a:txBody>
                  <a:tcPr marL="91440" marR="91440" marT="45720" marB="45720" anchor="ctr">
                    <a:solidFill>
                      <a:srgbClr val="205938"/>
                    </a:solidFill>
                  </a:tcPr>
                </a:tc>
              </a:tr>
              <a:tr h="540544">
                <a:tc>
                  <a:txBody>
                    <a:bodyPr lIns="114300" tIns="76200" rIns="114300" bIns="76200">
                      <a:noAutofit/>
                    </a:bodyPr>
                    <a:lstStyle/>
                    <a:p>
                      <a:pPr algn="l"/>
                      <a:r>
                        <a:rPr sz="1875" b="0">
                          <a:solidFill>
                            <a:srgbClr val="14281D"/>
                          </a:solidFill>
                          <a:latin typeface="Arial"/>
                          <a:ea typeface="Arial"/>
                          <a:cs typeface="Arial"/>
                        </a:rPr>
                        <a:t>Maintenance average price</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$87.22</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$102.84</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$121.00</a:t>
                      </a:r>
                    </a:p>
                  </a:txBody>
                  <a:tcPr marL="91440" marR="91440" marT="45720" marB="45720" anchor="ctr">
                    <a:solidFill>
                      <a:srgbClr val="FFFFFF"/>
                    </a:solidFill>
                  </a:tcPr>
                </a:tc>
              </a:tr>
              <a:tr h="540544">
                <a:tc>
                  <a:txBody>
                    <a:bodyPr lIns="114300" tIns="76200" rIns="114300" bIns="76200">
                      <a:noAutofit/>
                    </a:bodyPr>
                    <a:lstStyle/>
                    <a:p>
                      <a:pPr algn="l"/>
                      <a:r>
                        <a:rPr sz="1875" b="1">
                          <a:solidFill>
                            <a:srgbClr val="14281D"/>
                          </a:solidFill>
                          <a:latin typeface="Arial"/>
                          <a:ea typeface="Arial"/>
                          <a:cs typeface="Arial"/>
                        </a:rPr>
                        <a:t>All-job average price</a:t>
                      </a:r>
                    </a:p>
                  </a:txBody>
                  <a:tcPr marL="91440" marR="91440" marT="45720" marB="45720" anchor="ctr">
                    <a:solidFill>
                      <a:srgbClr val="E8EDDF"/>
                    </a:solidFill>
                  </a:tcPr>
                </a:tc>
                <a:tc>
                  <a:txBody>
                    <a:bodyPr lIns="114300" tIns="76200" rIns="114300" bIns="76200">
                      <a:noAutofit/>
                    </a:bodyPr>
                    <a:lstStyle/>
                    <a:p>
                      <a:pPr algn="r"/>
                      <a:r>
                        <a:rPr sz="1875" b="1">
                          <a:solidFill>
                            <a:srgbClr val="14281D"/>
                          </a:solidFill>
                          <a:latin typeface="Arial"/>
                          <a:ea typeface="Arial"/>
                          <a:cs typeface="Arial"/>
                        </a:rPr>
                        <a:t>$96.64</a:t>
                      </a:r>
                    </a:p>
                  </a:txBody>
                  <a:tcPr marL="91440" marR="91440" marT="45720" marB="45720" anchor="ctr">
                    <a:solidFill>
                      <a:srgbClr val="E8EDDF"/>
                    </a:solidFill>
                  </a:tcPr>
                </a:tc>
                <a:tc>
                  <a:txBody>
                    <a:bodyPr lIns="114300" tIns="76200" rIns="114300" bIns="76200">
                      <a:noAutofit/>
                    </a:bodyPr>
                    <a:lstStyle/>
                    <a:p>
                      <a:pPr algn="r"/>
                      <a:r>
                        <a:rPr sz="1875" b="1">
                          <a:solidFill>
                            <a:srgbClr val="14281D"/>
                          </a:solidFill>
                          <a:latin typeface="Arial"/>
                          <a:ea typeface="Arial"/>
                          <a:cs typeface="Arial"/>
                        </a:rPr>
                        <a:t>$118.00</a:t>
                      </a:r>
                    </a:p>
                  </a:txBody>
                  <a:tcPr marL="91440" marR="91440" marT="45720" marB="45720" anchor="ctr">
                    <a:solidFill>
                      <a:srgbClr val="E8EDDF"/>
                    </a:solidFill>
                  </a:tcPr>
                </a:tc>
                <a:tc>
                  <a:txBody>
                    <a:bodyPr lIns="114300" tIns="76200" rIns="114300" bIns="76200">
                      <a:noAutofit/>
                    </a:bodyPr>
                    <a:lstStyle/>
                    <a:p>
                      <a:pPr algn="r"/>
                      <a:r>
                        <a:rPr sz="1875" b="1">
                          <a:solidFill>
                            <a:srgbClr val="14281D"/>
                          </a:solidFill>
                          <a:latin typeface="Arial"/>
                          <a:ea typeface="Arial"/>
                          <a:cs typeface="Arial"/>
                        </a:rPr>
                        <a:t>$142.41</a:t>
                      </a:r>
                    </a:p>
                  </a:txBody>
                  <a:tcPr marL="91440" marR="91440" marT="45720" marB="45720" anchor="ctr">
                    <a:solidFill>
                      <a:srgbClr val="E8EDDF"/>
                    </a:solidFill>
                  </a:tcPr>
                </a:tc>
              </a:tr>
              <a:tr h="540544">
                <a:tc>
                  <a:txBody>
                    <a:bodyPr lIns="114300" tIns="76200" rIns="114300" bIns="76200">
                      <a:noAutofit/>
                    </a:bodyPr>
                    <a:lstStyle/>
                    <a:p>
                      <a:pPr algn="l"/>
                      <a:r>
                        <a:rPr sz="1875" b="0">
                          <a:solidFill>
                            <a:srgbClr val="14281D"/>
                          </a:solidFill>
                          <a:latin typeface="Arial"/>
                          <a:ea typeface="Arial"/>
                          <a:cs typeface="Arial"/>
                        </a:rPr>
                        <a:t>Separate projects / household</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0.63</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0.86</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1.08</a:t>
                      </a:r>
                    </a:p>
                  </a:txBody>
                  <a:tcPr marL="91440" marR="91440" marT="45720" marB="45720" anchor="ctr">
                    <a:solidFill>
                      <a:srgbClr val="FFFFFF"/>
                    </a:solidFill>
                  </a:tcPr>
                </a:tc>
              </a:tr>
            </a:tbl>
          </a:graphicData>
        </a:graphic>
      </p:graphicFrame>
      <p:sp>
        <p:nvSpPr>
          <p:cNvPr id="10" name="Multipliers compound. Example: $85 bundle × 1.15 n">
            <a:extLst xmlns:a="http://schemas.openxmlformats.org/drawingml/2006/main">
              <a:ext uri="{FF2B5EF4-FFF2-40B4-BE49-F238E27FC236}">
                <a16:creationId xmlns:a16="http://schemas.microsoft.com/office/drawing/2014/main" id="{2F124E78-AF5A-4226-981F-587BD6444732}"/>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Multipliers compound. Example: $85 bundle × 1.15 neighborhood × 1.35 property = $131.96 before later-year escalation. Mix and pricing assumptions are editable in the workbook.</a:t>
            </a:r>
          </a:p>
        </p:txBody>
      </p:sp>
    </p:spTree>
    <p:extLst>
      <p:ext uri="{BB962C8B-B14F-4D97-AF65-F5344CB8AC3E}">
        <p14:creationId xmlns:p14="http://schemas.microsoft.com/office/powerpoint/2010/main" val="1230013946"/>
      </p:ext>
    </p:extLst>
  </p:cSld>
</p:sld>
</file>

<file path=ppt/slides/slide1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Barnegat is a starting market">
            <a:extLst xmlns:a="http://schemas.openxmlformats.org/drawingml/2006/main">
              <a:ext uri="{FF2B5EF4-FFF2-40B4-BE49-F238E27FC236}">
                <a16:creationId xmlns:a16="http://schemas.microsoft.com/office/drawing/2014/main" id="{12C33359-EB46-43E9-B6DE-596C9326A8CC}"/>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Barnegat is a starting market</a:t>
            </a:r>
          </a:p>
        </p:txBody>
      </p:sp>
      <p:sp>
        <p:nvSpPr>
          <p:cNvPr id="2" name="The investment case requires expansion into many l">
            <a:extLst xmlns:a="http://schemas.openxmlformats.org/drawingml/2006/main">
              <a:ext uri="{FF2B5EF4-FFF2-40B4-BE49-F238E27FC236}">
                <a16:creationId xmlns:a16="http://schemas.microsoft.com/office/drawing/2014/main" id="{D47D9D30-8780-43F8-AA73-EDF6DF8944D0}"/>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investment case requires expansion into many local markets after the first market works.</a:t>
            </a:r>
          </a:p>
        </p:txBody>
      </p:sp>
      <p:sp>
        <p:nvSpPr>
          <p:cNvPr id="3" name="YardMatch">
            <a:extLst xmlns:a="http://schemas.openxmlformats.org/drawingml/2006/main">
              <a:ext uri="{FF2B5EF4-FFF2-40B4-BE49-F238E27FC236}">
                <a16:creationId xmlns:a16="http://schemas.microsoft.com/office/drawing/2014/main" id="{EB00F90E-FAD2-4DCF-8096-6D5699210209}"/>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1">
            <a:extLst xmlns:a="http://schemas.openxmlformats.org/drawingml/2006/main">
              <a:ext uri="{FF2B5EF4-FFF2-40B4-BE49-F238E27FC236}">
                <a16:creationId xmlns:a16="http://schemas.microsoft.com/office/drawing/2014/main" id="{9B42A599-9F48-4F77-BC7A-48D23AF6FB22}"/>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11</a:t>
            </a:r>
          </a:p>
        </p:txBody>
      </p:sp>
      <p:sp>
        <p:nvSpPr>
          <p:cNvPr id="5" name="10,265">
            <a:extLst xmlns:a="http://schemas.openxmlformats.org/drawingml/2006/main">
              <a:ext uri="{FF2B5EF4-FFF2-40B4-BE49-F238E27FC236}">
                <a16:creationId xmlns:a16="http://schemas.microsoft.com/office/drawing/2014/main" id="{7784D9C8-67DF-434C-A8C2-AD25DA5556F0}"/>
              </a:ext>
            </a:extLst>
          </p:cNvPr>
          <p:cNvSpPr>
            <a:spLocks xmlns:a="http://schemas.openxmlformats.org/drawingml/2006/main" noGrp="1"/>
          </p:cNvSpPr>
          <p:nvPr/>
        </p:nvSpPr>
        <p:spPr>
          <a:xfrm xmlns:a="http://schemas.openxmlformats.org/drawingml/2006/main">
            <a:off x="628650" y="2400300"/>
            <a:ext cx="4667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205938"/>
                </a:solidFill>
                <a:latin typeface="Arial"/>
                <a:ea typeface="Arial"/>
                <a:cs typeface="Arial"/>
              </a:defRPr>
            </a:pPr>
            <a:r>
              <a:rPr sz="4800" b="1">
                <a:solidFill>
                  <a:srgbClr val="205938"/>
                </a:solidFill>
                <a:latin typeface="Arial"/>
                <a:ea typeface="Arial"/>
                <a:cs typeface="Arial"/>
              </a:rPr>
              <a:t>10,265</a:t>
            </a:r>
          </a:p>
        </p:txBody>
      </p:sp>
      <p:sp>
        <p:nvSpPr>
          <p:cNvPr id="6" name="Barnegat households">
            <a:extLst xmlns:a="http://schemas.openxmlformats.org/drawingml/2006/main">
              <a:ext uri="{FF2B5EF4-FFF2-40B4-BE49-F238E27FC236}">
                <a16:creationId xmlns:a16="http://schemas.microsoft.com/office/drawing/2014/main" id="{C719354E-043B-4203-94BF-BE62A72A3991}"/>
              </a:ext>
            </a:extLst>
          </p:cNvPr>
          <p:cNvSpPr>
            <a:spLocks xmlns:a="http://schemas.openxmlformats.org/drawingml/2006/main" noGrp="1"/>
          </p:cNvSpPr>
          <p:nvPr/>
        </p:nvSpPr>
        <p:spPr>
          <a:xfrm xmlns:a="http://schemas.openxmlformats.org/drawingml/2006/main">
            <a:off x="647700" y="3305175"/>
            <a:ext cx="4762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4281D"/>
                </a:solidFill>
                <a:latin typeface="Arial"/>
                <a:ea typeface="Arial"/>
                <a:cs typeface="Arial"/>
              </a:defRPr>
            </a:pPr>
            <a:r>
              <a:rPr sz="2175" b="0">
                <a:solidFill>
                  <a:srgbClr val="14281D"/>
                </a:solidFill>
                <a:latin typeface="Arial"/>
                <a:ea typeface="Arial"/>
                <a:cs typeface="Arial"/>
              </a:rPr>
              <a:t>Barnegat households</a:t>
            </a:r>
          </a:p>
        </p:txBody>
      </p:sp>
      <p:sp>
        <p:nvSpPr>
          <p:cNvPr id="7" name="88%">
            <a:extLst xmlns:a="http://schemas.openxmlformats.org/drawingml/2006/main">
              <a:ext uri="{FF2B5EF4-FFF2-40B4-BE49-F238E27FC236}">
                <a16:creationId xmlns:a16="http://schemas.microsoft.com/office/drawing/2014/main" id="{FED1DC2A-B8F1-483E-89AF-505B20C43DE8}"/>
              </a:ext>
            </a:extLst>
          </p:cNvPr>
          <p:cNvSpPr>
            <a:spLocks xmlns:a="http://schemas.openxmlformats.org/drawingml/2006/main" noGrp="1"/>
          </p:cNvSpPr>
          <p:nvPr/>
        </p:nvSpPr>
        <p:spPr>
          <a:xfrm xmlns:a="http://schemas.openxmlformats.org/drawingml/2006/main">
            <a:off x="6429375" y="2400300"/>
            <a:ext cx="4381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205938"/>
                </a:solidFill>
                <a:latin typeface="Arial"/>
                <a:ea typeface="Arial"/>
                <a:cs typeface="Arial"/>
              </a:defRPr>
            </a:pPr>
            <a:r>
              <a:rPr sz="4800" b="1">
                <a:solidFill>
                  <a:srgbClr val="205938"/>
                </a:solidFill>
                <a:latin typeface="Arial"/>
                <a:ea typeface="Arial"/>
                <a:cs typeface="Arial"/>
              </a:rPr>
              <a:t>88%</a:t>
            </a:r>
          </a:p>
        </p:txBody>
      </p:sp>
      <p:sp>
        <p:nvSpPr>
          <p:cNvPr id="8" name="Homes occupied by their owners">
            <a:extLst xmlns:a="http://schemas.openxmlformats.org/drawingml/2006/main">
              <a:ext uri="{FF2B5EF4-FFF2-40B4-BE49-F238E27FC236}">
                <a16:creationId xmlns:a16="http://schemas.microsoft.com/office/drawing/2014/main" id="{92704CEF-4AF0-4AC5-AAD2-B822F6609D07}"/>
              </a:ext>
            </a:extLst>
          </p:cNvPr>
          <p:cNvSpPr>
            <a:spLocks xmlns:a="http://schemas.openxmlformats.org/drawingml/2006/main" noGrp="1"/>
          </p:cNvSpPr>
          <p:nvPr/>
        </p:nvSpPr>
        <p:spPr>
          <a:xfrm xmlns:a="http://schemas.openxmlformats.org/drawingml/2006/main">
            <a:off x="6448425" y="3305175"/>
            <a:ext cx="4857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4281D"/>
                </a:solidFill>
                <a:latin typeface="Arial"/>
                <a:ea typeface="Arial"/>
                <a:cs typeface="Arial"/>
              </a:defRPr>
            </a:pPr>
            <a:r>
              <a:rPr sz="2175" b="0">
                <a:solidFill>
                  <a:srgbClr val="14281D"/>
                </a:solidFill>
                <a:latin typeface="Arial"/>
                <a:ea typeface="Arial"/>
                <a:cs typeface="Arial"/>
              </a:rPr>
              <a:t>Homes occupied by their owners</a:t>
            </a:r>
          </a:p>
        </p:txBody>
      </p:sp>
      <p:sp>
        <p:nvSpPr>
          <p:cNvPr id="9" name="500 paying households in the first forecast year">
            <a:extLst xmlns:a="http://schemas.openxmlformats.org/drawingml/2006/main">
              <a:ext uri="{FF2B5EF4-FFF2-40B4-BE49-F238E27FC236}">
                <a16:creationId xmlns:a16="http://schemas.microsoft.com/office/drawing/2014/main" id="{1320676C-F0B7-4EA7-B04F-9AD50B67F519}"/>
              </a:ext>
            </a:extLst>
          </p:cNvPr>
          <p:cNvSpPr>
            <a:spLocks xmlns:a="http://schemas.openxmlformats.org/drawingml/2006/main" noGrp="1"/>
          </p:cNvSpPr>
          <p:nvPr/>
        </p:nvSpPr>
        <p:spPr>
          <a:xfrm xmlns:a="http://schemas.openxmlformats.org/drawingml/2006/main">
            <a:off x="628650" y="4381500"/>
            <a:ext cx="108394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4281D"/>
                </a:solidFill>
                <a:latin typeface="Arial"/>
                <a:ea typeface="Arial"/>
                <a:cs typeface="Arial"/>
              </a:defRPr>
            </a:pPr>
            <a:r>
              <a:rPr sz="2550" b="1">
                <a:solidFill>
                  <a:srgbClr val="14281D"/>
                </a:solidFill>
                <a:latin typeface="Arial"/>
                <a:ea typeface="Arial"/>
                <a:cs typeface="Arial"/>
              </a:rPr>
              <a:t>500 paying households in the first forecast year</a:t>
            </a:r>
          </a:p>
        </p:txBody>
      </p:sp>
      <p:sp>
        <p:nvSpPr>
          <p:cNvPr id="10" name="About 5.5% of the roughly 9,033 owner households. ">
            <a:extLst xmlns:a="http://schemas.openxmlformats.org/drawingml/2006/main">
              <a:ext uri="{FF2B5EF4-FFF2-40B4-BE49-F238E27FC236}">
                <a16:creationId xmlns:a16="http://schemas.microsoft.com/office/drawing/2014/main" id="{AD65AADC-0B7D-42D2-B919-17CC63EAB248}"/>
              </a:ext>
            </a:extLst>
          </p:cNvPr>
          <p:cNvSpPr>
            <a:spLocks xmlns:a="http://schemas.openxmlformats.org/drawingml/2006/main" noGrp="1"/>
          </p:cNvSpPr>
          <p:nvPr/>
        </p:nvSpPr>
        <p:spPr>
          <a:xfrm xmlns:a="http://schemas.openxmlformats.org/drawingml/2006/main">
            <a:off x="647700" y="5057775"/>
            <a:ext cx="10620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About 5.5% of the roughly 9,033 owner households. Actual eligible lawns and willingness to pay remain unmeasured.</a:t>
            </a:r>
          </a:p>
        </p:txBody>
      </p:sp>
      <p:sp>
        <p:nvSpPr>
          <p:cNvPr id="11" name="Census 2020-2024 estimates. Launch target is illus">
            <a:extLst xmlns:a="http://schemas.openxmlformats.org/drawingml/2006/main">
              <a:ext uri="{FF2B5EF4-FFF2-40B4-BE49-F238E27FC236}">
                <a16:creationId xmlns:a16="http://schemas.microsoft.com/office/drawing/2014/main" id="{FCFDCC12-30B5-4776-8CE4-C214E809D197}"/>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Census 2020-2024 estimates. Launch target is illustrative. Later-year household totals require regional and multi-market expansion.</a:t>
            </a:r>
          </a:p>
        </p:txBody>
      </p:sp>
    </p:spTree>
    <p:extLst>
      <p:ext uri="{BB962C8B-B14F-4D97-AF65-F5344CB8AC3E}">
        <p14:creationId xmlns:p14="http://schemas.microsoft.com/office/powerpoint/2010/main" val="1020049774"/>
      </p:ext>
    </p:extLst>
  </p:cSld>
</p:sld>
</file>

<file path=ppt/slides/slide1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Expansion follows verified local economics">
            <a:extLst xmlns:a="http://schemas.openxmlformats.org/drawingml/2006/main">
              <a:ext uri="{FF2B5EF4-FFF2-40B4-BE49-F238E27FC236}">
                <a16:creationId xmlns:a16="http://schemas.microsoft.com/office/drawing/2014/main" id="{8DCDE94F-D191-4568-9CEA-D2CFD8B2254F}"/>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Expansion follows verified local economics</a:t>
            </a:r>
          </a:p>
        </p:txBody>
      </p:sp>
      <p:sp>
        <p:nvSpPr>
          <p:cNvPr id="2" name="A proposed sequence for acquiring supply and deman">
            <a:extLst xmlns:a="http://schemas.openxmlformats.org/drawingml/2006/main">
              <a:ext uri="{FF2B5EF4-FFF2-40B4-BE49-F238E27FC236}">
                <a16:creationId xmlns:a16="http://schemas.microsoft.com/office/drawing/2014/main" id="{69B2BD30-DE1F-44B3-B7EF-A5D4957AB9E2}"/>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 proposed sequence for acquiring supply and demand without sacrificing service reliability.</a:t>
            </a:r>
          </a:p>
        </p:txBody>
      </p:sp>
      <p:sp>
        <p:nvSpPr>
          <p:cNvPr id="3" name="YardMatch">
            <a:extLst xmlns:a="http://schemas.openxmlformats.org/drawingml/2006/main">
              <a:ext uri="{FF2B5EF4-FFF2-40B4-BE49-F238E27FC236}">
                <a16:creationId xmlns:a16="http://schemas.microsoft.com/office/drawing/2014/main" id="{CF326E66-77B8-4650-B69E-1CA9A76020C4}"/>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2">
            <a:extLst xmlns:a="http://schemas.openxmlformats.org/drawingml/2006/main">
              <a:ext uri="{FF2B5EF4-FFF2-40B4-BE49-F238E27FC236}">
                <a16:creationId xmlns:a16="http://schemas.microsoft.com/office/drawing/2014/main" id="{E7B7A572-1279-4E04-943F-15F912B27521}"/>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12</a:t>
            </a:r>
          </a:p>
        </p:txBody>
      </p:sp>
      <p:sp>
        <p:nvSpPr>
          <p:cNvPr id="5" name="1. Concentrated provider launch">
            <a:extLst xmlns:a="http://schemas.openxmlformats.org/drawingml/2006/main">
              <a:ext uri="{FF2B5EF4-FFF2-40B4-BE49-F238E27FC236}">
                <a16:creationId xmlns:a16="http://schemas.microsoft.com/office/drawing/2014/main" id="{8B1DF737-1BEA-46BA-A77F-D0AD0B795ADA}"/>
              </a:ext>
            </a:extLst>
          </p:cNvPr>
          <p:cNvSpPr>
            <a:spLocks xmlns:a="http://schemas.openxmlformats.org/drawingml/2006/main" noGrp="1"/>
          </p:cNvSpPr>
          <p:nvPr/>
        </p:nvSpPr>
        <p:spPr>
          <a:xfrm xmlns:a="http://schemas.openxmlformats.org/drawingml/2006/main">
            <a:off x="628650" y="2400300"/>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1. Concentrated provider launch</a:t>
            </a:r>
          </a:p>
        </p:txBody>
      </p:sp>
      <p:sp>
        <p:nvSpPr>
          <p:cNvPr id="6" name="Recruit qualified businesses around neighboring ro">
            <a:extLst xmlns:a="http://schemas.openxmlformats.org/drawingml/2006/main">
              <a:ext uri="{FF2B5EF4-FFF2-40B4-BE49-F238E27FC236}">
                <a16:creationId xmlns:a16="http://schemas.microsoft.com/office/drawing/2014/main" id="{08FB9D3D-4CC4-4363-8433-5FDC18BE12B6}"/>
              </a:ext>
            </a:extLst>
          </p:cNvPr>
          <p:cNvSpPr>
            <a:spLocks xmlns:a="http://schemas.openxmlformats.org/drawingml/2006/main" noGrp="1"/>
          </p:cNvSpPr>
          <p:nvPr/>
        </p:nvSpPr>
        <p:spPr>
          <a:xfrm xmlns:a="http://schemas.openxmlformats.org/drawingml/2006/main">
            <a:off x="628650" y="2924175"/>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Recruit qualified businesses around neighboring routes. Use the first-client finder-fee waiver.</a:t>
            </a:r>
          </a:p>
        </p:txBody>
      </p:sp>
      <p:sp>
        <p:nvSpPr>
          <p:cNvPr id="7" name="2. Measured household acquisition">
            <a:extLst xmlns:a="http://schemas.openxmlformats.org/drawingml/2006/main">
              <a:ext uri="{FF2B5EF4-FFF2-40B4-BE49-F238E27FC236}">
                <a16:creationId xmlns:a16="http://schemas.microsoft.com/office/drawing/2014/main" id="{8CA1714D-1CCB-4DCE-A4F9-1CBAAC9D7429}"/>
              </a:ext>
            </a:extLst>
          </p:cNvPr>
          <p:cNvSpPr>
            <a:spLocks xmlns:a="http://schemas.openxmlformats.org/drawingml/2006/main" noGrp="1"/>
          </p:cNvSpPr>
          <p:nvPr/>
        </p:nvSpPr>
        <p:spPr>
          <a:xfrm xmlns:a="http://schemas.openxmlformats.org/drawingml/2006/main">
            <a:off x="6400800" y="2400300"/>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2. Measured household acquisition</a:t>
            </a:r>
          </a:p>
        </p:txBody>
      </p:sp>
      <p:sp>
        <p:nvSpPr>
          <p:cNvPr id="8" name="Test local search, neighborhood referrals and prov">
            <a:extLst xmlns:a="http://schemas.openxmlformats.org/drawingml/2006/main">
              <a:ext uri="{FF2B5EF4-FFF2-40B4-BE49-F238E27FC236}">
                <a16:creationId xmlns:a16="http://schemas.microsoft.com/office/drawing/2014/main" id="{5562A590-D818-4F76-91C5-92FBA5DA9836}"/>
              </a:ext>
            </a:extLst>
          </p:cNvPr>
          <p:cNvSpPr>
            <a:spLocks xmlns:a="http://schemas.openxmlformats.org/drawingml/2006/main" noGrp="1"/>
          </p:cNvSpPr>
          <p:nvPr/>
        </p:nvSpPr>
        <p:spPr>
          <a:xfrm xmlns:a="http://schemas.openxmlformats.org/drawingml/2006/main">
            <a:off x="6400800" y="2924175"/>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Test local search, neighborhood referrals and provider referrals. Count paying customers, not leads.</a:t>
            </a:r>
          </a:p>
        </p:txBody>
      </p:sp>
      <p:sp>
        <p:nvSpPr>
          <p:cNvPr id="9" name="3. A complete service season">
            <a:extLst xmlns:a="http://schemas.openxmlformats.org/drawingml/2006/main">
              <a:ext uri="{FF2B5EF4-FFF2-40B4-BE49-F238E27FC236}">
                <a16:creationId xmlns:a16="http://schemas.microsoft.com/office/drawing/2014/main" id="{C78BC135-801C-41BD-AF64-6C2B4B574822}"/>
              </a:ext>
            </a:extLst>
          </p:cNvPr>
          <p:cNvSpPr>
            <a:spLocks xmlns:a="http://schemas.openxmlformats.org/drawingml/2006/main" noGrp="1"/>
          </p:cNvSpPr>
          <p:nvPr/>
        </p:nvSpPr>
        <p:spPr>
          <a:xfrm xmlns:a="http://schemas.openxmlformats.org/drawingml/2006/main">
            <a:off x="628650" y="4257675"/>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3. A complete service season</a:t>
            </a:r>
          </a:p>
        </p:txBody>
      </p:sp>
      <p:sp>
        <p:nvSpPr>
          <p:cNvPr id="10" name="Measure paid repeat visits, fee acceptance, servic">
            <a:extLst xmlns:a="http://schemas.openxmlformats.org/drawingml/2006/main">
              <a:ext uri="{FF2B5EF4-FFF2-40B4-BE49-F238E27FC236}">
                <a16:creationId xmlns:a16="http://schemas.microsoft.com/office/drawing/2014/main" id="{DCBAAAC2-C217-41F5-9EA7-17124D9DFB84}"/>
              </a:ext>
            </a:extLst>
          </p:cNvPr>
          <p:cNvSpPr>
            <a:spLocks xmlns:a="http://schemas.openxmlformats.org/drawingml/2006/main" noGrp="1"/>
          </p:cNvSpPr>
          <p:nvPr/>
        </p:nvSpPr>
        <p:spPr>
          <a:xfrm xmlns:a="http://schemas.openxmlformats.org/drawingml/2006/main">
            <a:off x="628650" y="4781550"/>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Measure paid repeat visits, fee acceptance, service quality and cost per completed job.</a:t>
            </a:r>
          </a:p>
        </p:txBody>
      </p:sp>
      <p:sp>
        <p:nvSpPr>
          <p:cNvPr id="11" name="4. A second local market">
            <a:extLst xmlns:a="http://schemas.openxmlformats.org/drawingml/2006/main">
              <a:ext uri="{FF2B5EF4-FFF2-40B4-BE49-F238E27FC236}">
                <a16:creationId xmlns:a16="http://schemas.microsoft.com/office/drawing/2014/main" id="{BC082952-2911-4908-9A37-21C0FEAE17DF}"/>
              </a:ext>
            </a:extLst>
          </p:cNvPr>
          <p:cNvSpPr>
            <a:spLocks xmlns:a="http://schemas.openxmlformats.org/drawingml/2006/main" noGrp="1"/>
          </p:cNvSpPr>
          <p:nvPr/>
        </p:nvSpPr>
        <p:spPr>
          <a:xfrm xmlns:a="http://schemas.openxmlformats.org/drawingml/2006/main">
            <a:off x="6400800" y="4257675"/>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4. A second local market</a:t>
            </a:r>
          </a:p>
        </p:txBody>
      </p:sp>
      <p:sp>
        <p:nvSpPr>
          <p:cNvPr id="12" name="Expand only after retention and acquisition econom">
            <a:extLst xmlns:a="http://schemas.openxmlformats.org/drawingml/2006/main">
              <a:ext uri="{FF2B5EF4-FFF2-40B4-BE49-F238E27FC236}">
                <a16:creationId xmlns:a16="http://schemas.microsoft.com/office/drawing/2014/main" id="{CF50FAC8-041C-4972-BFCF-E847E0C977C5}"/>
              </a:ext>
            </a:extLst>
          </p:cNvPr>
          <p:cNvSpPr>
            <a:spLocks xmlns:a="http://schemas.openxmlformats.org/drawingml/2006/main" noGrp="1"/>
          </p:cNvSpPr>
          <p:nvPr/>
        </p:nvSpPr>
        <p:spPr>
          <a:xfrm xmlns:a="http://schemas.openxmlformats.org/drawingml/2006/main">
            <a:off x="6400800" y="4781550"/>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Expand only after retention and acquisition economics repeat across providers and neighborhoods.</a:t>
            </a:r>
          </a:p>
        </p:txBody>
      </p:sp>
    </p:spTree>
    <p:extLst>
      <p:ext uri="{BB962C8B-B14F-4D97-AF65-F5344CB8AC3E}">
        <p14:creationId xmlns:p14="http://schemas.microsoft.com/office/powerpoint/2010/main" val="1302391663"/>
      </p:ext>
    </p:extLst>
  </p:cSld>
</p:sld>
</file>

<file path=ppt/slides/slide1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Product progress and commercial evidence">
            <a:extLst xmlns:a="http://schemas.openxmlformats.org/drawingml/2006/main">
              <a:ext uri="{FF2B5EF4-FFF2-40B4-BE49-F238E27FC236}">
                <a16:creationId xmlns:a16="http://schemas.microsoft.com/office/drawing/2014/main" id="{B382F095-AD12-4CE0-8649-DD9D3AC4E0BE}"/>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Product progress and commercial evidence</a:t>
            </a:r>
          </a:p>
        </p:txBody>
      </p:sp>
      <p:sp>
        <p:nvSpPr>
          <p:cNvPr id="2" name="An early company with working product workflows an">
            <a:extLst xmlns:a="http://schemas.openxmlformats.org/drawingml/2006/main">
              <a:ext uri="{FF2B5EF4-FFF2-40B4-BE49-F238E27FC236}">
                <a16:creationId xmlns:a16="http://schemas.microsoft.com/office/drawing/2014/main" id="{8C7E4172-4D60-4680-B46B-D67D1A6AD7A2}"/>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An early company with working product workflows and commercial assumptions still to validate.</a:t>
            </a:r>
          </a:p>
        </p:txBody>
      </p:sp>
      <p:sp>
        <p:nvSpPr>
          <p:cNvPr id="3" name="YardMatch">
            <a:extLst xmlns:a="http://schemas.openxmlformats.org/drawingml/2006/main">
              <a:ext uri="{FF2B5EF4-FFF2-40B4-BE49-F238E27FC236}">
                <a16:creationId xmlns:a16="http://schemas.microsoft.com/office/drawing/2014/main" id="{2B112975-6A02-481E-9F91-0880B71F7741}"/>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3">
            <a:extLst xmlns:a="http://schemas.openxmlformats.org/drawingml/2006/main">
              <a:ext uri="{FF2B5EF4-FFF2-40B4-BE49-F238E27FC236}">
                <a16:creationId xmlns:a16="http://schemas.microsoft.com/office/drawing/2014/main" id="{79AD76CB-3B78-4F6D-A419-11ED05DBDE73}"/>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13</a:t>
            </a:r>
          </a:p>
        </p:txBody>
      </p:sp>
      <p:sp>
        <p:nvSpPr>
          <p:cNvPr id="5" name="Product foundation">
            <a:extLst xmlns:a="http://schemas.openxmlformats.org/drawingml/2006/main">
              <a:ext uri="{FF2B5EF4-FFF2-40B4-BE49-F238E27FC236}">
                <a16:creationId xmlns:a16="http://schemas.microsoft.com/office/drawing/2014/main" id="{BB21D362-6505-41CE-9D6C-FCFED928E56A}"/>
              </a:ext>
            </a:extLst>
          </p:cNvPr>
          <p:cNvSpPr>
            <a:spLocks xmlns:a="http://schemas.openxmlformats.org/drawingml/2006/main" noGrp="1"/>
          </p:cNvSpPr>
          <p:nvPr/>
        </p:nvSpPr>
        <p:spPr>
          <a:xfrm xmlns:a="http://schemas.openxmlformats.org/drawingml/2006/main">
            <a:off x="628650" y="2400300"/>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Product foundation</a:t>
            </a:r>
          </a:p>
        </p:txBody>
      </p:sp>
      <p:sp>
        <p:nvSpPr>
          <p:cNvPr id="6" name="Customer booking and rebooking, provider calendars">
            <a:extLst xmlns:a="http://schemas.openxmlformats.org/drawingml/2006/main">
              <a:ext uri="{FF2B5EF4-FFF2-40B4-BE49-F238E27FC236}">
                <a16:creationId xmlns:a16="http://schemas.microsoft.com/office/drawing/2014/main" id="{53F07610-3B24-4760-8E7E-A60A62692884}"/>
              </a:ext>
            </a:extLst>
          </p:cNvPr>
          <p:cNvSpPr>
            <a:spLocks xmlns:a="http://schemas.openxmlformats.org/drawingml/2006/main" noGrp="1"/>
          </p:cNvSpPr>
          <p:nvPr/>
        </p:nvSpPr>
        <p:spPr>
          <a:xfrm xmlns:a="http://schemas.openxmlformats.org/drawingml/2006/main">
            <a:off x="628650" y="2924175"/>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Customer booking and rebooking, provider calendars and client maps, crew assignments, payments and ops workflows.</a:t>
            </a:r>
          </a:p>
        </p:txBody>
      </p:sp>
      <p:sp>
        <p:nvSpPr>
          <p:cNvPr id="7" name="Launch work remaining">
            <a:extLst xmlns:a="http://schemas.openxmlformats.org/drawingml/2006/main">
              <a:ext uri="{FF2B5EF4-FFF2-40B4-BE49-F238E27FC236}">
                <a16:creationId xmlns:a16="http://schemas.microsoft.com/office/drawing/2014/main" id="{1D549CCB-7F6B-4783-9843-A44A0AD5641C}"/>
              </a:ext>
            </a:extLst>
          </p:cNvPr>
          <p:cNvSpPr>
            <a:spLocks xmlns:a="http://schemas.openxmlformats.org/drawingml/2006/main" noGrp="1"/>
          </p:cNvSpPr>
          <p:nvPr/>
        </p:nvSpPr>
        <p:spPr>
          <a:xfrm xmlns:a="http://schemas.openxmlformats.org/drawingml/2006/main">
            <a:off x="6400800" y="2400300"/>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Launch work remaining</a:t>
            </a:r>
          </a:p>
        </p:txBody>
      </p:sp>
      <p:sp>
        <p:nvSpPr>
          <p:cNvPr id="8" name="Live payment acceptance, provider onboarding, prod">
            <a:extLst xmlns:a="http://schemas.openxmlformats.org/drawingml/2006/main">
              <a:ext uri="{FF2B5EF4-FFF2-40B4-BE49-F238E27FC236}">
                <a16:creationId xmlns:a16="http://schemas.microsoft.com/office/drawing/2014/main" id="{046C344B-3266-4E3F-9AB7-B8C6BEF46428}"/>
              </a:ext>
            </a:extLst>
          </p:cNvPr>
          <p:cNvSpPr>
            <a:spLocks xmlns:a="http://schemas.openxmlformats.org/drawingml/2006/main" noGrp="1"/>
          </p:cNvSpPr>
          <p:nvPr/>
        </p:nvSpPr>
        <p:spPr>
          <a:xfrm xmlns:a="http://schemas.openxmlformats.org/drawingml/2006/main">
            <a:off x="6400800" y="2924175"/>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Live payment acceptance, provider onboarding, production readiness and store distribution need independent verification.</a:t>
            </a:r>
          </a:p>
        </p:txBody>
      </p:sp>
      <p:sp>
        <p:nvSpPr>
          <p:cNvPr id="9" name="Founder and operating team">
            <a:extLst xmlns:a="http://schemas.openxmlformats.org/drawingml/2006/main">
              <a:ext uri="{FF2B5EF4-FFF2-40B4-BE49-F238E27FC236}">
                <a16:creationId xmlns:a16="http://schemas.microsoft.com/office/drawing/2014/main" id="{D58982EE-D90C-4F86-A655-737C88E958D4}"/>
              </a:ext>
            </a:extLst>
          </p:cNvPr>
          <p:cNvSpPr>
            <a:spLocks xmlns:a="http://schemas.openxmlformats.org/drawingml/2006/main" noGrp="1"/>
          </p:cNvSpPr>
          <p:nvPr/>
        </p:nvSpPr>
        <p:spPr>
          <a:xfrm xmlns:a="http://schemas.openxmlformats.org/drawingml/2006/main">
            <a:off x="628650" y="4371975"/>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Founder and operating team</a:t>
            </a:r>
          </a:p>
        </p:txBody>
      </p:sp>
      <p:sp>
        <p:nvSpPr>
          <p:cNvPr id="10" name="Patrick leads the company. The model budgets paid ">
            <a:extLst xmlns:a="http://schemas.openxmlformats.org/drawingml/2006/main">
              <a:ext uri="{FF2B5EF4-FFF2-40B4-BE49-F238E27FC236}">
                <a16:creationId xmlns:a16="http://schemas.microsoft.com/office/drawing/2014/main" id="{B1400424-485E-4084-A05A-DFEEA3FA2853}"/>
              </a:ext>
            </a:extLst>
          </p:cNvPr>
          <p:cNvSpPr>
            <a:spLocks xmlns:a="http://schemas.openxmlformats.org/drawingml/2006/main" noGrp="1"/>
          </p:cNvSpPr>
          <p:nvPr/>
        </p:nvSpPr>
        <p:spPr>
          <a:xfrm xmlns:a="http://schemas.openxmlformats.org/drawingml/2006/main">
            <a:off x="628650" y="4895850"/>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Patrick leads the company. The model budgets paid staff, including founder compensation. Other owner roles remain to be defined.</a:t>
            </a:r>
          </a:p>
        </p:txBody>
      </p:sp>
      <p:sp>
        <p:nvSpPr>
          <p:cNvPr id="11" name="Commercial evidence required">
            <a:extLst xmlns:a="http://schemas.openxmlformats.org/drawingml/2006/main">
              <a:ext uri="{FF2B5EF4-FFF2-40B4-BE49-F238E27FC236}">
                <a16:creationId xmlns:a16="http://schemas.microsoft.com/office/drawing/2014/main" id="{FFD15208-3F9F-4E60-8770-996CE25CDB6B}"/>
              </a:ext>
            </a:extLst>
          </p:cNvPr>
          <p:cNvSpPr>
            <a:spLocks xmlns:a="http://schemas.openxmlformats.org/drawingml/2006/main" noGrp="1"/>
          </p:cNvSpPr>
          <p:nvPr/>
        </p:nvSpPr>
        <p:spPr>
          <a:xfrm xmlns:a="http://schemas.openxmlformats.org/drawingml/2006/main">
            <a:off x="6400800" y="4371975"/>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Commercial evidence required</a:t>
            </a:r>
          </a:p>
        </p:txBody>
      </p:sp>
      <p:sp>
        <p:nvSpPr>
          <p:cNvPr id="12" name="No verified revenue, paying customer base, signed ">
            <a:extLst xmlns:a="http://schemas.openxmlformats.org/drawingml/2006/main">
              <a:ext uri="{FF2B5EF4-FFF2-40B4-BE49-F238E27FC236}">
                <a16:creationId xmlns:a16="http://schemas.microsoft.com/office/drawing/2014/main" id="{EC1A9286-6957-43FA-A2EF-99E57C7F0580}"/>
              </a:ext>
            </a:extLst>
          </p:cNvPr>
          <p:cNvSpPr>
            <a:spLocks xmlns:a="http://schemas.openxmlformats.org/drawingml/2006/main" noGrp="1"/>
          </p:cNvSpPr>
          <p:nvPr/>
        </p:nvSpPr>
        <p:spPr>
          <a:xfrm xmlns:a="http://schemas.openxmlformats.org/drawingml/2006/main">
            <a:off x="6400800" y="4895850"/>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No verified revenue, paying customer base, signed provider count or measured retention is claimed in this deck.</a:t>
            </a:r>
          </a:p>
        </p:txBody>
      </p:sp>
    </p:spTree>
    <p:extLst>
      <p:ext uri="{BB962C8B-B14F-4D97-AF65-F5344CB8AC3E}">
        <p14:creationId xmlns:p14="http://schemas.microsoft.com/office/powerpoint/2010/main" val="12107491"/>
      </p:ext>
    </p:extLst>
  </p:cSld>
</p:sld>
</file>

<file path=ppt/slides/slide1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What can increase the value of the company">
            <a:extLst xmlns:a="http://schemas.openxmlformats.org/drawingml/2006/main">
              <a:ext uri="{FF2B5EF4-FFF2-40B4-BE49-F238E27FC236}">
                <a16:creationId xmlns:a16="http://schemas.microsoft.com/office/drawing/2014/main" id="{92250082-D8BD-43FD-B290-A430BF8CC904}"/>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What can increase the value of the company</a:t>
            </a:r>
          </a:p>
        </p:txBody>
      </p:sp>
      <p:sp>
        <p:nvSpPr>
          <p:cNvPr id="2" name="More paying households matter when the relationshi">
            <a:extLst xmlns:a="http://schemas.openxmlformats.org/drawingml/2006/main">
              <a:ext uri="{FF2B5EF4-FFF2-40B4-BE49-F238E27FC236}">
                <a16:creationId xmlns:a16="http://schemas.microsoft.com/office/drawing/2014/main" id="{D623C8BB-723C-4A54-AC1E-33AB6AC8E8CD}"/>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More paying households matter when the relationships remain profitable and stay on the platform.</a:t>
            </a:r>
          </a:p>
        </p:txBody>
      </p:sp>
      <p:sp>
        <p:nvSpPr>
          <p:cNvPr id="3" name="YardMatch">
            <a:extLst xmlns:a="http://schemas.openxmlformats.org/drawingml/2006/main">
              <a:ext uri="{FF2B5EF4-FFF2-40B4-BE49-F238E27FC236}">
                <a16:creationId xmlns:a16="http://schemas.microsoft.com/office/drawing/2014/main" id="{7B064A2F-D758-401F-ADA6-F7DB16E8D2F3}"/>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4">
            <a:extLst xmlns:a="http://schemas.openxmlformats.org/drawingml/2006/main">
              <a:ext uri="{FF2B5EF4-FFF2-40B4-BE49-F238E27FC236}">
                <a16:creationId xmlns:a16="http://schemas.microsoft.com/office/drawing/2014/main" id="{1F767B50-D609-45B6-9225-2C4C3AE029B1}"/>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14</a:t>
            </a:r>
          </a:p>
        </p:txBody>
      </p:sp>
      <p:graphicFrame>
        <p:nvGraphicFramePr>
          <p:cNvPr id="11" name=""/>
          <p:cNvGraphicFramePr/>
          <p:nvPr/>
        </p:nvGraphicFramePr>
        <p:xfrm>
          <a:off xmlns:a="http://schemas.openxmlformats.org/drawingml/2006/main" x="609600" y="2400300"/>
          <a:ext xmlns:a="http://schemas.openxmlformats.org/drawingml/2006/main" cx="10972800" cy="3133725"/>
        </p:xfrm>
        <a:graphic xmlns:a="http://schemas.openxmlformats.org/drawingml/2006/main">
          <a:graphicData uri="http://schemas.openxmlformats.org/drawingml/2006/table">
            <a:tbl>
              <a:tblPr/>
              <a:tblGrid>
                <a:gridCol w="3400425"/>
                <a:gridCol w="7572375"/>
              </a:tblGrid>
              <a:tr h="626745">
                <a:tc>
                  <a:txBody>
                    <a:bodyPr lIns="114300" tIns="76200" rIns="114300" bIns="76200">
                      <a:noAutofit/>
                    </a:bodyPr>
                    <a:lstStyle/>
                    <a:p>
                      <a:pPr algn="l"/>
                      <a:r>
                        <a:rPr sz="1875" b="1">
                          <a:solidFill>
                            <a:srgbClr val="FFFFFF"/>
                          </a:solidFill>
                          <a:latin typeface="Arial"/>
                          <a:ea typeface="Arial"/>
                          <a:cs typeface="Arial"/>
                        </a:rPr>
                        <a:t>Value driver</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Evidence an investor can evaluate</a:t>
                      </a:r>
                    </a:p>
                  </a:txBody>
                  <a:tcPr marL="91440" marR="91440" marT="45720" marB="45720" anchor="ctr">
                    <a:solidFill>
                      <a:srgbClr val="205938"/>
                    </a:solidFill>
                  </a:tcPr>
                </a:tc>
              </a:tr>
              <a:tr h="626745">
                <a:tc>
                  <a:txBody>
                    <a:bodyPr lIns="114300" tIns="76200" rIns="114300" bIns="76200">
                      <a:noAutofit/>
                    </a:bodyPr>
                    <a:lstStyle/>
                    <a:p>
                      <a:pPr algn="l"/>
                      <a:r>
                        <a:rPr sz="1875" b="0">
                          <a:solidFill>
                            <a:srgbClr val="14281D"/>
                          </a:solidFill>
                          <a:latin typeface="Arial"/>
                          <a:ea typeface="Arial"/>
                          <a:cs typeface="Arial"/>
                        </a:rPr>
                        <a:t>Household retention</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The next season’s paid bookings, not just app activity</a:t>
                      </a:r>
                    </a:p>
                  </a:txBody>
                  <a:tcPr marL="91440" marR="91440" marT="45720" marB="45720" anchor="ctr">
                    <a:solidFill>
                      <a:srgbClr val="FFFFFF"/>
                    </a:solidFill>
                  </a:tcPr>
                </a:tc>
              </a:tr>
              <a:tr h="626745">
                <a:tc>
                  <a:txBody>
                    <a:bodyPr lIns="114300" tIns="76200" rIns="114300" bIns="76200">
                      <a:noAutofit/>
                    </a:bodyPr>
                    <a:lstStyle/>
                    <a:p>
                      <a:pPr algn="l"/>
                      <a:r>
                        <a:rPr sz="1875" b="0">
                          <a:solidFill>
                            <a:srgbClr val="14281D"/>
                          </a:solidFill>
                          <a:latin typeface="Arial"/>
                          <a:ea typeface="Arial"/>
                          <a:cs typeface="Arial"/>
                        </a:rPr>
                        <a:t>Provider density</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More completed jobs per service area and less unfilled demand</a:t>
                      </a:r>
                    </a:p>
                  </a:txBody>
                  <a:tcPr marL="91440" marR="91440" marT="45720" marB="45720" anchor="ctr">
                    <a:solidFill>
                      <a:srgbClr val="F7F5EF"/>
                    </a:solidFill>
                  </a:tcPr>
                </a:tc>
              </a:tr>
              <a:tr h="626745">
                <a:tc>
                  <a:txBody>
                    <a:bodyPr lIns="114300" tIns="76200" rIns="114300" bIns="76200">
                      <a:noAutofit/>
                    </a:bodyPr>
                    <a:lstStyle/>
                    <a:p>
                      <a:pPr algn="l"/>
                      <a:r>
                        <a:rPr sz="1875" b="0">
                          <a:solidFill>
                            <a:srgbClr val="14281D"/>
                          </a:solidFill>
                          <a:latin typeface="Arial"/>
                          <a:ea typeface="Arial"/>
                          <a:cs typeface="Arial"/>
                        </a:rPr>
                        <a:t>Acquisition efficiency</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Contribution earned relative to cost per first paying household</a:t>
                      </a:r>
                    </a:p>
                  </a:txBody>
                  <a:tcPr marL="91440" marR="91440" marT="45720" marB="45720" anchor="ctr">
                    <a:solidFill>
                      <a:srgbClr val="FFFFFF"/>
                    </a:solidFill>
                  </a:tcPr>
                </a:tc>
              </a:tr>
              <a:tr h="626745">
                <a:tc>
                  <a:txBody>
                    <a:bodyPr lIns="114300" tIns="76200" rIns="114300" bIns="76200">
                      <a:noAutofit/>
                    </a:bodyPr>
                    <a:lstStyle/>
                    <a:p>
                      <a:pPr algn="l"/>
                      <a:r>
                        <a:rPr sz="1875" b="0">
                          <a:solidFill>
                            <a:srgbClr val="14281D"/>
                          </a:solidFill>
                          <a:latin typeface="Arial"/>
                          <a:ea typeface="Arial"/>
                          <a:cs typeface="Arial"/>
                        </a:rPr>
                        <a:t>Operational reliability</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On-time visits, fewer service issues and resolved payment failures</a:t>
                      </a:r>
                    </a:p>
                  </a:txBody>
                  <a:tcPr marL="91440" marR="91440" marT="45720" marB="45720" anchor="ctr">
                    <a:solidFill>
                      <a:srgbClr val="F7F5EF"/>
                    </a:solidFill>
                  </a:tcPr>
                </a:tc>
              </a:tr>
            </a:tbl>
          </a:graphicData>
        </a:graphic>
      </p:graphicFrame>
      <p:sp>
        <p:nvSpPr>
          <p:cNvPr id="6" name="The model includes completed project fees with exi">
            <a:extLst xmlns:a="http://schemas.openxmlformats.org/drawingml/2006/main">
              <a:ext uri="{FF2B5EF4-FFF2-40B4-BE49-F238E27FC236}">
                <a16:creationId xmlns:a16="http://schemas.microsoft.com/office/drawing/2014/main" id="{1BC3F632-6F15-4715-A9AE-F6E4FAA2433C}"/>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The model includes completed project fees with existing providers. It assumes no subscription, advertising, recruiting revenue or additional finder fees from those projects.</a:t>
            </a:r>
          </a:p>
        </p:txBody>
      </p:sp>
    </p:spTree>
    <p:extLst>
      <p:ext uri="{BB962C8B-B14F-4D97-AF65-F5344CB8AC3E}">
        <p14:creationId xmlns:p14="http://schemas.microsoft.com/office/powerpoint/2010/main" val="1788910158"/>
      </p:ext>
    </p:extLst>
  </p:cSld>
</p:sld>
</file>

<file path=ppt/slides/slide1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The forecast makes the assumptions visible">
            <a:extLst xmlns:a="http://schemas.openxmlformats.org/drawingml/2006/main">
              <a:ext uri="{FF2B5EF4-FFF2-40B4-BE49-F238E27FC236}">
                <a16:creationId xmlns:a16="http://schemas.microsoft.com/office/drawing/2014/main" id="{D81656E4-CE52-4B33-BCB7-5D7ECD5D79E8}"/>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forecast makes the assumptions visible</a:t>
            </a:r>
          </a:p>
        </p:txBody>
      </p:sp>
      <p:sp>
        <p:nvSpPr>
          <p:cNvPr id="2" name="2027-2033 calendar years. No historical operating ">
            <a:extLst xmlns:a="http://schemas.openxmlformats.org/drawingml/2006/main">
              <a:ext uri="{FF2B5EF4-FFF2-40B4-BE49-F238E27FC236}">
                <a16:creationId xmlns:a16="http://schemas.microsoft.com/office/drawing/2014/main" id="{555040D9-B3BD-4EC6-A26C-4BB2E7B21C98}"/>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2027-2033 calendar years. No historical operating results are implied.</a:t>
            </a:r>
          </a:p>
        </p:txBody>
      </p:sp>
      <p:sp>
        <p:nvSpPr>
          <p:cNvPr id="3" name="YardMatch">
            <a:extLst xmlns:a="http://schemas.openxmlformats.org/drawingml/2006/main">
              <a:ext uri="{FF2B5EF4-FFF2-40B4-BE49-F238E27FC236}">
                <a16:creationId xmlns:a16="http://schemas.microsoft.com/office/drawing/2014/main" id="{72581882-E7DD-4B80-88BE-F82E8950589B}"/>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5">
            <a:extLst xmlns:a="http://schemas.openxmlformats.org/drawingml/2006/main">
              <a:ext uri="{FF2B5EF4-FFF2-40B4-BE49-F238E27FC236}">
                <a16:creationId xmlns:a16="http://schemas.microsoft.com/office/drawing/2014/main" id="{7227DC47-B74F-44CE-A15A-F55DAB519033}"/>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15</a:t>
            </a:r>
          </a:p>
        </p:txBody>
      </p:sp>
      <p:graphicFrame>
        <p:nvGraphicFramePr>
          <p:cNvPr id="11" name=""/>
          <p:cNvGraphicFramePr/>
          <p:nvPr/>
        </p:nvGraphicFramePr>
        <p:xfrm>
          <a:off xmlns:a="http://schemas.openxmlformats.org/drawingml/2006/main" x="609600" y="2352675"/>
          <a:ext xmlns:a="http://schemas.openxmlformats.org/drawingml/2006/main" cx="10972800" cy="3381375"/>
        </p:xfrm>
        <a:graphic xmlns:a="http://schemas.openxmlformats.org/drawingml/2006/main">
          <a:graphicData uri="http://schemas.openxmlformats.org/drawingml/2006/table">
            <a:tbl>
              <a:tblPr/>
              <a:tblGrid>
                <a:gridCol w="4857750"/>
                <a:gridCol w="2038350"/>
                <a:gridCol w="2038350"/>
                <a:gridCol w="2038350"/>
              </a:tblGrid>
              <a:tr h="483054">
                <a:tc>
                  <a:txBody>
                    <a:bodyPr lIns="114300" tIns="76200" rIns="114300" bIns="76200">
                      <a:noAutofit/>
                    </a:bodyPr>
                    <a:lstStyle/>
                    <a:p>
                      <a:pPr algn="l"/>
                      <a:r>
                        <a:rPr sz="1650" b="1">
                          <a:solidFill>
                            <a:srgbClr val="FFFFFF"/>
                          </a:solidFill>
                          <a:latin typeface="Arial"/>
                          <a:ea typeface="Arial"/>
                          <a:cs typeface="Arial"/>
                        </a:rPr>
                        <a:t>Driver</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Downside</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Base</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Upside</a:t>
                      </a:r>
                    </a:p>
                  </a:txBody>
                  <a:tcPr marL="91440" marR="91440" marT="45720" marB="45720" anchor="ctr">
                    <a:solidFill>
                      <a:srgbClr val="205938"/>
                    </a:solidFill>
                  </a:tcPr>
                </a:tc>
              </a:tr>
              <a:tr h="483054">
                <a:tc>
                  <a:txBody>
                    <a:bodyPr lIns="114300" tIns="76200" rIns="114300" bIns="76200">
                      <a:noAutofit/>
                    </a:bodyPr>
                    <a:lstStyle/>
                    <a:p>
                      <a:pPr algn="l"/>
                      <a:r>
                        <a:rPr sz="1650" b="0">
                          <a:solidFill>
                            <a:srgbClr val="14281D"/>
                          </a:solidFill>
                          <a:latin typeface="Arial"/>
                          <a:ea typeface="Arial"/>
                          <a:cs typeface="Arial"/>
                        </a:rPr>
                        <a:t>New paying households, 2027 / 2033</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300 / 40,000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500 / 160,000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500 / 280,000</a:t>
                      </a:r>
                    </a:p>
                  </a:txBody>
                  <a:tcPr marL="91440" marR="91440" marT="45720" marB="45720" anchor="ctr">
                    <a:solidFill>
                      <a:srgbClr val="FFFFFF"/>
                    </a:solidFill>
                  </a:tcPr>
                </a:tc>
              </a:tr>
              <a:tr h="483054">
                <a:tc>
                  <a:txBody>
                    <a:bodyPr lIns="114300" tIns="76200" rIns="114300" bIns="76200">
                      <a:noAutofit/>
                    </a:bodyPr>
                    <a:lstStyle/>
                    <a:p>
                      <a:pPr algn="l"/>
                      <a:r>
                        <a:rPr sz="1650" b="0">
                          <a:solidFill>
                            <a:srgbClr val="14281D"/>
                          </a:solidFill>
                          <a:latin typeface="Arial"/>
                          <a:ea typeface="Arial"/>
                          <a:cs typeface="Arial"/>
                        </a:rPr>
                        <a:t>Annual retention by 2033</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65%</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80%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85%</a:t>
                      </a:r>
                    </a:p>
                  </a:txBody>
                  <a:tcPr marL="91440" marR="91440" marT="45720" marB="45720" anchor="ctr">
                    <a:solidFill>
                      <a:srgbClr val="F7F5EF"/>
                    </a:solidFill>
                  </a:tcPr>
                </a:tc>
              </a:tr>
              <a:tr h="483054">
                <a:tc>
                  <a:txBody>
                    <a:bodyPr lIns="114300" tIns="76200" rIns="114300" bIns="76200">
                      <a:noAutofit/>
                    </a:bodyPr>
                    <a:lstStyle/>
                    <a:p>
                      <a:pPr algn="l"/>
                      <a:r>
                        <a:rPr sz="1650" b="0">
                          <a:solidFill>
                            <a:srgbClr val="14281D"/>
                          </a:solidFill>
                          <a:latin typeface="Arial"/>
                          <a:ea typeface="Arial"/>
                          <a:cs typeface="Arial"/>
                        </a:rPr>
                        <a:t>Maintenance visits per full season</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16</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24</a:t>
                      </a:r>
                    </a:p>
                  </a:txBody>
                  <a:tcPr marL="91440" marR="91440" marT="45720" marB="45720" anchor="ctr">
                    <a:solidFill>
                      <a:srgbClr val="FFFFFF"/>
                    </a:solidFill>
                  </a:tcPr>
                </a:tc>
              </a:tr>
              <a:tr h="483054">
                <a:tc>
                  <a:txBody>
                    <a:bodyPr lIns="114300" tIns="76200" rIns="114300" bIns="76200">
                      <a:noAutofit/>
                    </a:bodyPr>
                    <a:lstStyle/>
                    <a:p>
                      <a:pPr algn="l"/>
                      <a:r>
                        <a:rPr sz="1650" b="0">
                          <a:solidFill>
                            <a:srgbClr val="14281D"/>
                          </a:solidFill>
                          <a:latin typeface="Arial"/>
                          <a:ea typeface="Arial"/>
                          <a:cs typeface="Arial"/>
                        </a:rPr>
                        <a:t>Visits kept on platform</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80%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90%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95%</a:t>
                      </a:r>
                    </a:p>
                  </a:txBody>
                  <a:tcPr marL="91440" marR="91440" marT="45720" marB="45720" anchor="ctr">
                    <a:solidFill>
                      <a:srgbClr val="F7F5EF"/>
                    </a:solidFill>
                  </a:tcPr>
                </a:tc>
              </a:tr>
              <a:tr h="483054">
                <a:tc>
                  <a:txBody>
                    <a:bodyPr lIns="114300" tIns="76200" rIns="114300" bIns="76200">
                      <a:noAutofit/>
                    </a:bodyPr>
                    <a:lstStyle/>
                    <a:p>
                      <a:pPr algn="l"/>
                      <a:r>
                        <a:rPr sz="1650" b="0">
                          <a:solidFill>
                            <a:srgbClr val="14281D"/>
                          </a:solidFill>
                          <a:latin typeface="Arial"/>
                          <a:ea typeface="Arial"/>
                          <a:cs typeface="Arial"/>
                        </a:rPr>
                        <a:t>ACH share, 2027 / 2033</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0% / 20%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10% / 60%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20% / 75%</a:t>
                      </a:r>
                    </a:p>
                  </a:txBody>
                  <a:tcPr marL="91440" marR="91440" marT="45720" marB="45720" anchor="ctr">
                    <a:solidFill>
                      <a:srgbClr val="FFFFFF"/>
                    </a:solidFill>
                  </a:tcPr>
                </a:tc>
              </a:tr>
              <a:tr h="483054">
                <a:tc>
                  <a:txBody>
                    <a:bodyPr lIns="114300" tIns="76200" rIns="114300" bIns="76200">
                      <a:noAutofit/>
                    </a:bodyPr>
                    <a:lstStyle/>
                    <a:p>
                      <a:pPr algn="l"/>
                      <a:r>
                        <a:rPr sz="1650" b="0">
                          <a:solidFill>
                            <a:srgbClr val="14281D"/>
                          </a:solidFill>
                          <a:latin typeface="Arial"/>
                          <a:ea typeface="Arial"/>
                          <a:cs typeface="Arial"/>
                        </a:rPr>
                        <a:t>Cash CAC, 2027 / 2033</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$75 / $50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$55 / $28</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$45 / $22</a:t>
                      </a:r>
                    </a:p>
                  </a:txBody>
                  <a:tcPr marL="91440" marR="91440" marT="45720" marB="45720" anchor="ctr">
                    <a:solidFill>
                      <a:srgbClr val="F7F5EF"/>
                    </a:solidFill>
                  </a:tcPr>
                </a:tc>
              </a:tr>
            </a:tbl>
          </a:graphicData>
        </a:graphic>
      </p:graphicFrame>
      <p:sp>
        <p:nvSpPr>
          <p:cNvPr id="6" name="Service mix adds project visits. Base: 95% complet">
            <a:extLst xmlns:a="http://schemas.openxmlformats.org/drawingml/2006/main">
              <a:ext uri="{FF2B5EF4-FFF2-40B4-BE49-F238E27FC236}">
                <a16:creationId xmlns:a16="http://schemas.microsoft.com/office/drawing/2014/main" id="{038F6340-B1A1-4D65-BCD1-C3B73213CBE8}"/>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Service mix adds project visits. Base: 95% completion, eight payout-active months, 3 to 36 staff. Downside prices are 15% higher. All cases keep $45 plus $2.99 fees.</a:t>
            </a:r>
          </a:p>
        </p:txBody>
      </p:sp>
    </p:spTree>
    <p:extLst>
      <p:ext uri="{BB962C8B-B14F-4D97-AF65-F5344CB8AC3E}">
        <p14:creationId xmlns:p14="http://schemas.microsoft.com/office/powerpoint/2010/main" val="1482617187"/>
      </p:ext>
    </p:extLst>
  </p:cSld>
</p:sld>
</file>

<file path=ppt/slides/slide1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Base revenue reaches $18.5m in 2033">
            <a:extLst xmlns:a="http://schemas.openxmlformats.org/drawingml/2006/main">
              <a:ext uri="{FF2B5EF4-FFF2-40B4-BE49-F238E27FC236}">
                <a16:creationId xmlns:a16="http://schemas.microsoft.com/office/drawing/2014/main" id="{FE0AE7CF-AB9A-421C-92E3-BE35084E8C37}"/>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Base revenue reaches $18.5m in 2033</a:t>
            </a:r>
          </a:p>
        </p:txBody>
      </p:sp>
      <p:sp>
        <p:nvSpPr>
          <p:cNvPr id="2" name="Net marketplace revenue, US$ millions. Finder fees">
            <a:extLst xmlns:a="http://schemas.openxmlformats.org/drawingml/2006/main">
              <a:ext uri="{FF2B5EF4-FFF2-40B4-BE49-F238E27FC236}">
                <a16:creationId xmlns:a16="http://schemas.microsoft.com/office/drawing/2014/main" id="{2CC6EA3B-EC0A-4376-918B-B0A7AF857D1B}"/>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Net marketplace revenue, US$ millions. Finder fees and recurring fees are distinct revenue streams.</a:t>
            </a:r>
          </a:p>
        </p:txBody>
      </p:sp>
      <p:sp>
        <p:nvSpPr>
          <p:cNvPr id="3" name="YardMatch">
            <a:extLst xmlns:a="http://schemas.openxmlformats.org/drawingml/2006/main">
              <a:ext uri="{FF2B5EF4-FFF2-40B4-BE49-F238E27FC236}">
                <a16:creationId xmlns:a16="http://schemas.microsoft.com/office/drawing/2014/main" id="{0A74EE3C-1F7C-4E46-8D8C-7C620251D265}"/>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6">
            <a:extLst xmlns:a="http://schemas.openxmlformats.org/drawingml/2006/main">
              <a:ext uri="{FF2B5EF4-FFF2-40B4-BE49-F238E27FC236}">
                <a16:creationId xmlns:a16="http://schemas.microsoft.com/office/drawing/2014/main" id="{25FD1EAF-7E83-47D6-B09A-27FA4DEFB90F}"/>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16</a:t>
            </a:r>
          </a:p>
        </p:txBody>
      </p:sp>
      <p:graphicFrame>
        <p:nvGraphicFramePr>
          <p:cNvPr id="11" name="Chart"/>
          <p:cNvGraphicFramePr/>
          <p:nvPr/>
        </p:nvGraphicFramePr>
        <p:xfrm>
          <a:off xmlns:a="http://schemas.openxmlformats.org/drawingml/2006/main" x="590550" y="2286000"/>
          <a:ext xmlns:a="http://schemas.openxmlformats.org/drawingml/2006/main" cx="11010900" cy="3362325"/>
        </p:xfrm>
        <a:graphic xmlns:a="http://schemas.openxmlformats.org/drawingml/2006/main">
          <a:graphicData uri="http://schemas.openxmlformats.org/drawingml/2006/chart">
            <c:chart xmlns:r="http://schemas.openxmlformats.org/officeDocument/2006/relationships" xmlns:c="http://schemas.openxmlformats.org/drawingml/2006/chart" r:id="R4bf6faa301e44051"/>
          </a:graphicData>
        </a:graphic>
      </p:graphicFrame>
      <p:sp>
        <p:nvSpPr>
          <p:cNvPr id="6" name="Base 2033: 292,448 year-end paying households, 3.8">
            <a:extLst xmlns:a="http://schemas.openxmlformats.org/drawingml/2006/main">
              <a:ext uri="{FF2B5EF4-FFF2-40B4-BE49-F238E27FC236}">
                <a16:creationId xmlns:a16="http://schemas.microsoft.com/office/drawing/2014/main" id="{40299C47-1260-46EB-95D4-21BA9C2CEB69}"/>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Base 2033: 292,448 year-end paying households, 3.83m paid jobs and $545.3m GMV. Larger prices lift GMV. Extra completed jobs lift fee revenue.</a:t>
            </a:r>
          </a:p>
        </p:txBody>
      </p:sp>
    </p:spTree>
    <p:extLst>
      <p:ext uri="{BB962C8B-B14F-4D97-AF65-F5344CB8AC3E}">
        <p14:creationId xmlns:p14="http://schemas.microsoft.com/office/powerpoint/2010/main" val="1528549051"/>
      </p:ext>
    </p:extLst>
  </p:cSld>
</p:sld>
</file>

<file path=ppt/slides/slide1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The revised base remains loss-making">
            <a:extLst xmlns:a="http://schemas.openxmlformats.org/drawingml/2006/main">
              <a:ext uri="{FF2B5EF4-FFF2-40B4-BE49-F238E27FC236}">
                <a16:creationId xmlns:a16="http://schemas.microsoft.com/office/drawing/2014/main" id="{E0B18822-3D1E-4604-9A37-44BF453B25F8}"/>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revised base remains loss-making</a:t>
            </a:r>
          </a:p>
        </p:txBody>
      </p:sp>
      <p:sp>
        <p:nvSpPr>
          <p:cNvPr id="2" name="US$ millions. The broader job mix exposes the cost">
            <a:extLst xmlns:a="http://schemas.openxmlformats.org/drawingml/2006/main">
              <a:ext uri="{FF2B5EF4-FFF2-40B4-BE49-F238E27FC236}">
                <a16:creationId xmlns:a16="http://schemas.microsoft.com/office/drawing/2014/main" id="{BBF54B1A-CC0D-4611-B0D4-667E78D39B01}"/>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US$ millions. The broader job mix exposes the cost of retaining a flat $2.99 service fee.</a:t>
            </a:r>
          </a:p>
        </p:txBody>
      </p:sp>
      <p:sp>
        <p:nvSpPr>
          <p:cNvPr id="3" name="YardMatch">
            <a:extLst xmlns:a="http://schemas.openxmlformats.org/drawingml/2006/main">
              <a:ext uri="{FF2B5EF4-FFF2-40B4-BE49-F238E27FC236}">
                <a16:creationId xmlns:a16="http://schemas.microsoft.com/office/drawing/2014/main" id="{F686A9FC-E52D-4293-845E-0199D0B9D669}"/>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7">
            <a:extLst xmlns:a="http://schemas.openxmlformats.org/drawingml/2006/main">
              <a:ext uri="{FF2B5EF4-FFF2-40B4-BE49-F238E27FC236}">
                <a16:creationId xmlns:a16="http://schemas.microsoft.com/office/drawing/2014/main" id="{34E07BE0-13EC-40BE-853C-71FC00E9BE66}"/>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17</a:t>
            </a:r>
          </a:p>
        </p:txBody>
      </p:sp>
      <p:graphicFrame>
        <p:nvGraphicFramePr>
          <p:cNvPr id="11" name=""/>
          <p:cNvGraphicFramePr/>
          <p:nvPr/>
        </p:nvGraphicFramePr>
        <p:xfrm>
          <a:off xmlns:a="http://schemas.openxmlformats.org/drawingml/2006/main" x="609600" y="2343150"/>
          <a:ext xmlns:a="http://schemas.openxmlformats.org/drawingml/2006/main" cx="10972800" cy="3228975"/>
        </p:xfrm>
        <a:graphic xmlns:a="http://schemas.openxmlformats.org/drawingml/2006/main">
          <a:graphicData uri="http://schemas.openxmlformats.org/drawingml/2006/table">
            <a:tbl>
              <a:tblPr/>
              <a:tblGrid>
                <a:gridCol w="2571750"/>
                <a:gridCol w="1200150"/>
                <a:gridCol w="1200150"/>
                <a:gridCol w="1200150"/>
                <a:gridCol w="1200150"/>
                <a:gridCol w="1200150"/>
                <a:gridCol w="1200150"/>
                <a:gridCol w="1200150"/>
              </a:tblGrid>
              <a:tr h="461282">
                <a:tc>
                  <a:txBody>
                    <a:bodyPr lIns="114300" tIns="76200" rIns="114300" bIns="76200">
                      <a:noAutofit/>
                    </a:bodyPr>
                    <a:lstStyle/>
                    <a:p>
                      <a:pPr algn="l"/>
                      <a:r>
                        <a:rPr sz="1500" b="1">
                          <a:solidFill>
                            <a:srgbClr val="FFFFFF"/>
                          </a:solidFill>
                          <a:latin typeface="Arial"/>
                          <a:ea typeface="Arial"/>
                          <a:cs typeface="Arial"/>
                        </a:rPr>
                        <a:t>Base forecast</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2027</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2028</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2029</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2030</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2031</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2032</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2033</a:t>
                      </a:r>
                    </a:p>
                  </a:txBody>
                  <a:tcPr marL="91440" marR="91440" marT="45720" marB="45720" anchor="ctr">
                    <a:solidFill>
                      <a:srgbClr val="205938"/>
                    </a:solidFill>
                  </a:tcPr>
                </a:tc>
              </a:tr>
              <a:tr h="461282">
                <a:tc>
                  <a:txBody>
                    <a:bodyPr lIns="114300" tIns="76200" rIns="114300" bIns="76200">
                      <a:noAutofit/>
                    </a:bodyPr>
                    <a:lstStyle/>
                    <a:p>
                      <a:pPr algn="l"/>
                      <a:r>
                        <a:rPr sz="1500" b="0">
                          <a:solidFill>
                            <a:srgbClr val="14281D"/>
                          </a:solidFill>
                          <a:latin typeface="Arial"/>
                          <a:ea typeface="Arial"/>
                          <a:cs typeface="Arial"/>
                        </a:rPr>
                        <a:t>Revenue</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$0.03</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$0.19</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$0.75</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$2.23</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$5.33</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$10.60</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$18.48</a:t>
                      </a:r>
                    </a:p>
                  </a:txBody>
                  <a:tcPr marL="91440" marR="91440" marT="45720" marB="45720" anchor="ctr">
                    <a:solidFill>
                      <a:srgbClr val="FFFFFF"/>
                    </a:solidFill>
                  </a:tcPr>
                </a:tc>
              </a:tr>
              <a:tr h="461282">
                <a:tc>
                  <a:txBody>
                    <a:bodyPr lIns="114300" tIns="76200" rIns="114300" bIns="76200">
                      <a:noAutofit/>
                    </a:bodyPr>
                    <a:lstStyle/>
                    <a:p>
                      <a:pPr algn="l"/>
                      <a:r>
                        <a:rPr sz="1500" b="0">
                          <a:solidFill>
                            <a:srgbClr val="14281D"/>
                          </a:solidFill>
                          <a:latin typeface="Arial"/>
                          <a:ea typeface="Arial"/>
                          <a:cs typeface="Arial"/>
                        </a:rPr>
                        <a:t>Gross profit</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$0.02</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$0.09</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$0.31</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$0.85</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$1.86</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$3.18</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$4.73</a:t>
                      </a:r>
                    </a:p>
                  </a:txBody>
                  <a:tcPr marL="91440" marR="91440" marT="45720" marB="45720" anchor="ctr">
                    <a:solidFill>
                      <a:srgbClr val="F7F5EF"/>
                    </a:solidFill>
                  </a:tcPr>
                </a:tc>
              </a:tr>
              <a:tr h="461282">
                <a:tc>
                  <a:txBody>
                    <a:bodyPr lIns="114300" tIns="76200" rIns="114300" bIns="76200">
                      <a:noAutofit/>
                    </a:bodyPr>
                    <a:lstStyle/>
                    <a:p>
                      <a:pPr algn="l"/>
                      <a:r>
                        <a:rPr sz="1500" b="1">
                          <a:solidFill>
                            <a:srgbClr val="14281D"/>
                          </a:solidFill>
                          <a:latin typeface="Arial"/>
                          <a:ea typeface="Arial"/>
                          <a:cs typeface="Arial"/>
                        </a:rPr>
                        <a:t>EBITDA</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($0.37)</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($0.67)</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($1.15)</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($1.83)</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($2.72)</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($3.85)</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($5.52)</a:t>
                      </a:r>
                    </a:p>
                  </a:txBody>
                  <a:tcPr marL="91440" marR="91440" marT="45720" marB="45720" anchor="ctr">
                    <a:solidFill>
                      <a:srgbClr val="E8EDDF"/>
                    </a:solidFill>
                  </a:tcPr>
                </a:tc>
              </a:tr>
              <a:tr h="461282">
                <a:tc>
                  <a:txBody>
                    <a:bodyPr lIns="114300" tIns="76200" rIns="114300" bIns="76200">
                      <a:noAutofit/>
                    </a:bodyPr>
                    <a:lstStyle/>
                    <a:p>
                      <a:pPr algn="l"/>
                      <a:r>
                        <a:rPr sz="1500" b="0">
                          <a:solidFill>
                            <a:srgbClr val="14281D"/>
                          </a:solidFill>
                          <a:latin typeface="Arial"/>
                          <a:ea typeface="Arial"/>
                          <a:cs typeface="Arial"/>
                        </a:rPr>
                        <a:t>Operating profit</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($0.38)</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($0.68)</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($1.18)</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($1.87)</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($2.78)</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($3.94)</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($5.65)</a:t>
                      </a:r>
                    </a:p>
                  </a:txBody>
                  <a:tcPr marL="91440" marR="91440" marT="45720" marB="45720" anchor="ctr">
                    <a:solidFill>
                      <a:srgbClr val="F7F5EF"/>
                    </a:solidFill>
                  </a:tcPr>
                </a:tc>
              </a:tr>
              <a:tr h="461282">
                <a:tc>
                  <a:txBody>
                    <a:bodyPr lIns="114300" tIns="76200" rIns="114300" bIns="76200">
                      <a:noAutofit/>
                    </a:bodyPr>
                    <a:lstStyle/>
                    <a:p>
                      <a:pPr algn="l"/>
                      <a:r>
                        <a:rPr sz="1500" b="1">
                          <a:solidFill>
                            <a:srgbClr val="14281D"/>
                          </a:solidFill>
                          <a:latin typeface="Arial"/>
                          <a:ea typeface="Arial"/>
                          <a:cs typeface="Arial"/>
                        </a:rPr>
                        <a:t>Net income proxy</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($0.38)</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($0.68)</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($1.18)</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($1.87)</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($2.78)</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($3.94)</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($5.65)</a:t>
                      </a:r>
                    </a:p>
                  </a:txBody>
                  <a:tcPr marL="91440" marR="91440" marT="45720" marB="45720" anchor="ctr">
                    <a:solidFill>
                      <a:srgbClr val="E8EDDF"/>
                    </a:solidFill>
                  </a:tcPr>
                </a:tc>
              </a:tr>
              <a:tr h="461282">
                <a:tc>
                  <a:txBody>
                    <a:bodyPr lIns="114300" tIns="76200" rIns="114300" bIns="76200">
                      <a:noAutofit/>
                    </a:bodyPr>
                    <a:lstStyle/>
                    <a:p>
                      <a:pPr algn="l"/>
                      <a:r>
                        <a:rPr sz="1500" b="0">
                          <a:solidFill>
                            <a:srgbClr val="14281D"/>
                          </a:solidFill>
                          <a:latin typeface="Arial"/>
                          <a:ea typeface="Arial"/>
                          <a:cs typeface="Arial"/>
                        </a:rPr>
                        <a:t>Free cash flow</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($0.39)</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($0.72)</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($1.29)</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($2.20)</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($3.59)</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($5.53)</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($8.37)</a:t>
                      </a:r>
                    </a:p>
                  </a:txBody>
                  <a:tcPr marL="91440" marR="91440" marT="45720" marB="45720" anchor="ctr">
                    <a:solidFill>
                      <a:srgbClr val="F7F5EF"/>
                    </a:solidFill>
                  </a:tcPr>
                </a:tc>
              </a:tr>
            </a:tbl>
          </a:graphicData>
        </a:graphic>
      </p:graphicFrame>
      <p:sp>
        <p:nvSpPr>
          <p:cNvPr id="6" name="2033 net loss is $5.65m. Cash use is $8.37m. Reven">
            <a:extLst xmlns:a="http://schemas.openxmlformats.org/drawingml/2006/main">
              <a:ext uri="{FF2B5EF4-FFF2-40B4-BE49-F238E27FC236}">
                <a16:creationId xmlns:a16="http://schemas.microsoft.com/office/drawing/2014/main" id="{89DC4220-EA24-4A57-AB88-D5EA8B4E2ED5}"/>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2033 net loss is $5.65m. Cash use is $8.37m. Revenue growth does not fix negative repeat contribution. Pricing or payment-cost responsibility must improve before scaling.</a:t>
            </a:r>
          </a:p>
        </p:txBody>
      </p:sp>
    </p:spTree>
    <p:extLst>
      <p:ext uri="{BB962C8B-B14F-4D97-AF65-F5344CB8AC3E}">
        <p14:creationId xmlns:p14="http://schemas.microsoft.com/office/powerpoint/2010/main" val="1259879788"/>
      </p:ext>
    </p:extLst>
  </p:cSld>
</p:sld>
</file>

<file path=ppt/slides/slide1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Returns depend on execution, not volume alone">
            <a:extLst xmlns:a="http://schemas.openxmlformats.org/drawingml/2006/main">
              <a:ext uri="{FF2B5EF4-FFF2-40B4-BE49-F238E27FC236}">
                <a16:creationId xmlns:a16="http://schemas.microsoft.com/office/drawing/2014/main" id="{499BD26A-2837-4E38-947F-D616BBD2B8BC}"/>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Returns depend on execution, not volume alone</a:t>
            </a:r>
          </a:p>
        </p:txBody>
      </p:sp>
      <p:sp>
        <p:nvSpPr>
          <p:cNvPr id="2" name="All three cases use the same platform fees. Servic">
            <a:extLst xmlns:a="http://schemas.openxmlformats.org/drawingml/2006/main">
              <a:ext uri="{FF2B5EF4-FFF2-40B4-BE49-F238E27FC236}">
                <a16:creationId xmlns:a16="http://schemas.microsoft.com/office/drawing/2014/main" id="{C9F17A97-8AE8-44CC-9EBB-A9CF29E1392F}"/>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All three cases use the same platform fees. Service prices, retention, acquisition and payment mix change the outcome.</a:t>
            </a:r>
          </a:p>
        </p:txBody>
      </p:sp>
      <p:sp>
        <p:nvSpPr>
          <p:cNvPr id="3" name="YardMatch">
            <a:extLst xmlns:a="http://schemas.openxmlformats.org/drawingml/2006/main">
              <a:ext uri="{FF2B5EF4-FFF2-40B4-BE49-F238E27FC236}">
                <a16:creationId xmlns:a16="http://schemas.microsoft.com/office/drawing/2014/main" id="{FBB26051-8FD4-4226-B618-8E92C24FCA5C}"/>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8">
            <a:extLst xmlns:a="http://schemas.openxmlformats.org/drawingml/2006/main">
              <a:ext uri="{FF2B5EF4-FFF2-40B4-BE49-F238E27FC236}">
                <a16:creationId xmlns:a16="http://schemas.microsoft.com/office/drawing/2014/main" id="{AB1FC7E4-0314-45C5-BBC1-4F650359F9F1}"/>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18</a:t>
            </a:r>
          </a:p>
        </p:txBody>
      </p:sp>
      <p:graphicFrame>
        <p:nvGraphicFramePr>
          <p:cNvPr id="11" name=""/>
          <p:cNvGraphicFramePr/>
          <p:nvPr/>
        </p:nvGraphicFramePr>
        <p:xfrm>
          <a:off xmlns:a="http://schemas.openxmlformats.org/drawingml/2006/main" x="609600" y="2371725"/>
          <a:ext xmlns:a="http://schemas.openxmlformats.org/drawingml/2006/main" cx="10972800" cy="3057525"/>
        </p:xfrm>
        <a:graphic xmlns:a="http://schemas.openxmlformats.org/drawingml/2006/main">
          <a:graphicData uri="http://schemas.openxmlformats.org/drawingml/2006/table">
            <a:tbl>
              <a:tblPr/>
              <a:tblGrid>
                <a:gridCol w="4600575"/>
                <a:gridCol w="2124075"/>
                <a:gridCol w="2124075"/>
                <a:gridCol w="2124075"/>
              </a:tblGrid>
              <a:tr h="509588">
                <a:tc>
                  <a:txBody>
                    <a:bodyPr lIns="114300" tIns="76200" rIns="114300" bIns="76200">
                      <a:noAutofit/>
                    </a:bodyPr>
                    <a:lstStyle/>
                    <a:p>
                      <a:pPr algn="l"/>
                      <a:r>
                        <a:rPr sz="1800" b="1">
                          <a:solidFill>
                            <a:srgbClr val="FFFFFF"/>
                          </a:solidFill>
                          <a:latin typeface="Arial"/>
                          <a:ea typeface="Arial"/>
                          <a:cs typeface="Arial"/>
                        </a:rPr>
                        <a:t>Result</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Downside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Base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Upside</a:t>
                      </a:r>
                    </a:p>
                  </a:txBody>
                  <a:tcPr marL="91440" marR="91440" marT="45720" marB="45720" anchor="ctr">
                    <a:solidFill>
                      <a:srgbClr val="205938"/>
                    </a:solidFill>
                  </a:tcPr>
                </a:tc>
              </a:tr>
              <a:tr h="509588">
                <a:tc>
                  <a:txBody>
                    <a:bodyPr lIns="114300" tIns="76200" rIns="114300" bIns="76200">
                      <a:noAutofit/>
                    </a:bodyPr>
                    <a:lstStyle/>
                    <a:p>
                      <a:pPr algn="l"/>
                      <a:r>
                        <a:rPr sz="1800" b="0">
                          <a:solidFill>
                            <a:srgbClr val="14281D"/>
                          </a:solidFill>
                          <a:latin typeface="Arial"/>
                          <a:ea typeface="Arial"/>
                          <a:cs typeface="Arial"/>
                        </a:rPr>
                        <a:t>2031 revenue</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$1.19m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$5.33m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$9.43m</a:t>
                      </a:r>
                    </a:p>
                  </a:txBody>
                  <a:tcPr marL="91440" marR="91440" marT="45720" marB="45720" anchor="ctr">
                    <a:solidFill>
                      <a:srgbClr val="FFFFFF"/>
                    </a:solidFill>
                  </a:tcPr>
                </a:tc>
              </a:tr>
              <a:tr h="509588">
                <a:tc>
                  <a:txBody>
                    <a:bodyPr lIns="114300" tIns="76200" rIns="114300" bIns="76200">
                      <a:noAutofit/>
                    </a:bodyPr>
                    <a:lstStyle/>
                    <a:p>
                      <a:pPr algn="l"/>
                      <a:r>
                        <a:rPr sz="1800" b="0">
                          <a:solidFill>
                            <a:srgbClr val="14281D"/>
                          </a:solidFill>
                          <a:latin typeface="Arial"/>
                          <a:ea typeface="Arial"/>
                          <a:cs typeface="Arial"/>
                        </a:rPr>
                        <a:t>2031 EBITDA</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($2.02)m</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($2.72)m</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($1.78)m</a:t>
                      </a:r>
                    </a:p>
                  </a:txBody>
                  <a:tcPr marL="91440" marR="91440" marT="45720" marB="45720" anchor="ctr">
                    <a:solidFill>
                      <a:srgbClr val="F7F5EF"/>
                    </a:solidFill>
                  </a:tcPr>
                </a:tc>
              </a:tr>
              <a:tr h="509588">
                <a:tc>
                  <a:txBody>
                    <a:bodyPr lIns="114300" tIns="76200" rIns="114300" bIns="76200">
                      <a:noAutofit/>
                    </a:bodyPr>
                    <a:lstStyle/>
                    <a:p>
                      <a:pPr algn="l"/>
                      <a:r>
                        <a:rPr sz="1800" b="0">
                          <a:solidFill>
                            <a:srgbClr val="14281D"/>
                          </a:solidFill>
                          <a:latin typeface="Arial"/>
                          <a:ea typeface="Arial"/>
                          <a:cs typeface="Arial"/>
                        </a:rPr>
                        <a:t>2033 revenue</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$3.44m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$18.48m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$38.21m</a:t>
                      </a:r>
                    </a:p>
                  </a:txBody>
                  <a:tcPr marL="91440" marR="91440" marT="45720" marB="45720" anchor="ctr">
                    <a:solidFill>
                      <a:srgbClr val="FFFFFF"/>
                    </a:solidFill>
                  </a:tcPr>
                </a:tc>
              </a:tr>
              <a:tr h="509588">
                <a:tc>
                  <a:txBody>
                    <a:bodyPr lIns="114300" tIns="76200" rIns="114300" bIns="76200">
                      <a:noAutofit/>
                    </a:bodyPr>
                    <a:lstStyle/>
                    <a:p>
                      <a:pPr algn="l"/>
                      <a:r>
                        <a:rPr sz="1800" b="1">
                          <a:solidFill>
                            <a:srgbClr val="14281D"/>
                          </a:solidFill>
                          <a:latin typeface="Arial"/>
                          <a:ea typeface="Arial"/>
                          <a:cs typeface="Arial"/>
                        </a:rPr>
                        <a:t>2033 net income proxy</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($4.37)m</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($5.65)m</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($2.85)m</a:t>
                      </a:r>
                    </a:p>
                  </a:txBody>
                  <a:tcPr marL="91440" marR="91440" marT="45720" marB="45720" anchor="ctr">
                    <a:solidFill>
                      <a:srgbClr val="E8EDDF"/>
                    </a:solidFill>
                  </a:tcPr>
                </a:tc>
              </a:tr>
              <a:tr h="509588">
                <a:tc>
                  <a:txBody>
                    <a:bodyPr lIns="114300" tIns="76200" rIns="114300" bIns="76200">
                      <a:noAutofit/>
                    </a:bodyPr>
                    <a:lstStyle/>
                    <a:p>
                      <a:pPr algn="l"/>
                      <a:r>
                        <a:rPr sz="1800" b="0">
                          <a:solidFill>
                            <a:srgbClr val="14281D"/>
                          </a:solidFill>
                          <a:latin typeface="Arial"/>
                          <a:ea typeface="Arial"/>
                          <a:cs typeface="Arial"/>
                        </a:rPr>
                        <a:t>First positive EBITDA year</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None by 2033</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None by 2033</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None by 2033</a:t>
                      </a:r>
                    </a:p>
                  </a:txBody>
                  <a:tcPr marL="91440" marR="91440" marT="45720" marB="45720" anchor="ctr">
                    <a:solidFill>
                      <a:srgbClr val="FFFFFF"/>
                    </a:solidFill>
                  </a:tcPr>
                </a:tc>
              </a:tr>
            </a:tbl>
          </a:graphicData>
        </a:graphic>
      </p:graphicFrame>
      <p:sp>
        <p:nvSpPr>
          <p:cNvPr id="6" name="None of these cases reaches positive EBITDA by 203">
            <a:extLst xmlns:a="http://schemas.openxmlformats.org/drawingml/2006/main">
              <a:ext uri="{FF2B5EF4-FFF2-40B4-BE49-F238E27FC236}">
                <a16:creationId xmlns:a16="http://schemas.microsoft.com/office/drawing/2014/main" id="{328DBE93-5AE8-4616-9A0A-7E67600ABF4C}"/>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None of these cases reaches positive EBITDA by 2033. More ACH use helps, but fee economics still need improvement before expansion is financially supported.</a:t>
            </a:r>
          </a:p>
        </p:txBody>
      </p:sp>
    </p:spTree>
    <p:extLst>
      <p:ext uri="{BB962C8B-B14F-4D97-AF65-F5344CB8AC3E}">
        <p14:creationId xmlns:p14="http://schemas.microsoft.com/office/powerpoint/2010/main" val="933412942"/>
      </p:ext>
    </p:extLst>
  </p:cSld>
</p:sld>
</file>

<file path=ppt/slides/slide1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Illustrative funding for a pricing pilot">
            <a:extLst xmlns:a="http://schemas.openxmlformats.org/drawingml/2006/main">
              <a:ext uri="{FF2B5EF4-FFF2-40B4-BE49-F238E27FC236}">
                <a16:creationId xmlns:a16="http://schemas.microsoft.com/office/drawing/2014/main" id="{AC284744-9D68-4C96-BF51-A50834414EFE}"/>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Illustrative funding for a pricing pilot</a:t>
            </a:r>
          </a:p>
        </p:txBody>
      </p:sp>
      <p:sp>
        <p:nvSpPr>
          <p:cNvPr id="2" name="The two-year base budget tests commercial adoption">
            <a:extLst xmlns:a="http://schemas.openxmlformats.org/drawingml/2006/main">
              <a:ext uri="{FF2B5EF4-FFF2-40B4-BE49-F238E27FC236}">
                <a16:creationId xmlns:a16="http://schemas.microsoft.com/office/drawing/2014/main" id="{BEA80F91-C409-4B7E-8D39-6D9CA503138D}"/>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two-year base budget tests commercial adoption and leaves a reserve for the next financing decision.</a:t>
            </a:r>
          </a:p>
        </p:txBody>
      </p:sp>
      <p:sp>
        <p:nvSpPr>
          <p:cNvPr id="3" name="YardMatch">
            <a:extLst xmlns:a="http://schemas.openxmlformats.org/drawingml/2006/main">
              <a:ext uri="{FF2B5EF4-FFF2-40B4-BE49-F238E27FC236}">
                <a16:creationId xmlns:a16="http://schemas.microsoft.com/office/drawing/2014/main" id="{74407FA0-3EC1-493B-89DF-48D0B99B2412}"/>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9">
            <a:extLst xmlns:a="http://schemas.openxmlformats.org/drawingml/2006/main">
              <a:ext uri="{FF2B5EF4-FFF2-40B4-BE49-F238E27FC236}">
                <a16:creationId xmlns:a16="http://schemas.microsoft.com/office/drawing/2014/main" id="{BBE1BBD4-9346-46FA-B625-2D496FF49A5A}"/>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19</a:t>
            </a:r>
          </a:p>
        </p:txBody>
      </p:sp>
      <p:graphicFrame>
        <p:nvGraphicFramePr>
          <p:cNvPr id="15" name=""/>
          <p:cNvGraphicFramePr/>
          <p:nvPr/>
        </p:nvGraphicFramePr>
        <p:xfrm>
          <a:off xmlns:a="http://schemas.openxmlformats.org/drawingml/2006/main" x="609600" y="2314575"/>
          <a:ext xmlns:a="http://schemas.openxmlformats.org/drawingml/2006/main" cx="6858000" cy="3371850"/>
        </p:xfrm>
        <a:graphic xmlns:a="http://schemas.openxmlformats.org/drawingml/2006/main">
          <a:graphicData uri="http://schemas.openxmlformats.org/drawingml/2006/table">
            <a:tbl>
              <a:tblPr/>
              <a:tblGrid>
                <a:gridCol w="4857750"/>
                <a:gridCol w="2000250"/>
              </a:tblGrid>
              <a:tr h="374650">
                <a:tc>
                  <a:txBody>
                    <a:bodyPr lIns="114300" tIns="76200" rIns="114300" bIns="76200">
                      <a:noAutofit/>
                    </a:bodyPr>
                    <a:lstStyle/>
                    <a:p>
                      <a:pPr algn="l"/>
                      <a:r>
                        <a:rPr sz="1650" b="1">
                          <a:solidFill>
                            <a:srgbClr val="FFFFFF"/>
                          </a:solidFill>
                          <a:latin typeface="Arial"/>
                          <a:ea typeface="Arial"/>
                          <a:cs typeface="Arial"/>
                        </a:rPr>
                        <a:t>2027-2028 base cash plan</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Amount</a:t>
                      </a:r>
                    </a:p>
                  </a:txBody>
                  <a:tcPr marL="91440" marR="91440" marT="45720" marB="45720" anchor="ctr">
                    <a:solidFill>
                      <a:srgbClr val="205938"/>
                    </a:solidFill>
                  </a:tcPr>
                </a:tc>
              </a:tr>
              <a:tr h="374650">
                <a:tc>
                  <a:txBody>
                    <a:bodyPr lIns="114300" tIns="76200" rIns="114300" bIns="76200">
                      <a:noAutofit/>
                    </a:bodyPr>
                    <a:lstStyle/>
                    <a:p>
                      <a:pPr algn="l"/>
                      <a:r>
                        <a:rPr sz="1650" b="0">
                          <a:solidFill>
                            <a:srgbClr val="14281D"/>
                          </a:solidFill>
                          <a:latin typeface="Arial"/>
                          <a:ea typeface="Arial"/>
                          <a:cs typeface="Arial"/>
                        </a:rPr>
                        <a:t>Payroll</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$825,000</a:t>
                      </a:r>
                    </a:p>
                  </a:txBody>
                  <a:tcPr marL="91440" marR="91440" marT="45720" marB="45720" anchor="ctr">
                    <a:solidFill>
                      <a:srgbClr val="FFFFFF"/>
                    </a:solidFill>
                  </a:tcPr>
                </a:tc>
              </a:tr>
              <a:tr h="374650">
                <a:tc>
                  <a:txBody>
                    <a:bodyPr lIns="114300" tIns="76200" rIns="114300" bIns="76200">
                      <a:noAutofit/>
                    </a:bodyPr>
                    <a:lstStyle/>
                    <a:p>
                      <a:pPr algn="l"/>
                      <a:r>
                        <a:rPr sz="1650" b="0">
                          <a:solidFill>
                            <a:srgbClr val="14281D"/>
                          </a:solidFill>
                          <a:latin typeface="Arial"/>
                          <a:ea typeface="Arial"/>
                          <a:cs typeface="Arial"/>
                        </a:rPr>
                        <a:t>Customer and provider acquisition</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$158,125</a:t>
                      </a:r>
                    </a:p>
                  </a:txBody>
                  <a:tcPr marL="91440" marR="91440" marT="45720" marB="45720" anchor="ctr">
                    <a:solidFill>
                      <a:srgbClr val="F7F5EF"/>
                    </a:solidFill>
                  </a:tcPr>
                </a:tc>
              </a:tr>
              <a:tr h="374650">
                <a:tc>
                  <a:txBody>
                    <a:bodyPr lIns="114300" tIns="76200" rIns="114300" bIns="76200">
                      <a:noAutofit/>
                    </a:bodyPr>
                    <a:lstStyle/>
                    <a:p>
                      <a:pPr algn="l"/>
                      <a:r>
                        <a:rPr sz="1650" b="0">
                          <a:solidFill>
                            <a:srgbClr val="14281D"/>
                          </a:solidFill>
                          <a:latin typeface="Arial"/>
                          <a:ea typeface="Arial"/>
                          <a:cs typeface="Arial"/>
                        </a:rPr>
                        <a:t>Fixed overhead</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$160,000</a:t>
                      </a:r>
                    </a:p>
                  </a:txBody>
                  <a:tcPr marL="91440" marR="91440" marT="45720" marB="45720" anchor="ctr">
                    <a:solidFill>
                      <a:srgbClr val="FFFFFF"/>
                    </a:solidFill>
                  </a:tcPr>
                </a:tc>
              </a:tr>
              <a:tr h="374650">
                <a:tc>
                  <a:txBody>
                    <a:bodyPr lIns="114300" tIns="76200" rIns="114300" bIns="76200">
                      <a:noAutofit/>
                    </a:bodyPr>
                    <a:lstStyle/>
                    <a:p>
                      <a:pPr algn="l"/>
                      <a:r>
                        <a:rPr sz="1650" b="0">
                          <a:solidFill>
                            <a:srgbClr val="14281D"/>
                          </a:solidFill>
                          <a:latin typeface="Arial"/>
                          <a:ea typeface="Arial"/>
                          <a:cs typeface="Arial"/>
                        </a:rPr>
                        <a:t>Capex and risk cash</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$69,306</a:t>
                      </a:r>
                    </a:p>
                  </a:txBody>
                  <a:tcPr marL="91440" marR="91440" marT="45720" marB="45720" anchor="ctr">
                    <a:solidFill>
                      <a:srgbClr val="F7F5EF"/>
                    </a:solidFill>
                  </a:tcPr>
                </a:tc>
              </a:tr>
              <a:tr h="374650">
                <a:tc>
                  <a:txBody>
                    <a:bodyPr lIns="114300" tIns="76200" rIns="114300" bIns="76200">
                      <a:noAutofit/>
                    </a:bodyPr>
                    <a:lstStyle/>
                    <a:p>
                      <a:pPr algn="l"/>
                      <a:r>
                        <a:rPr sz="1650" b="0">
                          <a:solidFill>
                            <a:srgbClr val="14281D"/>
                          </a:solidFill>
                          <a:latin typeface="Arial"/>
                          <a:ea typeface="Arial"/>
                          <a:cs typeface="Arial"/>
                        </a:rPr>
                        <a:t>Less gross profit generated</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($105,960)</a:t>
                      </a:r>
                    </a:p>
                  </a:txBody>
                  <a:tcPr marL="91440" marR="91440" marT="45720" marB="45720" anchor="ctr">
                    <a:solidFill>
                      <a:srgbClr val="FFFFFF"/>
                    </a:solidFill>
                  </a:tcPr>
                </a:tc>
              </a:tr>
              <a:tr h="374650">
                <a:tc>
                  <a:txBody>
                    <a:bodyPr lIns="114300" tIns="76200" rIns="114300" bIns="76200">
                      <a:noAutofit/>
                    </a:bodyPr>
                    <a:lstStyle/>
                    <a:p>
                      <a:pPr algn="l"/>
                      <a:r>
                        <a:rPr sz="1650" b="1">
                          <a:solidFill>
                            <a:srgbClr val="14281D"/>
                          </a:solidFill>
                          <a:latin typeface="Arial"/>
                          <a:ea typeface="Arial"/>
                          <a:cs typeface="Arial"/>
                        </a:rPr>
                        <a:t>Net cash used</a:t>
                      </a:r>
                    </a:p>
                  </a:txBody>
                  <a:tcPr marL="91440" marR="91440" marT="45720" marB="45720" anchor="ctr">
                    <a:solidFill>
                      <a:srgbClr val="E8EDDF"/>
                    </a:solidFill>
                  </a:tcPr>
                </a:tc>
                <a:tc>
                  <a:txBody>
                    <a:bodyPr lIns="114300" tIns="76200" rIns="114300" bIns="76200">
                      <a:noAutofit/>
                    </a:bodyPr>
                    <a:lstStyle/>
                    <a:p>
                      <a:pPr algn="r"/>
                      <a:r>
                        <a:rPr sz="1650" b="1">
                          <a:solidFill>
                            <a:srgbClr val="14281D"/>
                          </a:solidFill>
                          <a:latin typeface="Arial"/>
                          <a:ea typeface="Arial"/>
                          <a:cs typeface="Arial"/>
                        </a:rPr>
                        <a:t>$1,106,471</a:t>
                      </a:r>
                    </a:p>
                  </a:txBody>
                  <a:tcPr marL="91440" marR="91440" marT="45720" marB="45720" anchor="ctr">
                    <a:solidFill>
                      <a:srgbClr val="E8EDDF"/>
                    </a:solidFill>
                  </a:tcPr>
                </a:tc>
              </a:tr>
              <a:tr h="374650">
                <a:tc>
                  <a:txBody>
                    <a:bodyPr lIns="114300" tIns="76200" rIns="114300" bIns="76200">
                      <a:noAutofit/>
                    </a:bodyPr>
                    <a:lstStyle/>
                    <a:p>
                      <a:pPr algn="l"/>
                      <a:r>
                        <a:rPr sz="1650" b="0">
                          <a:solidFill>
                            <a:srgbClr val="14281D"/>
                          </a:solidFill>
                          <a:latin typeface="Arial"/>
                          <a:ea typeface="Arial"/>
                          <a:cs typeface="Arial"/>
                        </a:rPr>
                        <a:t>Financing costs</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$25,000</a:t>
                      </a:r>
                    </a:p>
                  </a:txBody>
                  <a:tcPr marL="91440" marR="91440" marT="45720" marB="45720" anchor="ctr">
                    <a:solidFill>
                      <a:srgbClr val="FFFFFF"/>
                    </a:solidFill>
                  </a:tcPr>
                </a:tc>
              </a:tr>
              <a:tr h="374650">
                <a:tc>
                  <a:txBody>
                    <a:bodyPr lIns="114300" tIns="76200" rIns="114300" bIns="76200">
                      <a:noAutofit/>
                    </a:bodyPr>
                    <a:lstStyle/>
                    <a:p>
                      <a:pPr algn="l"/>
                      <a:r>
                        <a:rPr sz="1650" b="1">
                          <a:solidFill>
                            <a:srgbClr val="14281D"/>
                          </a:solidFill>
                          <a:latin typeface="Arial"/>
                          <a:ea typeface="Arial"/>
                          <a:cs typeface="Arial"/>
                        </a:rPr>
                        <a:t>Remaining cash from $1.5m</a:t>
                      </a:r>
                    </a:p>
                  </a:txBody>
                  <a:tcPr marL="91440" marR="91440" marT="45720" marB="45720" anchor="ctr">
                    <a:solidFill>
                      <a:srgbClr val="E8EDDF"/>
                    </a:solidFill>
                  </a:tcPr>
                </a:tc>
                <a:tc>
                  <a:txBody>
                    <a:bodyPr lIns="114300" tIns="76200" rIns="114300" bIns="76200">
                      <a:noAutofit/>
                    </a:bodyPr>
                    <a:lstStyle/>
                    <a:p>
                      <a:pPr algn="r"/>
                      <a:r>
                        <a:rPr sz="1650" b="1">
                          <a:solidFill>
                            <a:srgbClr val="14281D"/>
                          </a:solidFill>
                          <a:latin typeface="Arial"/>
                          <a:ea typeface="Arial"/>
                          <a:cs typeface="Arial"/>
                        </a:rPr>
                        <a:t>$368,529</a:t>
                      </a:r>
                    </a:p>
                  </a:txBody>
                  <a:tcPr marL="91440" marR="91440" marT="45720" marB="45720" anchor="ctr">
                    <a:solidFill>
                      <a:srgbClr val="E8EDDF"/>
                    </a:solidFill>
                  </a:tcPr>
                </a:tc>
              </a:tr>
            </a:tbl>
          </a:graphicData>
        </a:graphic>
      </p:graphicFrame>
      <p:sp>
        <p:nvSpPr>
          <p:cNvPr id="6" name="A first round">
            <a:extLst xmlns:a="http://schemas.openxmlformats.org/drawingml/2006/main">
              <a:ext uri="{FF2B5EF4-FFF2-40B4-BE49-F238E27FC236}">
                <a16:creationId xmlns:a16="http://schemas.microsoft.com/office/drawing/2014/main" id="{53BFFD38-D7BD-4430-B744-2E00106A5010}"/>
              </a:ext>
            </a:extLst>
          </p:cNvPr>
          <p:cNvSpPr>
            <a:spLocks xmlns:a="http://schemas.openxmlformats.org/drawingml/2006/main" noGrp="1"/>
          </p:cNvSpPr>
          <p:nvPr/>
        </p:nvSpPr>
        <p:spPr>
          <a:xfrm xmlns:a="http://schemas.openxmlformats.org/drawingml/2006/main">
            <a:off x="7962900" y="2419350"/>
            <a:ext cx="35052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05938"/>
                </a:solidFill>
                <a:latin typeface="Arial"/>
                <a:ea typeface="Arial"/>
                <a:cs typeface="Arial"/>
              </a:defRPr>
            </a:pPr>
            <a:r>
              <a:rPr sz="2550" b="1">
                <a:solidFill>
                  <a:srgbClr val="205938"/>
                </a:solidFill>
                <a:latin typeface="Arial"/>
                <a:ea typeface="Arial"/>
                <a:cs typeface="Arial"/>
              </a:rPr>
              <a:t>A first round</a:t>
            </a:r>
          </a:p>
        </p:txBody>
      </p:sp>
      <p:sp>
        <p:nvSpPr>
          <p:cNvPr id="7" name="Repair repeat economics before financing expansion">
            <a:extLst xmlns:a="http://schemas.openxmlformats.org/drawingml/2006/main">
              <a:ext uri="{FF2B5EF4-FFF2-40B4-BE49-F238E27FC236}">
                <a16:creationId xmlns:a16="http://schemas.microsoft.com/office/drawing/2014/main" id="{3A4EB5CE-A672-411B-B5D3-9AA75A82196A}"/>
              </a:ext>
            </a:extLst>
          </p:cNvPr>
          <p:cNvSpPr>
            <a:spLocks xmlns:a="http://schemas.openxmlformats.org/drawingml/2006/main" noGrp="1"/>
          </p:cNvSpPr>
          <p:nvPr/>
        </p:nvSpPr>
        <p:spPr>
          <a:xfrm xmlns:a="http://schemas.openxmlformats.org/drawingml/2006/main">
            <a:off x="7962900" y="3095625"/>
            <a:ext cx="346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Repair repeat economics before financing expansion.</a:t>
            </a:r>
          </a:p>
        </p:txBody>
      </p:sp>
      <p:sp>
        <p:nvSpPr>
          <p:cNvPr id="8" name="$22.09m">
            <a:extLst xmlns:a="http://schemas.openxmlformats.org/drawingml/2006/main">
              <a:ext uri="{FF2B5EF4-FFF2-40B4-BE49-F238E27FC236}">
                <a16:creationId xmlns:a16="http://schemas.microsoft.com/office/drawing/2014/main" id="{DA630957-15ED-4617-A64E-45E6BF1368E4}"/>
              </a:ext>
            </a:extLst>
          </p:cNvPr>
          <p:cNvSpPr>
            <a:spLocks xmlns:a="http://schemas.openxmlformats.org/drawingml/2006/main" noGrp="1"/>
          </p:cNvSpPr>
          <p:nvPr/>
        </p:nvSpPr>
        <p:spPr>
          <a:xfrm xmlns:a="http://schemas.openxmlformats.org/drawingml/2006/main">
            <a:off x="7962900" y="4410075"/>
            <a:ext cx="34671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205938"/>
                </a:solidFill>
                <a:latin typeface="Arial"/>
                <a:ea typeface="Arial"/>
                <a:cs typeface="Arial"/>
              </a:defRPr>
            </a:pPr>
            <a:r>
              <a:rPr sz="3375" b="1">
                <a:solidFill>
                  <a:srgbClr val="205938"/>
                </a:solidFill>
                <a:latin typeface="Arial"/>
                <a:ea typeface="Arial"/>
                <a:cs typeface="Arial"/>
              </a:rPr>
              <a:t>$22.09m</a:t>
            </a:r>
          </a:p>
        </p:txBody>
      </p:sp>
      <p:sp>
        <p:nvSpPr>
          <p:cNvPr id="9" name="Cash deficit through 2033 if growth continues with">
            <a:extLst xmlns:a="http://schemas.openxmlformats.org/drawingml/2006/main">
              <a:ext uri="{FF2B5EF4-FFF2-40B4-BE49-F238E27FC236}">
                <a16:creationId xmlns:a16="http://schemas.microsoft.com/office/drawing/2014/main" id="{6A14A100-C8C9-425D-BC9E-23B70B39B55D}"/>
              </a:ext>
            </a:extLst>
          </p:cNvPr>
          <p:cNvSpPr>
            <a:spLocks xmlns:a="http://schemas.openxmlformats.org/drawingml/2006/main" noGrp="1"/>
          </p:cNvSpPr>
          <p:nvPr/>
        </p:nvSpPr>
        <p:spPr>
          <a:xfrm xmlns:a="http://schemas.openxmlformats.org/drawingml/2006/main">
            <a:off x="7962900" y="5076825"/>
            <a:ext cx="3467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Cash deficit through 2033 if growth continues without fixing pricing.</a:t>
            </a:r>
          </a:p>
        </p:txBody>
      </p:sp>
      <p:sp>
        <p:nvSpPr>
          <p:cNvPr id="10" name="Including the $2.74m buffer implies $24.83m. This ">
            <a:extLst xmlns:a="http://schemas.openxmlformats.org/drawingml/2006/main">
              <a:ext uri="{FF2B5EF4-FFF2-40B4-BE49-F238E27FC236}">
                <a16:creationId xmlns:a16="http://schemas.microsoft.com/office/drawing/2014/main" id="{DEFC66F6-BE15-4F43-A69A-AEC62F64503B}"/>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Including the $2.74m buffer implies $24.83m. This is an unrepaired forecast, not a recommended raise. The illustrative $1.5m pilot round and valuation remain unapproved.</a:t>
            </a:r>
          </a:p>
        </p:txBody>
      </p:sp>
    </p:spTree>
    <p:extLst>
      <p:ext uri="{BB962C8B-B14F-4D97-AF65-F5344CB8AC3E}">
        <p14:creationId xmlns:p14="http://schemas.microsoft.com/office/powerpoint/2010/main" val="1414113617"/>
      </p:ext>
    </p:extLst>
  </p:cSld>
</p:sld>
</file>

<file path=ppt/slides/slide2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70% founder ownership before new investment">
            <a:extLst xmlns:a="http://schemas.openxmlformats.org/drawingml/2006/main">
              <a:ext uri="{FF2B5EF4-FFF2-40B4-BE49-F238E27FC236}">
                <a16:creationId xmlns:a16="http://schemas.microsoft.com/office/drawing/2014/main" id="{7BCCE661-EECE-443E-BB19-5EA515027543}"/>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70% founder ownership before new investment</a:t>
            </a:r>
          </a:p>
        </p:txBody>
      </p:sp>
      <p:sp>
        <p:nvSpPr>
          <p:cNvPr id="2" name="Every new equity round dilutes existing owners pro">
            <a:extLst xmlns:a="http://schemas.openxmlformats.org/drawingml/2006/main">
              <a:ext uri="{FF2B5EF4-FFF2-40B4-BE49-F238E27FC236}">
                <a16:creationId xmlns:a16="http://schemas.microsoft.com/office/drawing/2014/main" id="{4FD0412E-89DD-473D-A273-E75351F825EE}"/>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Every new equity round dilutes existing owners proportionately in this illustration.</a:t>
            </a:r>
          </a:p>
        </p:txBody>
      </p:sp>
      <p:sp>
        <p:nvSpPr>
          <p:cNvPr id="3" name="YardMatch">
            <a:extLst xmlns:a="http://schemas.openxmlformats.org/drawingml/2006/main">
              <a:ext uri="{FF2B5EF4-FFF2-40B4-BE49-F238E27FC236}">
                <a16:creationId xmlns:a16="http://schemas.microsoft.com/office/drawing/2014/main" id="{D5B720A7-A542-4886-8EB8-F9A5C30B833A}"/>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0">
            <a:extLst xmlns:a="http://schemas.openxmlformats.org/drawingml/2006/main">
              <a:ext uri="{FF2B5EF4-FFF2-40B4-BE49-F238E27FC236}">
                <a16:creationId xmlns:a16="http://schemas.microsoft.com/office/drawing/2014/main" id="{F096E7B6-A2EE-42CB-A9EA-EDEBA35F3FD3}"/>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20</a:t>
            </a:r>
          </a:p>
        </p:txBody>
      </p:sp>
      <p:graphicFrame>
        <p:nvGraphicFramePr>
          <p:cNvPr id="11" name=""/>
          <p:cNvGraphicFramePr/>
          <p:nvPr/>
        </p:nvGraphicFramePr>
        <p:xfrm>
          <a:off xmlns:a="http://schemas.openxmlformats.org/drawingml/2006/main" x="609600" y="2400300"/>
          <a:ext xmlns:a="http://schemas.openxmlformats.org/drawingml/2006/main" cx="10972800" cy="3038475"/>
        </p:xfrm>
        <a:graphic xmlns:a="http://schemas.openxmlformats.org/drawingml/2006/main">
          <a:graphicData uri="http://schemas.openxmlformats.org/drawingml/2006/table">
            <a:tbl>
              <a:tblPr/>
              <a:tblGrid>
                <a:gridCol w="4257675"/>
                <a:gridCol w="2238375"/>
                <a:gridCol w="2238375"/>
                <a:gridCol w="2238375"/>
              </a:tblGrid>
              <a:tr h="506413">
                <a:tc>
                  <a:txBody>
                    <a:bodyPr lIns="114300" tIns="76200" rIns="114300" bIns="76200">
                      <a:noAutofit/>
                    </a:bodyPr>
                    <a:lstStyle/>
                    <a:p>
                      <a:pPr algn="l"/>
                      <a:r>
                        <a:rPr sz="1950" b="1">
                          <a:solidFill>
                            <a:srgbClr val="FFFFFF"/>
                          </a:solidFill>
                          <a:latin typeface="Arial"/>
                          <a:ea typeface="Arial"/>
                          <a:cs typeface="Arial"/>
                        </a:rPr>
                        <a:t>Ownership</a:t>
                      </a:r>
                    </a:p>
                  </a:txBody>
                  <a:tcPr marL="91440" marR="91440" marT="45720" marB="45720" anchor="ctr">
                    <a:solidFill>
                      <a:srgbClr val="205938"/>
                    </a:solidFill>
                  </a:tcPr>
                </a:tc>
                <a:tc>
                  <a:txBody>
                    <a:bodyPr lIns="114300" tIns="76200" rIns="114300" bIns="76200">
                      <a:noAutofit/>
                    </a:bodyPr>
                    <a:lstStyle/>
                    <a:p>
                      <a:pPr algn="l"/>
                      <a:r>
                        <a:rPr sz="1950" b="1">
                          <a:solidFill>
                            <a:srgbClr val="FFFFFF"/>
                          </a:solidFill>
                          <a:latin typeface="Arial"/>
                          <a:ea typeface="Arial"/>
                          <a:cs typeface="Arial"/>
                        </a:rPr>
                        <a:t>At formation</a:t>
                      </a:r>
                    </a:p>
                  </a:txBody>
                  <a:tcPr marL="91440" marR="91440" marT="45720" marB="45720" anchor="ctr">
                    <a:solidFill>
                      <a:srgbClr val="205938"/>
                    </a:solidFill>
                  </a:tcPr>
                </a:tc>
                <a:tc>
                  <a:txBody>
                    <a:bodyPr lIns="114300" tIns="76200" rIns="114300" bIns="76200">
                      <a:noAutofit/>
                    </a:bodyPr>
                    <a:lstStyle/>
                    <a:p>
                      <a:pPr algn="l"/>
                      <a:r>
                        <a:rPr sz="1950" b="1">
                          <a:solidFill>
                            <a:srgbClr val="FFFFFF"/>
                          </a:solidFill>
                          <a:latin typeface="Arial"/>
                          <a:ea typeface="Arial"/>
                          <a:cs typeface="Arial"/>
                        </a:rPr>
                        <a:t>After round 1</a:t>
                      </a:r>
                    </a:p>
                  </a:txBody>
                  <a:tcPr marL="91440" marR="91440" marT="45720" marB="45720" anchor="ctr">
                    <a:solidFill>
                      <a:srgbClr val="205938"/>
                    </a:solidFill>
                  </a:tcPr>
                </a:tc>
                <a:tc>
                  <a:txBody>
                    <a:bodyPr lIns="114300" tIns="76200" rIns="114300" bIns="76200">
                      <a:noAutofit/>
                    </a:bodyPr>
                    <a:lstStyle/>
                    <a:p>
                      <a:pPr algn="l"/>
                      <a:r>
                        <a:rPr sz="1950" b="1">
                          <a:solidFill>
                            <a:srgbClr val="FFFFFF"/>
                          </a:solidFill>
                          <a:latin typeface="Arial"/>
                          <a:ea typeface="Arial"/>
                          <a:cs typeface="Arial"/>
                        </a:rPr>
                        <a:t>After round 2</a:t>
                      </a:r>
                    </a:p>
                  </a:txBody>
                  <a:tcPr marL="91440" marR="91440" marT="45720" marB="45720" anchor="ctr">
                    <a:solidFill>
                      <a:srgbClr val="205938"/>
                    </a:solidFill>
                  </a:tcPr>
                </a:tc>
              </a:tr>
              <a:tr h="506413">
                <a:tc>
                  <a:txBody>
                    <a:bodyPr lIns="114300" tIns="76200" rIns="114300" bIns="76200">
                      <a:noAutofit/>
                    </a:bodyPr>
                    <a:lstStyle/>
                    <a:p>
                      <a:pPr algn="l"/>
                      <a:r>
                        <a:rPr sz="1950" b="1">
                          <a:solidFill>
                            <a:srgbClr val="14281D"/>
                          </a:solidFill>
                          <a:latin typeface="Arial"/>
                          <a:ea typeface="Arial"/>
                          <a:cs typeface="Arial"/>
                        </a:rPr>
                        <a:t>Patrick</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70.0%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56.0%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44.8%</a:t>
                      </a:r>
                    </a:p>
                  </a:txBody>
                  <a:tcPr marL="91440" marR="91440" marT="45720" marB="45720" anchor="ctr">
                    <a:solidFill>
                      <a:srgbClr val="E8EDDF"/>
                    </a:solidFill>
                  </a:tcPr>
                </a:tc>
              </a:tr>
              <a:tr h="506413">
                <a:tc>
                  <a:txBody>
                    <a:bodyPr lIns="114300" tIns="76200" rIns="114300" bIns="76200">
                      <a:noAutofit/>
                    </a:bodyPr>
                    <a:lstStyle/>
                    <a:p>
                      <a:pPr algn="l"/>
                      <a:r>
                        <a:rPr sz="1950" b="0">
                          <a:solidFill>
                            <a:srgbClr val="14281D"/>
                          </a:solidFill>
                          <a:latin typeface="Arial"/>
                          <a:ea typeface="Arial"/>
                          <a:cs typeface="Arial"/>
                        </a:rPr>
                        <a:t>Other initial owners</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30.0%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24.0%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19.2%</a:t>
                      </a:r>
                    </a:p>
                  </a:txBody>
                  <a:tcPr marL="91440" marR="91440" marT="45720" marB="45720" anchor="ctr">
                    <a:solidFill>
                      <a:srgbClr val="F7F5EF"/>
                    </a:solidFill>
                  </a:tcPr>
                </a:tc>
              </a:tr>
              <a:tr h="506413">
                <a:tc>
                  <a:txBody>
                    <a:bodyPr lIns="114300" tIns="76200" rIns="114300" bIns="76200">
                      <a:noAutofit/>
                    </a:bodyPr>
                    <a:lstStyle/>
                    <a:p>
                      <a:pPr algn="l"/>
                      <a:r>
                        <a:rPr sz="1950" b="0">
                          <a:solidFill>
                            <a:srgbClr val="14281D"/>
                          </a:solidFill>
                          <a:latin typeface="Arial"/>
                          <a:ea typeface="Arial"/>
                          <a:cs typeface="Arial"/>
                        </a:rPr>
                        <a:t>Round 1 investors</a:t>
                      </a:r>
                    </a:p>
                  </a:txBody>
                  <a:tcPr marL="91440" marR="91440" marT="45720" marB="45720" anchor="ctr">
                    <a:solidFill>
                      <a:srgbClr val="FFFFFF"/>
                    </a:solidFill>
                  </a:tcPr>
                </a:tc>
                <a:tc>
                  <a:txBody>
                    <a:bodyPr lIns="114300" tIns="76200" rIns="114300" bIns="76200">
                      <a:noAutofit/>
                    </a:bodyPr>
                    <a:lstStyle/>
                    <a:p>
                      <a:pPr algn="r"/>
                      <a:r>
                        <a:rPr sz="1950" b="0">
                          <a:solidFill>
                            <a:srgbClr val="14281D"/>
                          </a:solidFill>
                          <a:latin typeface="Arial"/>
                          <a:ea typeface="Arial"/>
                          <a:cs typeface="Arial"/>
                        </a:rPr>
                        <a:t>0.0%</a:t>
                      </a:r>
                    </a:p>
                  </a:txBody>
                  <a:tcPr marL="91440" marR="91440" marT="45720" marB="45720" anchor="ctr">
                    <a:solidFill>
                      <a:srgbClr val="FFFFFF"/>
                    </a:solidFill>
                  </a:tcPr>
                </a:tc>
                <a:tc>
                  <a:txBody>
                    <a:bodyPr lIns="114300" tIns="76200" rIns="114300" bIns="76200">
                      <a:noAutofit/>
                    </a:bodyPr>
                    <a:lstStyle/>
                    <a:p>
                      <a:pPr algn="r"/>
                      <a:r>
                        <a:rPr sz="1950" b="0">
                          <a:solidFill>
                            <a:srgbClr val="14281D"/>
                          </a:solidFill>
                          <a:latin typeface="Arial"/>
                          <a:ea typeface="Arial"/>
                          <a:cs typeface="Arial"/>
                        </a:rPr>
                        <a:t>20.0%</a:t>
                      </a:r>
                    </a:p>
                  </a:txBody>
                  <a:tcPr marL="91440" marR="91440" marT="45720" marB="45720" anchor="ctr">
                    <a:solidFill>
                      <a:srgbClr val="FFFFFF"/>
                    </a:solidFill>
                  </a:tcPr>
                </a:tc>
                <a:tc>
                  <a:txBody>
                    <a:bodyPr lIns="114300" tIns="76200" rIns="114300" bIns="76200">
                      <a:noAutofit/>
                    </a:bodyPr>
                    <a:lstStyle/>
                    <a:p>
                      <a:pPr algn="r"/>
                      <a:r>
                        <a:rPr sz="1950" b="0">
                          <a:solidFill>
                            <a:srgbClr val="14281D"/>
                          </a:solidFill>
                          <a:latin typeface="Arial"/>
                          <a:ea typeface="Arial"/>
                          <a:cs typeface="Arial"/>
                        </a:rPr>
                        <a:t>16.0%</a:t>
                      </a:r>
                    </a:p>
                  </a:txBody>
                  <a:tcPr marL="91440" marR="91440" marT="45720" marB="45720" anchor="ctr">
                    <a:solidFill>
                      <a:srgbClr val="FFFFFF"/>
                    </a:solidFill>
                  </a:tcPr>
                </a:tc>
              </a:tr>
              <a:tr h="506413">
                <a:tc>
                  <a:txBody>
                    <a:bodyPr lIns="114300" tIns="76200" rIns="114300" bIns="76200">
                      <a:noAutofit/>
                    </a:bodyPr>
                    <a:lstStyle/>
                    <a:p>
                      <a:pPr algn="l"/>
                      <a:r>
                        <a:rPr sz="1950" b="0">
                          <a:solidFill>
                            <a:srgbClr val="14281D"/>
                          </a:solidFill>
                          <a:latin typeface="Arial"/>
                          <a:ea typeface="Arial"/>
                          <a:cs typeface="Arial"/>
                        </a:rPr>
                        <a:t>Round 2 investors</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0.0%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0.0%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20.0%</a:t>
                      </a:r>
                    </a:p>
                  </a:txBody>
                  <a:tcPr marL="91440" marR="91440" marT="45720" marB="45720" anchor="ctr">
                    <a:solidFill>
                      <a:srgbClr val="F7F5EF"/>
                    </a:solidFill>
                  </a:tcPr>
                </a:tc>
              </a:tr>
              <a:tr h="506413">
                <a:tc>
                  <a:txBody>
                    <a:bodyPr lIns="114300" tIns="76200" rIns="114300" bIns="76200">
                      <a:noAutofit/>
                    </a:bodyPr>
                    <a:lstStyle/>
                    <a:p>
                      <a:pPr algn="l"/>
                      <a:r>
                        <a:rPr sz="1950" b="1">
                          <a:solidFill>
                            <a:srgbClr val="14281D"/>
                          </a:solidFill>
                          <a:latin typeface="Arial"/>
                          <a:ea typeface="Arial"/>
                          <a:cs typeface="Arial"/>
                        </a:rPr>
                        <a:t>Total</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100.0%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100.0%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100.0%</a:t>
                      </a:r>
                    </a:p>
                  </a:txBody>
                  <a:tcPr marL="91440" marR="91440" marT="45720" marB="45720" anchor="ctr">
                    <a:solidFill>
                      <a:srgbClr val="E8EDDF"/>
                    </a:solidFill>
                  </a:tcPr>
                </a:tc>
              </a:tr>
            </a:tbl>
          </a:graphicData>
        </a:graphic>
      </p:graphicFrame>
      <p:sp>
        <p:nvSpPr>
          <p:cNvPr id="6" name="Each illustrative round sells 20% post-money. A la">
            <a:extLst xmlns:a="http://schemas.openxmlformats.org/drawingml/2006/main">
              <a:ext uri="{FF2B5EF4-FFF2-40B4-BE49-F238E27FC236}">
                <a16:creationId xmlns:a16="http://schemas.microsoft.com/office/drawing/2014/main" id="{10804BDE-EE5A-4B53-972A-424714D3D578}"/>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Each illustrative round sells 20% post-money. A later 10% option pool would reduce Patrick to 40.32%. Voting and board control require separate terms.</a:t>
            </a:r>
          </a:p>
        </p:txBody>
      </p:sp>
    </p:spTree>
    <p:extLst>
      <p:ext uri="{BB962C8B-B14F-4D97-AF65-F5344CB8AC3E}">
        <p14:creationId xmlns:p14="http://schemas.microsoft.com/office/powerpoint/2010/main" val="510411770"/>
      </p:ext>
    </p:extLst>
  </p:cSld>
</p:sld>
</file>

<file path=ppt/slides/slide2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The investor’s return comes from equity value">
            <a:extLst xmlns:a="http://schemas.openxmlformats.org/drawingml/2006/main">
              <a:ext uri="{FF2B5EF4-FFF2-40B4-BE49-F238E27FC236}">
                <a16:creationId xmlns:a16="http://schemas.microsoft.com/office/drawing/2014/main" id="{909847BC-34CE-4811-AE8E-649173E239E0}"/>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investor’s return comes from equity value</a:t>
            </a:r>
          </a:p>
        </p:txBody>
      </p:sp>
      <p:sp>
        <p:nvSpPr>
          <p:cNvPr id="2" name="Illustration: $1.5m buys 20% initially and becomes">
            <a:extLst xmlns:a="http://schemas.openxmlformats.org/drawingml/2006/main">
              <a:ext uri="{FF2B5EF4-FFF2-40B4-BE49-F238E27FC236}">
                <a16:creationId xmlns:a16="http://schemas.microsoft.com/office/drawing/2014/main" id="{DA4C7F7B-9FCD-41E7-B6D3-47DA8C6D098E}"/>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Illustration: $1.5m buys 20% initially and becomes 16% after one further 20% round.</a:t>
            </a:r>
          </a:p>
        </p:txBody>
      </p:sp>
      <p:sp>
        <p:nvSpPr>
          <p:cNvPr id="3" name="YardMatch">
            <a:extLst xmlns:a="http://schemas.openxmlformats.org/drawingml/2006/main">
              <a:ext uri="{FF2B5EF4-FFF2-40B4-BE49-F238E27FC236}">
                <a16:creationId xmlns:a16="http://schemas.microsoft.com/office/drawing/2014/main" id="{D3B60920-809C-45C9-B35D-74A70174F4F8}"/>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1">
            <a:extLst xmlns:a="http://schemas.openxmlformats.org/drawingml/2006/main">
              <a:ext uri="{FF2B5EF4-FFF2-40B4-BE49-F238E27FC236}">
                <a16:creationId xmlns:a16="http://schemas.microsoft.com/office/drawing/2014/main" id="{52775BF0-016E-475E-A43D-34B368857BF9}"/>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21</a:t>
            </a:r>
          </a:p>
        </p:txBody>
      </p:sp>
      <p:graphicFrame>
        <p:nvGraphicFramePr>
          <p:cNvPr id="15" name=""/>
          <p:cNvGraphicFramePr/>
          <p:nvPr/>
        </p:nvGraphicFramePr>
        <p:xfrm>
          <a:off xmlns:a="http://schemas.openxmlformats.org/drawingml/2006/main" x="609600" y="2409825"/>
          <a:ext xmlns:a="http://schemas.openxmlformats.org/drawingml/2006/main" cx="8572500" cy="2828925"/>
        </p:xfrm>
        <a:graphic xmlns:a="http://schemas.openxmlformats.org/drawingml/2006/main">
          <a:graphicData uri="http://schemas.openxmlformats.org/drawingml/2006/table">
            <a:tbl>
              <a:tblPr/>
              <a:tblGrid>
                <a:gridCol w="2571750"/>
                <a:gridCol w="3619500"/>
                <a:gridCol w="2381250"/>
              </a:tblGrid>
              <a:tr h="565785">
                <a:tc>
                  <a:txBody>
                    <a:bodyPr lIns="114300" tIns="76200" rIns="114300" bIns="76200">
                      <a:noAutofit/>
                    </a:bodyPr>
                    <a:lstStyle/>
                    <a:p>
                      <a:pPr algn="l"/>
                      <a:r>
                        <a:rPr sz="2025" b="1">
                          <a:solidFill>
                            <a:srgbClr val="FFFFFF"/>
                          </a:solidFill>
                          <a:latin typeface="Arial"/>
                          <a:ea typeface="Arial"/>
                          <a:cs typeface="Arial"/>
                        </a:rPr>
                        <a:t>Exit equity value</a:t>
                      </a:r>
                    </a:p>
                  </a:txBody>
                  <a:tcPr marL="91440" marR="91440" marT="45720" marB="45720" anchor="ctr">
                    <a:solidFill>
                      <a:srgbClr val="205938"/>
                    </a:solidFill>
                  </a:tcPr>
                </a:tc>
                <a:tc>
                  <a:txBody>
                    <a:bodyPr lIns="114300" tIns="76200" rIns="114300" bIns="76200">
                      <a:noAutofit/>
                    </a:bodyPr>
                    <a:lstStyle/>
                    <a:p>
                      <a:pPr algn="l"/>
                      <a:r>
                        <a:rPr sz="2025" b="1">
                          <a:solidFill>
                            <a:srgbClr val="FFFFFF"/>
                          </a:solidFill>
                          <a:latin typeface="Arial"/>
                          <a:ea typeface="Arial"/>
                          <a:cs typeface="Arial"/>
                        </a:rPr>
                        <a:t>Initial investor proceeds</a:t>
                      </a:r>
                    </a:p>
                  </a:txBody>
                  <a:tcPr marL="91440" marR="91440" marT="45720" marB="45720" anchor="ctr">
                    <a:solidFill>
                      <a:srgbClr val="205938"/>
                    </a:solidFill>
                  </a:tcPr>
                </a:tc>
                <a:tc>
                  <a:txBody>
                    <a:bodyPr lIns="114300" tIns="76200" rIns="114300" bIns="76200">
                      <a:noAutofit/>
                    </a:bodyPr>
                    <a:lstStyle/>
                    <a:p>
                      <a:pPr algn="l"/>
                      <a:r>
                        <a:rPr sz="2025" b="1">
                          <a:solidFill>
                            <a:srgbClr val="FFFFFF"/>
                          </a:solidFill>
                          <a:latin typeface="Arial"/>
                          <a:ea typeface="Arial"/>
                          <a:cs typeface="Arial"/>
                        </a:rPr>
                        <a:t>Gross multiple</a:t>
                      </a:r>
                    </a:p>
                  </a:txBody>
                  <a:tcPr marL="91440" marR="91440" marT="45720" marB="45720" anchor="ctr">
                    <a:solidFill>
                      <a:srgbClr val="205938"/>
                    </a:solidFill>
                  </a:tcPr>
                </a:tc>
              </a:tr>
              <a:tr h="565785">
                <a:tc>
                  <a:txBody>
                    <a:bodyPr lIns="114300" tIns="76200" rIns="114300" bIns="76200">
                      <a:noAutofit/>
                    </a:bodyPr>
                    <a:lstStyle/>
                    <a:p>
                      <a:pPr algn="l"/>
                      <a:r>
                        <a:rPr sz="2025" b="0">
                          <a:solidFill>
                            <a:srgbClr val="14281D"/>
                          </a:solidFill>
                          <a:latin typeface="Arial"/>
                          <a:ea typeface="Arial"/>
                          <a:cs typeface="Arial"/>
                        </a:rPr>
                        <a:t>$0</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$0</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0.0x</a:t>
                      </a:r>
                    </a:p>
                  </a:txBody>
                  <a:tcPr marL="91440" marR="91440" marT="45720" marB="45720" anchor="ctr">
                    <a:solidFill>
                      <a:srgbClr val="FFFFFF"/>
                    </a:solidFill>
                  </a:tcPr>
                </a:tc>
              </a:tr>
              <a:tr h="565785">
                <a:tc>
                  <a:txBody>
                    <a:bodyPr lIns="114300" tIns="76200" rIns="114300" bIns="76200">
                      <a:noAutofit/>
                    </a:bodyPr>
                    <a:lstStyle/>
                    <a:p>
                      <a:pPr algn="l"/>
                      <a:r>
                        <a:rPr sz="2025" b="0">
                          <a:solidFill>
                            <a:srgbClr val="14281D"/>
                          </a:solidFill>
                          <a:latin typeface="Arial"/>
                          <a:ea typeface="Arial"/>
                          <a:cs typeface="Arial"/>
                        </a:rPr>
                        <a:t>$10m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$1.6m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1.1x</a:t>
                      </a:r>
                    </a:p>
                  </a:txBody>
                  <a:tcPr marL="91440" marR="91440" marT="45720" marB="45720" anchor="ctr">
                    <a:solidFill>
                      <a:srgbClr val="F7F5EF"/>
                    </a:solidFill>
                  </a:tcPr>
                </a:tc>
              </a:tr>
              <a:tr h="565785">
                <a:tc>
                  <a:txBody>
                    <a:bodyPr lIns="114300" tIns="76200" rIns="114300" bIns="76200">
                      <a:noAutofit/>
                    </a:bodyPr>
                    <a:lstStyle/>
                    <a:p>
                      <a:pPr algn="l"/>
                      <a:r>
                        <a:rPr sz="2025" b="0">
                          <a:solidFill>
                            <a:srgbClr val="14281D"/>
                          </a:solidFill>
                          <a:latin typeface="Arial"/>
                          <a:ea typeface="Arial"/>
                          <a:cs typeface="Arial"/>
                        </a:rPr>
                        <a:t>$50m</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$8.0m</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5.3x</a:t>
                      </a:r>
                    </a:p>
                  </a:txBody>
                  <a:tcPr marL="91440" marR="91440" marT="45720" marB="45720" anchor="ctr">
                    <a:solidFill>
                      <a:srgbClr val="FFFFFF"/>
                    </a:solidFill>
                  </a:tcPr>
                </a:tc>
              </a:tr>
              <a:tr h="565785">
                <a:tc>
                  <a:txBody>
                    <a:bodyPr lIns="114300" tIns="76200" rIns="114300" bIns="76200">
                      <a:noAutofit/>
                    </a:bodyPr>
                    <a:lstStyle/>
                    <a:p>
                      <a:pPr algn="l"/>
                      <a:r>
                        <a:rPr sz="2025" b="0">
                          <a:solidFill>
                            <a:srgbClr val="14281D"/>
                          </a:solidFill>
                          <a:latin typeface="Arial"/>
                          <a:ea typeface="Arial"/>
                          <a:cs typeface="Arial"/>
                        </a:rPr>
                        <a:t>$100m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$16.0m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10.7x</a:t>
                      </a:r>
                    </a:p>
                  </a:txBody>
                  <a:tcPr marL="91440" marR="91440" marT="45720" marB="45720" anchor="ctr">
                    <a:solidFill>
                      <a:srgbClr val="F7F5EF"/>
                    </a:solidFill>
                  </a:tcPr>
                </a:tc>
              </a:tr>
            </a:tbl>
          </a:graphicData>
        </a:graphic>
      </p:graphicFrame>
      <p:sp>
        <p:nvSpPr>
          <p:cNvPr id="6" name="$6.0m">
            <a:extLst xmlns:a="http://schemas.openxmlformats.org/drawingml/2006/main">
              <a:ext uri="{FF2B5EF4-FFF2-40B4-BE49-F238E27FC236}">
                <a16:creationId xmlns:a16="http://schemas.microsoft.com/office/drawing/2014/main" id="{3583E9B7-3032-4EAB-8978-A90B8A8C61F4}"/>
              </a:ext>
            </a:extLst>
          </p:cNvPr>
          <p:cNvSpPr>
            <a:spLocks xmlns:a="http://schemas.openxmlformats.org/drawingml/2006/main" noGrp="1"/>
          </p:cNvSpPr>
          <p:nvPr/>
        </p:nvSpPr>
        <p:spPr>
          <a:xfrm xmlns:a="http://schemas.openxmlformats.org/drawingml/2006/main">
            <a:off x="9582150" y="2495550"/>
            <a:ext cx="1962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205938"/>
                </a:solidFill>
                <a:latin typeface="Arial"/>
                <a:ea typeface="Arial"/>
                <a:cs typeface="Arial"/>
              </a:defRPr>
            </a:pPr>
            <a:r>
              <a:rPr sz="2775" b="1">
                <a:solidFill>
                  <a:srgbClr val="205938"/>
                </a:solidFill>
                <a:latin typeface="Arial"/>
                <a:ea typeface="Arial"/>
                <a:cs typeface="Arial"/>
              </a:rPr>
              <a:t>$6.0m</a:t>
            </a:r>
          </a:p>
        </p:txBody>
      </p:sp>
      <p:sp>
        <p:nvSpPr>
          <p:cNvPr id="7" name="Illustrative&#10;pre-money value">
            <a:extLst xmlns:a="http://schemas.openxmlformats.org/drawingml/2006/main">
              <a:ext uri="{FF2B5EF4-FFF2-40B4-BE49-F238E27FC236}">
                <a16:creationId xmlns:a16="http://schemas.microsoft.com/office/drawing/2014/main" id="{0AACE87A-718F-47F6-B5D7-B8FFF89D83D9}"/>
              </a:ext>
            </a:extLst>
          </p:cNvPr>
          <p:cNvSpPr>
            <a:spLocks xmlns:a="http://schemas.openxmlformats.org/drawingml/2006/main" noGrp="1"/>
          </p:cNvSpPr>
          <p:nvPr/>
        </p:nvSpPr>
        <p:spPr>
          <a:xfrm xmlns:a="http://schemas.openxmlformats.org/drawingml/2006/main">
            <a:off x="9582150" y="3124200"/>
            <a:ext cx="19716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Illustrative</a:t>
            </a:r>
          </a:p>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pre-money value</a:t>
            </a:r>
          </a:p>
        </p:txBody>
      </p:sp>
      <p:sp>
        <p:nvSpPr>
          <p:cNvPr id="8" name="$7.5m">
            <a:extLst xmlns:a="http://schemas.openxmlformats.org/drawingml/2006/main">
              <a:ext uri="{FF2B5EF4-FFF2-40B4-BE49-F238E27FC236}">
                <a16:creationId xmlns:a16="http://schemas.microsoft.com/office/drawing/2014/main" id="{FABAADED-5B47-4906-87EB-C1893F457667}"/>
              </a:ext>
            </a:extLst>
          </p:cNvPr>
          <p:cNvSpPr>
            <a:spLocks xmlns:a="http://schemas.openxmlformats.org/drawingml/2006/main" noGrp="1"/>
          </p:cNvSpPr>
          <p:nvPr/>
        </p:nvSpPr>
        <p:spPr>
          <a:xfrm xmlns:a="http://schemas.openxmlformats.org/drawingml/2006/main">
            <a:off x="9582150" y="4238625"/>
            <a:ext cx="1962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205938"/>
                </a:solidFill>
                <a:latin typeface="Arial"/>
                <a:ea typeface="Arial"/>
                <a:cs typeface="Arial"/>
              </a:defRPr>
            </a:pPr>
            <a:r>
              <a:rPr sz="2775" b="1">
                <a:solidFill>
                  <a:srgbClr val="205938"/>
                </a:solidFill>
                <a:latin typeface="Arial"/>
                <a:ea typeface="Arial"/>
                <a:cs typeface="Arial"/>
              </a:rPr>
              <a:t>$7.5m</a:t>
            </a:r>
          </a:p>
        </p:txBody>
      </p:sp>
      <p:sp>
        <p:nvSpPr>
          <p:cNvPr id="9" name="Illustrative&#10;post-money value">
            <a:extLst xmlns:a="http://schemas.openxmlformats.org/drawingml/2006/main">
              <a:ext uri="{FF2B5EF4-FFF2-40B4-BE49-F238E27FC236}">
                <a16:creationId xmlns:a16="http://schemas.microsoft.com/office/drawing/2014/main" id="{18675AEF-4693-4A5F-A237-A031FADE2459}"/>
              </a:ext>
            </a:extLst>
          </p:cNvPr>
          <p:cNvSpPr>
            <a:spLocks xmlns:a="http://schemas.openxmlformats.org/drawingml/2006/main" noGrp="1"/>
          </p:cNvSpPr>
          <p:nvPr/>
        </p:nvSpPr>
        <p:spPr>
          <a:xfrm xmlns:a="http://schemas.openxmlformats.org/drawingml/2006/main">
            <a:off x="9582150" y="4867275"/>
            <a:ext cx="19716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Illustrative</a:t>
            </a:r>
          </a:p>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post-money value</a:t>
            </a:r>
          </a:p>
        </p:txBody>
      </p:sp>
      <p:sp>
        <p:nvSpPr>
          <p:cNvPr id="10" name="Return arithmetic, not an exit forecast. Excludes ">
            <a:extLst xmlns:a="http://schemas.openxmlformats.org/drawingml/2006/main">
              <a:ext uri="{FF2B5EF4-FFF2-40B4-BE49-F238E27FC236}">
                <a16:creationId xmlns:a16="http://schemas.microsoft.com/office/drawing/2014/main" id="{BA792B2D-F52C-4CF3-9BF2-9CFC199A710E}"/>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Return arithmetic, not an exit forecast. Excludes further dilution, option pools, preferences, taxes and fees. The $0 outcome represents a complete loss.</a:t>
            </a:r>
          </a:p>
        </p:txBody>
      </p:sp>
    </p:spTree>
    <p:extLst>
      <p:ext uri="{BB962C8B-B14F-4D97-AF65-F5344CB8AC3E}">
        <p14:creationId xmlns:p14="http://schemas.microsoft.com/office/powerpoint/2010/main" val="1259968769"/>
      </p:ext>
    </p:extLst>
  </p:cSld>
</p:sld>
</file>

<file path=ppt/slides/slide2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Milestones for the next round">
            <a:extLst xmlns:a="http://schemas.openxmlformats.org/drawingml/2006/main">
              <a:ext uri="{FF2B5EF4-FFF2-40B4-BE49-F238E27FC236}">
                <a16:creationId xmlns:a16="http://schemas.microsoft.com/office/drawing/2014/main" id="{10CEA18A-D7ED-4F34-8987-596342AC30F8}"/>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Milestones for the next round</a:t>
            </a:r>
          </a:p>
        </p:txBody>
      </p:sp>
      <p:sp>
        <p:nvSpPr>
          <p:cNvPr id="2" name="The strongest investment case will rest on paid co">
            <a:extLst xmlns:a="http://schemas.openxmlformats.org/drawingml/2006/main">
              <a:ext uri="{FF2B5EF4-FFF2-40B4-BE49-F238E27FC236}">
                <a16:creationId xmlns:a16="http://schemas.microsoft.com/office/drawing/2014/main" id="{8729389E-D8B8-4B93-A8B6-9BF5E6A5FF25}"/>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strongest investment case will rest on paid cohort results from a concentrated launch.</a:t>
            </a:r>
          </a:p>
        </p:txBody>
      </p:sp>
      <p:sp>
        <p:nvSpPr>
          <p:cNvPr id="3" name="YardMatch">
            <a:extLst xmlns:a="http://schemas.openxmlformats.org/drawingml/2006/main">
              <a:ext uri="{FF2B5EF4-FFF2-40B4-BE49-F238E27FC236}">
                <a16:creationId xmlns:a16="http://schemas.microsoft.com/office/drawing/2014/main" id="{BBB268A5-711B-4ED4-A504-57D0ABDE7F1F}"/>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2">
            <a:extLst xmlns:a="http://schemas.openxmlformats.org/drawingml/2006/main">
              <a:ext uri="{FF2B5EF4-FFF2-40B4-BE49-F238E27FC236}">
                <a16:creationId xmlns:a16="http://schemas.microsoft.com/office/drawing/2014/main" id="{C347F291-C853-4DF0-B2BD-85AAE6C3850A}"/>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22</a:t>
            </a:r>
          </a:p>
        </p:txBody>
      </p:sp>
      <p:graphicFrame>
        <p:nvGraphicFramePr>
          <p:cNvPr id="11" name=""/>
          <p:cNvGraphicFramePr/>
          <p:nvPr/>
        </p:nvGraphicFramePr>
        <p:xfrm>
          <a:off xmlns:a="http://schemas.openxmlformats.org/drawingml/2006/main" x="609600" y="2362200"/>
          <a:ext xmlns:a="http://schemas.openxmlformats.org/drawingml/2006/main" cx="10972800" cy="3333750"/>
        </p:xfrm>
        <a:graphic xmlns:a="http://schemas.openxmlformats.org/drawingml/2006/main">
          <a:graphicData uri="http://schemas.openxmlformats.org/drawingml/2006/table">
            <a:tbl>
              <a:tblPr/>
              <a:tblGrid>
                <a:gridCol w="3476625"/>
                <a:gridCol w="7496175"/>
              </a:tblGrid>
              <a:tr h="555625">
                <a:tc>
                  <a:txBody>
                    <a:bodyPr lIns="114300" tIns="76200" rIns="114300" bIns="76200">
                      <a:noAutofit/>
                    </a:bodyPr>
                    <a:lstStyle/>
                    <a:p>
                      <a:pPr algn="l"/>
                      <a:r>
                        <a:rPr sz="1800" b="1">
                          <a:solidFill>
                            <a:srgbClr val="FFFFFF"/>
                          </a:solidFill>
                          <a:latin typeface="Arial"/>
                          <a:ea typeface="Arial"/>
                          <a:cs typeface="Arial"/>
                        </a:rPr>
                        <a:t>Test</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Proposed evidence</a:t>
                      </a:r>
                    </a:p>
                  </a:txBody>
                  <a:tcPr marL="91440" marR="91440" marT="45720" marB="45720" anchor="ctr">
                    <a:solidFill>
                      <a:srgbClr val="205938"/>
                    </a:solidFill>
                  </a:tcPr>
                </a:tc>
              </a:tr>
              <a:tr h="555625">
                <a:tc>
                  <a:txBody>
                    <a:bodyPr lIns="114300" tIns="76200" rIns="114300" bIns="76200">
                      <a:noAutofit/>
                    </a:bodyPr>
                    <a:lstStyle/>
                    <a:p>
                      <a:pPr algn="l"/>
                      <a:r>
                        <a:rPr sz="1800" b="0">
                          <a:solidFill>
                            <a:srgbClr val="14281D"/>
                          </a:solidFill>
                          <a:latin typeface="Arial"/>
                          <a:ea typeface="Arial"/>
                          <a:cs typeface="Arial"/>
                        </a:rPr>
                        <a:t>Demand and retention</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500 paying households and measured second-season retention</a:t>
                      </a:r>
                    </a:p>
                  </a:txBody>
                  <a:tcPr marL="91440" marR="91440" marT="45720" marB="45720" anchor="ctr">
                    <a:solidFill>
                      <a:srgbClr val="FFFFFF"/>
                    </a:solidFill>
                  </a:tcPr>
                </a:tc>
              </a:tr>
              <a:tr h="555625">
                <a:tc>
                  <a:txBody>
                    <a:bodyPr lIns="114300" tIns="76200" rIns="114300" bIns="76200">
                      <a:noAutofit/>
                    </a:bodyPr>
                    <a:lstStyle/>
                    <a:p>
                      <a:pPr algn="l"/>
                      <a:r>
                        <a:rPr sz="1800" b="0">
                          <a:solidFill>
                            <a:srgbClr val="14281D"/>
                          </a:solidFill>
                          <a:latin typeface="Arial"/>
                          <a:ea typeface="Arial"/>
                          <a:cs typeface="Arial"/>
                        </a:rPr>
                        <a:t>Provider fee acceptance</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Repeat visits continue with a $2.99 provider fee</a:t>
                      </a:r>
                    </a:p>
                  </a:txBody>
                  <a:tcPr marL="91440" marR="91440" marT="45720" marB="45720" anchor="ctr">
                    <a:solidFill>
                      <a:srgbClr val="F7F5EF"/>
                    </a:solidFill>
                  </a:tcPr>
                </a:tc>
              </a:tr>
              <a:tr h="555625">
                <a:tc>
                  <a:txBody>
                    <a:bodyPr lIns="114300" tIns="76200" rIns="114300" bIns="76200">
                      <a:noAutofit/>
                    </a:bodyPr>
                    <a:lstStyle/>
                    <a:p>
                      <a:pPr algn="l"/>
                      <a:r>
                        <a:rPr sz="1800" b="0">
                          <a:solidFill>
                            <a:srgbClr val="14281D"/>
                          </a:solidFill>
                          <a:latin typeface="Arial"/>
                          <a:ea typeface="Arial"/>
                          <a:cs typeface="Arial"/>
                        </a:rPr>
                        <a:t>Acquisition economics</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Cash CAC of $50 or less in year two</a:t>
                      </a:r>
                    </a:p>
                  </a:txBody>
                  <a:tcPr marL="91440" marR="91440" marT="45720" marB="45720" anchor="ctr">
                    <a:solidFill>
                      <a:srgbClr val="FFFFFF"/>
                    </a:solidFill>
                  </a:tcPr>
                </a:tc>
              </a:tr>
              <a:tr h="555625">
                <a:tc>
                  <a:txBody>
                    <a:bodyPr lIns="114300" tIns="76200" rIns="114300" bIns="76200">
                      <a:noAutofit/>
                    </a:bodyPr>
                    <a:lstStyle/>
                    <a:p>
                      <a:pPr algn="l"/>
                      <a:r>
                        <a:rPr sz="1800" b="0">
                          <a:solidFill>
                            <a:srgbClr val="14281D"/>
                          </a:solidFill>
                          <a:latin typeface="Arial"/>
                          <a:ea typeface="Arial"/>
                          <a:cs typeface="Arial"/>
                        </a:rPr>
                        <a:t>Positive repeat contribution</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At least $0.50 per repeat job across the actual service mix</a:t>
                      </a:r>
                    </a:p>
                  </a:txBody>
                  <a:tcPr marL="91440" marR="91440" marT="45720" marB="45720" anchor="ctr">
                    <a:solidFill>
                      <a:srgbClr val="F7F5EF"/>
                    </a:solidFill>
                  </a:tcPr>
                </a:tc>
              </a:tr>
              <a:tr h="555625">
                <a:tc>
                  <a:txBody>
                    <a:bodyPr lIns="114300" tIns="76200" rIns="114300" bIns="76200">
                      <a:noAutofit/>
                    </a:bodyPr>
                    <a:lstStyle/>
                    <a:p>
                      <a:pPr algn="l"/>
                      <a:r>
                        <a:rPr sz="1800" b="0">
                          <a:solidFill>
                            <a:srgbClr val="14281D"/>
                          </a:solidFill>
                          <a:latin typeface="Arial"/>
                          <a:ea typeface="Arial"/>
                          <a:cs typeface="Arial"/>
                        </a:rPr>
                        <a:t>Reliability and expansion</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Reliable service and economics reproduced in a second market</a:t>
                      </a:r>
                    </a:p>
                  </a:txBody>
                  <a:tcPr marL="91440" marR="91440" marT="45720" marB="45720" anchor="ctr">
                    <a:solidFill>
                      <a:srgbClr val="FFFFFF"/>
                    </a:solidFill>
                  </a:tcPr>
                </a:tc>
              </a:tr>
            </a:tbl>
          </a:graphicData>
        </a:graphic>
      </p:graphicFrame>
      <p:sp>
        <p:nvSpPr>
          <p:cNvPr id="6" name="Material risks: off-platform migration, seasonal c">
            <a:extLst xmlns:a="http://schemas.openxmlformats.org/drawingml/2006/main">
              <a:ext uri="{FF2B5EF4-FFF2-40B4-BE49-F238E27FC236}">
                <a16:creationId xmlns:a16="http://schemas.microsoft.com/office/drawing/2014/main" id="{B71BEE41-1F5A-4D75-A481-9A0E603FC8E9}"/>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Material risks: off-platform migration, seasonal cash needs, high-ticket payment costs and service liability. Expansion pauses when contribution or retention misses the gate.</a:t>
            </a:r>
          </a:p>
        </p:txBody>
      </p:sp>
    </p:spTree>
    <p:extLst>
      <p:ext uri="{BB962C8B-B14F-4D97-AF65-F5344CB8AC3E}">
        <p14:creationId xmlns:p14="http://schemas.microsoft.com/office/powerpoint/2010/main" val="412138139"/>
      </p:ext>
    </p:extLst>
  </p:cSld>
</p:sld>
</file>

<file path=ppt/slides/slide2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Model mechanics and limits">
            <a:extLst xmlns:a="http://schemas.openxmlformats.org/drawingml/2006/main">
              <a:ext uri="{FF2B5EF4-FFF2-40B4-BE49-F238E27FC236}">
                <a16:creationId xmlns:a16="http://schemas.microsoft.com/office/drawing/2014/main" id="{4A0AB241-9C0E-493F-9FD8-820964D7BB0D}"/>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Model mechanics and limits</a:t>
            </a:r>
          </a:p>
        </p:txBody>
      </p:sp>
      <p:sp>
        <p:nvSpPr>
          <p:cNvPr id="2" name="The companion workbook exposes the formulas and al">
            <a:extLst xmlns:a="http://schemas.openxmlformats.org/drawingml/2006/main">
              <a:ext uri="{FF2B5EF4-FFF2-40B4-BE49-F238E27FC236}">
                <a16:creationId xmlns:a16="http://schemas.microsoft.com/office/drawing/2014/main" id="{59D0D773-7D0A-46BA-9F08-C8213A44D87E}"/>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companion workbook exposes the formulas and all editable assumptions.</a:t>
            </a:r>
          </a:p>
        </p:txBody>
      </p:sp>
      <p:sp>
        <p:nvSpPr>
          <p:cNvPr id="3" name="YardMatch">
            <a:extLst xmlns:a="http://schemas.openxmlformats.org/drawingml/2006/main">
              <a:ext uri="{FF2B5EF4-FFF2-40B4-BE49-F238E27FC236}">
                <a16:creationId xmlns:a16="http://schemas.microsoft.com/office/drawing/2014/main" id="{3D739013-B549-4F9D-B93A-6213AD11544F}"/>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3">
            <a:extLst xmlns:a="http://schemas.openxmlformats.org/drawingml/2006/main">
              <a:ext uri="{FF2B5EF4-FFF2-40B4-BE49-F238E27FC236}">
                <a16:creationId xmlns:a16="http://schemas.microsoft.com/office/drawing/2014/main" id="{4EE7F3BD-21CF-4F0B-8748-27B7C1F1B0A5}"/>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23</a:t>
            </a:r>
          </a:p>
        </p:txBody>
      </p:sp>
      <p:sp>
        <p:nvSpPr>
          <p:cNvPr id="5" name="Households and paid visits">
            <a:extLst xmlns:a="http://schemas.openxmlformats.org/drawingml/2006/main">
              <a:ext uri="{FF2B5EF4-FFF2-40B4-BE49-F238E27FC236}">
                <a16:creationId xmlns:a16="http://schemas.microsoft.com/office/drawing/2014/main" id="{32834BC9-5778-4A89-AB95-91EA35F957EA}"/>
              </a:ext>
            </a:extLst>
          </p:cNvPr>
          <p:cNvSpPr>
            <a:spLocks xmlns:a="http://schemas.openxmlformats.org/drawingml/2006/main" noGrp="1"/>
          </p:cNvSpPr>
          <p:nvPr/>
        </p:nvSpPr>
        <p:spPr>
          <a:xfrm xmlns:a="http://schemas.openxmlformats.org/drawingml/2006/main">
            <a:off x="628650" y="2371725"/>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Households and paid visits</a:t>
            </a:r>
          </a:p>
        </p:txBody>
      </p:sp>
      <p:sp>
        <p:nvSpPr>
          <p:cNvPr id="6" name="Retained households plus half of new households fo">
            <a:extLst xmlns:a="http://schemas.openxmlformats.org/drawingml/2006/main">
              <a:ext uri="{FF2B5EF4-FFF2-40B4-BE49-F238E27FC236}">
                <a16:creationId xmlns:a16="http://schemas.microsoft.com/office/drawing/2014/main" id="{F1641EE0-349E-4735-80D8-74009D0165B9}"/>
              </a:ext>
            </a:extLst>
          </p:cNvPr>
          <p:cNvSpPr>
            <a:spLocks xmlns:a="http://schemas.openxmlformats.org/drawingml/2006/main" noGrp="1"/>
          </p:cNvSpPr>
          <p:nvPr/>
        </p:nvSpPr>
        <p:spPr>
          <a:xfrm xmlns:a="http://schemas.openxmlformats.org/drawingml/2006/main">
            <a:off x="628650" y="2895600"/>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Retained households plus half of new households form the season’s base. Maintenance and separate projects then reflect capture and completion.</a:t>
            </a:r>
          </a:p>
        </p:txBody>
      </p:sp>
      <p:sp>
        <p:nvSpPr>
          <p:cNvPr id="7" name="The fee gap">
            <a:extLst xmlns:a="http://schemas.openxmlformats.org/drawingml/2006/main">
              <a:ext uri="{FF2B5EF4-FFF2-40B4-BE49-F238E27FC236}">
                <a16:creationId xmlns:a16="http://schemas.microsoft.com/office/drawing/2014/main" id="{2D74C518-D1C8-417B-B103-7EF35335E6DE}"/>
              </a:ext>
            </a:extLst>
          </p:cNvPr>
          <p:cNvSpPr>
            <a:spLocks xmlns:a="http://schemas.openxmlformats.org/drawingml/2006/main" noGrp="1"/>
          </p:cNvSpPr>
          <p:nvPr/>
        </p:nvSpPr>
        <p:spPr>
          <a:xfrm xmlns:a="http://schemas.openxmlformats.org/drawingml/2006/main">
            <a:off x="6410325" y="2371725"/>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The fee gap</a:t>
            </a:r>
          </a:p>
        </p:txBody>
      </p:sp>
      <p:sp>
        <p:nvSpPr>
          <p:cNvPr id="8" name="The 2031 base mix needs about $3.51 per service to">
            <a:extLst xmlns:a="http://schemas.openxmlformats.org/drawingml/2006/main">
              <a:ext uri="{FF2B5EF4-FFF2-40B4-BE49-F238E27FC236}">
                <a16:creationId xmlns:a16="http://schemas.microsoft.com/office/drawing/2014/main" id="{8B1D1555-6D19-45E2-84B7-74C2A66B96A3}"/>
              </a:ext>
            </a:extLst>
          </p:cNvPr>
          <p:cNvSpPr>
            <a:spLocks xmlns:a="http://schemas.openxmlformats.org/drawingml/2006/main" noGrp="1"/>
          </p:cNvSpPr>
          <p:nvPr/>
        </p:nvSpPr>
        <p:spPr>
          <a:xfrm xmlns:a="http://schemas.openxmlformats.org/drawingml/2006/main">
            <a:off x="6410325" y="2895600"/>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The 2031 base mix needs about $3.51 per service to cover variable costs, before acquisition and fixed overhead. $2.99 remains the modeled fee.</a:t>
            </a:r>
          </a:p>
        </p:txBody>
      </p:sp>
      <p:sp>
        <p:nvSpPr>
          <p:cNvPr id="9" name="Profit and cash">
            <a:extLst xmlns:a="http://schemas.openxmlformats.org/drawingml/2006/main">
              <a:ext uri="{FF2B5EF4-FFF2-40B4-BE49-F238E27FC236}">
                <a16:creationId xmlns:a16="http://schemas.microsoft.com/office/drawing/2014/main" id="{57318965-FED5-4D2C-B470-F7E6D3E2D8E3}"/>
              </a:ext>
            </a:extLst>
          </p:cNvPr>
          <p:cNvSpPr>
            <a:spLocks xmlns:a="http://schemas.openxmlformats.org/drawingml/2006/main" noGrp="1"/>
          </p:cNvSpPr>
          <p:nvPr/>
        </p:nvSpPr>
        <p:spPr>
          <a:xfrm xmlns:a="http://schemas.openxmlformats.org/drawingml/2006/main">
            <a:off x="628650" y="426720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Profit and cash</a:t>
            </a:r>
          </a:p>
        </p:txBody>
      </p:sp>
      <p:sp>
        <p:nvSpPr>
          <p:cNvPr id="10" name="Payroll includes founder pay. Fixed costs run all ">
            <a:extLst xmlns:a="http://schemas.openxmlformats.org/drawingml/2006/main">
              <a:ext uri="{FF2B5EF4-FFF2-40B4-BE49-F238E27FC236}">
                <a16:creationId xmlns:a16="http://schemas.microsoft.com/office/drawing/2014/main" id="{AD01CC67-6F6B-4EA4-81E5-95134D72AF7E}"/>
              </a:ext>
            </a:extLst>
          </p:cNvPr>
          <p:cNvSpPr>
            <a:spLocks xmlns:a="http://schemas.openxmlformats.org/drawingml/2006/main" noGrp="1"/>
          </p:cNvSpPr>
          <p:nvPr/>
        </p:nvSpPr>
        <p:spPr>
          <a:xfrm xmlns:a="http://schemas.openxmlformats.org/drawingml/2006/main">
            <a:off x="628650" y="4791075"/>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Payroll includes founder pay. Fixed costs run all year. Cash also funds equipment and a modeled risk reserve.</a:t>
            </a:r>
          </a:p>
        </p:txBody>
      </p:sp>
      <p:sp>
        <p:nvSpPr>
          <p:cNvPr id="11" name="A cohort check">
            <a:extLst xmlns:a="http://schemas.openxmlformats.org/drawingml/2006/main">
              <a:ext uri="{FF2B5EF4-FFF2-40B4-BE49-F238E27FC236}">
                <a16:creationId xmlns:a16="http://schemas.microsoft.com/office/drawing/2014/main" id="{3AB19D48-F851-4ADE-B24A-62966C8331D0}"/>
              </a:ext>
            </a:extLst>
          </p:cNvPr>
          <p:cNvSpPr>
            <a:spLocks xmlns:a="http://schemas.openxmlformats.org/drawingml/2006/main" noGrp="1"/>
          </p:cNvSpPr>
          <p:nvPr/>
        </p:nvSpPr>
        <p:spPr>
          <a:xfrm xmlns:a="http://schemas.openxmlformats.org/drawingml/2006/main">
            <a:off x="6410325" y="426720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 cohort check</a:t>
            </a:r>
          </a:p>
        </p:txBody>
      </p:sp>
      <p:sp>
        <p:nvSpPr>
          <p:cNvPr id="12" name="Base 2031 economics imply $14 of five-year contrib">
            <a:extLst xmlns:a="http://schemas.openxmlformats.org/drawingml/2006/main">
              <a:ext uri="{FF2B5EF4-FFF2-40B4-BE49-F238E27FC236}">
                <a16:creationId xmlns:a16="http://schemas.microsoft.com/office/drawing/2014/main" id="{6B369F7B-8845-49CC-8E18-E7209494AB98}"/>
              </a:ext>
            </a:extLst>
          </p:cNvPr>
          <p:cNvSpPr>
            <a:spLocks xmlns:a="http://schemas.openxmlformats.org/drawingml/2006/main" noGrp="1"/>
          </p:cNvSpPr>
          <p:nvPr/>
        </p:nvSpPr>
        <p:spPr>
          <a:xfrm xmlns:a="http://schemas.openxmlformats.org/drawingml/2006/main">
            <a:off x="6410325" y="4791075"/>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Base 2031 economics imply $14 of five-year contribution versus $35 CAC, or 0.4x. The assumed repeat losses undermine retention value.</a:t>
            </a:r>
          </a:p>
        </p:txBody>
      </p:sp>
    </p:spTree>
    <p:extLst>
      <p:ext uri="{BB962C8B-B14F-4D97-AF65-F5344CB8AC3E}">
        <p14:creationId xmlns:p14="http://schemas.microsoft.com/office/powerpoint/2010/main" val="241973179"/>
      </p:ext>
    </p:extLst>
  </p:cSld>
</p:sld>
</file>

<file path=ppt/slides/slide2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4" name="Sources and basis">
            <a:extLst xmlns:a="http://schemas.openxmlformats.org/drawingml/2006/main">
              <a:ext uri="{FF2B5EF4-FFF2-40B4-BE49-F238E27FC236}">
                <a16:creationId xmlns:a16="http://schemas.microsoft.com/office/drawing/2014/main" id="{BD621EBB-2A81-4B1E-8A7A-C3652F46928D}"/>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Sources and basis</a:t>
            </a:r>
          </a:p>
        </p:txBody>
      </p:sp>
      <p:sp>
        <p:nvSpPr>
          <p:cNvPr id="2" name="Prepared September 20, 2026. Financial projections">
            <a:extLst xmlns:a="http://schemas.openxmlformats.org/drawingml/2006/main">
              <a:ext uri="{FF2B5EF4-FFF2-40B4-BE49-F238E27FC236}">
                <a16:creationId xmlns:a16="http://schemas.microsoft.com/office/drawing/2014/main" id="{73A5E623-2B5E-4C38-A8D6-54ADE735E8D6}"/>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Prepared September 20, 2026. Financial projections use explicit planning assumptions.</a:t>
            </a:r>
          </a:p>
        </p:txBody>
      </p:sp>
      <p:sp>
        <p:nvSpPr>
          <p:cNvPr id="3" name="YardMatch">
            <a:extLst xmlns:a="http://schemas.openxmlformats.org/drawingml/2006/main">
              <a:ext uri="{FF2B5EF4-FFF2-40B4-BE49-F238E27FC236}">
                <a16:creationId xmlns:a16="http://schemas.microsoft.com/office/drawing/2014/main" id="{9F9499AB-E958-489D-90CC-7E608BA16147}"/>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4">
            <a:extLst xmlns:a="http://schemas.openxmlformats.org/drawingml/2006/main">
              <a:ext uri="{FF2B5EF4-FFF2-40B4-BE49-F238E27FC236}">
                <a16:creationId xmlns:a16="http://schemas.microsoft.com/office/drawing/2014/main" id="{4DBB13B6-69FA-4752-B328-D5096EFC3C4F}"/>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24</a:t>
            </a:r>
          </a:p>
        </p:txBody>
      </p:sp>
      <p:sp>
        <p:nvSpPr>
          <p:cNvPr id="5" name="Company materials">
            <a:extLst xmlns:a="http://schemas.openxmlformats.org/drawingml/2006/main">
              <a:ext uri="{FF2B5EF4-FFF2-40B4-BE49-F238E27FC236}">
                <a16:creationId xmlns:a16="http://schemas.microsoft.com/office/drawing/2014/main" id="{0E1F347F-ABAF-43E8-9623-A70009390C3A}"/>
              </a:ext>
            </a:extLst>
          </p:cNvPr>
          <p:cNvSpPr>
            <a:spLocks xmlns:a="http://schemas.openxmlformats.org/drawingml/2006/main" noGrp="1"/>
          </p:cNvSpPr>
          <p:nvPr/>
        </p:nvSpPr>
        <p:spPr>
          <a:xfrm xmlns:a="http://schemas.openxmlformats.org/drawingml/2006/main">
            <a:off x="628650" y="2314575"/>
            <a:ext cx="3714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5938"/>
                </a:solidFill>
                <a:latin typeface="Arial"/>
                <a:ea typeface="Arial"/>
                <a:cs typeface="Arial"/>
              </a:defRPr>
            </a:pPr>
            <a:r>
              <a:rPr sz="2025" b="1">
                <a:solidFill>
                  <a:srgbClr val="205938"/>
                </a:solidFill>
                <a:latin typeface="Arial"/>
                <a:ea typeface="Arial"/>
                <a:cs typeface="Arial"/>
              </a:rPr>
              <a:t>Company materials</a:t>
            </a:r>
          </a:p>
        </p:txBody>
      </p:sp>
      <p:sp>
        <p:nvSpPr>
          <p:cNvPr id="6" name="YardMatch partner pitch, September 2026&#10;Product po">
            <a:extLst xmlns:a="http://schemas.openxmlformats.org/drawingml/2006/main">
              <a:ext uri="{FF2B5EF4-FFF2-40B4-BE49-F238E27FC236}">
                <a16:creationId xmlns:a16="http://schemas.microsoft.com/office/drawing/2014/main" id="{7973E972-1CD9-4E54-B22A-59271610FD78}"/>
              </a:ext>
            </a:extLst>
          </p:cNvPr>
          <p:cNvSpPr>
            <a:spLocks xmlns:a="http://schemas.openxmlformats.org/drawingml/2006/main" noGrp="1"/>
          </p:cNvSpPr>
          <p:nvPr/>
        </p:nvSpPr>
        <p:spPr>
          <a:xfrm xmlns:a="http://schemas.openxmlformats.org/drawingml/2006/main">
            <a:off x="628650" y="2800350"/>
            <a:ext cx="108775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4281D"/>
                </a:solidFill>
                <a:latin typeface="Arial"/>
                <a:ea typeface="Arial"/>
                <a:cs typeface="Arial"/>
              </a:defRPr>
            </a:pPr>
            <a:r>
              <a:rPr sz="1725" b="0">
                <a:solidFill>
                  <a:srgbClr val="14281D"/>
                </a:solidFill>
                <a:latin typeface="Arial"/>
                <a:ea typeface="Arial"/>
                <a:cs typeface="Arial"/>
              </a:rPr>
              <a:t>YardMatch partner pitch, September 2026</a:t>
            </a:r>
          </a:p>
          <a:p xmlns:a="http://schemas.openxmlformats.org/drawingml/2006/main">
            <a:pPr algn="l">
              <a:defRPr sz="1725" b="0">
                <a:solidFill>
                  <a:srgbClr val="14281D"/>
                </a:solidFill>
                <a:latin typeface="Arial"/>
                <a:ea typeface="Arial"/>
                <a:cs typeface="Arial"/>
              </a:defRPr>
            </a:pPr>
            <a:r>
              <a:rPr sz="1725" b="0">
                <a:solidFill>
                  <a:srgbClr val="14281D"/>
                </a:solidFill>
                <a:latin typeface="Arial"/>
                <a:ea typeface="Arial"/>
                <a:cs typeface="Arial"/>
              </a:rPr>
              <a:t>Product positioning, role concepts, $45 finder fee and welcome offer</a:t>
            </a:r>
          </a:p>
          <a:p xmlns:a="http://schemas.openxmlformats.org/drawingml/2006/main">
            <a:pPr algn="l">
              <a:defRPr sz="1725" b="0">
                <a:solidFill>
                  <a:srgbClr val="14281D"/>
                </a:solidFill>
                <a:latin typeface="Arial"/>
                <a:ea typeface="Arial"/>
                <a:cs typeface="Arial"/>
              </a:defRPr>
            </a:pPr>
            <a:r>
              <a:rPr sz="1725" b="0">
                <a:solidFill>
                  <a:srgbClr val="14281D"/>
                </a:solidFill>
                <a:latin typeface="Arial"/>
                <a:ea typeface="Arial"/>
                <a:cs typeface="Arial"/>
              </a:rPr>
              <a:t>Repository roadmap and engineering status for local product progress</a:t>
            </a:r>
          </a:p>
        </p:txBody>
      </p:sp>
      <p:sp>
        <p:nvSpPr>
          <p:cNvPr id="7" name="External sources">
            <a:extLst xmlns:a="http://schemas.openxmlformats.org/drawingml/2006/main">
              <a:ext uri="{FF2B5EF4-FFF2-40B4-BE49-F238E27FC236}">
                <a16:creationId xmlns:a16="http://schemas.microsoft.com/office/drawing/2014/main" id="{71AF0CFC-B32C-458A-BBA2-A44DC38F7165}"/>
              </a:ext>
            </a:extLst>
          </p:cNvPr>
          <p:cNvSpPr>
            <a:spLocks xmlns:a="http://schemas.openxmlformats.org/drawingml/2006/main" noGrp="1"/>
          </p:cNvSpPr>
          <p:nvPr/>
        </p:nvSpPr>
        <p:spPr>
          <a:xfrm xmlns:a="http://schemas.openxmlformats.org/drawingml/2006/main">
            <a:off x="628650" y="3876675"/>
            <a:ext cx="3714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5938"/>
                </a:solidFill>
                <a:latin typeface="Arial"/>
                <a:ea typeface="Arial"/>
                <a:cs typeface="Arial"/>
              </a:defRPr>
            </a:pPr>
            <a:r>
              <a:rPr sz="2025" b="1">
                <a:solidFill>
                  <a:srgbClr val="205938"/>
                </a:solidFill>
                <a:latin typeface="Arial"/>
                <a:ea typeface="Arial"/>
                <a:cs typeface="Arial"/>
              </a:rPr>
              <a:t>External sources</a:t>
            </a:r>
          </a:p>
        </p:txBody>
      </p:sp>
      <p:sp>
        <p:nvSpPr>
          <p:cNvPr id="8" name="Stripe Payments pricing">
            <a:extLst xmlns:a="http://schemas.openxmlformats.org/drawingml/2006/main">
              <a:ext uri="{FF2B5EF4-FFF2-40B4-BE49-F238E27FC236}">
                <a16:creationId xmlns:a16="http://schemas.microsoft.com/office/drawing/2014/main" id="{0ED28F90-B948-464F-95B8-9BFAE8FABCDD}"/>
              </a:ext>
            </a:extLst>
          </p:cNvPr>
          <p:cNvSpPr>
            <a:spLocks xmlns:a="http://schemas.openxmlformats.org/drawingml/2006/main" noGrp="1"/>
          </p:cNvSpPr>
          <p:nvPr/>
        </p:nvSpPr>
        <p:spPr>
          <a:xfrm xmlns:a="http://schemas.openxmlformats.org/drawingml/2006/main">
            <a:off x="628650" y="4352925"/>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205938"/>
                </a:solidFill>
                <a:latin typeface="Arial"/>
                <a:ea typeface="Arial"/>
                <a:cs typeface="Arial"/>
              </a:defRPr>
            </a:pPr>
            <a:r>
              <a:rPr sz="1575" b="0">
                <a:solidFill>
                  <a:srgbClr val="205938"/>
                </a:solidFill>
                <a:latin typeface="Arial"/>
                <a:ea typeface="Arial"/>
                <a:cs typeface="Arial"/>
                <a:hlinkClick xmlns:r="http://schemas.openxmlformats.org/officeDocument/2006/relationships" r:id="Ra1d93748b8674c3b"/>
              </a:rPr>
              <a:t>Stripe Payments pricing</a:t>
            </a:r>
          </a:p>
        </p:txBody>
      </p:sp>
      <p:sp>
        <p:nvSpPr>
          <p:cNvPr id="9" name="Stripe Connect pricing">
            <a:extLst xmlns:a="http://schemas.openxmlformats.org/drawingml/2006/main">
              <a:ext uri="{FF2B5EF4-FFF2-40B4-BE49-F238E27FC236}">
                <a16:creationId xmlns:a16="http://schemas.microsoft.com/office/drawing/2014/main" id="{CE962DF4-5FF2-4962-BB59-BE9BBAAF067B}"/>
              </a:ext>
            </a:extLst>
          </p:cNvPr>
          <p:cNvSpPr>
            <a:spLocks xmlns:a="http://schemas.openxmlformats.org/drawingml/2006/main" noGrp="1"/>
          </p:cNvSpPr>
          <p:nvPr/>
        </p:nvSpPr>
        <p:spPr>
          <a:xfrm xmlns:a="http://schemas.openxmlformats.org/drawingml/2006/main">
            <a:off x="628650" y="4629150"/>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205938"/>
                </a:solidFill>
                <a:latin typeface="Arial"/>
                <a:ea typeface="Arial"/>
                <a:cs typeface="Arial"/>
              </a:defRPr>
            </a:pPr>
            <a:r>
              <a:rPr sz="1575" b="0">
                <a:solidFill>
                  <a:srgbClr val="205938"/>
                </a:solidFill>
                <a:latin typeface="Arial"/>
                <a:ea typeface="Arial"/>
                <a:cs typeface="Arial"/>
                <a:hlinkClick xmlns:r="http://schemas.openxmlformats.org/officeDocument/2006/relationships" r:id="R2bf20f16569e44a2"/>
              </a:rPr>
              <a:t>Stripe Connect pricing</a:t>
            </a:r>
          </a:p>
        </p:txBody>
      </p:sp>
      <p:sp>
        <p:nvSpPr>
          <p:cNvPr id="10" name="Stripe Financial Connections pricing">
            <a:extLst xmlns:a="http://schemas.openxmlformats.org/drawingml/2006/main">
              <a:ext uri="{FF2B5EF4-FFF2-40B4-BE49-F238E27FC236}">
                <a16:creationId xmlns:a16="http://schemas.microsoft.com/office/drawing/2014/main" id="{78E84680-6629-407C-AAD0-B3F6B14012AF}"/>
              </a:ext>
            </a:extLst>
          </p:cNvPr>
          <p:cNvSpPr>
            <a:spLocks xmlns:a="http://schemas.openxmlformats.org/drawingml/2006/main" noGrp="1"/>
          </p:cNvSpPr>
          <p:nvPr/>
        </p:nvSpPr>
        <p:spPr>
          <a:xfrm xmlns:a="http://schemas.openxmlformats.org/drawingml/2006/main">
            <a:off x="628650" y="4905375"/>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205938"/>
                </a:solidFill>
                <a:latin typeface="Arial"/>
                <a:ea typeface="Arial"/>
                <a:cs typeface="Arial"/>
              </a:defRPr>
            </a:pPr>
            <a:r>
              <a:rPr sz="1575" b="0">
                <a:solidFill>
                  <a:srgbClr val="205938"/>
                </a:solidFill>
                <a:latin typeface="Arial"/>
                <a:ea typeface="Arial"/>
                <a:cs typeface="Arial"/>
                <a:hlinkClick xmlns:r="http://schemas.openxmlformats.org/officeDocument/2006/relationships" r:id="Re86e3525824f4a53"/>
              </a:rPr>
              <a:t>Stripe Financial Connections pricing</a:t>
            </a:r>
          </a:p>
        </p:txBody>
      </p:sp>
      <p:sp>
        <p:nvSpPr>
          <p:cNvPr id="11" name="Zocdoc: Understanding pricing and billing">
            <a:extLst xmlns:a="http://schemas.openxmlformats.org/drawingml/2006/main">
              <a:ext uri="{FF2B5EF4-FFF2-40B4-BE49-F238E27FC236}">
                <a16:creationId xmlns:a16="http://schemas.microsoft.com/office/drawing/2014/main" id="{F46914CB-55D9-4966-8C2C-1682AB5D5882}"/>
              </a:ext>
            </a:extLst>
          </p:cNvPr>
          <p:cNvSpPr>
            <a:spLocks xmlns:a="http://schemas.openxmlformats.org/drawingml/2006/main" noGrp="1"/>
          </p:cNvSpPr>
          <p:nvPr/>
        </p:nvSpPr>
        <p:spPr>
          <a:xfrm xmlns:a="http://schemas.openxmlformats.org/drawingml/2006/main">
            <a:off x="628650" y="5181600"/>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205938"/>
                </a:solidFill>
                <a:latin typeface="Arial"/>
                <a:ea typeface="Arial"/>
                <a:cs typeface="Arial"/>
              </a:defRPr>
            </a:pPr>
            <a:r>
              <a:rPr sz="1575" b="0">
                <a:solidFill>
                  <a:srgbClr val="205938"/>
                </a:solidFill>
                <a:latin typeface="Arial"/>
                <a:ea typeface="Arial"/>
                <a:cs typeface="Arial"/>
                <a:hlinkClick xmlns:r="http://schemas.openxmlformats.org/officeDocument/2006/relationships" r:id="Rc9844d8af52c4047"/>
              </a:rPr>
              <a:t>Zocdoc: Understanding pricing and billing</a:t>
            </a:r>
          </a:p>
        </p:txBody>
      </p:sp>
      <p:sp>
        <p:nvSpPr>
          <p:cNvPr id="12" name="US Census QuickFacts: Barnegat, 2020-2024">
            <a:extLst xmlns:a="http://schemas.openxmlformats.org/drawingml/2006/main">
              <a:ext uri="{FF2B5EF4-FFF2-40B4-BE49-F238E27FC236}">
                <a16:creationId xmlns:a16="http://schemas.microsoft.com/office/drawing/2014/main" id="{C7C860D1-A519-47A0-8997-553D2A5A064C}"/>
              </a:ext>
            </a:extLst>
          </p:cNvPr>
          <p:cNvSpPr>
            <a:spLocks xmlns:a="http://schemas.openxmlformats.org/drawingml/2006/main" noGrp="1"/>
          </p:cNvSpPr>
          <p:nvPr/>
        </p:nvSpPr>
        <p:spPr>
          <a:xfrm xmlns:a="http://schemas.openxmlformats.org/drawingml/2006/main">
            <a:off x="628650" y="5457825"/>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205938"/>
                </a:solidFill>
                <a:latin typeface="Arial"/>
                <a:ea typeface="Arial"/>
                <a:cs typeface="Arial"/>
              </a:defRPr>
            </a:pPr>
            <a:r>
              <a:rPr sz="1575" b="0">
                <a:solidFill>
                  <a:srgbClr val="205938"/>
                </a:solidFill>
                <a:latin typeface="Arial"/>
                <a:ea typeface="Arial"/>
                <a:cs typeface="Arial"/>
                <a:hlinkClick xmlns:r="http://schemas.openxmlformats.org/officeDocument/2006/relationships" r:id="Rb67baae67fd04cb5"/>
              </a:rPr>
              <a:t>US Census QuickFacts: Barnegat, 2020-2024</a:t>
            </a:r>
          </a:p>
        </p:txBody>
      </p:sp>
      <p:sp>
        <p:nvSpPr>
          <p:cNvPr id="13" name="External references are linked. Full citations are">
            <a:extLst xmlns:a="http://schemas.openxmlformats.org/drawingml/2006/main">
              <a:ext uri="{FF2B5EF4-FFF2-40B4-BE49-F238E27FC236}">
                <a16:creationId xmlns:a16="http://schemas.microsoft.com/office/drawing/2014/main" id="{E10182A2-6817-40C0-86E6-076D56E3DB64}"/>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External references are linked. Full citations are also in PowerPoint notes. Growth, costs, financing terms and exit values are assumptions. No historical financial statements were supplied.</a:t>
            </a:r>
          </a:p>
        </p:txBody>
      </p:sp>
    </p:spTree>
    <p:extLst>
      <p:ext uri="{BB962C8B-B14F-4D97-AF65-F5344CB8AC3E}">
        <p14:creationId xmlns:p14="http://schemas.microsoft.com/office/powerpoint/2010/main" val="18387028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2026-09-20T23:00:20.9110000Z</dcterms:created>
  <dcterms:modified xsi:type="dcterms:W3CDTF">2026-09-20T23:00:20.9110000Z</dcterms:modified>
</coreProperties>
</file>