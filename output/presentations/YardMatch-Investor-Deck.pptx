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2b05931f0454650" /><Relationship Type="http://schemas.openxmlformats.org/officeDocument/2006/relationships/extended-properties" Target="/docProps/app.xml" Id="R691a08492144421e" /><Relationship Type="http://schemas.openxmlformats.org/officeDocument/2006/relationships/officeDocument" Target="/ppt/presentation.xml" Id="R08ec18ca87a244c3" /></Relationships>
</file>

<file path=ppt/presentation.xml><?xml version="1.0" encoding="utf-8"?>
<p:presentation xmlns:p="http://schemas.openxmlformats.org/presentationml/2006/main">
  <p:sldMasterIdLst>
    <p:sldMasterId xmlns:r="http://schemas.openxmlformats.org/officeDocument/2006/relationships" id="2147483648" r:id="R8261e142ff5a4b71"/>
  </p:sldMasterIdLst>
  <p:notesMasterIdLst>
    <p:notesMasterId xmlns:r="http://schemas.openxmlformats.org/officeDocument/2006/relationships" r:id="R5bb22baec9e44dc8"/>
  </p:notesMasterIdLst>
  <p:sldIdLst>
    <p:sldId xmlns:r="http://schemas.openxmlformats.org/officeDocument/2006/relationships" id="256" r:id="Rad618fa7501a4530"/>
    <p:sldId xmlns:r="http://schemas.openxmlformats.org/officeDocument/2006/relationships" id="257" r:id="R44e684d9f6ad4878"/>
    <p:sldId xmlns:r="http://schemas.openxmlformats.org/officeDocument/2006/relationships" id="258" r:id="Rcc9ccfbb3e7846bb"/>
    <p:sldId xmlns:r="http://schemas.openxmlformats.org/officeDocument/2006/relationships" id="259" r:id="Rd5341caea40d435a"/>
    <p:sldId xmlns:r="http://schemas.openxmlformats.org/officeDocument/2006/relationships" id="260" r:id="R989c601a5b55445e"/>
    <p:sldId xmlns:r="http://schemas.openxmlformats.org/officeDocument/2006/relationships" id="261" r:id="R3c6898f78d9d4f8d"/>
    <p:sldId xmlns:r="http://schemas.openxmlformats.org/officeDocument/2006/relationships" id="262" r:id="R062e991cdfe24683"/>
    <p:sldId xmlns:r="http://schemas.openxmlformats.org/officeDocument/2006/relationships" id="263" r:id="R3efbe70ee1eb40fc"/>
    <p:sldId xmlns:r="http://schemas.openxmlformats.org/officeDocument/2006/relationships" id="264" r:id="Rf6f99867889d4924"/>
    <p:sldId xmlns:r="http://schemas.openxmlformats.org/officeDocument/2006/relationships" id="265" r:id="Raeccd9a7d8814efb"/>
    <p:sldId xmlns:r="http://schemas.openxmlformats.org/officeDocument/2006/relationships" id="266" r:id="R8e35506276d94e9a"/>
    <p:sldId xmlns:r="http://schemas.openxmlformats.org/officeDocument/2006/relationships" id="267" r:id="Raff5f26cb3234ce3"/>
    <p:sldId xmlns:r="http://schemas.openxmlformats.org/officeDocument/2006/relationships" id="268" r:id="R827a7f20127e40b4"/>
    <p:sldId xmlns:r="http://schemas.openxmlformats.org/officeDocument/2006/relationships" id="269" r:id="R95ecae739fbb455c"/>
    <p:sldId xmlns:r="http://schemas.openxmlformats.org/officeDocument/2006/relationships" id="270" r:id="Re56549c4f3254971"/>
    <p:sldId xmlns:r="http://schemas.openxmlformats.org/officeDocument/2006/relationships" id="271" r:id="R7a6d1acd742c4b7e"/>
    <p:sldId xmlns:r="http://schemas.openxmlformats.org/officeDocument/2006/relationships" id="272" r:id="R5b52df6af5814ac7"/>
    <p:sldId xmlns:r="http://schemas.openxmlformats.org/officeDocument/2006/relationships" id="273" r:id="R4116a148de9546a0"/>
    <p:sldId xmlns:r="http://schemas.openxmlformats.org/officeDocument/2006/relationships" id="274" r:id="Rd71b5ffcd4d4448e"/>
    <p:sldId xmlns:r="http://schemas.openxmlformats.org/officeDocument/2006/relationships" id="275" r:id="R79f09aca58504112"/>
    <p:sldId xmlns:r="http://schemas.openxmlformats.org/officeDocument/2006/relationships" id="276" r:id="R6aba9c604dc243fa"/>
    <p:sldId xmlns:r="http://schemas.openxmlformats.org/officeDocument/2006/relationships" id="277" r:id="R27226fd3f21c40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da2d96116b4edc" /><Relationship Type="http://schemas.openxmlformats.org/officeDocument/2006/relationships/slideMaster" Target="/ppt/slideMasters/slideMaster1.xml" Id="R8261e142ff5a4b71" /><Relationship Type="http://schemas.openxmlformats.org/officeDocument/2006/relationships/notesMaster" Target="/ppt/notesMasters/notesMaster1.xml" Id="R5bb22baec9e44dc8" /><Relationship Type="http://schemas.openxmlformats.org/officeDocument/2006/relationships/presProps" Target="/ppt/presProps.xml" Id="R9173919f6b0e4ef9" /><Relationship Type="http://schemas.openxmlformats.org/officeDocument/2006/relationships/tableStyles" Target="/ppt/tableStyles.xml" Id="Rcbf6838169604ab2" /><Relationship Type="http://schemas.openxmlformats.org/officeDocument/2006/relationships/slide" Target="/ppt/slides/slide1.xml" Id="Rad618fa7501a4530" /><Relationship Type="http://schemas.openxmlformats.org/officeDocument/2006/relationships/slide" Target="/ppt/slides/slide2.xml" Id="R44e684d9f6ad4878" /><Relationship Type="http://schemas.openxmlformats.org/officeDocument/2006/relationships/slide" Target="/ppt/slides/slide3.xml" Id="Rcc9ccfbb3e7846bb" /><Relationship Type="http://schemas.openxmlformats.org/officeDocument/2006/relationships/slide" Target="/ppt/slides/slide4.xml" Id="Rd5341caea40d435a" /><Relationship Type="http://schemas.openxmlformats.org/officeDocument/2006/relationships/slide" Target="/ppt/slides/slide5.xml" Id="R989c601a5b55445e" /><Relationship Type="http://schemas.openxmlformats.org/officeDocument/2006/relationships/slide" Target="/ppt/slides/slide6.xml" Id="R3c6898f78d9d4f8d" /><Relationship Type="http://schemas.openxmlformats.org/officeDocument/2006/relationships/slide" Target="/ppt/slides/slide7.xml" Id="R062e991cdfe24683" /><Relationship Type="http://schemas.openxmlformats.org/officeDocument/2006/relationships/slide" Target="/ppt/slides/slide8.xml" Id="R3efbe70ee1eb40fc" /><Relationship Type="http://schemas.openxmlformats.org/officeDocument/2006/relationships/slide" Target="/ppt/slides/slide9.xml" Id="Rf6f99867889d4924" /><Relationship Type="http://schemas.openxmlformats.org/officeDocument/2006/relationships/slide" Target="/ppt/slides/slide10.xml" Id="Raeccd9a7d8814efb" /><Relationship Type="http://schemas.openxmlformats.org/officeDocument/2006/relationships/slide" Target="/ppt/slides/slide11.xml" Id="R8e35506276d94e9a" /><Relationship Type="http://schemas.openxmlformats.org/officeDocument/2006/relationships/slide" Target="/ppt/slides/slide12.xml" Id="Raff5f26cb3234ce3" /><Relationship Type="http://schemas.openxmlformats.org/officeDocument/2006/relationships/slide" Target="/ppt/slides/slide13.xml" Id="R827a7f20127e40b4" /><Relationship Type="http://schemas.openxmlformats.org/officeDocument/2006/relationships/slide" Target="/ppt/slides/slide14.xml" Id="R95ecae739fbb455c" /><Relationship Type="http://schemas.openxmlformats.org/officeDocument/2006/relationships/slide" Target="/ppt/slides/slide15.xml" Id="Re56549c4f3254971" /><Relationship Type="http://schemas.openxmlformats.org/officeDocument/2006/relationships/slide" Target="/ppt/slides/slide16.xml" Id="R7a6d1acd742c4b7e" /><Relationship Type="http://schemas.openxmlformats.org/officeDocument/2006/relationships/slide" Target="/ppt/slides/slide17.xml" Id="R5b52df6af5814ac7" /><Relationship Type="http://schemas.openxmlformats.org/officeDocument/2006/relationships/slide" Target="/ppt/slides/slide18.xml" Id="R4116a148de9546a0" /><Relationship Type="http://schemas.openxmlformats.org/officeDocument/2006/relationships/slide" Target="/ppt/slides/slide19.xml" Id="Rd71b5ffcd4d4448e" /><Relationship Type="http://schemas.openxmlformats.org/officeDocument/2006/relationships/slide" Target="/ppt/slides/slide20.xml" Id="R79f09aca58504112" /><Relationship Type="http://schemas.openxmlformats.org/officeDocument/2006/relationships/slide" Target="/ppt/slides/slide21.xml" Id="R6aba9c604dc243fa" /><Relationship Type="http://schemas.openxmlformats.org/officeDocument/2006/relationships/slide" Target="/ppt/slides/slide22.xml" Id="R27226fd3f21c40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ce46572da446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4235429c794996" /><Relationship Type="http://schemas.openxmlformats.org/officeDocument/2006/relationships/notesMaster" Target="/ppt/notesMasters/notesMaster1.xml" Id="R5d11d02e2fb145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b3492414ea470e" /><Relationship Type="http://schemas.openxmlformats.org/officeDocument/2006/relationships/notesMaster" Target="/ppt/notesMasters/notesMaster1.xml" Id="R3dfa5c03dbf848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ab726b24ad4b06" /><Relationship Type="http://schemas.openxmlformats.org/officeDocument/2006/relationships/notesMaster" Target="/ppt/notesMasters/notesMaster1.xml" Id="R6be4f2a90dcc4a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a19ddcd00d402d" /><Relationship Type="http://schemas.openxmlformats.org/officeDocument/2006/relationships/notesMaster" Target="/ppt/notesMasters/notesMaster1.xml" Id="R252ed61f9d4540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4e8ffacf9743dd" /><Relationship Type="http://schemas.openxmlformats.org/officeDocument/2006/relationships/notesMaster" Target="/ppt/notesMasters/notesMaster1.xml" Id="Ra633996c0c6044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b9d3aaaa8746c1" /><Relationship Type="http://schemas.openxmlformats.org/officeDocument/2006/relationships/notesMaster" Target="/ppt/notesMasters/notesMaster1.xml" Id="R54f8ede35f1a49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3d3725ff9843a7" /><Relationship Type="http://schemas.openxmlformats.org/officeDocument/2006/relationships/notesMaster" Target="/ppt/notesMasters/notesMaster1.xml" Id="R57fbc94e201542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566cbcd4d74717" /><Relationship Type="http://schemas.openxmlformats.org/officeDocument/2006/relationships/notesMaster" Target="/ppt/notesMasters/notesMaster1.xml" Id="R0c6a1265e1904a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186b7a7fd84312" /><Relationship Type="http://schemas.openxmlformats.org/officeDocument/2006/relationships/notesMaster" Target="/ppt/notesMasters/notesMaster1.xml" Id="Rc5f6c9bbbb4f4e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f25e51e8074db5" /><Relationship Type="http://schemas.openxmlformats.org/officeDocument/2006/relationships/notesMaster" Target="/ppt/notesMasters/notesMaster1.xml" Id="R96161d815b344e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cbcd98e7834ae6" /><Relationship Type="http://schemas.openxmlformats.org/officeDocument/2006/relationships/notesMaster" Target="/ppt/notesMasters/notesMaster1.xml" Id="R43f08d69263e4a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54e9080a2d4ef9" /><Relationship Type="http://schemas.openxmlformats.org/officeDocument/2006/relationships/notesMaster" Target="/ppt/notesMasters/notesMaster1.xml" Id="R5ef6420dd05449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9223a5000d4097" /><Relationship Type="http://schemas.openxmlformats.org/officeDocument/2006/relationships/notesMaster" Target="/ppt/notesMasters/notesMaster1.xml" Id="R0816c80af55949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15bbc5e44846d3" /><Relationship Type="http://schemas.openxmlformats.org/officeDocument/2006/relationships/notesMaster" Target="/ppt/notesMasters/notesMaster1.xml" Id="R4769fab2378b4a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9b1681e50f4e48" /><Relationship Type="http://schemas.openxmlformats.org/officeDocument/2006/relationships/notesMaster" Target="/ppt/notesMasters/notesMaster1.xml" Id="R4408d2cbeb3547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ddf16f0e304a33" /><Relationship Type="http://schemas.openxmlformats.org/officeDocument/2006/relationships/notesMaster" Target="/ppt/notesMasters/notesMaster1.xml" Id="Rd0edec451bd643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946a34a877434b" /><Relationship Type="http://schemas.openxmlformats.org/officeDocument/2006/relationships/notesMaster" Target="/ppt/notesMasters/notesMaster1.xml" Id="Rfec90637f0254b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ac804ae84564305" /><Relationship Type="http://schemas.openxmlformats.org/officeDocument/2006/relationships/notesMaster" Target="/ppt/notesMasters/notesMaster1.xml" Id="Redd903c83fe64b6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62699344db4b9a" /><Relationship Type="http://schemas.openxmlformats.org/officeDocument/2006/relationships/notesMaster" Target="/ppt/notesMasters/notesMaster1.xml" Id="R09873afa291f46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70b7485e694b31" /><Relationship Type="http://schemas.openxmlformats.org/officeDocument/2006/relationships/notesMaster" Target="/ppt/notesMasters/notesMaster1.xml" Id="R750cc01cabb44c6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f49f2b6c2148e4" /><Relationship Type="http://schemas.openxmlformats.org/officeDocument/2006/relationships/notesMaster" Target="/ppt/notesMasters/notesMaster1.xml" Id="Re1ba66ed39694cf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a58fdbf7cd34f60" /><Relationship Type="http://schemas.openxmlformats.org/officeDocument/2006/relationships/notesMaster" Target="/ppt/notesMasters/notesMaster1.xml" Id="Rb103c9f10d3443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Unit economics uses 2031 Base volumes to allocate account and payout-count costs. Repeat payout base excludes the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projected FCF burn $1.053m and ending cash $421,907.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2c9918964c4e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f373b3496d4069" /><Relationship Type="http://schemas.openxmlformats.org/officeDocument/2006/relationships/slideLayout" Target="/ppt/slideLayouts/slideLayout1.xml" Id="R9474c9ed905c42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74c9ed905c42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a58473782b45eb" /><Relationship Type="http://schemas.openxmlformats.org/officeDocument/2006/relationships/image" Target="/ppt/media/image.png" Id="R4b539f805f8b478b" /><Relationship Type="http://schemas.openxmlformats.org/officeDocument/2006/relationships/notesSlide" Target="/ppt/notesSlides/notesSlide1.xml" Id="R9b5ba6f9947f48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30e2d019f342df" /><Relationship Type="http://schemas.openxmlformats.org/officeDocument/2006/relationships/notesSlide" Target="/ppt/notesSlides/notesSlide2.xml" Id="Reb29fd632f9c43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80799ab2da415f" /><Relationship Type="http://schemas.openxmlformats.org/officeDocument/2006/relationships/notesSlide" Target="/ppt/notesSlides/notesSlide3.xml" Id="R39d8a9d9ec4f46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9aa91b05a54b54" /><Relationship Type="http://schemas.openxmlformats.org/officeDocument/2006/relationships/image" Target="/ppt/media/image2.png" Id="Rd30562a2193346a0" /><Relationship Type="http://schemas.openxmlformats.org/officeDocument/2006/relationships/notesSlide" Target="/ppt/notesSlides/notesSlide4.xml" Id="Rb5abce62445949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901e476e4342d8" /><Relationship Type="http://schemas.openxmlformats.org/officeDocument/2006/relationships/image" Target="/ppt/media/image3.png" Id="Rc82cec0fb4c64a3e" /><Relationship Type="http://schemas.openxmlformats.org/officeDocument/2006/relationships/notesSlide" Target="/ppt/notesSlides/notesSlide5.xml" Id="R8611104ad4c94c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1671da5cda4546" /><Relationship Type="http://schemas.openxmlformats.org/officeDocument/2006/relationships/notesSlide" Target="/ppt/notesSlides/notesSlide6.xml" Id="Rd1cab79ece7142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7232a5357a4265" /><Relationship Type="http://schemas.openxmlformats.org/officeDocument/2006/relationships/notesSlide" Target="/ppt/notesSlides/notesSlide7.xml" Id="R0b055a405d724a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1d7af241d04873" /><Relationship Type="http://schemas.openxmlformats.org/officeDocument/2006/relationships/notesSlide" Target="/ppt/notesSlides/notesSlide8.xml" Id="R9973a826db6441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6e157bb45f414e" /><Relationship Type="http://schemas.openxmlformats.org/officeDocument/2006/relationships/notesSlide" Target="/ppt/notesSlides/notesSlide9.xml" Id="Rb1b0bd93eab14c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f6123aadf94035" /><Relationship Type="http://schemas.openxmlformats.org/officeDocument/2006/relationships/notesSlide" Target="/ppt/notesSlides/notesSlide10.xml" Id="R737dd2321ed441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22854c50a149d2" /><Relationship Type="http://schemas.openxmlformats.org/officeDocument/2006/relationships/notesSlide" Target="/ppt/notesSlides/notesSlide11.xml" Id="R12de14363ec241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b481f6e77b453d" /><Relationship Type="http://schemas.openxmlformats.org/officeDocument/2006/relationships/notesSlide" Target="/ppt/notesSlides/notesSlide12.xml" Id="Ra4660d53bb684c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f061556ac7e4e99" /><Relationship Type="http://schemas.openxmlformats.org/officeDocument/2006/relationships/notesSlide" Target="/ppt/notesSlides/notesSlide13.xml" Id="Raf4a4ccc756d4d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c10ac7a98248e9" /><Relationship Type="http://schemas.openxmlformats.org/officeDocument/2006/relationships/chart" Target="/ppt/slides/charts/chart1.xml" Id="Rb9c59ebb5003459a" /><Relationship Type="http://schemas.openxmlformats.org/officeDocument/2006/relationships/notesSlide" Target="/ppt/notesSlides/notesSlide14.xml" Id="R5ddcb6dc066c4f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8b4587322f34fff" /><Relationship Type="http://schemas.openxmlformats.org/officeDocument/2006/relationships/notesSlide" Target="/ppt/notesSlides/notesSlide15.xml" Id="R5b27a4cd5fad4f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b5b36dc1b141aa" /><Relationship Type="http://schemas.openxmlformats.org/officeDocument/2006/relationships/notesSlide" Target="/ppt/notesSlides/notesSlide16.xml" Id="Rf3c7a9bb0fad48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d4b1ac0965641e9" /><Relationship Type="http://schemas.openxmlformats.org/officeDocument/2006/relationships/notesSlide" Target="/ppt/notesSlides/notesSlide17.xml" Id="R053bc2bc326747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f4be0d2469d4e6c" /><Relationship Type="http://schemas.openxmlformats.org/officeDocument/2006/relationships/notesSlide" Target="/ppt/notesSlides/notesSlide18.xml" Id="R7d7a8e107f1944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415ed2e368e414d" /><Relationship Type="http://schemas.openxmlformats.org/officeDocument/2006/relationships/notesSlide" Target="/ppt/notesSlides/notesSlide19.xml" Id="R073f0cf2579740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9c35c5a2d874933" /><Relationship Type="http://schemas.openxmlformats.org/officeDocument/2006/relationships/notesSlide" Target="/ppt/notesSlides/notesSlide20.xml" Id="R78fd7cf051d0433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91fea4fcccd44a5" /><Relationship Type="http://schemas.openxmlformats.org/officeDocument/2006/relationships/notesSlide" Target="/ppt/notesSlides/notesSlide21.xml" Id="Rb69017f6d8f34d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8539b9727c7425b" /><Relationship Type="http://schemas.openxmlformats.org/officeDocument/2006/relationships/hyperlink" Target="https://stripe.com/pricing" TargetMode="External" Id="Rb052559ea94a4b1a" /><Relationship Type="http://schemas.openxmlformats.org/officeDocument/2006/relationships/hyperlink" Target="https://stripe.com/connect/pricing" TargetMode="External" Id="Ra14ddac82a4a4d7b" /><Relationship Type="http://schemas.openxmlformats.org/officeDocument/2006/relationships/hyperlink" Target="https://stripe.com/financial-connections" TargetMode="External" Id="Ra770c07bcd60417c" /><Relationship Type="http://schemas.openxmlformats.org/officeDocument/2006/relationships/hyperlink" Target="https://www.zocdoc.com/provider-help/en/articles/10859404-understanding-zocdoc-pricing-and-billing" TargetMode="External" Id="R4919dd4724024321" /><Relationship Type="http://schemas.openxmlformats.org/officeDocument/2006/relationships/hyperlink" Target="https://www.census.gov/quickfacts/fact/table/barnegattownshipoceancountynewjersey/SBO010223" TargetMode="External" Id="R450f03ace14e4a2d" /><Relationship Type="http://schemas.openxmlformats.org/officeDocument/2006/relationships/notesSlide" Target="/ppt/notesSlides/notesSlide22.xml" Id="R673db78a51fe42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0.012782</c:v>
                </c:pt>
                <c:pt idx="1">
                  <c:v>0.081806</c:v>
                </c:pt>
                <c:pt idx="2">
                  <c:v>0.339369</c:v>
                </c:pt>
                <c:pt idx="3">
                  <c:v>1.083283</c:v>
                </c:pt>
                <c:pt idx="4">
                  <c:v>2.783964</c:v>
                </c:pt>
                <c:pt idx="5">
                  <c:v>5.908459</c:v>
                </c:pt>
                <c:pt idx="6">
                  <c:v>10.862247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44DB4F93-E6B5-432B-A463-7C3FE180110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D0951B48-4959-4651-8012-5B75B109B73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b539f805f8b478b"/>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recurring&#10;local property care">
            <a:extLst xmlns:a="http://schemas.openxmlformats.org/drawingml/2006/main">
              <a:ext uri="{FF2B5EF4-FFF2-40B4-BE49-F238E27FC236}">
                <a16:creationId xmlns:a16="http://schemas.microsoft.com/office/drawing/2014/main" id="{99BA29AA-C10A-403F-9596-3219C5FCCD89}"/>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recurring</a:t>
            </a:r>
          </a:p>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local property care</a:t>
            </a:r>
          </a:p>
        </p:txBody>
      </p:sp>
      <p:sp>
        <p:nvSpPr>
          <p:cNvPr id="5" name="A managed marketplace for homeowners and local ser">
            <a:extLst xmlns:a="http://schemas.openxmlformats.org/drawingml/2006/main">
              <a:ext uri="{FF2B5EF4-FFF2-40B4-BE49-F238E27FC236}">
                <a16:creationId xmlns:a16="http://schemas.microsoft.com/office/drawing/2014/main" id="{7EE54E25-2AE7-46E6-9A1C-97755B6EA885}"/>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A880F681-8FD1-447A-976A-61771DC98290}"/>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49278450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78514E65-B171-4A90-B589-C33E285877C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73DB9DE7-4595-4B45-B893-3D096D187A1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A433D078-A1F8-4D40-A375-527958904E3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3C9C1D4F-3334-4AEB-9DAE-1F1A15D9EC8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58DF1695-C13A-4888-B888-82D06E5B6730}"/>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C6A6FD3D-10F4-4523-8F3A-ADB8945BA614}"/>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4DCCAEE5-FFED-4CB6-8AC0-A2B365D07A3F}"/>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6D99305E-739B-48A2-8688-6F3F9D83DD64}"/>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6CD02CF9-E163-48F8-8739-0A790D1C93F4}"/>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Local density can lower acquisition and operating ">
            <a:extLst xmlns:a="http://schemas.openxmlformats.org/drawingml/2006/main">
              <a:ext uri="{FF2B5EF4-FFF2-40B4-BE49-F238E27FC236}">
                <a16:creationId xmlns:a16="http://schemas.microsoft.com/office/drawing/2014/main" id="{7836D8BB-E3BB-4EF2-8F85-DB49F628AB84}"/>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Local density can lower acquisition and operating costs. Each expansion must demonstrate those savings before it earns more capital.</a:t>
            </a:r>
          </a:p>
        </p:txBody>
      </p:sp>
      <p:sp>
        <p:nvSpPr>
          <p:cNvPr id="11" name="Investment hypothesis. The model does not assume s">
            <a:extLst xmlns:a="http://schemas.openxmlformats.org/drawingml/2006/main">
              <a:ext uri="{FF2B5EF4-FFF2-40B4-BE49-F238E27FC236}">
                <a16:creationId xmlns:a16="http://schemas.microsoft.com/office/drawing/2014/main" id="{7ABB270A-8C01-4EB6-B66C-90C8DD160AC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53589195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AB1D8167-9542-470D-A400-6CE4CA6F86B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BF2556BC-647C-4758-B3A1-DF0E53F4EC4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D91D5792-FA76-4DF6-85AB-3D0BF3BD625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B6660A77-718D-4FDE-8513-F7C5CEEEB70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05DAF810-3454-4F8C-A303-E9D5E9F4C09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394073131"/>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26845A54-818C-4D95-AEC2-5114F52A996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C1BF98CA-5FE6-40E8-94D9-90E91C840FF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B018DCB9-1BD3-4B84-AC2B-ACA517AA755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8A977075-BE2C-456E-81AD-E826628E0DB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30562a2193346a0"/>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D5219B04-2B36-4E76-BC87-592A58A170DB}"/>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1AE02FA0-49DD-4C39-A3C3-BC537C1F6FB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34839083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04553D2C-CE8E-47AF-A584-ABA77AB0ACF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02D1254B-45EC-4938-BE38-A4D69EA054A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7BC9AEF5-7F69-4806-96CC-EAEB1E875E8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B1614647-A89C-42FA-B669-9DC6707A734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2cec0fb4c64a3e"/>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C97280E1-9C81-4872-B4DC-22563B37DD25}"/>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C2632154-F1EF-49A6-9E38-5660C27DBDAF}"/>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EAAD9AD0-D9F9-4C13-9DDE-8551127A31C6}"/>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79760FAA-A850-4143-AAB0-675868A43267}"/>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283EE040-3107-4B9D-A203-65309E7FEA9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600623049"/>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18BD69A4-34BE-47FC-A459-330C2175E8C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22463633-42AC-4ABC-937A-603F9E48059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F93E8196-C625-4D7B-8FF2-C282F492470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FC60895C-2A21-403D-875C-B29A619030E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555D164E-E749-4DE4-9591-7E8C77CBA041}"/>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B5E669A8-39D3-4ADB-AB37-A6C884C203DD}"/>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DDB7922C-FE33-4B8F-8470-70331628FEAD}"/>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58965709-2C1A-41EF-8FC2-588CE9852520}"/>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BF3FA5DD-9FB4-438C-BDA4-376301FA123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294316228"/>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E54996F3-889B-4FC8-B374-917BB1F7CA3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F9CFC0FB-553C-4B31-8DB8-0F2E8477C40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192EBC3F-B29C-448B-B07E-175AF6C8A9E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74AAE36C-2B28-4ACD-9660-E00FEA4FCFC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077C4AA9-5241-4792-9CF1-98030AC2C3E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74304082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At $60, repeat card payments leave about $0.20">
            <a:extLst xmlns:a="http://schemas.openxmlformats.org/drawingml/2006/main">
              <a:ext uri="{FF2B5EF4-FFF2-40B4-BE49-F238E27FC236}">
                <a16:creationId xmlns:a16="http://schemas.microsoft.com/office/drawing/2014/main" id="{F67872C0-006D-4019-9F9D-E6BD9F5B27B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At $60, repeat card payments leave about $0.20</a:t>
            </a:r>
          </a:p>
        </p:txBody>
      </p:sp>
      <p:sp>
        <p:nvSpPr>
          <p:cNvPr id="2" name="Illustrative contribution after payment costs and ">
            <a:extLst xmlns:a="http://schemas.openxmlformats.org/drawingml/2006/main">
              <a:ext uri="{FF2B5EF4-FFF2-40B4-BE49-F238E27FC236}">
                <a16:creationId xmlns:a16="http://schemas.microsoft.com/office/drawing/2014/main" id="{047ED01C-8EB9-460D-8549-9103C19B905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contribution after payment costs and variable operating costs, before acquisition and fixed overhead.</a:t>
            </a:r>
          </a:p>
        </p:txBody>
      </p:sp>
      <p:sp>
        <p:nvSpPr>
          <p:cNvPr id="3" name="YardMatch">
            <a:extLst xmlns:a="http://schemas.openxmlformats.org/drawingml/2006/main">
              <a:ext uri="{FF2B5EF4-FFF2-40B4-BE49-F238E27FC236}">
                <a16:creationId xmlns:a16="http://schemas.microsoft.com/office/drawing/2014/main" id="{641E437B-3BD8-4E3A-A54F-F6F383B83EB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65A3714E-A85D-467E-9447-5BBF44739D2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409825"/>
          <a:ext xmlns:a="http://schemas.openxmlformats.org/drawingml/2006/main" cx="7810500" cy="2781300"/>
        </p:xfrm>
        <a:graphic xmlns:a="http://schemas.openxmlformats.org/drawingml/2006/main">
          <a:graphicData uri="http://schemas.openxmlformats.org/drawingml/2006/table">
            <a:tbl>
              <a:tblPr/>
              <a:tblGrid>
                <a:gridCol w="4953000"/>
                <a:gridCol w="1428750"/>
                <a:gridCol w="1428750"/>
              </a:tblGrid>
              <a:tr h="556260">
                <a:tc>
                  <a:txBody>
                    <a:bodyPr lIns="114300" tIns="76200" rIns="114300" bIns="76200">
                      <a:noAutofit/>
                    </a:bodyPr>
                    <a:lstStyle/>
                    <a:p>
                      <a:pPr algn="l"/>
                      <a:r>
                        <a:rPr sz="1725" b="1">
                          <a:solidFill>
                            <a:srgbClr val="FFFFFF"/>
                          </a:solidFill>
                          <a:latin typeface="Arial"/>
                          <a:ea typeface="Arial"/>
                          <a:cs typeface="Arial"/>
                        </a:rPr>
                        <a:t>Per paid repeat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Card</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Bank debit (ACH)</a:t>
                      </a:r>
                    </a:p>
                  </a:txBody>
                  <a:tcPr marL="91440" marR="91440" marT="45720" marB="45720" anchor="ctr">
                    <a:solidFill>
                      <a:srgbClr val="205938"/>
                    </a:solidFill>
                  </a:tcPr>
                </a:tc>
              </a:tr>
              <a:tr h="556260">
                <a:tc>
                  <a:txBody>
                    <a:bodyPr lIns="114300" tIns="76200" rIns="114300" bIns="76200">
                      <a:noAutofit/>
                    </a:bodyPr>
                    <a:lstStyle/>
                    <a:p>
                      <a:pPr algn="l"/>
                      <a:r>
                        <a:rPr sz="1725" b="0">
                          <a:solidFill>
                            <a:srgbClr val="14281D"/>
                          </a:solidFill>
                          <a:latin typeface="Arial"/>
                          <a:ea typeface="Arial"/>
                          <a:cs typeface="Arial"/>
                        </a:rPr>
                        <a:t>Provider service fee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r>
              <a:tr h="556260">
                <a:tc>
                  <a:txBody>
                    <a:bodyPr lIns="114300" tIns="76200" rIns="114300" bIns="76200">
                      <a:noAutofit/>
                    </a:bodyPr>
                    <a:lstStyle/>
                    <a:p>
                      <a:pPr algn="l"/>
                      <a:r>
                        <a:rPr sz="1725" b="0">
                          <a:solidFill>
                            <a:srgbClr val="14281D"/>
                          </a:solidFill>
                          <a:latin typeface="Arial"/>
                          <a:ea typeface="Arial"/>
                          <a:cs typeface="Arial"/>
                        </a:rPr>
                        <a:t>Payment processing</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($0.48)</a:t>
                      </a:r>
                    </a:p>
                  </a:txBody>
                  <a:tcPr marL="91440" marR="91440" marT="45720" marB="45720" anchor="ctr">
                    <a:solidFill>
                      <a:srgbClr val="F7F5EF"/>
                    </a:solidFill>
                  </a:tcPr>
                </a:tc>
              </a:tr>
              <a:tr h="556260">
                <a:tc>
                  <a:txBody>
                    <a:bodyPr lIns="114300" tIns="76200" rIns="114300" bIns="76200">
                      <a:noAutofit/>
                    </a:bodyPr>
                    <a:lstStyle/>
                    <a:p>
                      <a:pPr algn="l"/>
                      <a:r>
                        <a:rPr sz="1725" b="0">
                          <a:solidFill>
                            <a:srgbClr val="14281D"/>
                          </a:solidFill>
                          <a:latin typeface="Arial"/>
                          <a:ea typeface="Arial"/>
                          <a:cs typeface="Arial"/>
                        </a:rPr>
                        <a:t>Payouts, account costs and variable operations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r>
              <a:tr h="556260">
                <a:tc>
                  <a:txBody>
                    <a:bodyPr lIns="114300" tIns="76200" rIns="114300" bIns="76200">
                      <a:noAutofit/>
                    </a:bodyPr>
                    <a:lstStyle/>
                    <a:p>
                      <a:pPr algn="l"/>
                      <a:r>
                        <a:rPr sz="1725" b="1">
                          <a:solidFill>
                            <a:srgbClr val="14281D"/>
                          </a:solidFill>
                          <a:latin typeface="Arial"/>
                          <a:ea typeface="Arial"/>
                          <a:cs typeface="Arial"/>
                        </a:rPr>
                        <a:t>Contribution before fixed overhead</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$0.20</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$1.76</a:t>
                      </a:r>
                    </a:p>
                  </a:txBody>
                  <a:tcPr marL="91440" marR="91440" marT="45720" marB="45720" anchor="ctr">
                    <a:solidFill>
                      <a:srgbClr val="E8EDDF"/>
                    </a:solidFill>
                  </a:tcPr>
                </a:tc>
              </a:tr>
            </a:tbl>
          </a:graphicData>
        </a:graphic>
      </p:graphicFrame>
      <p:sp>
        <p:nvSpPr>
          <p:cNvPr id="6" name="About $66">
            <a:extLst xmlns:a="http://schemas.openxmlformats.org/drawingml/2006/main">
              <a:ext uri="{FF2B5EF4-FFF2-40B4-BE49-F238E27FC236}">
                <a16:creationId xmlns:a16="http://schemas.microsoft.com/office/drawing/2014/main" id="{87265416-C155-40F8-9D82-2CBF3BBCD39A}"/>
              </a:ext>
            </a:extLst>
          </p:cNvPr>
          <p:cNvSpPr>
            <a:spLocks xmlns:a="http://schemas.openxmlformats.org/drawingml/2006/main" noGrp="1"/>
          </p:cNvSpPr>
          <p:nvPr/>
        </p:nvSpPr>
        <p:spPr>
          <a:xfrm xmlns:a="http://schemas.openxmlformats.org/drawingml/2006/main">
            <a:off x="8810625" y="254317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5938"/>
                </a:solidFill>
                <a:latin typeface="Arial"/>
                <a:ea typeface="Arial"/>
                <a:cs typeface="Arial"/>
              </a:defRPr>
            </a:pPr>
            <a:r>
              <a:rPr sz="3000" b="1">
                <a:solidFill>
                  <a:srgbClr val="205938"/>
                </a:solidFill>
                <a:latin typeface="Arial"/>
                <a:ea typeface="Arial"/>
                <a:cs typeface="Arial"/>
              </a:rPr>
              <a:t>About $66</a:t>
            </a:r>
          </a:p>
        </p:txBody>
      </p:sp>
      <p:sp>
        <p:nvSpPr>
          <p:cNvPr id="7" name="Card-ticket ceiling for a positive repeat contribu">
            <a:extLst xmlns:a="http://schemas.openxmlformats.org/drawingml/2006/main">
              <a:ext uri="{FF2B5EF4-FFF2-40B4-BE49-F238E27FC236}">
                <a16:creationId xmlns:a16="http://schemas.microsoft.com/office/drawing/2014/main" id="{EC14BF4B-F023-42DC-B751-9DC9A83330BB}"/>
              </a:ext>
            </a:extLst>
          </p:cNvPr>
          <p:cNvSpPr>
            <a:spLocks xmlns:a="http://schemas.openxmlformats.org/drawingml/2006/main" noGrp="1"/>
          </p:cNvSpPr>
          <p:nvPr/>
        </p:nvSpPr>
        <p:spPr>
          <a:xfrm xmlns:a="http://schemas.openxmlformats.org/drawingml/2006/main">
            <a:off x="8810625" y="332422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Card-ticket ceiling for a positive repeat contribution under these assumptions.</a:t>
            </a:r>
          </a:p>
        </p:txBody>
      </p:sp>
      <p:sp>
        <p:nvSpPr>
          <p:cNvPr id="8" name="Larger jobs need separate pricing economics">
            <a:extLst xmlns:a="http://schemas.openxmlformats.org/drawingml/2006/main">
              <a:ext uri="{FF2B5EF4-FFF2-40B4-BE49-F238E27FC236}">
                <a16:creationId xmlns:a16="http://schemas.microsoft.com/office/drawing/2014/main" id="{0DCD28E8-3111-4F59-B35A-BAEB17153D74}"/>
              </a:ext>
            </a:extLst>
          </p:cNvPr>
          <p:cNvSpPr>
            <a:spLocks xmlns:a="http://schemas.openxmlformats.org/drawingml/2006/main" noGrp="1"/>
          </p:cNvSpPr>
          <p:nvPr/>
        </p:nvSpPr>
        <p:spPr>
          <a:xfrm xmlns:a="http://schemas.openxmlformats.org/drawingml/2006/main">
            <a:off x="628650" y="54102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24D3E"/>
                </a:solidFill>
                <a:latin typeface="Arial"/>
                <a:ea typeface="Arial"/>
                <a:cs typeface="Arial"/>
              </a:defRPr>
            </a:pPr>
            <a:r>
              <a:rPr sz="2100" b="1">
                <a:solidFill>
                  <a:srgbClr val="A24D3E"/>
                </a:solidFill>
                <a:latin typeface="Arial"/>
                <a:ea typeface="Arial"/>
                <a:cs typeface="Arial"/>
              </a:rPr>
              <a:t>Larger jobs need separate pricing economics</a:t>
            </a:r>
          </a:p>
        </p:txBody>
      </p:sp>
      <p:sp>
        <p:nvSpPr>
          <p:cNvPr id="9" name="A $100 card-paid repeat job loses about $1.14 befo">
            <a:extLst xmlns:a="http://schemas.openxmlformats.org/drawingml/2006/main">
              <a:ext uri="{FF2B5EF4-FFF2-40B4-BE49-F238E27FC236}">
                <a16:creationId xmlns:a16="http://schemas.microsoft.com/office/drawing/2014/main" id="{342ED5D5-58EE-457A-99ED-00C465B7A43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$100 card-paid repeat job loses about $1.14 before fixed costs. ACH excludes a $1.50 initial bank-link allowance. Rates and operating costs are assumptions or published standard prices.</a:t>
            </a:r>
          </a:p>
        </p:txBody>
      </p:sp>
    </p:spTree>
    <p:extLst>
      <p:ext uri="{BB962C8B-B14F-4D97-AF65-F5344CB8AC3E}">
        <p14:creationId xmlns:p14="http://schemas.microsoft.com/office/powerpoint/2010/main" val="609263922"/>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96E150F9-4200-4843-B911-F2FBFC20A9C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31E152B1-E0B0-4701-BBAE-3B4CC11D10D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E884FD35-D922-4FC7-A82C-0CF6C5B30ED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5772811A-421B-4D8C-A057-990DC8A6CB4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sp>
        <p:nvSpPr>
          <p:cNvPr id="5" name="10,265">
            <a:extLst xmlns:a="http://schemas.openxmlformats.org/drawingml/2006/main">
              <a:ext uri="{FF2B5EF4-FFF2-40B4-BE49-F238E27FC236}">
                <a16:creationId xmlns:a16="http://schemas.microsoft.com/office/drawing/2014/main" id="{E4B2124A-5936-41AE-BA57-61BD41DF6985}"/>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B751E2C3-4E3C-4816-943A-07F0F3C49CC1}"/>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E5FA62C8-7B2A-48E3-8B2D-9C41A00A5989}"/>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20E5C871-2FB5-4CC6-BAB6-14A217594C36}"/>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B8F24ABD-789E-4A6C-AEE9-4874387ADA41}"/>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A5E0EAFA-4202-477D-B06B-F3FEF9889343}"/>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8687C9DF-FE17-4423-B964-47B4C045588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415386551"/>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84E78958-2601-4491-9588-D604A25CD0A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B5327C41-CBBC-4DB2-98E0-97BB53083C7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49915387-E8D2-4AF7-9533-CC5FC9E6432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116EC292-B3B1-45F9-82B6-06E4AF27F1C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1. Concentrated provider launch">
            <a:extLst xmlns:a="http://schemas.openxmlformats.org/drawingml/2006/main">
              <a:ext uri="{FF2B5EF4-FFF2-40B4-BE49-F238E27FC236}">
                <a16:creationId xmlns:a16="http://schemas.microsoft.com/office/drawing/2014/main" id="{900CA74F-E425-485B-B25C-C83D4F75BE64}"/>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85503EB5-F9ED-4D65-993A-A3DB8947997D}"/>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4AEE06B7-5977-4EAA-BC7B-1BB46E476DA0}"/>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3A54AFAA-C732-46ED-8B76-529700504A0E}"/>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4E468FEE-B89F-4D5A-BBDE-044295A65522}"/>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866DA735-CC56-45E0-8695-9F833CF219F4}"/>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FE32B209-E5FD-4BC0-BFFC-4A9C17FDA5F6}"/>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7ECCF4E8-288B-47D9-B24A-70BC3553610F}"/>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564776867"/>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68A05CDD-D726-4EA1-B629-21BB61DA615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3CEC4E58-65C3-425A-A066-D6B82B05BE7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86C829E0-E2AC-4613-9633-E14D149099B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31AA2FFE-40EB-453C-810E-27A80BE895F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Product foundation">
            <a:extLst xmlns:a="http://schemas.openxmlformats.org/drawingml/2006/main">
              <a:ext uri="{FF2B5EF4-FFF2-40B4-BE49-F238E27FC236}">
                <a16:creationId xmlns:a16="http://schemas.microsoft.com/office/drawing/2014/main" id="{1A221AC0-7EFB-4331-9EF2-EA9169B50F7A}"/>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B95AE4DA-FA41-4C38-AC06-15C7CFC26ED4}"/>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D8972CF0-BD60-4E59-B229-09CACE0B2A9A}"/>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11C1B7F0-509E-4409-8C9E-BB3BDDD00C4E}"/>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192479D6-2DDD-4E2D-906A-47CED025EE4E}"/>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2B8206ED-1B93-4C08-A73D-3C608AE6FE1F}"/>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2BBB3B81-9D2B-48E3-B7A4-6678C71A0CEF}"/>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5049B4EE-B54E-4962-8114-EF47C3FE2642}"/>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82917346"/>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960896B4-79F8-4E0A-B4ED-795BD6CCF6B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BE5AB72A-46FC-4765-A08E-BCF9AA5AFCA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0D9467CA-660F-40A6-A29C-555E06E9BE5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DECAB36C-DF43-4CA6-8C16-A07FF8D14C0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assigns no revenue to subscriptions, pro">
            <a:extLst xmlns:a="http://schemas.openxmlformats.org/drawingml/2006/main">
              <a:ext uri="{FF2B5EF4-FFF2-40B4-BE49-F238E27FC236}">
                <a16:creationId xmlns:a16="http://schemas.microsoft.com/office/drawing/2014/main" id="{922351E1-B7D3-4363-B962-CC6C0998758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assigns no revenue to subscriptions, provider recruiting fees, advertising or specialist cross-sell. These remain optional future tests.</a:t>
            </a:r>
          </a:p>
        </p:txBody>
      </p:sp>
    </p:spTree>
    <p:extLst>
      <p:ext uri="{BB962C8B-B14F-4D97-AF65-F5344CB8AC3E}">
        <p14:creationId xmlns:p14="http://schemas.microsoft.com/office/powerpoint/2010/main" val="877445921"/>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52B28200-86A7-4558-B2FC-82960A7F98A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A63D1C8A-67F9-46F9-BAF9-C48C675AE69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44E42038-6FA2-4E91-8EAD-F322AE8BA85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79D43C40-CEE1-456E-927B-5BD8C521105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Scheduled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Base: $60 service ticket, 95% completion/collectio">
            <a:extLst xmlns:a="http://schemas.openxmlformats.org/drawingml/2006/main">
              <a:ext uri="{FF2B5EF4-FFF2-40B4-BE49-F238E27FC236}">
                <a16:creationId xmlns:a16="http://schemas.microsoft.com/office/drawing/2014/main" id="{5A64C3D4-79EF-4C0B-A289-7561230D252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$60 service ticket, 95% completion/collection, eight payout-active months, 3 to 36 paid employees. All cases retain $45 plus $2.99 pricing.</a:t>
            </a:r>
          </a:p>
        </p:txBody>
      </p:sp>
    </p:spTree>
    <p:extLst>
      <p:ext uri="{BB962C8B-B14F-4D97-AF65-F5344CB8AC3E}">
        <p14:creationId xmlns:p14="http://schemas.microsoft.com/office/powerpoint/2010/main" val="1364545219"/>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7.9m in 2033">
            <a:extLst xmlns:a="http://schemas.openxmlformats.org/drawingml/2006/main">
              <a:ext uri="{FF2B5EF4-FFF2-40B4-BE49-F238E27FC236}">
                <a16:creationId xmlns:a16="http://schemas.microsoft.com/office/drawing/2014/main" id="{1E27D022-1AB1-4BCD-A2BB-2FF9648D10B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$17.9m in 2033</a:t>
            </a:r>
          </a:p>
        </p:txBody>
      </p:sp>
      <p:sp>
        <p:nvSpPr>
          <p:cNvPr id="2" name="Net marketplace revenue, US$ millions. Finder fees">
            <a:extLst xmlns:a="http://schemas.openxmlformats.org/drawingml/2006/main">
              <a:ext uri="{FF2B5EF4-FFF2-40B4-BE49-F238E27FC236}">
                <a16:creationId xmlns:a16="http://schemas.microsoft.com/office/drawing/2014/main" id="{4399A9E4-8FFE-45AA-9B84-9EA1B1DF856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A18B72E5-EF2B-4EC8-865F-69487685C97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50461141-4FBA-48FF-9AA9-0395D0587EF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b9c59ebb5003459a"/>
          </a:graphicData>
        </a:graphic>
      </p:graphicFrame>
      <p:sp>
        <p:nvSpPr>
          <p:cNvPr id="6" name="Base 2033: 292,448 year-end paying households, 3.6">
            <a:extLst xmlns:a="http://schemas.openxmlformats.org/drawingml/2006/main">
              <a:ext uri="{FF2B5EF4-FFF2-40B4-BE49-F238E27FC236}">
                <a16:creationId xmlns:a16="http://schemas.microsoft.com/office/drawing/2014/main" id="{A0ECD8B2-7D94-4D06-8A52-678874BF3AB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3.63m paid visits and $218.0m GMV. The $218.0m is service volume, not YardMatch revenue.</a:t>
            </a:r>
          </a:p>
        </p:txBody>
      </p:sp>
    </p:spTree>
    <p:extLst>
      <p:ext uri="{BB962C8B-B14F-4D97-AF65-F5344CB8AC3E}">
        <p14:creationId xmlns:p14="http://schemas.microsoft.com/office/powerpoint/2010/main" val="1425572707"/>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operating profitability arrives in 2033">
            <a:extLst xmlns:a="http://schemas.openxmlformats.org/drawingml/2006/main">
              <a:ext uri="{FF2B5EF4-FFF2-40B4-BE49-F238E27FC236}">
                <a16:creationId xmlns:a16="http://schemas.microsoft.com/office/drawing/2014/main" id="{2932FCE4-6840-4A26-BE46-C4AEA708669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operating profitability arrives in 2033</a:t>
            </a:r>
          </a:p>
        </p:txBody>
      </p:sp>
      <p:sp>
        <p:nvSpPr>
          <p:cNvPr id="2" name="US$ millions. The company funds several loss-makin">
            <a:extLst xmlns:a="http://schemas.openxmlformats.org/drawingml/2006/main">
              <a:ext uri="{FF2B5EF4-FFF2-40B4-BE49-F238E27FC236}">
                <a16:creationId xmlns:a16="http://schemas.microsoft.com/office/drawing/2014/main" id="{A7CC2ACB-9C58-4E3C-B735-EF17A48AB5A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company funds several loss-making years before reaching this scale.</a:t>
            </a:r>
          </a:p>
        </p:txBody>
      </p:sp>
      <p:sp>
        <p:nvSpPr>
          <p:cNvPr id="3" name="YardMatch">
            <a:extLst xmlns:a="http://schemas.openxmlformats.org/drawingml/2006/main">
              <a:ext uri="{FF2B5EF4-FFF2-40B4-BE49-F238E27FC236}">
                <a16:creationId xmlns:a16="http://schemas.microsoft.com/office/drawing/2014/main" id="{BA49BEEF-CBF5-4B3B-B428-FA5550806FE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F59551B7-35DC-4CF9-815E-20D79FAF1EB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$17.89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$6.41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$11.02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($1.29)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($1.73)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r>
            </a:tbl>
          </a:graphicData>
        </a:graphic>
      </p:graphicFrame>
      <p:sp>
        <p:nvSpPr>
          <p:cNvPr id="6" name="2033 net income is $0.48m, while free cash flow is">
            <a:extLst xmlns:a="http://schemas.openxmlformats.org/drawingml/2006/main">
              <a:ext uri="{FF2B5EF4-FFF2-40B4-BE49-F238E27FC236}">
                <a16:creationId xmlns:a16="http://schemas.microsoft.com/office/drawing/2014/main" id="{466562B6-4D36-4F50-9393-99E266F2E01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is $0.48m, while free cash flow is ($0.56m) because growth requires more risk cash and equipment. Profit and cash generation differ.</a:t>
            </a:r>
          </a:p>
        </p:txBody>
      </p:sp>
    </p:spTree>
    <p:extLst>
      <p:ext uri="{BB962C8B-B14F-4D97-AF65-F5344CB8AC3E}">
        <p14:creationId xmlns:p14="http://schemas.microsoft.com/office/powerpoint/2010/main" val="1584544183"/>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6AA09E8D-33F9-43B6-9DDB-28ACFFE4F29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35B57195-BC00-4635-A490-D71034D715E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D2C02226-8477-415E-8F67-A02DE57A54E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68A08693-8F91-436A-8CD6-5CC94EACC7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$5.20m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$9.21m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($1.61)m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($1.30)m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$17.89m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$37.09m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$6.46m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through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In the downside case, larger service tickets and l">
            <a:extLst xmlns:a="http://schemas.openxmlformats.org/drawingml/2006/main">
              <a:ext uri="{FF2B5EF4-FFF2-40B4-BE49-F238E27FC236}">
                <a16:creationId xmlns:a16="http://schemas.microsoft.com/office/drawing/2014/main" id="{A4FE1EA3-60AB-455D-80FA-C7023D7F144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 the downside case, larger service tickets and low ACH use make repeat contribution negative through 2032. More such transactions deepen the loss.</a:t>
            </a:r>
          </a:p>
        </p:txBody>
      </p:sp>
    </p:spTree>
    <p:extLst>
      <p:ext uri="{BB962C8B-B14F-4D97-AF65-F5344CB8AC3E}">
        <p14:creationId xmlns:p14="http://schemas.microsoft.com/office/powerpoint/2010/main" val="344596073"/>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n illustrative $1.5m first round funds validation">
            <a:extLst xmlns:a="http://schemas.openxmlformats.org/drawingml/2006/main">
              <a:ext uri="{FF2B5EF4-FFF2-40B4-BE49-F238E27FC236}">
                <a16:creationId xmlns:a16="http://schemas.microsoft.com/office/drawing/2014/main" id="{3F8F3C56-A71F-4CDB-9B65-31EB65D77AA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An illustrative $1.5m first round funds validation</a:t>
            </a:r>
          </a:p>
        </p:txBody>
      </p:sp>
      <p:sp>
        <p:nvSpPr>
          <p:cNvPr id="2" name="The two-year base budget tests commercial adoption">
            <a:extLst xmlns:a="http://schemas.openxmlformats.org/drawingml/2006/main">
              <a:ext uri="{FF2B5EF4-FFF2-40B4-BE49-F238E27FC236}">
                <a16:creationId xmlns:a16="http://schemas.microsoft.com/office/drawing/2014/main" id="{72C44133-5913-4D96-BD13-74240472CA1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B49E2790-131F-4F22-8DC8-6F54E6A45EE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B578A022-BDCD-4986-9E4B-ABF5EFB7465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$56,416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($146,448)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$1,053,093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$421,907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B3580485-36E1-4633-83A6-5BCEC24C69A2}"/>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The base case needs further funding from 2029.">
            <a:extLst xmlns:a="http://schemas.openxmlformats.org/drawingml/2006/main">
              <a:ext uri="{FF2B5EF4-FFF2-40B4-BE49-F238E27FC236}">
                <a16:creationId xmlns:a16="http://schemas.microsoft.com/office/drawing/2014/main" id="{E84C2D72-FD0B-4015-B1AD-88F4BB159FC8}"/>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The base case needs further funding from 2029.</a:t>
            </a:r>
          </a:p>
        </p:txBody>
      </p:sp>
      <p:sp>
        <p:nvSpPr>
          <p:cNvPr id="8" name="$7.30m">
            <a:extLst xmlns:a="http://schemas.openxmlformats.org/drawingml/2006/main">
              <a:ext uri="{FF2B5EF4-FFF2-40B4-BE49-F238E27FC236}">
                <a16:creationId xmlns:a16="http://schemas.microsoft.com/office/drawing/2014/main" id="{436E2D2B-A0FB-4C40-80C8-14A07087982D}"/>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$7.30m</a:t>
            </a:r>
          </a:p>
        </p:txBody>
      </p:sp>
      <p:sp>
        <p:nvSpPr>
          <p:cNvPr id="9" name="Cumulative base cash deficit through 2033, before ">
            <a:extLst xmlns:a="http://schemas.openxmlformats.org/drawingml/2006/main">
              <a:ext uri="{FF2B5EF4-FFF2-40B4-BE49-F238E27FC236}">
                <a16:creationId xmlns:a16="http://schemas.microsoft.com/office/drawing/2014/main" id="{74749C5F-F1FA-48E0-B899-6FC3D93CCA4C}"/>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Cumulative base cash deficit through 2033, before a liquidity buffer.</a:t>
            </a:r>
          </a:p>
        </p:txBody>
      </p:sp>
      <p:sp>
        <p:nvSpPr>
          <p:cNvPr id="10" name="A six-month 2033 fixed-cost buffer adds $2.74m, fo">
            <a:extLst xmlns:a="http://schemas.openxmlformats.org/drawingml/2006/main">
              <a:ext uri="{FF2B5EF4-FFF2-40B4-BE49-F238E27FC236}">
                <a16:creationId xmlns:a16="http://schemas.microsoft.com/office/drawing/2014/main" id="{7AB4C1D4-6BEC-4A31-8B88-3537D1D77D4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six-month 2033 fixed-cost buffer adds $2.74m, for $10.04m in the model. Financing amounts and valuation are illustrative, not agreed terms.</a:t>
            </a:r>
          </a:p>
        </p:txBody>
      </p:sp>
    </p:spTree>
    <p:extLst>
      <p:ext uri="{BB962C8B-B14F-4D97-AF65-F5344CB8AC3E}">
        <p14:creationId xmlns:p14="http://schemas.microsoft.com/office/powerpoint/2010/main" val="823290288"/>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010EBCCF-057D-47B7-A760-F13D873309B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F925CABA-9B95-4277-8A04-C7E52AC1240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742FD46B-C884-4773-8490-FE2A87CE5A7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E5A4BDDE-5FEF-45BE-B29E-64D0959EEC5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73F3C596-3E75-41AB-A126-B806F37F5A1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2004734884"/>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40BD2024-F601-4EE1-B2E7-38984F1605F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A1034267-566A-42CA-9BD8-A35A120770C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65DDA90A-AE26-402A-8A23-5AE805A19A9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88FB0188-C1D1-42BC-8266-C6721942476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4F54EE79-C40C-43ED-9496-1DA3B2EA857D}"/>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79943CF0-2DE6-4C06-AC73-87BE8CE0731B}"/>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B03470A6-58D5-46D9-8DBC-D1A5E4085A4F}"/>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62916164-F0DE-4769-9FE8-E297A8093AAB}"/>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916AA346-5275-4F92-A258-913B8BF9E0F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915706727"/>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280D7471-8166-4BA8-A87E-981A318F48C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1256B13B-65EB-4F11-B442-77E34CA90D9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8D0231EA-E857-432A-AC66-5B35B87A269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FEC1D45A-FE6B-4595-8EDF-E8C0269FA80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visits continue with a $2.99 provider fee</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mix supports at least $0.50 per paid repeat visit</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BD69AA51-066F-4C48-81DA-EAD36F9E6AA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80071199"/>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8918CE72-1D07-4DE9-87BC-15BEE126E26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B74EED2E-6B9C-44BC-9B01-19559FD7219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CDC14932-DB39-45EA-AD19-9896240AD1F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5D8431F2-A630-4B93-8A7F-DA72B49212D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sp>
        <p:nvSpPr>
          <p:cNvPr id="5" name="Households and paid visits">
            <a:extLst xmlns:a="http://schemas.openxmlformats.org/drawingml/2006/main">
              <a:ext uri="{FF2B5EF4-FFF2-40B4-BE49-F238E27FC236}">
                <a16:creationId xmlns:a16="http://schemas.microsoft.com/office/drawing/2014/main" id="{A4EC777B-C76B-440A-9BAB-90E3D0E3CFA1}"/>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E5886E61-944C-44D9-8017-80CABBDA6129}"/>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service base. Visits then reflect platform capture and completion.</a:t>
            </a:r>
          </a:p>
        </p:txBody>
      </p:sp>
      <p:sp>
        <p:nvSpPr>
          <p:cNvPr id="7" name="Revenue and cost">
            <a:extLst xmlns:a="http://schemas.openxmlformats.org/drawingml/2006/main">
              <a:ext uri="{FF2B5EF4-FFF2-40B4-BE49-F238E27FC236}">
                <a16:creationId xmlns:a16="http://schemas.microsoft.com/office/drawing/2014/main" id="{3ACD820E-F6A7-4B0A-BA0A-6319D372726A}"/>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Revenue and cost</a:t>
            </a:r>
          </a:p>
        </p:txBody>
      </p:sp>
      <p:sp>
        <p:nvSpPr>
          <p:cNvPr id="8" name="$45 per new pairing after waivers, plus $2.99 per ">
            <a:extLst xmlns:a="http://schemas.openxmlformats.org/drawingml/2006/main">
              <a:ext uri="{FF2B5EF4-FFF2-40B4-BE49-F238E27FC236}">
                <a16:creationId xmlns:a16="http://schemas.microsoft.com/office/drawing/2014/main" id="{207170FA-EABC-4E1E-B368-7B31F15E14D8}"/>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$45 per new pairing after waivers, plus $2.99 per paid visit. Processing uses the whole service ticket. Crew costs stay with the provider.</a:t>
            </a:r>
          </a:p>
        </p:txBody>
      </p:sp>
      <p:sp>
        <p:nvSpPr>
          <p:cNvPr id="9" name="Profit and cash">
            <a:extLst xmlns:a="http://schemas.openxmlformats.org/drawingml/2006/main">
              <a:ext uri="{FF2B5EF4-FFF2-40B4-BE49-F238E27FC236}">
                <a16:creationId xmlns:a16="http://schemas.microsoft.com/office/drawing/2014/main" id="{DECB45CF-D81B-46BA-BCF5-1B704E736066}"/>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61E645CF-E2A8-4FFC-8BDB-FBAA44CD0F5C}"/>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17FFD93D-504E-439B-9A79-6FDD40E697C0}"/>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about $89 of five-year c">
            <a:extLst xmlns:a="http://schemas.openxmlformats.org/drawingml/2006/main">
              <a:ext uri="{FF2B5EF4-FFF2-40B4-BE49-F238E27FC236}">
                <a16:creationId xmlns:a16="http://schemas.microsoft.com/office/drawing/2014/main" id="{D82A7D06-722E-4280-B964-DBEBF1DC3C5D}"/>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about $89 of five-year contribution per acquired household versus $35 CAC, or 2.6x. This is an assumption test.</a:t>
            </a:r>
          </a:p>
        </p:txBody>
      </p:sp>
    </p:spTree>
    <p:extLst>
      <p:ext uri="{BB962C8B-B14F-4D97-AF65-F5344CB8AC3E}">
        <p14:creationId xmlns:p14="http://schemas.microsoft.com/office/powerpoint/2010/main" val="1038979978"/>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ources and basis">
            <a:extLst xmlns:a="http://schemas.openxmlformats.org/drawingml/2006/main">
              <a:ext uri="{FF2B5EF4-FFF2-40B4-BE49-F238E27FC236}">
                <a16:creationId xmlns:a16="http://schemas.microsoft.com/office/drawing/2014/main" id="{24E57BBC-CEC1-45A5-B3A3-3AAE86BB90F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DECCEA0F-23FC-41FB-9D4D-838521C01CC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FEC5B858-35EE-4A8B-9444-D80E6C7B6F8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FEDB173E-2A6B-426D-BE05-88A88F97863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sp>
        <p:nvSpPr>
          <p:cNvPr id="5" name="Company materials">
            <a:extLst xmlns:a="http://schemas.openxmlformats.org/drawingml/2006/main">
              <a:ext uri="{FF2B5EF4-FFF2-40B4-BE49-F238E27FC236}">
                <a16:creationId xmlns:a16="http://schemas.microsoft.com/office/drawing/2014/main" id="{93EE8147-6D1B-4452-92AD-31C79625FE35}"/>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94F7CFE6-976A-4FC9-9C4F-590D33405FF8}"/>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06725831-5C6B-451B-933D-80856EB5AE00}"/>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FC84B248-42CC-4F7F-8CAA-50EB8D612E1E}"/>
              </a:ext>
            </a:extLst>
          </p:cNvPr>
          <p:cNvSpPr>
            <a:spLocks xmlns:a="http://schemas.openxmlformats.org/drawingml/2006/main" noGrp="1"/>
          </p:cNvSpPr>
          <p:nvPr/>
        </p:nvSpPr>
        <p:spPr>
          <a:xfrm xmlns:a="http://schemas.openxmlformats.org/drawingml/2006/main">
            <a:off x="628650" y="43529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b052559ea94a4b1a"/>
              </a:rPr>
              <a:t>Stripe Payments pricing</a:t>
            </a:r>
          </a:p>
        </p:txBody>
      </p:sp>
      <p:sp>
        <p:nvSpPr>
          <p:cNvPr id="9" name="Stripe Connect pricing">
            <a:extLst xmlns:a="http://schemas.openxmlformats.org/drawingml/2006/main">
              <a:ext uri="{FF2B5EF4-FFF2-40B4-BE49-F238E27FC236}">
                <a16:creationId xmlns:a16="http://schemas.microsoft.com/office/drawing/2014/main" id="{514371BE-4815-46EE-809F-7926AE565E7B}"/>
              </a:ext>
            </a:extLst>
          </p:cNvPr>
          <p:cNvSpPr>
            <a:spLocks xmlns:a="http://schemas.openxmlformats.org/drawingml/2006/main" noGrp="1"/>
          </p:cNvSpPr>
          <p:nvPr/>
        </p:nvSpPr>
        <p:spPr>
          <a:xfrm xmlns:a="http://schemas.openxmlformats.org/drawingml/2006/main">
            <a:off x="628650" y="46291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a14ddac82a4a4d7b"/>
              </a:rPr>
              <a:t>Stripe Connect pricing</a:t>
            </a:r>
          </a:p>
        </p:txBody>
      </p:sp>
      <p:sp>
        <p:nvSpPr>
          <p:cNvPr id="10" name="Stripe Financial Connections pricing">
            <a:extLst xmlns:a="http://schemas.openxmlformats.org/drawingml/2006/main">
              <a:ext uri="{FF2B5EF4-FFF2-40B4-BE49-F238E27FC236}">
                <a16:creationId xmlns:a16="http://schemas.microsoft.com/office/drawing/2014/main" id="{617C8F1A-613F-4CB4-9745-0BA58758227E}"/>
              </a:ext>
            </a:extLst>
          </p:cNvPr>
          <p:cNvSpPr>
            <a:spLocks xmlns:a="http://schemas.openxmlformats.org/drawingml/2006/main" noGrp="1"/>
          </p:cNvSpPr>
          <p:nvPr/>
        </p:nvSpPr>
        <p:spPr>
          <a:xfrm xmlns:a="http://schemas.openxmlformats.org/drawingml/2006/main">
            <a:off x="628650" y="490537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a770c07bcd60417c"/>
              </a:rPr>
              <a:t>Stripe Financial Connections pricing</a:t>
            </a:r>
          </a:p>
        </p:txBody>
      </p:sp>
      <p:sp>
        <p:nvSpPr>
          <p:cNvPr id="11" name="Zocdoc: Understanding pricing and billing">
            <a:extLst xmlns:a="http://schemas.openxmlformats.org/drawingml/2006/main">
              <a:ext uri="{FF2B5EF4-FFF2-40B4-BE49-F238E27FC236}">
                <a16:creationId xmlns:a16="http://schemas.microsoft.com/office/drawing/2014/main" id="{7C2CB78F-6B55-4D78-8DB1-1DF536CB5EAA}"/>
              </a:ext>
            </a:extLst>
          </p:cNvPr>
          <p:cNvSpPr>
            <a:spLocks xmlns:a="http://schemas.openxmlformats.org/drawingml/2006/main" noGrp="1"/>
          </p:cNvSpPr>
          <p:nvPr/>
        </p:nvSpPr>
        <p:spPr>
          <a:xfrm xmlns:a="http://schemas.openxmlformats.org/drawingml/2006/main">
            <a:off x="628650" y="518160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4919dd4724024321"/>
              </a:rPr>
              <a:t>Zocdoc: Understanding pricing and billing</a:t>
            </a:r>
          </a:p>
        </p:txBody>
      </p:sp>
      <p:sp>
        <p:nvSpPr>
          <p:cNvPr id="12" name="US Census QuickFacts: Barnegat, 2020-2024">
            <a:extLst xmlns:a="http://schemas.openxmlformats.org/drawingml/2006/main">
              <a:ext uri="{FF2B5EF4-FFF2-40B4-BE49-F238E27FC236}">
                <a16:creationId xmlns:a16="http://schemas.microsoft.com/office/drawing/2014/main" id="{19F466DA-A3AA-48B2-8F84-B1A86094BBBA}"/>
              </a:ext>
            </a:extLst>
          </p:cNvPr>
          <p:cNvSpPr>
            <a:spLocks xmlns:a="http://schemas.openxmlformats.org/drawingml/2006/main" noGrp="1"/>
          </p:cNvSpPr>
          <p:nvPr/>
        </p:nvSpPr>
        <p:spPr>
          <a:xfrm xmlns:a="http://schemas.openxmlformats.org/drawingml/2006/main">
            <a:off x="628650" y="54578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450f03ace14e4a2d"/>
              </a:rPr>
              <a:t>US Census QuickFacts: Barnegat, 2020-2024</a:t>
            </a:r>
          </a:p>
        </p:txBody>
      </p:sp>
      <p:sp>
        <p:nvSpPr>
          <p:cNvPr id="13" name="External references are linked. Full citations are">
            <a:extLst xmlns:a="http://schemas.openxmlformats.org/drawingml/2006/main">
              <a:ext uri="{FF2B5EF4-FFF2-40B4-BE49-F238E27FC236}">
                <a16:creationId xmlns:a16="http://schemas.microsoft.com/office/drawing/2014/main" id="{EF64DE71-12B0-43AF-843A-37604836284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4598645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2026-09-20T18:08:38.4360000Z</dcterms:created>
  <dcterms:modified xsi:type="dcterms:W3CDTF">2026-09-20T18:08:38.4360000Z</dcterms:modified>
</coreProperties>
</file>